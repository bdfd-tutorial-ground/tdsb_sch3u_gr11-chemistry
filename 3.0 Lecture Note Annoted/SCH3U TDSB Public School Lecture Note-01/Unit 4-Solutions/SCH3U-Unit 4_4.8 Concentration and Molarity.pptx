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themeOverride+xml" PartName="/ppt/theme/themeOverride2.xml"/>
  <Override ContentType="application/vnd.openxmlformats-officedocument.themeOverride+xml" PartName="/ppt/theme/themeOverr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 id="214748367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Cabin"/>
      <p:regular r:id="rId47"/>
      <p:bold r:id="rId48"/>
      <p:italic r:id="rId49"/>
      <p:boldItalic r:id="rId50"/>
    </p:embeddedFont>
    <p:embeddedFont>
      <p:font typeface="Corbel"/>
      <p:regular r:id="rId51"/>
      <p:bold r:id="rId52"/>
      <p:italic r:id="rId53"/>
      <p:boldItalic r:id="rId54"/>
    </p:embeddedFont>
    <p:embeddedFont>
      <p:font typeface="Tahoma"/>
      <p:regular r:id="rId55"/>
      <p:bold r:id="rId56"/>
    </p:embeddedFont>
    <p:embeddedFont>
      <p:font typeface="Questrial"/>
      <p:regular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Cabin-bold.fntdata"/><Relationship Id="rId47" Type="http://schemas.openxmlformats.org/officeDocument/2006/relationships/font" Target="fonts/Cabin-regular.fntdata"/><Relationship Id="rId49" Type="http://schemas.openxmlformats.org/officeDocument/2006/relationships/font" Target="fonts/Cabin-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Corbel-regular.fntdata"/><Relationship Id="rId50" Type="http://schemas.openxmlformats.org/officeDocument/2006/relationships/font" Target="fonts/Cabin-boldItalic.fntdata"/><Relationship Id="rId53" Type="http://schemas.openxmlformats.org/officeDocument/2006/relationships/font" Target="fonts/Corbel-italic.fntdata"/><Relationship Id="rId52" Type="http://schemas.openxmlformats.org/officeDocument/2006/relationships/font" Target="fonts/Corbel-bold.fntdata"/><Relationship Id="rId11" Type="http://schemas.openxmlformats.org/officeDocument/2006/relationships/slide" Target="slides/slide6.xml"/><Relationship Id="rId55" Type="http://schemas.openxmlformats.org/officeDocument/2006/relationships/font" Target="fonts/Tahoma-regular.fntdata"/><Relationship Id="rId10" Type="http://schemas.openxmlformats.org/officeDocument/2006/relationships/slide" Target="slides/slide5.xml"/><Relationship Id="rId54" Type="http://schemas.openxmlformats.org/officeDocument/2006/relationships/font" Target="fonts/Corbel-boldItalic.fntdata"/><Relationship Id="rId13" Type="http://schemas.openxmlformats.org/officeDocument/2006/relationships/slide" Target="slides/slide8.xml"/><Relationship Id="rId57" Type="http://schemas.openxmlformats.org/officeDocument/2006/relationships/font" Target="fonts/Questrial-regular.fntdata"/><Relationship Id="rId12" Type="http://schemas.openxmlformats.org/officeDocument/2006/relationships/slide" Target="slides/slide7.xml"/><Relationship Id="rId56" Type="http://schemas.openxmlformats.org/officeDocument/2006/relationships/font" Target="fonts/Tahoma-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6f9c7433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6f9c74333e_0_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429005721e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429005721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429005721e_0_20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429005721e_0_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429005721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429005721e_0_19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429005721e_0_2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429005721e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429005721e_0_23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429005721e_0_2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429005721e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429005721e_0_23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429005721e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429005721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429005721e_0_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429005721e_0_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429005721e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429005721e_0_15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429005721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4290057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https://www.scientificamerican.com/article/fact-or-fiction-archimede/</a:t>
            </a:r>
            <a:endParaRPr/>
          </a:p>
        </p:txBody>
      </p:sp>
      <p:sp>
        <p:nvSpPr>
          <p:cNvPr id="195" name="Google Shape;195;g429005721e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a5ac814dc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a5ac814d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Molality vs molarity</a:t>
            </a:r>
            <a:endParaRPr/>
          </a:p>
        </p:txBody>
      </p:sp>
      <p:sp>
        <p:nvSpPr>
          <p:cNvPr id="206" name="Google Shape;206;g2a5ac814dcd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429005721e_0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429005721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429005721e_0_16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6072f04052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6072f0405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26072f04052_0_9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6072f04052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6072f0405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26072f04052_0_8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9deec4ab8a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9deec4ab8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29deec4ab8a_0_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9deec4ab8a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9deec4ab8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29deec4ab8a_0_1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9deec4ab8a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9deec4ab8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29deec4ab8a_0_2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9deec4ab8a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9deec4ab8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29deec4ab8a_0_3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9deec4ab8a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9deec4ab8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29deec4ab8a_0_5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9deec4ab8a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9deec4ab8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29deec4ab8a_0_6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6072f04052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6072f04052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26072f04052_0_8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6342a2d082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6342a2d08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g26342a2d082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a55b088328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a55b08832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2a55b088328_0_3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6342a2d082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6342a2d08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26342a2d082_0_2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6342a2d08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6342a2d0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26342a2d082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6072f04052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6072f04052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g26072f04052_0_1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a55b088328_0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a55b08832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2a55b088328_0_5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a55b088328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a55b08832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g2a55b088328_0_6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a55b088328_0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a55b08832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g2a55b088328_0_7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a55b088328_0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a55b08832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2a55b088328_0_8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6072f04052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6072f04052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g26072f04052_0_10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429005721e_0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429005721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429005721e_0_16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6072f04052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6072f0405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g26072f04052_0_7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a5b334f07b_0_2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a5b334f07b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2a5b334f07b_0_22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a5b334f07b_0_2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a5b334f07b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g2a5b334f07b_0_22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20d8824dd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20d8824d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g120d8824dd1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a5ac814dcd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a5ac814dc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Molality vs molarity</a:t>
            </a:r>
            <a:endParaRPr/>
          </a:p>
        </p:txBody>
      </p:sp>
      <p:sp>
        <p:nvSpPr>
          <p:cNvPr id="410" name="Google Shape;410;g2a5ac814dcd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a55b088328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2a55b08832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2a55b088328_0_4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6342a2d082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6342a2d08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26342a2d082_0_1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a55b088328_0_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a55b088328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2a55b088328_0_1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a5b334f07b_0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a5b334f07b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g2a5b334f07b_0_11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a5b334f07b_0_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a5b334f07b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g2a5b334f07b_0_11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429005721e_0_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429005721e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429005721e_0_17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
          <p:cNvSpPr txBox="1"/>
          <p:nvPr>
            <p:ph type="title"/>
          </p:nvPr>
        </p:nvSpPr>
        <p:spPr>
          <a:xfrm>
            <a:off x="457200" y="116586"/>
            <a:ext cx="8229600" cy="9396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19" name="Google Shape;19;p2"/>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0" name="Google Shape;20;p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1" name="Google Shape;21;p2"/>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2" name="Google Shape;22;p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3"/>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25" name="Google Shape;25;p3"/>
          <p:cNvSpPr txBox="1"/>
          <p:nvPr>
            <p:ph idx="1" type="body"/>
          </p:nvPr>
        </p:nvSpPr>
        <p:spPr>
          <a:xfrm>
            <a:off x="457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6" name="Google Shape;26;p3"/>
          <p:cNvSpPr txBox="1"/>
          <p:nvPr>
            <p:ph idx="2" type="body"/>
          </p:nvPr>
        </p:nvSpPr>
        <p:spPr>
          <a:xfrm>
            <a:off x="4648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7" name="Google Shape;27;p3"/>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8" name="Google Shape;28;p3"/>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9" name="Google Shape;29;p3"/>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stretch>
            <a:fillRect b="0" l="0" r="0" t="0"/>
          </a:stretch>
        </a:blipFill>
      </p:bgPr>
    </p:bg>
    <p:spTree>
      <p:nvGrpSpPr>
        <p:cNvPr id="30" name="Shape 30"/>
        <p:cNvGrpSpPr/>
        <p:nvPr/>
      </p:nvGrpSpPr>
      <p:grpSpPr>
        <a:xfrm>
          <a:off x="0" y="0"/>
          <a:ext cx="0" cy="0"/>
          <a:chOff x="0" y="0"/>
          <a:chExt cx="0" cy="0"/>
        </a:xfrm>
      </p:grpSpPr>
      <p:sp>
        <p:nvSpPr>
          <p:cNvPr id="31" name="Google Shape;31;p4"/>
          <p:cNvSpPr/>
          <p:nvPr/>
        </p:nvSpPr>
        <p:spPr>
          <a:xfrm>
            <a:off x="0" y="1"/>
            <a:ext cx="9144000" cy="3851700"/>
          </a:xfrm>
          <a:prstGeom prst="rect">
            <a:avLst/>
          </a:prstGeom>
          <a:solidFill>
            <a:srgbClr val="38761D"/>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2" name="Google Shape;32;p4"/>
          <p:cNvSpPr/>
          <p:nvPr/>
        </p:nvSpPr>
        <p:spPr>
          <a:xfrm>
            <a:off x="0" y="3846284"/>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3" name="Google Shape;33;p4"/>
          <p:cNvSpPr txBox="1"/>
          <p:nvPr>
            <p:ph type="ctrTitle"/>
          </p:nvPr>
        </p:nvSpPr>
        <p:spPr>
          <a:xfrm>
            <a:off x="685800" y="2516887"/>
            <a:ext cx="8077200" cy="12549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34" name="Google Shape;34;p4"/>
          <p:cNvSpPr txBox="1"/>
          <p:nvPr>
            <p:ph idx="1" type="subTitle"/>
          </p:nvPr>
        </p:nvSpPr>
        <p:spPr>
          <a:xfrm>
            <a:off x="685800" y="1371600"/>
            <a:ext cx="8077200" cy="11247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12653" lvl="1" marL="457153" marR="0" rtl="0" algn="ctr">
              <a:spcBef>
                <a:spcPts val="560"/>
              </a:spcBef>
              <a:spcAft>
                <a:spcPts val="0"/>
              </a:spcAft>
              <a:buClr>
                <a:schemeClr val="accent2"/>
              </a:buClr>
              <a:buSzPts val="2520"/>
              <a:buFont typeface="Noto Sans Symbols"/>
              <a:buNone/>
              <a:defRPr b="0" i="0" sz="2800" u="none" cap="none" strike="noStrike">
                <a:solidFill>
                  <a:schemeClr val="lt1"/>
                </a:solidFill>
                <a:latin typeface="Corbel"/>
                <a:ea typeface="Corbel"/>
                <a:cs typeface="Corbel"/>
                <a:sym typeface="Corbel"/>
              </a:defRPr>
            </a:lvl2pPr>
            <a:lvl3pPr indent="-12605" lvl="2" marL="914305" marR="0" rtl="0" algn="ctr">
              <a:spcBef>
                <a:spcPts val="480"/>
              </a:spcBef>
              <a:spcAft>
                <a:spcPts val="0"/>
              </a:spcAft>
              <a:buClr>
                <a:srgbClr val="E66C7D"/>
              </a:buClr>
              <a:buSzPts val="2400"/>
              <a:buFont typeface="Arial"/>
              <a:buNone/>
              <a:defRPr b="0" i="0" sz="2400" u="none" cap="none" strike="noStrike">
                <a:solidFill>
                  <a:schemeClr val="lt1"/>
                </a:solidFill>
                <a:latin typeface="Corbel"/>
                <a:ea typeface="Corbel"/>
                <a:cs typeface="Corbel"/>
                <a:sym typeface="Corbel"/>
              </a:defRPr>
            </a:lvl3pPr>
            <a:lvl4pPr indent="-12557" lvl="3" marL="1371458" marR="0" rtl="0" algn="ctr">
              <a:spcBef>
                <a:spcPts val="400"/>
              </a:spcBef>
              <a:spcAft>
                <a:spcPts val="0"/>
              </a:spcAft>
              <a:buClr>
                <a:srgbClr val="6BB76D"/>
              </a:buClr>
              <a:buSzPts val="2000"/>
              <a:buFont typeface="Arial"/>
              <a:buNone/>
              <a:defRPr b="0" i="0" sz="2000" u="none" cap="none" strike="noStrike">
                <a:solidFill>
                  <a:schemeClr val="lt1"/>
                </a:solidFill>
                <a:latin typeface="Corbel"/>
                <a:ea typeface="Corbel"/>
                <a:cs typeface="Corbel"/>
                <a:sym typeface="Corbel"/>
              </a:defRPr>
            </a:lvl4pPr>
            <a:lvl5pPr indent="-12510" lvl="4" marL="1828610" marR="0" rtl="0" algn="ctr">
              <a:spcBef>
                <a:spcPts val="400"/>
              </a:spcBef>
              <a:spcAft>
                <a:spcPts val="0"/>
              </a:spcAft>
              <a:buClr>
                <a:srgbClr val="E88651"/>
              </a:buClr>
              <a:buSzPts val="2000"/>
              <a:buFont typeface="Noto Sans Symbols"/>
              <a:buNone/>
              <a:defRPr b="0" i="0" sz="2000" u="none" cap="none" strike="noStrike">
                <a:solidFill>
                  <a:schemeClr val="lt1"/>
                </a:solidFill>
                <a:latin typeface="Corbel"/>
                <a:ea typeface="Corbel"/>
                <a:cs typeface="Corbel"/>
                <a:sym typeface="Corbel"/>
              </a:defRPr>
            </a:lvl5pPr>
            <a:lvl6pPr indent="-12462" lvl="5" marL="2285763" marR="0" rtl="0" algn="ctr">
              <a:spcBef>
                <a:spcPts val="400"/>
              </a:spcBef>
              <a:spcAft>
                <a:spcPts val="0"/>
              </a:spcAft>
              <a:buClr>
                <a:schemeClr val="accent6"/>
              </a:buClr>
              <a:buSzPts val="2000"/>
              <a:buFont typeface="Noto Sans Symbols"/>
              <a:buNone/>
              <a:defRPr b="0" i="0" sz="2000" u="none" cap="none" strike="noStrike">
                <a:solidFill>
                  <a:schemeClr val="lt1"/>
                </a:solidFill>
                <a:latin typeface="Corbel"/>
                <a:ea typeface="Corbel"/>
                <a:cs typeface="Corbel"/>
                <a:sym typeface="Corbel"/>
              </a:defRPr>
            </a:lvl6pPr>
            <a:lvl7pPr indent="-12414" lvl="6" marL="2742915" marR="0" rtl="0" algn="ctr">
              <a:spcBef>
                <a:spcPts val="360"/>
              </a:spcBef>
              <a:spcAft>
                <a:spcPts val="0"/>
              </a:spcAft>
              <a:buClr>
                <a:schemeClr val="accent1"/>
              </a:buClr>
              <a:buSzPts val="1800"/>
              <a:buFont typeface="Noto Sans Symbols"/>
              <a:buNone/>
              <a:defRPr b="0" i="0" sz="1800" u="none" cap="none" strike="noStrike">
                <a:solidFill>
                  <a:schemeClr val="lt1"/>
                </a:solidFill>
                <a:latin typeface="Corbel"/>
                <a:ea typeface="Corbel"/>
                <a:cs typeface="Corbel"/>
                <a:sym typeface="Corbel"/>
              </a:defRPr>
            </a:lvl7pPr>
            <a:lvl8pPr indent="-12368" lvl="7" marL="3200068" marR="0" rtl="0" algn="ctr">
              <a:spcBef>
                <a:spcPts val="360"/>
              </a:spcBef>
              <a:spcAft>
                <a:spcPts val="0"/>
              </a:spcAft>
              <a:buClr>
                <a:schemeClr val="accent2"/>
              </a:buClr>
              <a:buSzPts val="1800"/>
              <a:buFont typeface="Noto Sans Symbols"/>
              <a:buNone/>
              <a:defRPr b="0" i="0" sz="1800" u="none" cap="none" strike="noStrike">
                <a:solidFill>
                  <a:schemeClr val="lt1"/>
                </a:solidFill>
                <a:latin typeface="Corbel"/>
                <a:ea typeface="Corbel"/>
                <a:cs typeface="Corbel"/>
                <a:sym typeface="Corbel"/>
              </a:defRPr>
            </a:lvl8pPr>
            <a:lvl9pPr indent="-12320" lvl="8" marL="3657220" marR="0" rtl="0" algn="ctr">
              <a:spcBef>
                <a:spcPts val="360"/>
              </a:spcBef>
              <a:spcAft>
                <a:spcPts val="0"/>
              </a:spcAft>
              <a:buClr>
                <a:schemeClr val="accent3"/>
              </a:buClr>
              <a:buSzPts val="1800"/>
              <a:buFont typeface="Noto Sans Symbols"/>
              <a:buNone/>
              <a:defRPr b="0" i="0" sz="1800" u="none" cap="none" strike="noStrike">
                <a:solidFill>
                  <a:schemeClr val="lt1"/>
                </a:solidFill>
                <a:latin typeface="Corbel"/>
                <a:ea typeface="Corbel"/>
                <a:cs typeface="Corbel"/>
                <a:sym typeface="Corbel"/>
              </a:defRPr>
            </a:lvl9pPr>
          </a:lstStyle>
          <a:p/>
        </p:txBody>
      </p:sp>
      <p:sp>
        <p:nvSpPr>
          <p:cNvPr id="35" name="Google Shape;35;p4"/>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6" name="Google Shape;36;p4"/>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7" name="Google Shape;37;p4"/>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stretch>
            <a:fillRect b="0" l="0" r="0" t="0"/>
          </a:stretch>
        </a:blipFill>
      </p:bgPr>
    </p:bg>
    <p:spTree>
      <p:nvGrpSpPr>
        <p:cNvPr id="38" name="Shape 38"/>
        <p:cNvGrpSpPr/>
        <p:nvPr/>
      </p:nvGrpSpPr>
      <p:grpSpPr>
        <a:xfrm>
          <a:off x="0" y="0"/>
          <a:ext cx="0" cy="0"/>
          <a:chOff x="0" y="0"/>
          <a:chExt cx="0" cy="0"/>
        </a:xfrm>
      </p:grpSpPr>
      <p:sp>
        <p:nvSpPr>
          <p:cNvPr id="39" name="Google Shape;39;p5"/>
          <p:cNvSpPr/>
          <p:nvPr/>
        </p:nvSpPr>
        <p:spPr>
          <a:xfrm>
            <a:off x="0" y="0"/>
            <a:ext cx="9144000" cy="1951800"/>
          </a:xfrm>
          <a:prstGeom prst="rect">
            <a:avLst/>
          </a:prstGeom>
          <a:solidFill>
            <a:srgbClr val="38761D"/>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40" name="Google Shape;40;p5"/>
          <p:cNvSpPr/>
          <p:nvPr/>
        </p:nvSpPr>
        <p:spPr>
          <a:xfrm>
            <a:off x="0" y="1951765"/>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41" name="Google Shape;41;p5"/>
          <p:cNvSpPr txBox="1"/>
          <p:nvPr>
            <p:ph type="title"/>
          </p:nvPr>
        </p:nvSpPr>
        <p:spPr>
          <a:xfrm>
            <a:off x="749808" y="89154"/>
            <a:ext cx="8013300" cy="1227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42" name="Google Shape;42;p5"/>
          <p:cNvSpPr txBox="1"/>
          <p:nvPr>
            <p:ph idx="1" type="body"/>
          </p:nvPr>
        </p:nvSpPr>
        <p:spPr>
          <a:xfrm>
            <a:off x="740664" y="1371600"/>
            <a:ext cx="8022300" cy="5142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228600" lvl="1" marL="914400" marR="0" rtl="0" algn="l">
              <a:spcBef>
                <a:spcPts val="360"/>
              </a:spcBef>
              <a:spcAft>
                <a:spcPts val="0"/>
              </a:spcAft>
              <a:buClr>
                <a:schemeClr val="accent2"/>
              </a:buClr>
              <a:buSzPts val="2520"/>
              <a:buFont typeface="Noto Sans Symbols"/>
              <a:buNone/>
              <a:defRPr b="0" i="0" sz="1800" u="none" cap="none" strike="noStrike">
                <a:solidFill>
                  <a:schemeClr val="lt1"/>
                </a:solidFill>
                <a:latin typeface="Corbel"/>
                <a:ea typeface="Corbel"/>
                <a:cs typeface="Corbel"/>
                <a:sym typeface="Corbel"/>
              </a:defRPr>
            </a:lvl2pPr>
            <a:lvl3pPr indent="-228600" lvl="2" marL="1371600" marR="0" rtl="0" algn="l">
              <a:spcBef>
                <a:spcPts val="320"/>
              </a:spcBef>
              <a:spcAft>
                <a:spcPts val="0"/>
              </a:spcAft>
              <a:buClr>
                <a:srgbClr val="E66C7D"/>
              </a:buClr>
              <a:buSzPts val="2400"/>
              <a:buFont typeface="Arial"/>
              <a:buNone/>
              <a:defRPr b="0" i="0" sz="1600" u="none" cap="none" strike="noStrike">
                <a:solidFill>
                  <a:schemeClr val="lt1"/>
                </a:solidFill>
                <a:latin typeface="Corbel"/>
                <a:ea typeface="Corbel"/>
                <a:cs typeface="Corbel"/>
                <a:sym typeface="Corbel"/>
              </a:defRPr>
            </a:lvl3pPr>
            <a:lvl4pPr indent="-228600" lvl="3" marL="1828800" marR="0" rtl="0" algn="l">
              <a:spcBef>
                <a:spcPts val="280"/>
              </a:spcBef>
              <a:spcAft>
                <a:spcPts val="0"/>
              </a:spcAft>
              <a:buClr>
                <a:srgbClr val="6BB76D"/>
              </a:buClr>
              <a:buSzPts val="2000"/>
              <a:buFont typeface="Arial"/>
              <a:buNone/>
              <a:defRPr b="0" i="0" sz="1400" u="none" cap="none" strike="noStrike">
                <a:solidFill>
                  <a:schemeClr val="lt1"/>
                </a:solidFill>
                <a:latin typeface="Corbel"/>
                <a:ea typeface="Corbel"/>
                <a:cs typeface="Corbel"/>
                <a:sym typeface="Corbel"/>
              </a:defRPr>
            </a:lvl4pPr>
            <a:lvl5pPr indent="-228600" lvl="4" marL="2286000" marR="0" rtl="0" algn="l">
              <a:spcBef>
                <a:spcPts val="280"/>
              </a:spcBef>
              <a:spcAft>
                <a:spcPts val="0"/>
              </a:spcAft>
              <a:buClr>
                <a:srgbClr val="E88651"/>
              </a:buClr>
              <a:buSzPts val="2000"/>
              <a:buFont typeface="Noto Sans Symbols"/>
              <a:buNone/>
              <a:defRPr b="0" i="0" sz="1400" u="none" cap="none" strike="noStrike">
                <a:solidFill>
                  <a:schemeClr val="lt1"/>
                </a:solidFill>
                <a:latin typeface="Corbel"/>
                <a:ea typeface="Corbel"/>
                <a:cs typeface="Corbel"/>
                <a:sym typeface="Corbel"/>
              </a:defRPr>
            </a:lvl5pPr>
            <a:lvl6pPr indent="-228600" lvl="5" marL="2743200" marR="0" rtl="0" algn="l">
              <a:spcBef>
                <a:spcPts val="280"/>
              </a:spcBef>
              <a:spcAft>
                <a:spcPts val="0"/>
              </a:spcAft>
              <a:buClr>
                <a:schemeClr val="accent6"/>
              </a:buClr>
              <a:buSzPts val="2000"/>
              <a:buFont typeface="Noto Sans Symbols"/>
              <a:buNone/>
              <a:defRPr b="0" i="0" sz="1400" u="none" cap="none" strike="noStrike">
                <a:solidFill>
                  <a:schemeClr val="lt1"/>
                </a:solidFill>
                <a:latin typeface="Corbel"/>
                <a:ea typeface="Corbel"/>
                <a:cs typeface="Corbel"/>
                <a:sym typeface="Corbel"/>
              </a:defRPr>
            </a:lvl6pPr>
            <a:lvl7pPr indent="-228600" lvl="6" marL="3200400" marR="0" rtl="0" algn="l">
              <a:spcBef>
                <a:spcPts val="280"/>
              </a:spcBef>
              <a:spcAft>
                <a:spcPts val="0"/>
              </a:spcAft>
              <a:buClr>
                <a:schemeClr val="accent1"/>
              </a:buClr>
              <a:buSzPts val="1800"/>
              <a:buFont typeface="Noto Sans Symbols"/>
              <a:buNone/>
              <a:defRPr b="0" i="0" sz="1400" u="none" cap="none" strike="noStrike">
                <a:solidFill>
                  <a:schemeClr val="lt1"/>
                </a:solidFill>
                <a:latin typeface="Corbel"/>
                <a:ea typeface="Corbel"/>
                <a:cs typeface="Corbel"/>
                <a:sym typeface="Corbel"/>
              </a:defRPr>
            </a:lvl7pPr>
            <a:lvl8pPr indent="-228600" lvl="7" marL="3657600" marR="0" rtl="0" algn="l">
              <a:spcBef>
                <a:spcPts val="280"/>
              </a:spcBef>
              <a:spcAft>
                <a:spcPts val="0"/>
              </a:spcAft>
              <a:buClr>
                <a:schemeClr val="accent2"/>
              </a:buClr>
              <a:buSzPts val="1800"/>
              <a:buFont typeface="Noto Sans Symbols"/>
              <a:buNone/>
              <a:defRPr b="0" i="0" sz="1400" u="none" cap="none" strike="noStrike">
                <a:solidFill>
                  <a:schemeClr val="lt1"/>
                </a:solidFill>
                <a:latin typeface="Corbel"/>
                <a:ea typeface="Corbel"/>
                <a:cs typeface="Corbel"/>
                <a:sym typeface="Corbel"/>
              </a:defRPr>
            </a:lvl8pPr>
            <a:lvl9pPr indent="-228600" lvl="8" marL="4114800" marR="0" rtl="0" algn="l">
              <a:spcBef>
                <a:spcPts val="280"/>
              </a:spcBef>
              <a:spcAft>
                <a:spcPts val="0"/>
              </a:spcAft>
              <a:buClr>
                <a:schemeClr val="accent3"/>
              </a:buClr>
              <a:buSzPts val="1800"/>
              <a:buFont typeface="Noto Sans Symbols"/>
              <a:buNone/>
              <a:defRPr b="0" i="0" sz="1400" u="none" cap="none" strike="noStrike">
                <a:solidFill>
                  <a:schemeClr val="lt1"/>
                </a:solidFill>
                <a:latin typeface="Corbel"/>
                <a:ea typeface="Corbel"/>
                <a:cs typeface="Corbel"/>
                <a:sym typeface="Corbel"/>
              </a:defRPr>
            </a:lvl9pPr>
          </a:lstStyle>
          <a:p/>
        </p:txBody>
      </p:sp>
      <p:sp>
        <p:nvSpPr>
          <p:cNvPr id="43" name="Google Shape;43;p5"/>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4" name="Google Shape;44;p5"/>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5" name="Google Shape;45;p5"/>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6"/>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48" name="Google Shape;48;p6"/>
          <p:cNvSpPr txBox="1"/>
          <p:nvPr>
            <p:ph idx="1" type="body"/>
          </p:nvPr>
        </p:nvSpPr>
        <p:spPr>
          <a:xfrm>
            <a:off x="457200" y="1274240"/>
            <a:ext cx="40401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49" name="Google Shape;49;p6"/>
          <p:cNvSpPr txBox="1"/>
          <p:nvPr>
            <p:ph idx="2" type="body"/>
          </p:nvPr>
        </p:nvSpPr>
        <p:spPr>
          <a:xfrm>
            <a:off x="457200" y="1837135"/>
            <a:ext cx="40401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50" name="Google Shape;50;p6"/>
          <p:cNvSpPr txBox="1"/>
          <p:nvPr>
            <p:ph idx="3" type="body"/>
          </p:nvPr>
        </p:nvSpPr>
        <p:spPr>
          <a:xfrm>
            <a:off x="4645025" y="1274240"/>
            <a:ext cx="40419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51" name="Google Shape;51;p6"/>
          <p:cNvSpPr txBox="1"/>
          <p:nvPr>
            <p:ph idx="4" type="body"/>
          </p:nvPr>
        </p:nvSpPr>
        <p:spPr>
          <a:xfrm>
            <a:off x="4645025" y="1837135"/>
            <a:ext cx="40419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52" name="Google Shape;52;p6"/>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3" name="Google Shape;53;p6"/>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4" name="Google Shape;54;p6"/>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7"/>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57" name="Google Shape;57;p7"/>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8" name="Google Shape;58;p7"/>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9" name="Google Shape;59;p7"/>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0" name="Shape 60"/>
        <p:cNvGrpSpPr/>
        <p:nvPr/>
      </p:nvGrpSpPr>
      <p:grpSpPr>
        <a:xfrm>
          <a:off x="0" y="0"/>
          <a:ext cx="0" cy="0"/>
          <a:chOff x="0" y="0"/>
          <a:chExt cx="0" cy="0"/>
        </a:xfrm>
      </p:grpSpPr>
      <p:sp>
        <p:nvSpPr>
          <p:cNvPr id="61" name="Google Shape;61;p8"/>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2" name="Google Shape;62;p8"/>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3" name="Google Shape;63;p8"/>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6" name="Google Shape;66;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7" name="Google Shape;67;p9"/>
          <p:cNvSpPr txBox="1"/>
          <p:nvPr>
            <p:ph type="title"/>
          </p:nvPr>
        </p:nvSpPr>
        <p:spPr>
          <a:xfrm>
            <a:off x="167838" y="114300"/>
            <a:ext cx="25236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68" name="Google Shape;68;p9"/>
          <p:cNvSpPr txBox="1"/>
          <p:nvPr>
            <p:ph idx="1" type="body"/>
          </p:nvPr>
        </p:nvSpPr>
        <p:spPr>
          <a:xfrm>
            <a:off x="3019378" y="1307350"/>
            <a:ext cx="5920500" cy="3419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55600" lvl="6" marL="3200400" marR="0" rtl="0" algn="l">
              <a:spcBef>
                <a:spcPts val="400"/>
              </a:spcBef>
              <a:spcAft>
                <a:spcPts val="0"/>
              </a:spcAft>
              <a:buClr>
                <a:schemeClr val="accent1"/>
              </a:buClr>
              <a:buSzPts val="2000"/>
              <a:buFont typeface="Noto Sans Symbols"/>
              <a:buChar char="⚫"/>
              <a:defRPr b="0" i="0" sz="2000" u="none" cap="none" strike="noStrike">
                <a:solidFill>
                  <a:schemeClr val="dk1"/>
                </a:solidFill>
                <a:latin typeface="Corbel"/>
                <a:ea typeface="Corbel"/>
                <a:cs typeface="Corbel"/>
                <a:sym typeface="Corbel"/>
              </a:defRPr>
            </a:lvl7pPr>
            <a:lvl8pPr indent="-355600" lvl="7" marL="3657600" marR="0" rtl="0" algn="l">
              <a:spcBef>
                <a:spcPts val="400"/>
              </a:spcBef>
              <a:spcAft>
                <a:spcPts val="0"/>
              </a:spcAft>
              <a:buClr>
                <a:schemeClr val="accent2"/>
              </a:buClr>
              <a:buSzPts val="2000"/>
              <a:buFont typeface="Noto Sans Symbols"/>
              <a:buChar char="⚫"/>
              <a:defRPr b="0" i="0" sz="2000" u="none" cap="none" strike="noStrike">
                <a:solidFill>
                  <a:schemeClr val="dk1"/>
                </a:solidFill>
                <a:latin typeface="Corbel"/>
                <a:ea typeface="Corbel"/>
                <a:cs typeface="Corbel"/>
                <a:sym typeface="Corbel"/>
              </a:defRPr>
            </a:lvl8pPr>
            <a:lvl9pPr indent="-355600" lvl="8" marL="4114800" marR="0" rtl="0" algn="l">
              <a:spcBef>
                <a:spcPts val="400"/>
              </a:spcBef>
              <a:spcAft>
                <a:spcPts val="0"/>
              </a:spcAft>
              <a:buClr>
                <a:schemeClr val="accent3"/>
              </a:buClr>
              <a:buSzPts val="2000"/>
              <a:buFont typeface="Noto Sans Symbols"/>
              <a:buChar char="⚫"/>
              <a:defRPr b="0" i="0" sz="2000" u="none" cap="none" strike="noStrike">
                <a:solidFill>
                  <a:schemeClr val="dk1"/>
                </a:solidFill>
                <a:latin typeface="Corbel"/>
                <a:ea typeface="Corbel"/>
                <a:cs typeface="Corbel"/>
                <a:sym typeface="Corbel"/>
              </a:defRPr>
            </a:lvl9pPr>
          </a:lstStyle>
          <a:p/>
        </p:txBody>
      </p:sp>
      <p:sp>
        <p:nvSpPr>
          <p:cNvPr id="69" name="Google Shape;69;p9"/>
          <p:cNvSpPr txBox="1"/>
          <p:nvPr>
            <p:ph idx="2" type="body"/>
          </p:nvPr>
        </p:nvSpPr>
        <p:spPr>
          <a:xfrm>
            <a:off x="167839" y="1297514"/>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70" name="Google Shape;70;p9"/>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1" name="Google Shape;71;p9"/>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2" name="Google Shape;72;p9"/>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solidFill>
          <a:schemeClr val="lt2"/>
        </a:solidFill>
      </p:bgPr>
    </p:bg>
    <p:spTree>
      <p:nvGrpSpPr>
        <p:cNvPr id="73" name="Shape 73"/>
        <p:cNvGrpSpPr/>
        <p:nvPr/>
      </p:nvGrpSpPr>
      <p:grpSpPr>
        <a:xfrm>
          <a:off x="0" y="0"/>
          <a:ext cx="0" cy="0"/>
          <a:chOff x="0" y="0"/>
          <a:chExt cx="0" cy="0"/>
        </a:xfrm>
      </p:grpSpPr>
      <p:sp>
        <p:nvSpPr>
          <p:cNvPr id="74" name="Google Shape;74;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5" name="Google Shape;75;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6" name="Google Shape;76;p10"/>
          <p:cNvSpPr txBox="1"/>
          <p:nvPr>
            <p:ph type="title"/>
          </p:nvPr>
        </p:nvSpPr>
        <p:spPr>
          <a:xfrm>
            <a:off x="164592" y="116586"/>
            <a:ext cx="25251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77" name="Google Shape;77;p10"/>
          <p:cNvSpPr/>
          <p:nvPr>
            <p:ph idx="2" type="pic"/>
          </p:nvPr>
        </p:nvSpPr>
        <p:spPr>
          <a:xfrm>
            <a:off x="2903806" y="1113607"/>
            <a:ext cx="6247500" cy="4029900"/>
          </a:xfrm>
          <a:prstGeom prst="rect">
            <a:avLst/>
          </a:prstGeom>
          <a:solidFill>
            <a:srgbClr val="BABABB"/>
          </a:solidFill>
          <a:ln>
            <a:noFill/>
          </a:ln>
        </p:spPr>
        <p:txBody>
          <a:bodyPr anchorCtr="0" anchor="t" bIns="91425" lIns="91425" spcFirstLastPara="1" rIns="91425" wrap="square" tIns="91425">
            <a:noAutofit/>
          </a:bodyPr>
          <a:lstStyle>
            <a:lvl1pPr indent="0" lvl="0" marL="0" marR="0" rtl="0" algn="l">
              <a:spcBef>
                <a:spcPts val="0"/>
              </a:spcBef>
              <a:spcAft>
                <a:spcPts val="0"/>
              </a:spcAft>
              <a:buClr>
                <a:schemeClr val="accent1"/>
              </a:buClr>
              <a:buSzPts val="1400"/>
              <a:buFont typeface="Noto Sans Symbols"/>
              <a:buNone/>
              <a:defRPr b="0" i="0" sz="3200" u="none" cap="none" strike="noStrike">
                <a:solidFill>
                  <a:schemeClr val="dk1"/>
                </a:solidFill>
                <a:latin typeface="Corbel"/>
                <a:ea typeface="Corbel"/>
                <a:cs typeface="Corbel"/>
                <a:sym typeface="Corbel"/>
              </a:defRPr>
            </a:lvl1pPr>
            <a:lvl2pPr indent="-12653" lvl="1" marL="457153" marR="0" rtl="0" algn="l">
              <a:spcBef>
                <a:spcPts val="560"/>
              </a:spcBef>
              <a:spcAft>
                <a:spcPts val="0"/>
              </a:spcAft>
              <a:buClr>
                <a:schemeClr val="accent2"/>
              </a:buClr>
              <a:buSzPts val="1400"/>
              <a:buFont typeface="Noto Sans Symbols"/>
              <a:buNone/>
              <a:defRPr b="0" i="0" sz="2800" u="none" cap="none" strike="noStrike">
                <a:solidFill>
                  <a:schemeClr val="dk1"/>
                </a:solidFill>
                <a:latin typeface="Corbel"/>
                <a:ea typeface="Corbel"/>
                <a:cs typeface="Corbel"/>
                <a:sym typeface="Corbel"/>
              </a:defRPr>
            </a:lvl2pPr>
            <a:lvl3pPr indent="-12605" lvl="2" marL="914305" marR="0" rtl="0" algn="l">
              <a:spcBef>
                <a:spcPts val="480"/>
              </a:spcBef>
              <a:spcAft>
                <a:spcPts val="0"/>
              </a:spcAft>
              <a:buClr>
                <a:srgbClr val="E66C7D"/>
              </a:buClr>
              <a:buSzPts val="1400"/>
              <a:buFont typeface="Arial"/>
              <a:buNone/>
              <a:defRPr b="0" i="0" sz="2400" u="none" cap="none" strike="noStrike">
                <a:solidFill>
                  <a:schemeClr val="dk1"/>
                </a:solidFill>
                <a:latin typeface="Corbel"/>
                <a:ea typeface="Corbel"/>
                <a:cs typeface="Corbel"/>
                <a:sym typeface="Corbel"/>
              </a:defRPr>
            </a:lvl3pPr>
            <a:lvl4pPr indent="-12557" lvl="3" marL="1371458" marR="0" rtl="0" algn="l">
              <a:spcBef>
                <a:spcPts val="400"/>
              </a:spcBef>
              <a:spcAft>
                <a:spcPts val="0"/>
              </a:spcAft>
              <a:buClr>
                <a:srgbClr val="6BB76D"/>
              </a:buClr>
              <a:buSzPts val="1400"/>
              <a:buFont typeface="Arial"/>
              <a:buNone/>
              <a:defRPr b="0" i="0" sz="2000" u="none" cap="none" strike="noStrike">
                <a:solidFill>
                  <a:schemeClr val="dk1"/>
                </a:solidFill>
                <a:latin typeface="Corbel"/>
                <a:ea typeface="Corbel"/>
                <a:cs typeface="Corbel"/>
                <a:sym typeface="Corbel"/>
              </a:defRPr>
            </a:lvl4pPr>
            <a:lvl5pPr indent="-12510" lvl="4" marL="1828610" marR="0" rtl="0" algn="l">
              <a:spcBef>
                <a:spcPts val="400"/>
              </a:spcBef>
              <a:spcAft>
                <a:spcPts val="0"/>
              </a:spcAft>
              <a:buClr>
                <a:srgbClr val="E88651"/>
              </a:buClr>
              <a:buSzPts val="1400"/>
              <a:buFont typeface="Noto Sans Symbols"/>
              <a:buNone/>
              <a:defRPr b="0" i="0" sz="2000" u="none" cap="none" strike="noStrike">
                <a:solidFill>
                  <a:schemeClr val="dk1"/>
                </a:solidFill>
                <a:latin typeface="Corbel"/>
                <a:ea typeface="Corbel"/>
                <a:cs typeface="Corbel"/>
                <a:sym typeface="Corbel"/>
              </a:defRPr>
            </a:lvl5pPr>
            <a:lvl6pPr indent="-12462" lvl="5" marL="2285763" marR="0" rtl="0" algn="l">
              <a:spcBef>
                <a:spcPts val="400"/>
              </a:spcBef>
              <a:spcAft>
                <a:spcPts val="0"/>
              </a:spcAft>
              <a:buClr>
                <a:schemeClr val="accent6"/>
              </a:buClr>
              <a:buSzPts val="1400"/>
              <a:buFont typeface="Noto Sans Symbols"/>
              <a:buNone/>
              <a:defRPr b="0" i="0" sz="2000" u="none" cap="none" strike="noStrike">
                <a:solidFill>
                  <a:schemeClr val="dk1"/>
                </a:solidFill>
                <a:latin typeface="Corbel"/>
                <a:ea typeface="Corbel"/>
                <a:cs typeface="Corbel"/>
                <a:sym typeface="Corbel"/>
              </a:defRPr>
            </a:lvl6pPr>
            <a:lvl7pPr indent="-12414" lvl="6" marL="2742915" marR="0" rtl="0" algn="l">
              <a:spcBef>
                <a:spcPts val="400"/>
              </a:spcBef>
              <a:spcAft>
                <a:spcPts val="0"/>
              </a:spcAft>
              <a:buClr>
                <a:schemeClr val="accent1"/>
              </a:buClr>
              <a:buSzPts val="1400"/>
              <a:buFont typeface="Noto Sans Symbols"/>
              <a:buNone/>
              <a:defRPr b="0" i="0" sz="2000" u="none" cap="none" strike="noStrike">
                <a:solidFill>
                  <a:schemeClr val="dk1"/>
                </a:solidFill>
                <a:latin typeface="Corbel"/>
                <a:ea typeface="Corbel"/>
                <a:cs typeface="Corbel"/>
                <a:sym typeface="Corbel"/>
              </a:defRPr>
            </a:lvl7pPr>
            <a:lvl8pPr indent="-12368" lvl="7" marL="3200068" marR="0" rtl="0" algn="l">
              <a:spcBef>
                <a:spcPts val="400"/>
              </a:spcBef>
              <a:spcAft>
                <a:spcPts val="0"/>
              </a:spcAft>
              <a:buClr>
                <a:schemeClr val="accent2"/>
              </a:buClr>
              <a:buSzPts val="1400"/>
              <a:buFont typeface="Noto Sans Symbols"/>
              <a:buNone/>
              <a:defRPr b="0" i="0" sz="2000" u="none" cap="none" strike="noStrike">
                <a:solidFill>
                  <a:schemeClr val="dk1"/>
                </a:solidFill>
                <a:latin typeface="Corbel"/>
                <a:ea typeface="Corbel"/>
                <a:cs typeface="Corbel"/>
                <a:sym typeface="Corbel"/>
              </a:defRPr>
            </a:lvl8pPr>
            <a:lvl9pPr indent="-12320" lvl="8" marL="3657220" marR="0" rtl="0" algn="l">
              <a:spcBef>
                <a:spcPts val="400"/>
              </a:spcBef>
              <a:spcAft>
                <a:spcPts val="0"/>
              </a:spcAft>
              <a:buClr>
                <a:schemeClr val="accent3"/>
              </a:buClr>
              <a:buSzPts val="1400"/>
              <a:buFont typeface="Noto Sans Symbols"/>
              <a:buNone/>
              <a:defRPr b="0" i="0" sz="2000" u="none" cap="none" strike="noStrike">
                <a:solidFill>
                  <a:schemeClr val="dk1"/>
                </a:solidFill>
                <a:latin typeface="Corbel"/>
                <a:ea typeface="Corbel"/>
                <a:cs typeface="Corbel"/>
                <a:sym typeface="Corbel"/>
              </a:defRPr>
            </a:lvl9pPr>
          </a:lstStyle>
          <a:p/>
        </p:txBody>
      </p:sp>
      <p:sp>
        <p:nvSpPr>
          <p:cNvPr id="78" name="Google Shape;78;p10"/>
          <p:cNvSpPr txBox="1"/>
          <p:nvPr>
            <p:ph idx="1" type="body"/>
          </p:nvPr>
        </p:nvSpPr>
        <p:spPr>
          <a:xfrm>
            <a:off x="164592" y="1296162"/>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79" name="Google Shape;79;p10"/>
          <p:cNvSpPr txBox="1"/>
          <p:nvPr>
            <p:ph idx="10" type="dt"/>
          </p:nvPr>
        </p:nvSpPr>
        <p:spPr>
          <a:xfrm>
            <a:off x="164160" y="878132"/>
            <a:ext cx="252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0" name="Google Shape;80;p10"/>
          <p:cNvSpPr txBox="1"/>
          <p:nvPr>
            <p:ph idx="11" type="ftr"/>
          </p:nvPr>
        </p:nvSpPr>
        <p:spPr>
          <a:xfrm>
            <a:off x="3035521" y="878132"/>
            <a:ext cx="519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BABABA"/>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1" name="Google Shape;81;p10"/>
          <p:cNvSpPr txBox="1"/>
          <p:nvPr>
            <p:ph idx="12" type="sldNum"/>
          </p:nvPr>
        </p:nvSpPr>
        <p:spPr>
          <a:xfrm>
            <a:off x="8339041" y="878132"/>
            <a:ext cx="734400" cy="1500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1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84" name="Google Shape;84;p11"/>
          <p:cNvSpPr txBox="1"/>
          <p:nvPr>
            <p:ph idx="1" type="body"/>
          </p:nvPr>
        </p:nvSpPr>
        <p:spPr>
          <a:xfrm rot="5400000">
            <a:off x="2837370" y="-1049170"/>
            <a:ext cx="3469200" cy="8231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85" name="Google Shape;85;p1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6" name="Google Shape;86;p1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7" name="Google Shape;87;p1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8" name="Shape 88"/>
        <p:cNvGrpSpPr/>
        <p:nvPr/>
      </p:nvGrpSpPr>
      <p:grpSpPr>
        <a:xfrm>
          <a:off x="0" y="0"/>
          <a:ext cx="0" cy="0"/>
          <a:chOff x="0" y="0"/>
          <a:chExt cx="0" cy="0"/>
        </a:xfrm>
      </p:grpSpPr>
      <p:sp>
        <p:nvSpPr>
          <p:cNvPr id="89" name="Google Shape;89;p12"/>
          <p:cNvSpPr/>
          <p:nvPr/>
        </p:nvSpPr>
        <p:spPr>
          <a:xfrm>
            <a:off x="6599520" y="0"/>
            <a:ext cx="44700" cy="5143500"/>
          </a:xfrm>
          <a:prstGeom prst="rect">
            <a:avLst/>
          </a:prstGeom>
          <a:solidFill>
            <a:srgbClr val="FFFFFF"/>
          </a:solidFill>
          <a:ln>
            <a:noFill/>
          </a:ln>
          <a:effectLst>
            <a:outerShdw blurRad="31750" rotWithShape="0" algn="tl" dir="108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90" name="Google Shape;90;p12"/>
          <p:cNvSpPr/>
          <p:nvPr/>
        </p:nvSpPr>
        <p:spPr>
          <a:xfrm>
            <a:off x="6647041" y="0"/>
            <a:ext cx="2515800" cy="51435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91" name="Google Shape;91;p12"/>
          <p:cNvSpPr txBox="1"/>
          <p:nvPr>
            <p:ph type="title"/>
          </p:nvPr>
        </p:nvSpPr>
        <p:spPr>
          <a:xfrm rot="5400000">
            <a:off x="5539950" y="1447831"/>
            <a:ext cx="4388700" cy="19050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92" name="Google Shape;92;p12"/>
          <p:cNvSpPr txBox="1"/>
          <p:nvPr>
            <p:ph idx="1" type="body"/>
          </p:nvPr>
        </p:nvSpPr>
        <p:spPr>
          <a:xfrm rot="5400000">
            <a:off x="1272750" y="-586949"/>
            <a:ext cx="4388700" cy="60198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93" name="Google Shape;93;p1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4" name="Google Shape;94;p12"/>
          <p:cNvSpPr txBox="1"/>
          <p:nvPr>
            <p:ph idx="11" type="ftr"/>
          </p:nvPr>
        </p:nvSpPr>
        <p:spPr>
          <a:xfrm>
            <a:off x="2640960" y="4782742"/>
            <a:ext cx="3836100" cy="274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5" name="Google Shape;95;p1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6" name="Shape 96"/>
        <p:cNvGrpSpPr/>
        <p:nvPr/>
      </p:nvGrpSpPr>
      <p:grpSpPr>
        <a:xfrm>
          <a:off x="0" y="0"/>
          <a:ext cx="0" cy="0"/>
          <a:chOff x="0" y="0"/>
          <a:chExt cx="0" cy="0"/>
        </a:xfrm>
      </p:grpSpPr>
      <p:sp>
        <p:nvSpPr>
          <p:cNvPr id="97" name="Google Shape;97;p13"/>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8" name="Google Shape;9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91160" lvl="0" marL="457200" rtl="0">
              <a:spcBef>
                <a:spcPts val="0"/>
              </a:spcBef>
              <a:spcAft>
                <a:spcPts val="0"/>
              </a:spcAft>
              <a:buSzPts val="2560"/>
              <a:buChar char="◼"/>
              <a:defRPr/>
            </a:lvl1pPr>
            <a:lvl2pPr indent="-388619" lvl="1" marL="914400" rtl="0">
              <a:spcBef>
                <a:spcPts val="560"/>
              </a:spcBef>
              <a:spcAft>
                <a:spcPts val="0"/>
              </a:spcAft>
              <a:buSzPts val="2520"/>
              <a:buChar char="▪"/>
              <a:defRPr/>
            </a:lvl2pPr>
            <a:lvl3pPr indent="-381000" lvl="2" marL="1371600" rtl="0">
              <a:spcBef>
                <a:spcPts val="480"/>
              </a:spcBef>
              <a:spcAft>
                <a:spcPts val="0"/>
              </a:spcAft>
              <a:buSzPts val="2400"/>
              <a:buChar char="▪"/>
              <a:defRPr/>
            </a:lvl3pPr>
            <a:lvl4pPr indent="-355600" lvl="3" marL="1828800" rtl="0">
              <a:spcBef>
                <a:spcPts val="400"/>
              </a:spcBef>
              <a:spcAft>
                <a:spcPts val="0"/>
              </a:spcAft>
              <a:buSzPts val="2000"/>
              <a:buChar char="▪"/>
              <a:defRPr/>
            </a:lvl4pPr>
            <a:lvl5pPr indent="-355600" lvl="4" marL="2286000" rtl="0">
              <a:spcBef>
                <a:spcPts val="400"/>
              </a:spcBef>
              <a:spcAft>
                <a:spcPts val="0"/>
              </a:spcAft>
              <a:buSzPts val="2000"/>
              <a:buChar char="•"/>
              <a:defRPr/>
            </a:lvl5pPr>
            <a:lvl6pPr indent="-355600" lvl="5" marL="2743200" rtl="0">
              <a:spcBef>
                <a:spcPts val="400"/>
              </a:spcBef>
              <a:spcAft>
                <a:spcPts val="0"/>
              </a:spcAft>
              <a:buSzPts val="2000"/>
              <a:buChar char="⚫"/>
              <a:defRPr/>
            </a:lvl6pPr>
            <a:lvl7pPr indent="-342900" lvl="6" marL="3200400" rtl="0">
              <a:spcBef>
                <a:spcPts val="360"/>
              </a:spcBef>
              <a:spcAft>
                <a:spcPts val="0"/>
              </a:spcAft>
              <a:buSzPts val="1800"/>
              <a:buChar char="⚫"/>
              <a:defRPr/>
            </a:lvl7pPr>
            <a:lvl8pPr indent="-342900" lvl="7" marL="3657600" rtl="0">
              <a:spcBef>
                <a:spcPts val="360"/>
              </a:spcBef>
              <a:spcAft>
                <a:spcPts val="0"/>
              </a:spcAft>
              <a:buSzPts val="1800"/>
              <a:buChar char="⚫"/>
              <a:defRPr/>
            </a:lvl8pPr>
            <a:lvl9pPr indent="-342900" lvl="8" marL="4114800" rtl="0">
              <a:spcBef>
                <a:spcPts val="360"/>
              </a:spcBef>
              <a:spcAft>
                <a:spcPts val="0"/>
              </a:spcAft>
              <a:buSzPts val="1800"/>
              <a:buChar char="⚫"/>
              <a:defRPr/>
            </a:lvl9pPr>
          </a:lstStyle>
          <a:p/>
        </p:txBody>
      </p:sp>
      <p:sp>
        <p:nvSpPr>
          <p:cNvPr id="99" name="Google Shape;99;p13"/>
          <p:cNvSpPr txBox="1"/>
          <p:nvPr>
            <p:ph idx="12" type="sldNum"/>
          </p:nvPr>
        </p:nvSpPr>
        <p:spPr>
          <a:xfrm>
            <a:off x="8472458" y="4663217"/>
            <a:ext cx="548700" cy="393600"/>
          </a:xfrm>
          <a:prstGeom prst="rect">
            <a:avLst/>
          </a:prstGeom>
        </p:spPr>
        <p:txBody>
          <a:bodyPr anchorCtr="0" anchor="b" bIns="0" lIns="91425" spcFirstLastPara="1" rIns="91425" wrap="square" tIns="457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4" name="Shape 104"/>
        <p:cNvGrpSpPr/>
        <p:nvPr/>
      </p:nvGrpSpPr>
      <p:grpSpPr>
        <a:xfrm>
          <a:off x="0" y="0"/>
          <a:ext cx="0" cy="0"/>
          <a:chOff x="0" y="0"/>
          <a:chExt cx="0" cy="0"/>
        </a:xfrm>
      </p:grpSpPr>
      <p:sp>
        <p:nvSpPr>
          <p:cNvPr id="105" name="Google Shape;10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6" name="Google Shape;10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7" name="Google Shape;10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8" name="Shape 108"/>
        <p:cNvGrpSpPr/>
        <p:nvPr/>
      </p:nvGrpSpPr>
      <p:grpSpPr>
        <a:xfrm>
          <a:off x="0" y="0"/>
          <a:ext cx="0" cy="0"/>
          <a:chOff x="0" y="0"/>
          <a:chExt cx="0" cy="0"/>
        </a:xfrm>
      </p:grpSpPr>
      <p:sp>
        <p:nvSpPr>
          <p:cNvPr id="109" name="Google Shape;109;p1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0" name="Google Shape;110;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4" name="Google Shape;11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5" name="Shape 115"/>
        <p:cNvGrpSpPr/>
        <p:nvPr/>
      </p:nvGrpSpPr>
      <p:grpSpPr>
        <a:xfrm>
          <a:off x="0" y="0"/>
          <a:ext cx="0" cy="0"/>
          <a:chOff x="0" y="0"/>
          <a:chExt cx="0" cy="0"/>
        </a:xfrm>
      </p:grpSpPr>
      <p:sp>
        <p:nvSpPr>
          <p:cNvPr id="116" name="Google Shape;11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7" name="Google Shape;117;p1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8" name="Google Shape;118;p1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9" name="Google Shape;11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2" name="Google Shape;12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3" name="Shape 123"/>
        <p:cNvGrpSpPr/>
        <p:nvPr/>
      </p:nvGrpSpPr>
      <p:grpSpPr>
        <a:xfrm>
          <a:off x="0" y="0"/>
          <a:ext cx="0" cy="0"/>
          <a:chOff x="0" y="0"/>
          <a:chExt cx="0" cy="0"/>
        </a:xfrm>
      </p:grpSpPr>
      <p:sp>
        <p:nvSpPr>
          <p:cNvPr id="124" name="Google Shape;124;p2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5" name="Google Shape;125;p2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26" name="Google Shape;12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7" name="Shape 127"/>
        <p:cNvGrpSpPr/>
        <p:nvPr/>
      </p:nvGrpSpPr>
      <p:grpSpPr>
        <a:xfrm>
          <a:off x="0" y="0"/>
          <a:ext cx="0" cy="0"/>
          <a:chOff x="0" y="0"/>
          <a:chExt cx="0" cy="0"/>
        </a:xfrm>
      </p:grpSpPr>
      <p:sp>
        <p:nvSpPr>
          <p:cNvPr id="128" name="Google Shape;128;p2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29" name="Google Shape;12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0" name="Shape 130"/>
        <p:cNvGrpSpPr/>
        <p:nvPr/>
      </p:nvGrpSpPr>
      <p:grpSpPr>
        <a:xfrm>
          <a:off x="0" y="0"/>
          <a:ext cx="0" cy="0"/>
          <a:chOff x="0" y="0"/>
          <a:chExt cx="0" cy="0"/>
        </a:xfrm>
      </p:grpSpPr>
      <p:sp>
        <p:nvSpPr>
          <p:cNvPr id="131" name="Google Shape;131;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33" name="Google Shape;133;p2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4" name="Google Shape;134;p2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5" name="Google Shape;13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6" name="Shape 136"/>
        <p:cNvGrpSpPr/>
        <p:nvPr/>
      </p:nvGrpSpPr>
      <p:grpSpPr>
        <a:xfrm>
          <a:off x="0" y="0"/>
          <a:ext cx="0" cy="0"/>
          <a:chOff x="0" y="0"/>
          <a:chExt cx="0" cy="0"/>
        </a:xfrm>
      </p:grpSpPr>
      <p:sp>
        <p:nvSpPr>
          <p:cNvPr id="137" name="Google Shape;137;p2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38" name="Google Shape;13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9" name="Shape 139"/>
        <p:cNvGrpSpPr/>
        <p:nvPr/>
      </p:nvGrpSpPr>
      <p:grpSpPr>
        <a:xfrm>
          <a:off x="0" y="0"/>
          <a:ext cx="0" cy="0"/>
          <a:chOff x="0" y="0"/>
          <a:chExt cx="0" cy="0"/>
        </a:xfrm>
      </p:grpSpPr>
      <p:sp>
        <p:nvSpPr>
          <p:cNvPr id="140" name="Google Shape;140;p2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41" name="Google Shape;141;p2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3" name="Shape 143"/>
        <p:cNvGrpSpPr/>
        <p:nvPr/>
      </p:nvGrpSpPr>
      <p:grpSpPr>
        <a:xfrm>
          <a:off x="0" y="0"/>
          <a:ext cx="0" cy="0"/>
          <a:chOff x="0" y="0"/>
          <a:chExt cx="0" cy="0"/>
        </a:xfrm>
      </p:grpSpPr>
      <p:sp>
        <p:nvSpPr>
          <p:cNvPr id="144" name="Google Shape;144;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076873"/>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11" name="Google Shape;11;p1"/>
          <p:cNvSpPr/>
          <p:nvPr/>
        </p:nvSpPr>
        <p:spPr>
          <a:xfrm>
            <a:off x="0" y="0"/>
            <a:ext cx="9144000" cy="1075800"/>
          </a:xfrm>
          <a:prstGeom prst="rect">
            <a:avLst/>
          </a:prstGeom>
          <a:solidFill>
            <a:srgbClr val="38761D"/>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12" name="Google Shape;12;p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13" name="Google Shape;13;p1"/>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14" name="Google Shape;14;p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5" name="Google Shape;15;p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1pPr>
            <a:lvl2pPr indent="0" lvl="1"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2pPr>
            <a:lvl3pPr indent="0" lvl="2"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3pPr>
            <a:lvl4pPr indent="0" lvl="3"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4pPr>
            <a:lvl5pPr indent="0" lvl="4"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5pPr>
            <a:lvl6pPr indent="0" lvl="5"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6pPr>
            <a:lvl7pPr indent="0" lvl="6"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7pPr>
            <a:lvl8pPr indent="0" lvl="7"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8pPr>
            <a:lvl9pPr indent="0" lvl="8"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0" name="Shape 100"/>
        <p:cNvGrpSpPr/>
        <p:nvPr/>
      </p:nvGrpSpPr>
      <p:grpSpPr>
        <a:xfrm>
          <a:off x="0" y="0"/>
          <a:ext cx="0" cy="0"/>
          <a:chOff x="0" y="0"/>
          <a:chExt cx="0" cy="0"/>
        </a:xfrm>
      </p:grpSpPr>
      <p:sp>
        <p:nvSpPr>
          <p:cNvPr id="101" name="Google Shape;101;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02" name="Google Shape;102;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03" name="Google Shape;10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7.xml"/><Relationship Id="rId4" Type="http://schemas.openxmlformats.org/officeDocument/2006/relationships/slide" Target="/ppt/slides/slide10.xml"/><Relationship Id="rId5" Type="http://schemas.openxmlformats.org/officeDocument/2006/relationships/slide" Target="/ppt/slides/slide30.xml"/><Relationship Id="rId6" Type="http://schemas.openxmlformats.org/officeDocument/2006/relationships/slide" Target="/ppt/slides/slide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hyperlink" Target="http://www.youtube.com/watch?v=7fHA17DOrBg" TargetMode="External"/><Relationship Id="rId5" Type="http://schemas.openxmlformats.org/officeDocument/2006/relationships/image" Target="../media/image6.jpg"/><Relationship Id="rId6"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hyperlink" Target="http://www.youtube.com/watch?v=TLq79kL9TYs" TargetMode="External"/><Relationship Id="rId5" Type="http://schemas.openxmlformats.org/officeDocument/2006/relationships/image" Target="../media/image2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86E8"/>
        </a:solidFill>
      </p:bgPr>
    </p:bg>
    <p:spTree>
      <p:nvGrpSpPr>
        <p:cNvPr id="148" name="Shape 148"/>
        <p:cNvGrpSpPr/>
        <p:nvPr/>
      </p:nvGrpSpPr>
      <p:grpSpPr>
        <a:xfrm>
          <a:off x="0" y="0"/>
          <a:ext cx="0" cy="0"/>
          <a:chOff x="0" y="0"/>
          <a:chExt cx="0" cy="0"/>
        </a:xfrm>
      </p:grpSpPr>
      <p:sp>
        <p:nvSpPr>
          <p:cNvPr id="149" name="Google Shape;149;p26"/>
          <p:cNvSpPr txBox="1"/>
          <p:nvPr>
            <p:ph type="ctrTitle"/>
          </p:nvPr>
        </p:nvSpPr>
        <p:spPr>
          <a:xfrm>
            <a:off x="311700" y="270475"/>
            <a:ext cx="8520600" cy="1771200"/>
          </a:xfrm>
          <a:prstGeom prst="rect">
            <a:avLst/>
          </a:prstGeom>
          <a:solidFill>
            <a:srgbClr val="FFF2CC"/>
          </a:solidFill>
        </p:spPr>
        <p:txBody>
          <a:bodyPr anchorCtr="0" anchor="b" bIns="91425" lIns="91425" spcFirstLastPara="1" rIns="91425" wrap="square" tIns="91425">
            <a:noAutofit/>
          </a:bodyPr>
          <a:lstStyle/>
          <a:p>
            <a:pPr indent="0" lvl="0" marL="0" rtl="0" algn="ctr">
              <a:spcBef>
                <a:spcPts val="0"/>
              </a:spcBef>
              <a:spcAft>
                <a:spcPts val="0"/>
              </a:spcAft>
              <a:buNone/>
            </a:pPr>
            <a:r>
              <a:rPr lang="en-GB" sz="4800"/>
              <a:t>ONE PERSON IN GROUP-&gt; CLICK USE TEMPLATE</a:t>
            </a:r>
            <a:endParaRPr sz="4800"/>
          </a:p>
        </p:txBody>
      </p:sp>
      <p:sp>
        <p:nvSpPr>
          <p:cNvPr id="150" name="Google Shape;150;p26"/>
          <p:cNvSpPr txBox="1"/>
          <p:nvPr>
            <p:ph idx="1" type="subTitle"/>
          </p:nvPr>
        </p:nvSpPr>
        <p:spPr>
          <a:xfrm>
            <a:off x="78525" y="2238000"/>
            <a:ext cx="8886600" cy="26829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FF00FF"/>
                </a:solidFill>
              </a:rPr>
              <a:t>WHEN THE COPIED TEMPLATE OF THESE SLIDES OPENS IN A NEW TAB:</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ADD YOUR Group NAME TO THE TITLE </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SHARE WITH GROUP MEMBERS (USE SHARE BUTTON)</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COPY THE TITLE AND LINK TO YOUR RECORDS (Digital folder/table of contents)</a:t>
            </a:r>
            <a:endParaRPr sz="2000">
              <a:solidFill>
                <a:srgbClr val="FF00FF"/>
              </a:solidFill>
            </a:endParaRPr>
          </a:p>
          <a:p>
            <a:pPr indent="-342900" lvl="0" marL="457200" rtl="0" algn="l">
              <a:spcBef>
                <a:spcPts val="0"/>
              </a:spcBef>
              <a:spcAft>
                <a:spcPts val="0"/>
              </a:spcAft>
              <a:buClr>
                <a:srgbClr val="00ACC3"/>
              </a:buClr>
              <a:buSzPts val="1800"/>
              <a:buChar char="●"/>
            </a:pPr>
            <a:r>
              <a:rPr lang="en-GB" sz="1800">
                <a:solidFill>
                  <a:srgbClr val="00ACC3"/>
                </a:solidFill>
              </a:rPr>
              <a:t>Remember it is advisable to make a PERSONAL copy and link it when DONE</a:t>
            </a:r>
            <a:endParaRPr sz="1800">
              <a:solidFill>
                <a:srgbClr val="00ACC3"/>
              </a:solidFill>
            </a:endParaRPr>
          </a:p>
        </p:txBody>
      </p:sp>
      <p:cxnSp>
        <p:nvCxnSpPr>
          <p:cNvPr id="151" name="Google Shape;151;p26"/>
          <p:cNvCxnSpPr/>
          <p:nvPr/>
        </p:nvCxnSpPr>
        <p:spPr>
          <a:xfrm flipH="1" rot="10800000">
            <a:off x="8310750" y="475525"/>
            <a:ext cx="693600" cy="1361100"/>
          </a:xfrm>
          <a:prstGeom prst="straightConnector1">
            <a:avLst/>
          </a:prstGeom>
          <a:noFill/>
          <a:ln cap="flat" cmpd="sng" w="152400">
            <a:solidFill>
              <a:srgbClr val="00FFFF"/>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ctrTitle"/>
          </p:nvPr>
        </p:nvSpPr>
        <p:spPr>
          <a:xfrm>
            <a:off x="711650" y="1857787"/>
            <a:ext cx="8077200" cy="1254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Concentration &amp; Molarity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ESSENTIAL QUESTIONS</a:t>
            </a:r>
            <a:endParaRPr/>
          </a:p>
        </p:txBody>
      </p:sp>
      <p:sp>
        <p:nvSpPr>
          <p:cNvPr id="164" name="Google Shape;164;p28"/>
          <p:cNvSpPr txBox="1"/>
          <p:nvPr>
            <p:ph idx="1" type="body"/>
          </p:nvPr>
        </p:nvSpPr>
        <p:spPr>
          <a:xfrm>
            <a:off x="456450" y="1173149"/>
            <a:ext cx="8231100" cy="402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400">
                <a:solidFill>
                  <a:srgbClr val="FF0000"/>
                </a:solidFill>
                <a:latin typeface="Cabin"/>
                <a:ea typeface="Cabin"/>
                <a:cs typeface="Cabin"/>
                <a:sym typeface="Cabin"/>
              </a:rPr>
              <a:t>Remember, you should be able to thoroughly answer these AFTER learning through following resources.</a:t>
            </a:r>
            <a:endParaRPr b="1" sz="2400">
              <a:solidFill>
                <a:srgbClr val="FF0000"/>
              </a:solidFill>
              <a:latin typeface="Cabin"/>
              <a:ea typeface="Cabin"/>
              <a:cs typeface="Cabin"/>
              <a:sym typeface="Cabin"/>
            </a:endParaRPr>
          </a:p>
          <a:p>
            <a:pPr indent="0" lvl="0" marL="0" rtl="0" algn="l">
              <a:spcBef>
                <a:spcPts val="0"/>
              </a:spcBef>
              <a:spcAft>
                <a:spcPts val="0"/>
              </a:spcAft>
              <a:buClr>
                <a:schemeClr val="dk1"/>
              </a:buClr>
              <a:buSzPts val="1100"/>
              <a:buFont typeface="Arial"/>
              <a:buNone/>
            </a:pPr>
            <a:r>
              <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How are concentrations calculated?</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What are the different ways that </a:t>
            </a:r>
            <a:r>
              <a:rPr b="1" lang="en-GB" sz="2400">
                <a:solidFill>
                  <a:srgbClr val="434343"/>
                </a:solidFill>
                <a:latin typeface="Cabin"/>
                <a:ea typeface="Cabin"/>
                <a:cs typeface="Cabin"/>
                <a:sym typeface="Cabin"/>
              </a:rPr>
              <a:t>concentration</a:t>
            </a:r>
            <a:r>
              <a:rPr b="1" lang="en-GB" sz="2400">
                <a:solidFill>
                  <a:srgbClr val="434343"/>
                </a:solidFill>
                <a:latin typeface="Cabin"/>
                <a:ea typeface="Cabin"/>
                <a:cs typeface="Cabin"/>
                <a:sym typeface="Cabin"/>
              </a:rPr>
              <a:t> can be represented (m/m,v/v,m/v)?</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What are the different ways that very small concentrations can be represented (ppm, ppb)?</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How are </a:t>
            </a:r>
            <a:r>
              <a:rPr b="1" lang="en-GB" sz="2400">
                <a:solidFill>
                  <a:srgbClr val="434343"/>
                </a:solidFill>
                <a:latin typeface="Cabin"/>
                <a:ea typeface="Cabin"/>
                <a:cs typeface="Cabin"/>
                <a:sym typeface="Cabin"/>
              </a:rPr>
              <a:t>concentrations</a:t>
            </a:r>
            <a:r>
              <a:rPr b="1" lang="en-GB" sz="2400">
                <a:solidFill>
                  <a:srgbClr val="434343"/>
                </a:solidFill>
                <a:latin typeface="Cabin"/>
                <a:ea typeface="Cabin"/>
                <a:cs typeface="Cabin"/>
                <a:sym typeface="Cabin"/>
              </a:rPr>
              <a:t> for reactions represented (M, mol/L)?</a:t>
            </a:r>
            <a:endParaRPr b="1" sz="2400">
              <a:solidFill>
                <a:srgbClr val="434343"/>
              </a:solidFill>
              <a:latin typeface="Cabin"/>
              <a:ea typeface="Cabin"/>
              <a:cs typeface="Cabin"/>
              <a:sym typeface="Cabin"/>
            </a:endParaRPr>
          </a:p>
          <a:p>
            <a:pPr indent="0" lvl="0" marL="457200" rtl="0" algn="l">
              <a:spcBef>
                <a:spcPts val="0"/>
              </a:spcBef>
              <a:spcAft>
                <a:spcPts val="0"/>
              </a:spcAft>
              <a:buNone/>
            </a:pPr>
            <a:r>
              <a:t/>
            </a:r>
            <a:endParaRPr b="1" sz="2400">
              <a:solidFill>
                <a:srgbClr val="434343"/>
              </a:solidFill>
              <a:latin typeface="Cabin"/>
              <a:ea typeface="Cabin"/>
              <a:cs typeface="Cabin"/>
              <a:sym typeface="Cab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Instructions</a:t>
            </a:r>
            <a:endParaRPr/>
          </a:p>
        </p:txBody>
      </p:sp>
      <p:sp>
        <p:nvSpPr>
          <p:cNvPr id="171" name="Google Shape;171;p29"/>
          <p:cNvSpPr txBox="1"/>
          <p:nvPr>
            <p:ph idx="1" type="body"/>
          </p:nvPr>
        </p:nvSpPr>
        <p:spPr>
          <a:xfrm>
            <a:off x="456450" y="1056174"/>
            <a:ext cx="8231100" cy="40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b="1" sz="1800">
              <a:solidFill>
                <a:srgbClr val="434343"/>
              </a:solidFill>
              <a:latin typeface="Cabin"/>
              <a:ea typeface="Cabin"/>
              <a:cs typeface="Cabin"/>
              <a:sym typeface="Cabin"/>
            </a:endParaRPr>
          </a:p>
          <a:p>
            <a:pPr indent="0" lvl="0" marL="0" rtl="0" algn="l">
              <a:spcBef>
                <a:spcPts val="0"/>
              </a:spcBef>
              <a:spcAft>
                <a:spcPts val="0"/>
              </a:spcAft>
              <a:buClr>
                <a:schemeClr val="dk1"/>
              </a:buClr>
              <a:buSzPts val="1100"/>
              <a:buFont typeface="Arial"/>
              <a:buNone/>
            </a:pPr>
            <a:r>
              <a:rPr b="1" lang="en-GB" sz="2400">
                <a:latin typeface="Questrial"/>
                <a:ea typeface="Questrial"/>
                <a:cs typeface="Questrial"/>
                <a:sym typeface="Questrial"/>
              </a:rPr>
              <a:t>Follow through the </a:t>
            </a:r>
            <a:r>
              <a:rPr b="1" lang="en-GB" sz="2400">
                <a:highlight>
                  <a:srgbClr val="FFFF00"/>
                </a:highlight>
                <a:latin typeface="Questrial"/>
                <a:ea typeface="Questrial"/>
                <a:cs typeface="Questrial"/>
                <a:sym typeface="Questrial"/>
              </a:rPr>
              <a:t>Engage to Apply </a:t>
            </a:r>
            <a:r>
              <a:rPr b="1" lang="en-GB" sz="2400">
                <a:latin typeface="Questrial"/>
                <a:ea typeface="Questrial"/>
                <a:cs typeface="Questrial"/>
                <a:sym typeface="Questrial"/>
              </a:rPr>
              <a:t>resources in order . </a:t>
            </a:r>
            <a:endParaRPr b="1" sz="2400">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Once complete, choose from Extend resources as interested. </a:t>
            </a:r>
            <a:endParaRPr b="1" sz="2400">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Record your learning in your </a:t>
            </a:r>
            <a:r>
              <a:rPr b="1" lang="en-GB" sz="2400">
                <a:highlight>
                  <a:srgbClr val="FFFF00"/>
                </a:highlight>
                <a:latin typeface="Questrial"/>
                <a:ea typeface="Questrial"/>
                <a:cs typeface="Questrial"/>
                <a:sym typeface="Questrial"/>
              </a:rPr>
              <a:t>these slides- Remember to keep track of where to find these slides for studying!</a:t>
            </a:r>
            <a:endParaRPr b="1" sz="2400">
              <a:highlight>
                <a:srgbClr val="FFFF00"/>
              </a:highlight>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Complete the  </a:t>
            </a:r>
            <a:r>
              <a:rPr b="1" lang="en-GB" sz="2400">
                <a:highlight>
                  <a:srgbClr val="FFFF00"/>
                </a:highlight>
                <a:latin typeface="Questrial"/>
                <a:ea typeface="Questrial"/>
                <a:cs typeface="Questrial"/>
                <a:sym typeface="Questrial"/>
              </a:rPr>
              <a:t>Essential Questions Response in the Apply Section</a:t>
            </a:r>
            <a:r>
              <a:rPr b="1" lang="en-GB" sz="2400">
                <a:latin typeface="Questrial"/>
                <a:ea typeface="Questrial"/>
                <a:cs typeface="Questrial"/>
                <a:sym typeface="Questrial"/>
              </a:rPr>
              <a:t>. </a:t>
            </a:r>
            <a:endParaRPr b="1" sz="2400">
              <a:latin typeface="Questrial"/>
              <a:ea typeface="Questrial"/>
              <a:cs typeface="Questrial"/>
              <a:sym typeface="Questrial"/>
            </a:endParaRPr>
          </a:p>
          <a:p>
            <a:pPr indent="-381000" lvl="0" marL="457200" rtl="0" algn="l">
              <a:lnSpc>
                <a:spcPct val="115000"/>
              </a:lnSpc>
              <a:spcBef>
                <a:spcPts val="0"/>
              </a:spcBef>
              <a:spcAft>
                <a:spcPts val="0"/>
              </a:spcAft>
              <a:buSzPts val="2400"/>
              <a:buFont typeface="Questrial"/>
              <a:buChar char="●"/>
            </a:pPr>
            <a:r>
              <a:rPr b="1" lang="en-GB" sz="2400">
                <a:latin typeface="Questrial"/>
                <a:ea typeface="Questrial"/>
                <a:cs typeface="Questrial"/>
                <a:sym typeface="Questrial"/>
              </a:rPr>
              <a:t>Try the Extend section and optional Apply practice as desired to deepen your understanding</a:t>
            </a:r>
            <a:endParaRPr b="1" sz="2400">
              <a:latin typeface="Questrial"/>
              <a:ea typeface="Questrial"/>
              <a:cs typeface="Questrial"/>
              <a:sym typeface="Quest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Hyperdoc Elements</a:t>
            </a:r>
            <a:endParaRPr/>
          </a:p>
        </p:txBody>
      </p:sp>
      <p:sp>
        <p:nvSpPr>
          <p:cNvPr id="178" name="Google Shape;178;p30"/>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Click for quick access to:</a:t>
            </a:r>
            <a:endParaRPr/>
          </a:p>
          <a:p>
            <a:pPr indent="-391160" lvl="0" marL="457200" rtl="0" algn="l">
              <a:spcBef>
                <a:spcPts val="0"/>
              </a:spcBef>
              <a:spcAft>
                <a:spcPts val="0"/>
              </a:spcAft>
              <a:buSzPts val="2560"/>
              <a:buChar char="◼"/>
            </a:pPr>
            <a:r>
              <a:rPr lang="en-GB" u="sng">
                <a:solidFill>
                  <a:schemeClr val="hlink"/>
                </a:solidFill>
                <a:hlinkClick action="ppaction://hlinksldjump" r:id="rId3"/>
              </a:rPr>
              <a:t>Engage</a:t>
            </a:r>
            <a:endParaRPr/>
          </a:p>
          <a:p>
            <a:pPr indent="-391160" lvl="0" marL="457200" rtl="0" algn="l">
              <a:spcBef>
                <a:spcPts val="0"/>
              </a:spcBef>
              <a:spcAft>
                <a:spcPts val="0"/>
              </a:spcAft>
              <a:buSzPts val="2560"/>
              <a:buChar char="◼"/>
            </a:pPr>
            <a:r>
              <a:rPr lang="en-GB" u="sng">
                <a:solidFill>
                  <a:schemeClr val="hlink"/>
                </a:solidFill>
                <a:hlinkClick/>
              </a:rPr>
              <a:t>Explore</a:t>
            </a:r>
            <a:endParaRPr/>
          </a:p>
          <a:p>
            <a:pPr indent="-391160" lvl="0" marL="457200" rtl="0" algn="l">
              <a:spcBef>
                <a:spcPts val="0"/>
              </a:spcBef>
              <a:spcAft>
                <a:spcPts val="0"/>
              </a:spcAft>
              <a:buSzPts val="2560"/>
              <a:buChar char="◼"/>
            </a:pPr>
            <a:r>
              <a:rPr lang="en-GB" u="sng">
                <a:solidFill>
                  <a:schemeClr val="hlink"/>
                </a:solidFill>
                <a:hlinkClick action="ppaction://hlinksldjump" r:id="rId4"/>
              </a:rPr>
              <a:t>Explain</a:t>
            </a:r>
            <a:endParaRPr/>
          </a:p>
          <a:p>
            <a:pPr indent="-391160" lvl="0" marL="457200" rtl="0" algn="l">
              <a:spcBef>
                <a:spcPts val="0"/>
              </a:spcBef>
              <a:spcAft>
                <a:spcPts val="0"/>
              </a:spcAft>
              <a:buSzPts val="2560"/>
              <a:buChar char="◼"/>
            </a:pPr>
            <a:r>
              <a:rPr lang="en-GB" u="sng">
                <a:solidFill>
                  <a:schemeClr val="hlink"/>
                </a:solidFill>
                <a:hlinkClick action="ppaction://hlinksldjump" r:id="rId5"/>
              </a:rPr>
              <a:t>Apply</a:t>
            </a:r>
            <a:endParaRPr/>
          </a:p>
          <a:p>
            <a:pPr indent="-391160" lvl="0" marL="457200" rtl="0" algn="l">
              <a:spcBef>
                <a:spcPts val="0"/>
              </a:spcBef>
              <a:spcAft>
                <a:spcPts val="0"/>
              </a:spcAft>
              <a:buSzPts val="2560"/>
              <a:buChar char="◼"/>
            </a:pPr>
            <a:r>
              <a:rPr lang="en-GB" u="sng">
                <a:solidFill>
                  <a:schemeClr val="hlink"/>
                </a:solidFill>
                <a:hlinkClick action="ppaction://hlinksldjump" r:id="rId6"/>
              </a:rPr>
              <a:t>Extend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400"/>
              <a:t>Terminology - As you encounter terms new to you, define in your own words here, include examples (make them up!)</a:t>
            </a:r>
            <a:endParaRPr sz="2400"/>
          </a:p>
        </p:txBody>
      </p:sp>
      <p:sp>
        <p:nvSpPr>
          <p:cNvPr id="185" name="Google Shape;185;p31"/>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2"/>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1: </a:t>
            </a:r>
            <a:r>
              <a:rPr lang="en-GB" sz="7200"/>
              <a:t>ENGAGE</a:t>
            </a:r>
            <a:endParaRPr sz="7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Part A: 5 minutes</a:t>
            </a:r>
            <a:endParaRPr/>
          </a:p>
        </p:txBody>
      </p:sp>
      <p:sp>
        <p:nvSpPr>
          <p:cNvPr id="198" name="Google Shape;198;p33"/>
          <p:cNvSpPr txBox="1"/>
          <p:nvPr/>
        </p:nvSpPr>
        <p:spPr>
          <a:xfrm>
            <a:off x="246125" y="1078775"/>
            <a:ext cx="8526600" cy="32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solidFill>
                  <a:schemeClr val="dk1"/>
                </a:solidFill>
                <a:latin typeface="Corbel"/>
                <a:ea typeface="Corbel"/>
                <a:cs typeface="Corbel"/>
                <a:sym typeface="Corbel"/>
              </a:rPr>
              <a:t>There is a famous story with Archimedes: </a:t>
            </a:r>
            <a:endParaRPr sz="2100">
              <a:solidFill>
                <a:schemeClr val="dk1"/>
              </a:solidFill>
              <a:latin typeface="Corbel"/>
              <a:ea typeface="Corbel"/>
              <a:cs typeface="Corbel"/>
              <a:sym typeface="Corbel"/>
            </a:endParaRPr>
          </a:p>
        </p:txBody>
      </p:sp>
      <p:pic>
        <p:nvPicPr>
          <p:cNvPr id="199" name="Google Shape;199;p33"/>
          <p:cNvPicPr preferRelativeResize="0"/>
          <p:nvPr/>
        </p:nvPicPr>
        <p:blipFill>
          <a:blip r:embed="rId3">
            <a:alphaModFix/>
          </a:blip>
          <a:stretch>
            <a:fillRect/>
          </a:stretch>
        </p:blipFill>
        <p:spPr>
          <a:xfrm>
            <a:off x="291049" y="3512624"/>
            <a:ext cx="2276950" cy="1560775"/>
          </a:xfrm>
          <a:prstGeom prst="rect">
            <a:avLst/>
          </a:prstGeom>
          <a:noFill/>
          <a:ln>
            <a:noFill/>
          </a:ln>
        </p:spPr>
      </p:pic>
      <p:pic>
        <p:nvPicPr>
          <p:cNvPr id="200" name="Google Shape;200;p33"/>
          <p:cNvPicPr preferRelativeResize="0"/>
          <p:nvPr/>
        </p:nvPicPr>
        <p:blipFill>
          <a:blip r:embed="rId4">
            <a:alphaModFix/>
          </a:blip>
          <a:stretch>
            <a:fillRect/>
          </a:stretch>
        </p:blipFill>
        <p:spPr>
          <a:xfrm>
            <a:off x="365925" y="1728075"/>
            <a:ext cx="1321900" cy="1784551"/>
          </a:xfrm>
          <a:prstGeom prst="rect">
            <a:avLst/>
          </a:prstGeom>
          <a:noFill/>
          <a:ln>
            <a:noFill/>
          </a:ln>
        </p:spPr>
      </p:pic>
      <p:sp>
        <p:nvSpPr>
          <p:cNvPr id="201" name="Google Shape;201;p33"/>
          <p:cNvSpPr txBox="1"/>
          <p:nvPr/>
        </p:nvSpPr>
        <p:spPr>
          <a:xfrm>
            <a:off x="1894200" y="1423275"/>
            <a:ext cx="7060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A </a:t>
            </a:r>
            <a:r>
              <a:rPr lang="en-GB"/>
              <a:t>local tyrant, Hiero, contracts the ancient Greek polymath Archimedes to detect fraud in the manufacture of a golden crown because he suspects his goldsmith replaced some of the gold in his crown and replaced it with silver. Archimedes accepts the challenge and, during a subsequent trip to the public baths, realizes that the more his body sinks into the water, the more water is displaced--making the displaced water an exact measure of his volume. Because gold weighs more than silver, he reasons that a crown mixed with silver would have to be bulkier to reach the same weight as one composed only of gold; therefore it would displace more water than its pure gold counterpart. Realizing he has hit upon a solution, he leapt out of the bath and rushed home naked crying "Eureka! Eureka!" Or, translated: "I've found it! I've found it!"</a:t>
            </a:r>
            <a:endParaRPr/>
          </a:p>
        </p:txBody>
      </p:sp>
      <p:sp>
        <p:nvSpPr>
          <p:cNvPr id="202" name="Google Shape;202;p33"/>
          <p:cNvSpPr txBox="1"/>
          <p:nvPr/>
        </p:nvSpPr>
        <p:spPr>
          <a:xfrm>
            <a:off x="2674800" y="3840550"/>
            <a:ext cx="6363300" cy="1169700"/>
          </a:xfrm>
          <a:prstGeom prst="rect">
            <a:avLst/>
          </a:prstGeom>
          <a:noFill/>
          <a:ln cap="flat" cmpd="sng" w="9525">
            <a:solidFill>
              <a:srgbClr val="93C47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GB" sz="1600">
                <a:solidFill>
                  <a:schemeClr val="dk1"/>
                </a:solidFill>
              </a:rPr>
              <a:t>Discuss with your group:</a:t>
            </a:r>
            <a:r>
              <a:rPr i="1" lang="en-GB" sz="1600">
                <a:solidFill>
                  <a:schemeClr val="dk1"/>
                </a:solidFill>
              </a:rPr>
              <a:t> How might the concept of moles be applied to the scenario of ‘how much’ of something there is in a given volume? In what other </a:t>
            </a:r>
            <a:r>
              <a:rPr i="1" lang="en-GB" sz="1600">
                <a:solidFill>
                  <a:schemeClr val="dk1"/>
                </a:solidFill>
              </a:rPr>
              <a:t>parts</a:t>
            </a:r>
            <a:r>
              <a:rPr i="1" lang="en-GB" sz="1600">
                <a:solidFill>
                  <a:schemeClr val="dk1"/>
                </a:solidFill>
              </a:rPr>
              <a:t> of your life is idea of the ‘amount of stuff’ in a given volume relevant? </a:t>
            </a:r>
            <a:r>
              <a:rPr b="1" i="1" lang="en-GB" sz="1600">
                <a:solidFill>
                  <a:schemeClr val="dk1"/>
                </a:solidFill>
              </a:rPr>
              <a:t>Make a list!</a:t>
            </a:r>
            <a:endParaRPr b="1" i="1" sz="16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Part B: 5 minutes</a:t>
            </a:r>
            <a:endParaRPr/>
          </a:p>
        </p:txBody>
      </p:sp>
      <p:sp>
        <p:nvSpPr>
          <p:cNvPr id="209" name="Google Shape;209;p34"/>
          <p:cNvSpPr txBox="1"/>
          <p:nvPr/>
        </p:nvSpPr>
        <p:spPr>
          <a:xfrm>
            <a:off x="513725" y="3103250"/>
            <a:ext cx="8526600" cy="213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Corbel"/>
                <a:ea typeface="Corbel"/>
                <a:cs typeface="Corbel"/>
                <a:sym typeface="Corbel"/>
              </a:rPr>
              <a:t>In your groups,discuss the advantages and disadvantages for representing concentrations with the two ways above. (hint: think about accuracy, usability, the impacts of temperature [like we learned with solubility], impacts of pressure, solute state of matter etc)</a:t>
            </a:r>
            <a:endParaRPr sz="2100">
              <a:solidFill>
                <a:schemeClr val="dk1"/>
              </a:solidFill>
              <a:latin typeface="Corbel"/>
              <a:ea typeface="Corbel"/>
              <a:cs typeface="Corbel"/>
              <a:sym typeface="Corbel"/>
            </a:endParaRPr>
          </a:p>
          <a:p>
            <a:pPr indent="0" lvl="0" marL="0" rtl="0" algn="ctr">
              <a:spcBef>
                <a:spcPts val="0"/>
              </a:spcBef>
              <a:spcAft>
                <a:spcPts val="0"/>
              </a:spcAft>
              <a:buNone/>
            </a:pPr>
            <a:r>
              <a:t/>
            </a:r>
            <a:endParaRPr sz="2100">
              <a:solidFill>
                <a:schemeClr val="dk1"/>
              </a:solidFill>
              <a:latin typeface="Corbel"/>
              <a:ea typeface="Corbel"/>
              <a:cs typeface="Corbel"/>
              <a:sym typeface="Corbel"/>
            </a:endParaRPr>
          </a:p>
          <a:p>
            <a:pPr indent="0" lvl="0" marL="0" rtl="0" algn="ctr">
              <a:spcBef>
                <a:spcPts val="0"/>
              </a:spcBef>
              <a:spcAft>
                <a:spcPts val="0"/>
              </a:spcAft>
              <a:buNone/>
            </a:pPr>
            <a:r>
              <a:rPr lang="en-GB" sz="2100">
                <a:solidFill>
                  <a:schemeClr val="dk1"/>
                </a:solidFill>
                <a:latin typeface="Corbel"/>
                <a:ea typeface="Corbel"/>
                <a:cs typeface="Corbel"/>
                <a:sym typeface="Corbel"/>
              </a:rPr>
              <a:t>Give as many ideas as you can, correct or not! (don’t self edit!)</a:t>
            </a:r>
            <a:endParaRPr sz="2100">
              <a:solidFill>
                <a:schemeClr val="dk1"/>
              </a:solidFill>
              <a:latin typeface="Corbel"/>
              <a:ea typeface="Corbel"/>
              <a:cs typeface="Corbel"/>
              <a:sym typeface="Corbel"/>
            </a:endParaRPr>
          </a:p>
          <a:p>
            <a:pPr indent="0" lvl="0" marL="0" rtl="0" algn="l">
              <a:spcBef>
                <a:spcPts val="0"/>
              </a:spcBef>
              <a:spcAft>
                <a:spcPts val="0"/>
              </a:spcAft>
              <a:buNone/>
            </a:pPr>
            <a:r>
              <a:t/>
            </a:r>
            <a:endParaRPr sz="2100">
              <a:solidFill>
                <a:schemeClr val="dk1"/>
              </a:solidFill>
              <a:latin typeface="Corbel"/>
              <a:ea typeface="Corbel"/>
              <a:cs typeface="Corbel"/>
              <a:sym typeface="Corbel"/>
            </a:endParaRPr>
          </a:p>
        </p:txBody>
      </p:sp>
      <p:pic>
        <p:nvPicPr>
          <p:cNvPr id="210" name="Google Shape;210;p34"/>
          <p:cNvPicPr preferRelativeResize="0"/>
          <p:nvPr/>
        </p:nvPicPr>
        <p:blipFill>
          <a:blip r:embed="rId3">
            <a:alphaModFix/>
          </a:blip>
          <a:stretch>
            <a:fillRect/>
          </a:stretch>
        </p:blipFill>
        <p:spPr>
          <a:xfrm>
            <a:off x="1512425" y="1154975"/>
            <a:ext cx="6529199" cy="1948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2: EXPLORE</a:t>
            </a:r>
            <a:endParaRPr sz="7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What is concentration?</a:t>
            </a:r>
            <a:endParaRPr/>
          </a:p>
        </p:txBody>
      </p:sp>
      <p:sp>
        <p:nvSpPr>
          <p:cNvPr id="223" name="Google Shape;223;p36"/>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sp>
        <p:nvSpPr>
          <p:cNvPr id="224" name="Google Shape;224;p36"/>
          <p:cNvSpPr txBox="1"/>
          <p:nvPr/>
        </p:nvSpPr>
        <p:spPr>
          <a:xfrm>
            <a:off x="246125" y="1231175"/>
            <a:ext cx="8617800" cy="2706900"/>
          </a:xfrm>
          <a:prstGeom prst="rect">
            <a:avLst/>
          </a:prstGeom>
          <a:noFill/>
          <a:ln>
            <a:noFill/>
          </a:ln>
        </p:spPr>
        <p:txBody>
          <a:bodyPr anchorCtr="0" anchor="t" bIns="91425" lIns="91425" spcFirstLastPara="1" rIns="91425" wrap="square" tIns="91425">
            <a:spAutoFit/>
          </a:bodyPr>
          <a:lstStyle/>
          <a:p>
            <a:pPr indent="0" lvl="0" marL="0" marR="2959100" rtl="0" algn="l">
              <a:lnSpc>
                <a:spcPct val="115000"/>
              </a:lnSpc>
              <a:spcBef>
                <a:spcPts val="1600"/>
              </a:spcBef>
              <a:spcAft>
                <a:spcPts val="0"/>
              </a:spcAft>
              <a:buClr>
                <a:schemeClr val="dk1"/>
              </a:buClr>
              <a:buSzPts val="1100"/>
              <a:buFont typeface="Arial"/>
              <a:buNone/>
            </a:pPr>
            <a:r>
              <a:rPr lang="en-GB" sz="1800">
                <a:solidFill>
                  <a:schemeClr val="dk1"/>
                </a:solidFill>
              </a:rPr>
              <a:t>One way to describe solutions (qualitatively) is with the following terms:</a:t>
            </a:r>
            <a:endParaRPr sz="1800">
              <a:solidFill>
                <a:schemeClr val="dk1"/>
              </a:solidFill>
            </a:endParaRPr>
          </a:p>
          <a:p>
            <a:pPr indent="0" lvl="0" marL="12700" marR="38100" rtl="0" algn="l">
              <a:lnSpc>
                <a:spcPct val="115000"/>
              </a:lnSpc>
              <a:spcBef>
                <a:spcPts val="1600"/>
              </a:spcBef>
              <a:spcAft>
                <a:spcPts val="0"/>
              </a:spcAft>
              <a:buClr>
                <a:schemeClr val="dk1"/>
              </a:buClr>
              <a:buSzPts val="1100"/>
              <a:buFont typeface="Arial"/>
              <a:buNone/>
            </a:pPr>
            <a:r>
              <a:rPr lang="en-GB" sz="1800">
                <a:solidFill>
                  <a:schemeClr val="dk1"/>
                </a:solidFill>
              </a:rPr>
              <a:t>➢</a:t>
            </a:r>
            <a:r>
              <a:rPr b="1" lang="en-GB" sz="1800">
                <a:solidFill>
                  <a:schemeClr val="dk1"/>
                </a:solidFill>
              </a:rPr>
              <a:t>Concentrated:</a:t>
            </a:r>
            <a:r>
              <a:rPr lang="en-GB" sz="1800">
                <a:solidFill>
                  <a:schemeClr val="dk1"/>
                </a:solidFill>
              </a:rPr>
              <a:t> </a:t>
            </a:r>
            <a:r>
              <a:rPr i="1" lang="en-GB" sz="1800">
                <a:solidFill>
                  <a:schemeClr val="dk1"/>
                </a:solidFill>
              </a:rPr>
              <a:t>high ratio of solute to solvent</a:t>
            </a:r>
            <a:endParaRPr i="1" sz="1800">
              <a:solidFill>
                <a:schemeClr val="dk1"/>
              </a:solidFill>
            </a:endParaRPr>
          </a:p>
          <a:p>
            <a:pPr indent="0" lvl="0" marL="25400" marR="38100" rtl="0" algn="l">
              <a:lnSpc>
                <a:spcPct val="115000"/>
              </a:lnSpc>
              <a:spcBef>
                <a:spcPts val="0"/>
              </a:spcBef>
              <a:spcAft>
                <a:spcPts val="0"/>
              </a:spcAft>
              <a:buClr>
                <a:schemeClr val="dk1"/>
              </a:buClr>
              <a:buSzPts val="1100"/>
              <a:buFont typeface="Arial"/>
              <a:buNone/>
            </a:pPr>
            <a:r>
              <a:rPr lang="en-GB" sz="1800">
                <a:solidFill>
                  <a:schemeClr val="dk1"/>
                </a:solidFill>
              </a:rPr>
              <a:t>○</a:t>
            </a:r>
            <a:r>
              <a:rPr i="1" lang="en-GB" sz="1800">
                <a:solidFill>
                  <a:schemeClr val="dk1"/>
                </a:solidFill>
              </a:rPr>
              <a:t>ie. lots of solute in the solvent</a:t>
            </a:r>
            <a:endParaRPr i="1" sz="1800">
              <a:solidFill>
                <a:schemeClr val="dk1"/>
              </a:solidFill>
            </a:endParaRPr>
          </a:p>
          <a:p>
            <a:pPr indent="0" lvl="0" marL="12700" marR="38100" rtl="0" algn="l">
              <a:lnSpc>
                <a:spcPct val="115000"/>
              </a:lnSpc>
              <a:spcBef>
                <a:spcPts val="1000"/>
              </a:spcBef>
              <a:spcAft>
                <a:spcPts val="0"/>
              </a:spcAft>
              <a:buClr>
                <a:schemeClr val="dk1"/>
              </a:buClr>
              <a:buSzPts val="1100"/>
              <a:buFont typeface="Arial"/>
              <a:buNone/>
            </a:pPr>
            <a:r>
              <a:rPr lang="en-GB" sz="1800">
                <a:solidFill>
                  <a:schemeClr val="dk1"/>
                </a:solidFill>
              </a:rPr>
              <a:t>➢</a:t>
            </a:r>
            <a:r>
              <a:rPr b="1" lang="en-GB" sz="1800">
                <a:solidFill>
                  <a:schemeClr val="dk1"/>
                </a:solidFill>
              </a:rPr>
              <a:t>Dilute:</a:t>
            </a:r>
            <a:r>
              <a:rPr lang="en-GB" sz="1800">
                <a:solidFill>
                  <a:schemeClr val="dk1"/>
                </a:solidFill>
              </a:rPr>
              <a:t> </a:t>
            </a:r>
            <a:r>
              <a:rPr i="1" lang="en-GB" sz="1800">
                <a:solidFill>
                  <a:schemeClr val="dk1"/>
                </a:solidFill>
              </a:rPr>
              <a:t>low ratio of solute to solvent</a:t>
            </a:r>
            <a:endParaRPr i="1" sz="1800">
              <a:solidFill>
                <a:schemeClr val="dk1"/>
              </a:solidFill>
            </a:endParaRPr>
          </a:p>
          <a:p>
            <a:pPr indent="0" lvl="0" marL="25400" marR="38100" rtl="0" algn="l">
              <a:lnSpc>
                <a:spcPct val="115000"/>
              </a:lnSpc>
              <a:spcBef>
                <a:spcPts val="0"/>
              </a:spcBef>
              <a:spcAft>
                <a:spcPts val="0"/>
              </a:spcAft>
              <a:buClr>
                <a:schemeClr val="dk1"/>
              </a:buClr>
              <a:buSzPts val="1100"/>
              <a:buFont typeface="Arial"/>
              <a:buNone/>
            </a:pPr>
            <a:r>
              <a:rPr lang="en-GB" sz="1800">
                <a:solidFill>
                  <a:schemeClr val="dk1"/>
                </a:solidFill>
              </a:rPr>
              <a:t>○</a:t>
            </a:r>
            <a:r>
              <a:rPr i="1" lang="en-GB" sz="1800">
                <a:solidFill>
                  <a:schemeClr val="dk1"/>
                </a:solidFill>
              </a:rPr>
              <a:t>ie. small amount of solute in the solvent</a:t>
            </a:r>
            <a:endParaRPr i="1" sz="1800">
              <a:solidFill>
                <a:schemeClr val="dk1"/>
              </a:solidFill>
            </a:endParaRPr>
          </a:p>
          <a:p>
            <a:pPr indent="0" lvl="0" marL="0" rtl="0" algn="l">
              <a:spcBef>
                <a:spcPts val="0"/>
              </a:spcBef>
              <a:spcAft>
                <a:spcPts val="0"/>
              </a:spcAft>
              <a:buNone/>
            </a:pPr>
            <a:r>
              <a:t/>
            </a:r>
            <a:endParaRPr sz="1800">
              <a:solidFill>
                <a:schemeClr val="dk1"/>
              </a:solidFill>
              <a:latin typeface="Corbel"/>
              <a:ea typeface="Corbel"/>
              <a:cs typeface="Corbel"/>
              <a:sym typeface="Corbel"/>
            </a:endParaRPr>
          </a:p>
        </p:txBody>
      </p:sp>
      <p:pic>
        <p:nvPicPr>
          <p:cNvPr id="225" name="Google Shape;225;p36"/>
          <p:cNvPicPr preferRelativeResize="0"/>
          <p:nvPr/>
        </p:nvPicPr>
        <p:blipFill>
          <a:blip r:embed="rId3">
            <a:alphaModFix/>
          </a:blip>
          <a:stretch>
            <a:fillRect/>
          </a:stretch>
        </p:blipFill>
        <p:spPr>
          <a:xfrm>
            <a:off x="5288651" y="1649700"/>
            <a:ext cx="3328095" cy="32522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000"/>
              <a:t>Explore - Quantifying Concentration</a:t>
            </a:r>
            <a:endParaRPr sz="4000"/>
          </a:p>
        </p:txBody>
      </p:sp>
      <p:sp>
        <p:nvSpPr>
          <p:cNvPr id="232" name="Google Shape;232;p37"/>
          <p:cNvSpPr txBox="1"/>
          <p:nvPr/>
        </p:nvSpPr>
        <p:spPr>
          <a:xfrm>
            <a:off x="457200" y="1418350"/>
            <a:ext cx="8526600" cy="325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800">
                <a:solidFill>
                  <a:schemeClr val="dk1"/>
                </a:solidFill>
              </a:rPr>
              <a:t>We can also </a:t>
            </a:r>
            <a:r>
              <a:rPr lang="en-GB" sz="1800" u="sng">
                <a:solidFill>
                  <a:schemeClr val="dk1"/>
                </a:solidFill>
              </a:rPr>
              <a:t>quantify (put a number to) Concentration</a:t>
            </a:r>
            <a:endParaRPr sz="1800" u="sng">
              <a:solidFill>
                <a:schemeClr val="dk1"/>
              </a:solidFill>
            </a:endParaRPr>
          </a:p>
          <a:p>
            <a:pPr indent="0" lvl="0" marL="0" marR="3136900" rtl="0" algn="l">
              <a:lnSpc>
                <a:spcPct val="115000"/>
              </a:lnSpc>
              <a:spcBef>
                <a:spcPts val="1000"/>
              </a:spcBef>
              <a:spcAft>
                <a:spcPts val="0"/>
              </a:spcAft>
              <a:buClr>
                <a:schemeClr val="dk1"/>
              </a:buClr>
              <a:buSzPts val="1100"/>
              <a:buFont typeface="Arial"/>
              <a:buNone/>
            </a:pPr>
            <a:r>
              <a:rPr lang="en-GB" sz="1800">
                <a:solidFill>
                  <a:schemeClr val="dk1"/>
                </a:solidFill>
              </a:rPr>
              <a:t>This can take many forms:</a:t>
            </a:r>
            <a:endParaRPr sz="1800">
              <a:solidFill>
                <a:schemeClr val="dk1"/>
              </a:solidFill>
            </a:endParaRPr>
          </a:p>
          <a:p>
            <a:pPr indent="0" lvl="0" marL="12700" marR="38100" rtl="0" algn="l">
              <a:lnSpc>
                <a:spcPct val="115000"/>
              </a:lnSpc>
              <a:spcBef>
                <a:spcPts val="1000"/>
              </a:spcBef>
              <a:spcAft>
                <a:spcPts val="0"/>
              </a:spcAft>
              <a:buClr>
                <a:schemeClr val="dk1"/>
              </a:buClr>
              <a:buSzPts val="1100"/>
              <a:buFont typeface="Arial"/>
              <a:buNone/>
            </a:pPr>
            <a:r>
              <a:rPr lang="en-GB" sz="1800">
                <a:solidFill>
                  <a:schemeClr val="dk1"/>
                </a:solidFill>
              </a:rPr>
              <a:t>➢Percent concentrations (v/v, m/v, m/m)</a:t>
            </a:r>
            <a:endParaRPr sz="1800">
              <a:solidFill>
                <a:schemeClr val="dk1"/>
              </a:solidFill>
            </a:endParaRPr>
          </a:p>
          <a:p>
            <a:pPr indent="0" lvl="0" marL="12700" marR="38100" rtl="0" algn="l">
              <a:lnSpc>
                <a:spcPct val="115000"/>
              </a:lnSpc>
              <a:spcBef>
                <a:spcPts val="1000"/>
              </a:spcBef>
              <a:spcAft>
                <a:spcPts val="0"/>
              </a:spcAft>
              <a:buClr>
                <a:schemeClr val="dk1"/>
              </a:buClr>
              <a:buSzPts val="1100"/>
              <a:buFont typeface="Arial"/>
              <a:buNone/>
            </a:pPr>
            <a:r>
              <a:rPr lang="en-GB" sz="1800">
                <a:solidFill>
                  <a:schemeClr val="dk1"/>
                </a:solidFill>
              </a:rPr>
              <a:t>➢Parts per mass (ppm, ppb)</a:t>
            </a:r>
            <a:endParaRPr sz="1800">
              <a:solidFill>
                <a:schemeClr val="dk1"/>
              </a:solidFill>
            </a:endParaRPr>
          </a:p>
          <a:p>
            <a:pPr indent="0" lvl="0" marL="12700" marR="38100" rtl="0" algn="l">
              <a:lnSpc>
                <a:spcPct val="115000"/>
              </a:lnSpc>
              <a:spcBef>
                <a:spcPts val="1000"/>
              </a:spcBef>
              <a:spcAft>
                <a:spcPts val="0"/>
              </a:spcAft>
              <a:buNone/>
            </a:pPr>
            <a:r>
              <a:rPr lang="en-GB" sz="1800">
                <a:solidFill>
                  <a:schemeClr val="dk1"/>
                </a:solidFill>
              </a:rPr>
              <a:t>➢Molar concentration (mol/L or M)</a:t>
            </a:r>
            <a:endParaRPr sz="1800">
              <a:solidFill>
                <a:schemeClr val="dk1"/>
              </a:solidFill>
            </a:endParaRPr>
          </a:p>
          <a:p>
            <a:pPr indent="-342900" lvl="0" marL="914400" marR="38100" rtl="0" algn="l">
              <a:lnSpc>
                <a:spcPct val="115000"/>
              </a:lnSpc>
              <a:spcBef>
                <a:spcPts val="1000"/>
              </a:spcBef>
              <a:spcAft>
                <a:spcPts val="0"/>
              </a:spcAft>
              <a:buClr>
                <a:schemeClr val="dk1"/>
              </a:buClr>
              <a:buSzPts val="1800"/>
              <a:buChar char="●"/>
            </a:pPr>
            <a:r>
              <a:rPr lang="en-GB" sz="1800">
                <a:solidFill>
                  <a:schemeClr val="dk1"/>
                </a:solidFill>
              </a:rPr>
              <a:t>Most used in science</a:t>
            </a:r>
            <a:endParaRPr sz="1800">
              <a:solidFill>
                <a:schemeClr val="dk1"/>
              </a:solidFill>
            </a:endParaRPr>
          </a:p>
          <a:p>
            <a:pPr indent="0" lvl="0" marL="0" rtl="0" algn="l">
              <a:spcBef>
                <a:spcPts val="1000"/>
              </a:spcBef>
              <a:spcAft>
                <a:spcPts val="0"/>
              </a:spcAft>
              <a:buNone/>
            </a:pPr>
            <a:r>
              <a:t/>
            </a:r>
            <a:endParaRPr b="1" sz="2200">
              <a:solidFill>
                <a:schemeClr val="dk1"/>
              </a:solidFill>
              <a:latin typeface="Corbel"/>
              <a:ea typeface="Corbel"/>
              <a:cs typeface="Corbel"/>
              <a:sym typeface="Corbel"/>
            </a:endParaRPr>
          </a:p>
        </p:txBody>
      </p:sp>
      <p:pic>
        <p:nvPicPr>
          <p:cNvPr id="233" name="Google Shape;233;p37"/>
          <p:cNvPicPr preferRelativeResize="0"/>
          <p:nvPr/>
        </p:nvPicPr>
        <p:blipFill>
          <a:blip r:embed="rId3">
            <a:alphaModFix/>
          </a:blip>
          <a:stretch>
            <a:fillRect/>
          </a:stretch>
        </p:blipFill>
        <p:spPr>
          <a:xfrm>
            <a:off x="5988800" y="1118125"/>
            <a:ext cx="2995001" cy="4125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Percent Concentration</a:t>
            </a:r>
            <a:endParaRPr/>
          </a:p>
        </p:txBody>
      </p:sp>
      <p:sp>
        <p:nvSpPr>
          <p:cNvPr id="240" name="Google Shape;240;p38"/>
          <p:cNvSpPr txBox="1"/>
          <p:nvPr/>
        </p:nvSpPr>
        <p:spPr>
          <a:xfrm>
            <a:off x="172175" y="1385075"/>
            <a:ext cx="8640000" cy="328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800">
                <a:solidFill>
                  <a:schemeClr val="dk1"/>
                </a:solidFill>
              </a:rPr>
              <a:t>Percent Concentrations</a:t>
            </a:r>
            <a:r>
              <a:rPr lang="en-GB" sz="1800">
                <a:solidFill>
                  <a:schemeClr val="dk1"/>
                </a:solidFill>
              </a:rPr>
              <a:t> - ratio of </a:t>
            </a:r>
            <a:r>
              <a:rPr b="1" lang="en-GB" sz="1800">
                <a:solidFill>
                  <a:schemeClr val="dk1"/>
                </a:solidFill>
              </a:rPr>
              <a:t>solute</a:t>
            </a:r>
            <a:r>
              <a:rPr lang="en-GB" sz="1800">
                <a:solidFill>
                  <a:schemeClr val="dk1"/>
                </a:solidFill>
              </a:rPr>
              <a:t> to </a:t>
            </a:r>
            <a:r>
              <a:rPr b="1" lang="en-GB" sz="1800">
                <a:solidFill>
                  <a:schemeClr val="dk1"/>
                </a:solidFill>
              </a:rPr>
              <a:t>solvent</a:t>
            </a:r>
            <a:r>
              <a:rPr lang="en-GB" sz="1800">
                <a:solidFill>
                  <a:schemeClr val="dk1"/>
                </a:solidFill>
              </a:rPr>
              <a:t>, expressed as a percentage. </a:t>
            </a:r>
            <a:endParaRPr sz="1800">
              <a:solidFill>
                <a:schemeClr val="dk1"/>
              </a:solidFill>
            </a:endParaRPr>
          </a:p>
          <a:p>
            <a:pPr indent="0" lvl="0" marL="12700" rtl="0" algn="l">
              <a:lnSpc>
                <a:spcPct val="115000"/>
              </a:lnSpc>
              <a:spcBef>
                <a:spcPts val="1600"/>
              </a:spcBef>
              <a:spcAft>
                <a:spcPts val="0"/>
              </a:spcAft>
              <a:buNone/>
            </a:pPr>
            <a:r>
              <a:rPr lang="en-GB" sz="1800">
                <a:solidFill>
                  <a:srgbClr val="FF9900"/>
                </a:solidFill>
              </a:rPr>
              <a:t>1.</a:t>
            </a:r>
            <a:r>
              <a:rPr b="1" lang="en-GB" sz="1800">
                <a:solidFill>
                  <a:schemeClr val="dk1"/>
                </a:solidFill>
              </a:rPr>
              <a:t>Mass Percent (m/m%)</a:t>
            </a:r>
            <a:endParaRPr b="1" sz="1800">
              <a:solidFill>
                <a:schemeClr val="dk1"/>
              </a:solidFill>
            </a:endParaRPr>
          </a:p>
          <a:p>
            <a:pPr indent="431800" lvl="0" marL="25400" rtl="0" algn="l">
              <a:lnSpc>
                <a:spcPct val="115000"/>
              </a:lnSpc>
              <a:spcBef>
                <a:spcPts val="0"/>
              </a:spcBef>
              <a:spcAft>
                <a:spcPts val="0"/>
              </a:spcAft>
              <a:buNone/>
            </a:pPr>
            <a:r>
              <a:rPr lang="en-GB" sz="1800">
                <a:solidFill>
                  <a:schemeClr val="dk1"/>
                </a:solidFill>
              </a:rPr>
              <a:t>➢</a:t>
            </a:r>
            <a:r>
              <a:rPr i="1" lang="en-GB" sz="1800">
                <a:solidFill>
                  <a:schemeClr val="dk1"/>
                </a:solidFill>
              </a:rPr>
              <a:t>ratio of the </a:t>
            </a:r>
            <a:r>
              <a:rPr i="1" lang="en-GB" sz="1800" u="sng">
                <a:solidFill>
                  <a:schemeClr val="dk1"/>
                </a:solidFill>
              </a:rPr>
              <a:t>mass of the </a:t>
            </a:r>
            <a:r>
              <a:rPr b="1" i="1" lang="en-GB" sz="1800" u="sng">
                <a:solidFill>
                  <a:schemeClr val="dk1"/>
                </a:solidFill>
              </a:rPr>
              <a:t>solute</a:t>
            </a:r>
            <a:r>
              <a:rPr i="1" lang="en-GB" sz="1800">
                <a:solidFill>
                  <a:schemeClr val="dk1"/>
                </a:solidFill>
              </a:rPr>
              <a:t> to the </a:t>
            </a:r>
            <a:r>
              <a:rPr i="1" lang="en-GB" sz="1800" u="sng">
                <a:solidFill>
                  <a:schemeClr val="dk1"/>
                </a:solidFill>
              </a:rPr>
              <a:t>mass of the </a:t>
            </a:r>
            <a:r>
              <a:rPr b="1" i="1" lang="en-GB" sz="1800" u="sng">
                <a:solidFill>
                  <a:schemeClr val="dk1"/>
                </a:solidFill>
              </a:rPr>
              <a:t>solution</a:t>
            </a:r>
            <a:endParaRPr b="1" i="1" sz="1800" u="sng">
              <a:solidFill>
                <a:schemeClr val="dk1"/>
              </a:solidFill>
            </a:endParaRPr>
          </a:p>
          <a:p>
            <a:pPr indent="0" lvl="0" marL="12700" rtl="0" algn="l">
              <a:lnSpc>
                <a:spcPct val="115000"/>
              </a:lnSpc>
              <a:spcBef>
                <a:spcPts val="1000"/>
              </a:spcBef>
              <a:spcAft>
                <a:spcPts val="0"/>
              </a:spcAft>
              <a:buNone/>
            </a:pPr>
            <a:r>
              <a:rPr lang="en-GB" sz="1800">
                <a:solidFill>
                  <a:srgbClr val="FF9900"/>
                </a:solidFill>
              </a:rPr>
              <a:t>2.</a:t>
            </a:r>
            <a:r>
              <a:rPr b="1" lang="en-GB" sz="1800">
                <a:solidFill>
                  <a:schemeClr val="dk1"/>
                </a:solidFill>
              </a:rPr>
              <a:t>Volume Percent (v/v%)</a:t>
            </a:r>
            <a:endParaRPr b="1" sz="1800">
              <a:solidFill>
                <a:schemeClr val="dk1"/>
              </a:solidFill>
            </a:endParaRPr>
          </a:p>
          <a:p>
            <a:pPr indent="431800" lvl="0" marL="25400" rtl="0" algn="l">
              <a:lnSpc>
                <a:spcPct val="115000"/>
              </a:lnSpc>
              <a:spcBef>
                <a:spcPts val="0"/>
              </a:spcBef>
              <a:spcAft>
                <a:spcPts val="0"/>
              </a:spcAft>
              <a:buNone/>
            </a:pPr>
            <a:r>
              <a:rPr lang="en-GB" sz="1800">
                <a:solidFill>
                  <a:schemeClr val="dk1"/>
                </a:solidFill>
              </a:rPr>
              <a:t>➢</a:t>
            </a:r>
            <a:r>
              <a:rPr i="1" lang="en-GB" sz="1800">
                <a:solidFill>
                  <a:schemeClr val="dk1"/>
                </a:solidFill>
              </a:rPr>
              <a:t>ratio of the </a:t>
            </a:r>
            <a:r>
              <a:rPr i="1" lang="en-GB" sz="1800" u="sng">
                <a:solidFill>
                  <a:schemeClr val="dk1"/>
                </a:solidFill>
              </a:rPr>
              <a:t>volume of the </a:t>
            </a:r>
            <a:r>
              <a:rPr b="1" i="1" lang="en-GB" sz="1800" u="sng">
                <a:solidFill>
                  <a:schemeClr val="dk1"/>
                </a:solidFill>
              </a:rPr>
              <a:t>solute</a:t>
            </a:r>
            <a:r>
              <a:rPr i="1" lang="en-GB" sz="1800">
                <a:solidFill>
                  <a:schemeClr val="dk1"/>
                </a:solidFill>
              </a:rPr>
              <a:t> to the </a:t>
            </a:r>
            <a:r>
              <a:rPr i="1" lang="en-GB" sz="1800" u="sng">
                <a:solidFill>
                  <a:schemeClr val="dk1"/>
                </a:solidFill>
              </a:rPr>
              <a:t>volume of the </a:t>
            </a:r>
            <a:r>
              <a:rPr b="1" i="1" lang="en-GB" sz="1800" u="sng">
                <a:solidFill>
                  <a:schemeClr val="dk1"/>
                </a:solidFill>
              </a:rPr>
              <a:t>solution</a:t>
            </a:r>
            <a:endParaRPr b="1" i="1" sz="1800" u="sng">
              <a:solidFill>
                <a:schemeClr val="dk1"/>
              </a:solidFill>
            </a:endParaRPr>
          </a:p>
          <a:p>
            <a:pPr indent="0" lvl="0" marL="12700" rtl="0" algn="l">
              <a:lnSpc>
                <a:spcPct val="115000"/>
              </a:lnSpc>
              <a:spcBef>
                <a:spcPts val="1000"/>
              </a:spcBef>
              <a:spcAft>
                <a:spcPts val="0"/>
              </a:spcAft>
              <a:buNone/>
            </a:pPr>
            <a:r>
              <a:rPr lang="en-GB" sz="1800">
                <a:solidFill>
                  <a:srgbClr val="FF9900"/>
                </a:solidFill>
              </a:rPr>
              <a:t>3.</a:t>
            </a:r>
            <a:r>
              <a:rPr b="1" lang="en-GB" sz="1800">
                <a:solidFill>
                  <a:schemeClr val="dk1"/>
                </a:solidFill>
              </a:rPr>
              <a:t>Mass/Volume Percent (m/v%)</a:t>
            </a:r>
            <a:endParaRPr b="1" sz="1800">
              <a:solidFill>
                <a:schemeClr val="dk1"/>
              </a:solidFill>
            </a:endParaRPr>
          </a:p>
          <a:p>
            <a:pPr indent="431800" lvl="0" marL="25400" rtl="0" algn="l">
              <a:lnSpc>
                <a:spcPct val="115000"/>
              </a:lnSpc>
              <a:spcBef>
                <a:spcPts val="0"/>
              </a:spcBef>
              <a:spcAft>
                <a:spcPts val="0"/>
              </a:spcAft>
              <a:buNone/>
            </a:pPr>
            <a:r>
              <a:rPr lang="en-GB" sz="1800">
                <a:solidFill>
                  <a:schemeClr val="dk1"/>
                </a:solidFill>
              </a:rPr>
              <a:t>➢</a:t>
            </a:r>
            <a:r>
              <a:rPr i="1" lang="en-GB" sz="1800">
                <a:solidFill>
                  <a:schemeClr val="dk1"/>
                </a:solidFill>
              </a:rPr>
              <a:t>ratio of the </a:t>
            </a:r>
            <a:r>
              <a:rPr i="1" lang="en-GB" sz="1800" u="sng">
                <a:solidFill>
                  <a:schemeClr val="dk1"/>
                </a:solidFill>
              </a:rPr>
              <a:t>mass of the </a:t>
            </a:r>
            <a:r>
              <a:rPr b="1" i="1" lang="en-GB" sz="1800" u="sng">
                <a:solidFill>
                  <a:schemeClr val="dk1"/>
                </a:solidFill>
              </a:rPr>
              <a:t>solute</a:t>
            </a:r>
            <a:r>
              <a:rPr i="1" lang="en-GB" sz="1800">
                <a:solidFill>
                  <a:schemeClr val="dk1"/>
                </a:solidFill>
              </a:rPr>
              <a:t> to the </a:t>
            </a:r>
            <a:r>
              <a:rPr b="1" i="1" lang="en-GB" sz="1800" u="sng">
                <a:solidFill>
                  <a:schemeClr val="dk1"/>
                </a:solidFill>
              </a:rPr>
              <a:t>volume </a:t>
            </a:r>
            <a:r>
              <a:rPr i="1" lang="en-GB" sz="1800" u="sng">
                <a:solidFill>
                  <a:schemeClr val="dk1"/>
                </a:solidFill>
              </a:rPr>
              <a:t>of the </a:t>
            </a:r>
            <a:r>
              <a:rPr b="1" i="1" lang="en-GB" sz="1800" u="sng">
                <a:solidFill>
                  <a:schemeClr val="dk1"/>
                </a:solidFill>
              </a:rPr>
              <a:t>solution</a:t>
            </a:r>
            <a:endParaRPr b="1" i="1" sz="1800" u="sng">
              <a:solidFill>
                <a:schemeClr val="dk1"/>
              </a:solidFill>
            </a:endParaRPr>
          </a:p>
          <a:p>
            <a:pPr indent="0" lvl="0" marL="0" rtl="0" algn="ctr">
              <a:lnSpc>
                <a:spcPct val="115000"/>
              </a:lnSpc>
              <a:spcBef>
                <a:spcPts val="1000"/>
              </a:spcBef>
              <a:spcAft>
                <a:spcPts val="1000"/>
              </a:spcAft>
              <a:buNone/>
            </a:pPr>
            <a:r>
              <a:rPr i="1" lang="en-GB" sz="1800">
                <a:solidFill>
                  <a:srgbClr val="38761D"/>
                </a:solidFill>
              </a:rPr>
              <a:t>The choice of which one is based on the units (mass or volume) you have!</a:t>
            </a:r>
            <a:endParaRPr i="1" sz="1800">
              <a:solidFill>
                <a:srgbClr val="38761D"/>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000"/>
              <a:t>Explore - Calculating Mass Percent</a:t>
            </a:r>
            <a:endParaRPr sz="4000"/>
          </a:p>
        </p:txBody>
      </p:sp>
      <p:pic>
        <p:nvPicPr>
          <p:cNvPr id="247" name="Google Shape;247;p39"/>
          <p:cNvPicPr preferRelativeResize="0"/>
          <p:nvPr/>
        </p:nvPicPr>
        <p:blipFill>
          <a:blip r:embed="rId3">
            <a:alphaModFix/>
          </a:blip>
          <a:stretch>
            <a:fillRect/>
          </a:stretch>
        </p:blipFill>
        <p:spPr>
          <a:xfrm>
            <a:off x="1219200" y="1298428"/>
            <a:ext cx="6705600" cy="1061025"/>
          </a:xfrm>
          <a:prstGeom prst="rect">
            <a:avLst/>
          </a:prstGeom>
          <a:noFill/>
          <a:ln cap="flat" cmpd="sng" w="9525">
            <a:solidFill>
              <a:srgbClr val="6AA84F"/>
            </a:solidFill>
            <a:prstDash val="solid"/>
            <a:round/>
            <a:headEnd len="sm" w="sm" type="none"/>
            <a:tailEnd len="sm" w="sm" type="none"/>
          </a:ln>
        </p:spPr>
      </p:pic>
      <p:sp>
        <p:nvSpPr>
          <p:cNvPr id="248" name="Google Shape;248;p39"/>
          <p:cNvSpPr txBox="1"/>
          <p:nvPr/>
        </p:nvSpPr>
        <p:spPr>
          <a:xfrm>
            <a:off x="404300" y="2296825"/>
            <a:ext cx="8183100" cy="130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sz="1800">
                <a:solidFill>
                  <a:schemeClr val="dk1"/>
                </a:solidFill>
              </a:rPr>
              <a:t>  **Units must be same for both**</a:t>
            </a:r>
            <a:endParaRPr sz="1800">
              <a:solidFill>
                <a:schemeClr val="dk1"/>
              </a:solidFill>
            </a:endParaRPr>
          </a:p>
          <a:p>
            <a:pPr indent="0" lvl="0" marL="0" rtl="0" algn="l">
              <a:lnSpc>
                <a:spcPct val="115000"/>
              </a:lnSpc>
              <a:spcBef>
                <a:spcPts val="1600"/>
              </a:spcBef>
              <a:spcAft>
                <a:spcPts val="1600"/>
              </a:spcAft>
              <a:buNone/>
            </a:pPr>
            <a:r>
              <a:rPr b="1" i="1" lang="en-GB" sz="1800">
                <a:solidFill>
                  <a:schemeClr val="dk1"/>
                </a:solidFill>
              </a:rPr>
              <a:t>Example: </a:t>
            </a:r>
            <a:r>
              <a:rPr i="1" lang="en-GB" sz="1800">
                <a:solidFill>
                  <a:schemeClr val="dk1"/>
                </a:solidFill>
              </a:rPr>
              <a:t>A 6.45g Sterling Silver ring contains 5.97g of pure Silver.  Calculate the Mass Percent of pure Silver in the ring.</a:t>
            </a:r>
            <a:endParaRPr i="1" sz="1800">
              <a:solidFill>
                <a:schemeClr val="dk1"/>
              </a:solidFill>
            </a:endParaRPr>
          </a:p>
        </p:txBody>
      </p:sp>
      <p:pic>
        <p:nvPicPr>
          <p:cNvPr id="249" name="Google Shape;249;p39"/>
          <p:cNvPicPr preferRelativeResize="0"/>
          <p:nvPr/>
        </p:nvPicPr>
        <p:blipFill>
          <a:blip r:embed="rId4">
            <a:alphaModFix/>
          </a:blip>
          <a:stretch>
            <a:fillRect/>
          </a:stretch>
        </p:blipFill>
        <p:spPr>
          <a:xfrm>
            <a:off x="302150" y="3877100"/>
            <a:ext cx="8477069" cy="1009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0"/>
          <p:cNvSpPr txBox="1"/>
          <p:nvPr>
            <p:ph type="title"/>
          </p:nvPr>
        </p:nvSpPr>
        <p:spPr>
          <a:xfrm>
            <a:off x="457200" y="116575"/>
            <a:ext cx="84921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000"/>
              <a:t>Explore - Calculating Volume Percent</a:t>
            </a:r>
            <a:endParaRPr sz="4000"/>
          </a:p>
        </p:txBody>
      </p:sp>
      <p:pic>
        <p:nvPicPr>
          <p:cNvPr id="256" name="Google Shape;256;p40"/>
          <p:cNvPicPr preferRelativeResize="0"/>
          <p:nvPr/>
        </p:nvPicPr>
        <p:blipFill>
          <a:blip r:embed="rId3">
            <a:alphaModFix/>
          </a:blip>
          <a:stretch>
            <a:fillRect/>
          </a:stretch>
        </p:blipFill>
        <p:spPr>
          <a:xfrm>
            <a:off x="152400" y="1478100"/>
            <a:ext cx="8839203" cy="2261630"/>
          </a:xfrm>
          <a:prstGeom prst="rect">
            <a:avLst/>
          </a:prstGeom>
          <a:noFill/>
          <a:ln>
            <a:noFill/>
          </a:ln>
        </p:spPr>
      </p:pic>
      <p:pic>
        <p:nvPicPr>
          <p:cNvPr id="257" name="Google Shape;257;p40"/>
          <p:cNvPicPr preferRelativeResize="0"/>
          <p:nvPr/>
        </p:nvPicPr>
        <p:blipFill>
          <a:blip r:embed="rId4">
            <a:alphaModFix/>
          </a:blip>
          <a:stretch>
            <a:fillRect/>
          </a:stretch>
        </p:blipFill>
        <p:spPr>
          <a:xfrm>
            <a:off x="1387725" y="1208576"/>
            <a:ext cx="6488653" cy="939600"/>
          </a:xfrm>
          <a:prstGeom prst="rect">
            <a:avLst/>
          </a:prstGeom>
          <a:noFill/>
          <a:ln cap="flat" cmpd="sng" w="9525">
            <a:solidFill>
              <a:srgbClr val="6AA84F"/>
            </a:solidFill>
            <a:prstDash val="solid"/>
            <a:round/>
            <a:headEnd len="sm" w="sm" type="none"/>
            <a:tailEnd len="sm" w="sm" type="none"/>
          </a:ln>
        </p:spPr>
      </p:pic>
      <p:pic>
        <p:nvPicPr>
          <p:cNvPr id="258" name="Google Shape;258;p40"/>
          <p:cNvPicPr preferRelativeResize="0"/>
          <p:nvPr/>
        </p:nvPicPr>
        <p:blipFill>
          <a:blip r:embed="rId5">
            <a:alphaModFix/>
          </a:blip>
          <a:stretch>
            <a:fillRect/>
          </a:stretch>
        </p:blipFill>
        <p:spPr>
          <a:xfrm>
            <a:off x="1078425" y="3674598"/>
            <a:ext cx="7107251" cy="1436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type="title"/>
          </p:nvPr>
        </p:nvSpPr>
        <p:spPr>
          <a:xfrm>
            <a:off x="277025" y="116575"/>
            <a:ext cx="87447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400"/>
              <a:t>Explore - Calculating Percent Mass by Volume</a:t>
            </a:r>
            <a:endParaRPr sz="3400"/>
          </a:p>
        </p:txBody>
      </p:sp>
      <p:pic>
        <p:nvPicPr>
          <p:cNvPr id="265" name="Google Shape;265;p41"/>
          <p:cNvPicPr preferRelativeResize="0"/>
          <p:nvPr/>
        </p:nvPicPr>
        <p:blipFill>
          <a:blip r:embed="rId3">
            <a:alphaModFix/>
          </a:blip>
          <a:stretch>
            <a:fillRect/>
          </a:stretch>
        </p:blipFill>
        <p:spPr>
          <a:xfrm>
            <a:off x="1004425" y="1253500"/>
            <a:ext cx="7135148" cy="939600"/>
          </a:xfrm>
          <a:prstGeom prst="rect">
            <a:avLst/>
          </a:prstGeom>
          <a:noFill/>
          <a:ln cap="flat" cmpd="sng" w="9525">
            <a:solidFill>
              <a:srgbClr val="6AA84F"/>
            </a:solidFill>
            <a:prstDash val="solid"/>
            <a:round/>
            <a:headEnd len="sm" w="sm" type="none"/>
            <a:tailEnd len="sm" w="sm" type="none"/>
          </a:ln>
        </p:spPr>
      </p:pic>
      <p:pic>
        <p:nvPicPr>
          <p:cNvPr id="266" name="Google Shape;266;p41"/>
          <p:cNvPicPr preferRelativeResize="0"/>
          <p:nvPr/>
        </p:nvPicPr>
        <p:blipFill>
          <a:blip r:embed="rId4">
            <a:alphaModFix/>
          </a:blip>
          <a:stretch>
            <a:fillRect/>
          </a:stretch>
        </p:blipFill>
        <p:spPr>
          <a:xfrm>
            <a:off x="314050" y="2233200"/>
            <a:ext cx="8670658" cy="2645599"/>
          </a:xfrm>
          <a:prstGeom prst="rect">
            <a:avLst/>
          </a:prstGeom>
          <a:noFill/>
          <a:ln>
            <a:noFill/>
          </a:ln>
        </p:spPr>
      </p:pic>
      <p:pic>
        <p:nvPicPr>
          <p:cNvPr id="267" name="Google Shape;267;p41"/>
          <p:cNvPicPr preferRelativeResize="0"/>
          <p:nvPr/>
        </p:nvPicPr>
        <p:blipFill>
          <a:blip r:embed="rId5">
            <a:alphaModFix/>
          </a:blip>
          <a:stretch>
            <a:fillRect/>
          </a:stretch>
        </p:blipFill>
        <p:spPr>
          <a:xfrm>
            <a:off x="638613" y="3874600"/>
            <a:ext cx="7866787" cy="939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2"/>
          <p:cNvSpPr txBox="1"/>
          <p:nvPr>
            <p:ph type="title"/>
          </p:nvPr>
        </p:nvSpPr>
        <p:spPr>
          <a:xfrm>
            <a:off x="277025" y="116575"/>
            <a:ext cx="88212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700"/>
              <a:t>Explore - Measuring Small Concentrations</a:t>
            </a:r>
            <a:endParaRPr sz="3700"/>
          </a:p>
        </p:txBody>
      </p:sp>
      <p:sp>
        <p:nvSpPr>
          <p:cNvPr id="274" name="Google Shape;274;p42"/>
          <p:cNvSpPr txBox="1"/>
          <p:nvPr/>
        </p:nvSpPr>
        <p:spPr>
          <a:xfrm>
            <a:off x="246125" y="1231175"/>
            <a:ext cx="8640900" cy="325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800">
                <a:solidFill>
                  <a:schemeClr val="dk1"/>
                </a:solidFill>
              </a:rPr>
              <a:t>Sometimes even very small concentrations are important to know. </a:t>
            </a:r>
            <a:br>
              <a:rPr lang="en-GB" sz="1800">
                <a:solidFill>
                  <a:schemeClr val="dk1"/>
                </a:solidFill>
              </a:rPr>
            </a:br>
            <a:r>
              <a:rPr lang="en-GB" sz="1800">
                <a:solidFill>
                  <a:schemeClr val="dk1"/>
                </a:solidFill>
              </a:rPr>
              <a:t> (such as 0.0000001% m/m).  So we have more useful units:</a:t>
            </a:r>
            <a:endParaRPr sz="1800">
              <a:solidFill>
                <a:schemeClr val="dk1"/>
              </a:solidFill>
            </a:endParaRPr>
          </a:p>
          <a:p>
            <a:pPr indent="0" lvl="0" marL="12700" rtl="0" algn="l">
              <a:lnSpc>
                <a:spcPct val="115000"/>
              </a:lnSpc>
              <a:spcBef>
                <a:spcPts val="1600"/>
              </a:spcBef>
              <a:spcAft>
                <a:spcPts val="0"/>
              </a:spcAft>
              <a:buClr>
                <a:schemeClr val="dk1"/>
              </a:buClr>
              <a:buSzPts val="1100"/>
              <a:buFont typeface="Arial"/>
              <a:buNone/>
            </a:pPr>
            <a:r>
              <a:rPr lang="en-GB" sz="1800">
                <a:solidFill>
                  <a:schemeClr val="dk1"/>
                </a:solidFill>
              </a:rPr>
              <a:t>➢</a:t>
            </a:r>
            <a:r>
              <a:rPr b="1" lang="en-GB" sz="1800">
                <a:solidFill>
                  <a:schemeClr val="dk1"/>
                </a:solidFill>
              </a:rPr>
              <a:t>Parts per Million (ppm)</a:t>
            </a:r>
            <a:endParaRPr b="1" sz="1800">
              <a:solidFill>
                <a:schemeClr val="dk1"/>
              </a:solidFill>
            </a:endParaRPr>
          </a:p>
          <a:p>
            <a:pPr indent="0" lvl="0" marL="482600" rtl="0" algn="l">
              <a:lnSpc>
                <a:spcPct val="115000"/>
              </a:lnSpc>
              <a:spcBef>
                <a:spcPts val="0"/>
              </a:spcBef>
              <a:spcAft>
                <a:spcPts val="0"/>
              </a:spcAft>
              <a:buClr>
                <a:schemeClr val="dk1"/>
              </a:buClr>
              <a:buSzPts val="1100"/>
              <a:buFont typeface="Arial"/>
              <a:buNone/>
            </a:pPr>
            <a:r>
              <a:rPr lang="en-GB" sz="1800">
                <a:solidFill>
                  <a:schemeClr val="dk1"/>
                </a:solidFill>
              </a:rPr>
              <a:t>○ </a:t>
            </a:r>
            <a:r>
              <a:rPr lang="en-GB" sz="1800">
                <a:solidFill>
                  <a:schemeClr val="dk1"/>
                </a:solidFill>
              </a:rPr>
              <a:t>Ratio (by mass) of how many parts of </a:t>
            </a:r>
            <a:r>
              <a:rPr b="1" lang="en-GB" sz="1800">
                <a:solidFill>
                  <a:schemeClr val="dk1"/>
                </a:solidFill>
              </a:rPr>
              <a:t>solute </a:t>
            </a:r>
            <a:r>
              <a:rPr lang="en-GB" sz="1800">
                <a:solidFill>
                  <a:schemeClr val="dk1"/>
                </a:solidFill>
              </a:rPr>
              <a:t>there are per every </a:t>
            </a:r>
            <a:r>
              <a:rPr b="1" lang="en-GB" sz="1800">
                <a:solidFill>
                  <a:schemeClr val="dk1"/>
                </a:solidFill>
              </a:rPr>
              <a:t>million </a:t>
            </a:r>
            <a:r>
              <a:rPr lang="en-GB" sz="1800">
                <a:solidFill>
                  <a:schemeClr val="dk1"/>
                </a:solidFill>
              </a:rPr>
              <a:t>parts of the </a:t>
            </a:r>
            <a:r>
              <a:rPr b="1" lang="en-GB" sz="1800">
                <a:solidFill>
                  <a:schemeClr val="dk1"/>
                </a:solidFill>
              </a:rPr>
              <a:t>solution</a:t>
            </a:r>
            <a:endParaRPr b="1" sz="1800">
              <a:solidFill>
                <a:schemeClr val="dk1"/>
              </a:solidFill>
            </a:endParaRPr>
          </a:p>
          <a:p>
            <a:pPr indent="0" lvl="0" marL="12700" rtl="0" algn="l">
              <a:lnSpc>
                <a:spcPct val="115000"/>
              </a:lnSpc>
              <a:spcBef>
                <a:spcPts val="1000"/>
              </a:spcBef>
              <a:spcAft>
                <a:spcPts val="0"/>
              </a:spcAft>
              <a:buClr>
                <a:schemeClr val="dk1"/>
              </a:buClr>
              <a:buSzPts val="1100"/>
              <a:buFont typeface="Arial"/>
              <a:buNone/>
            </a:pPr>
            <a:r>
              <a:rPr lang="en-GB" sz="1800">
                <a:solidFill>
                  <a:schemeClr val="dk1"/>
                </a:solidFill>
              </a:rPr>
              <a:t>➢</a:t>
            </a:r>
            <a:r>
              <a:rPr b="1" lang="en-GB" sz="1800">
                <a:solidFill>
                  <a:schemeClr val="dk1"/>
                </a:solidFill>
              </a:rPr>
              <a:t>Parts per Billion (ppb)</a:t>
            </a:r>
            <a:endParaRPr b="1" sz="1800">
              <a:solidFill>
                <a:schemeClr val="dk1"/>
              </a:solidFill>
            </a:endParaRPr>
          </a:p>
          <a:p>
            <a:pPr indent="0" lvl="0" marL="482600" rtl="0" algn="l">
              <a:lnSpc>
                <a:spcPct val="115000"/>
              </a:lnSpc>
              <a:spcBef>
                <a:spcPts val="0"/>
              </a:spcBef>
              <a:spcAft>
                <a:spcPts val="0"/>
              </a:spcAft>
              <a:buClr>
                <a:schemeClr val="dk1"/>
              </a:buClr>
              <a:buSzPts val="1100"/>
              <a:buFont typeface="Arial"/>
              <a:buNone/>
            </a:pPr>
            <a:r>
              <a:rPr lang="en-GB" sz="1800">
                <a:solidFill>
                  <a:schemeClr val="dk1"/>
                </a:solidFill>
              </a:rPr>
              <a:t>○Ratio (by mass) of how many parts of </a:t>
            </a:r>
            <a:r>
              <a:rPr b="1" lang="en-GB" sz="1800">
                <a:solidFill>
                  <a:schemeClr val="dk1"/>
                </a:solidFill>
              </a:rPr>
              <a:t>solute </a:t>
            </a:r>
            <a:r>
              <a:rPr lang="en-GB" sz="1800">
                <a:solidFill>
                  <a:schemeClr val="dk1"/>
                </a:solidFill>
              </a:rPr>
              <a:t>there are per every </a:t>
            </a:r>
            <a:r>
              <a:rPr b="1" lang="en-GB" sz="1800">
                <a:solidFill>
                  <a:schemeClr val="dk1"/>
                </a:solidFill>
              </a:rPr>
              <a:t>billion </a:t>
            </a:r>
            <a:r>
              <a:rPr lang="en-GB" sz="1800">
                <a:solidFill>
                  <a:schemeClr val="dk1"/>
                </a:solidFill>
              </a:rPr>
              <a:t>parts of the </a:t>
            </a:r>
            <a:r>
              <a:rPr b="1" lang="en-GB" sz="1800">
                <a:solidFill>
                  <a:schemeClr val="dk1"/>
                </a:solidFill>
              </a:rPr>
              <a:t>solution</a:t>
            </a:r>
            <a:endParaRPr b="1" sz="1800">
              <a:solidFill>
                <a:schemeClr val="dk1"/>
              </a:solidFill>
            </a:endParaRPr>
          </a:p>
          <a:p>
            <a:pPr indent="0" lvl="0" marL="0" rtl="0" algn="l">
              <a:spcBef>
                <a:spcPts val="0"/>
              </a:spcBef>
              <a:spcAft>
                <a:spcPts val="0"/>
              </a:spcAft>
              <a:buNone/>
            </a:pPr>
            <a:r>
              <a:t/>
            </a:r>
            <a:endParaRPr sz="26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3"/>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200"/>
              <a:t>Explore - Calculating ppm &amp; ppb</a:t>
            </a:r>
            <a:endParaRPr sz="3700"/>
          </a:p>
        </p:txBody>
      </p:sp>
      <p:pic>
        <p:nvPicPr>
          <p:cNvPr id="281" name="Google Shape;281;p43"/>
          <p:cNvPicPr preferRelativeResize="0"/>
          <p:nvPr/>
        </p:nvPicPr>
        <p:blipFill rotWithShape="1">
          <a:blip r:embed="rId3">
            <a:alphaModFix/>
          </a:blip>
          <a:srcRect b="2370" l="0" r="0" t="-2370"/>
          <a:stretch/>
        </p:blipFill>
        <p:spPr>
          <a:xfrm>
            <a:off x="152400" y="1208586"/>
            <a:ext cx="8839200" cy="3771650"/>
          </a:xfrm>
          <a:prstGeom prst="rect">
            <a:avLst/>
          </a:prstGeom>
          <a:noFill/>
          <a:ln>
            <a:noFill/>
          </a:ln>
        </p:spPr>
      </p:pic>
      <p:sp>
        <p:nvSpPr>
          <p:cNvPr id="282" name="Google Shape;282;p43"/>
          <p:cNvSpPr txBox="1"/>
          <p:nvPr/>
        </p:nvSpPr>
        <p:spPr>
          <a:xfrm>
            <a:off x="6783450" y="1208575"/>
            <a:ext cx="2295900" cy="871500"/>
          </a:xfrm>
          <a:prstGeom prst="rect">
            <a:avLst/>
          </a:prstGeom>
          <a:solidFill>
            <a:schemeClr val="lt1"/>
          </a:solidFill>
          <a:ln cap="flat" cmpd="sng" w="381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1"/>
                </a:solidFill>
                <a:latin typeface="Corbel"/>
                <a:ea typeface="Corbel"/>
                <a:cs typeface="Corbel"/>
                <a:sym typeface="Corbel"/>
              </a:rPr>
              <a:t>Masses must be in the SAME UNIT (Both in grams is easiest)!!</a:t>
            </a:r>
            <a:endParaRPr b="1" sz="1600">
              <a:solidFill>
                <a:schemeClr val="dk1"/>
              </a:solidFill>
              <a:latin typeface="Corbel"/>
              <a:ea typeface="Corbel"/>
              <a:cs typeface="Corbel"/>
              <a:sym typeface="Corbe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4"/>
          <p:cNvSpPr txBox="1"/>
          <p:nvPr>
            <p:ph type="title"/>
          </p:nvPr>
        </p:nvSpPr>
        <p:spPr>
          <a:xfrm>
            <a:off x="457200" y="116575"/>
            <a:ext cx="85272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Real Life: Lead in Water</a:t>
            </a:r>
            <a:endParaRPr/>
          </a:p>
        </p:txBody>
      </p:sp>
      <p:sp>
        <p:nvSpPr>
          <p:cNvPr id="289" name="Google Shape;289;p44"/>
          <p:cNvSpPr txBox="1"/>
          <p:nvPr/>
        </p:nvSpPr>
        <p:spPr>
          <a:xfrm>
            <a:off x="329400" y="1347650"/>
            <a:ext cx="8655000" cy="333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rPr>
              <a:t>The </a:t>
            </a:r>
            <a:r>
              <a:rPr b="1" lang="en-GB" sz="1800">
                <a:solidFill>
                  <a:schemeClr val="dk1"/>
                </a:solidFill>
              </a:rPr>
              <a:t>World Health Organization</a:t>
            </a:r>
            <a:r>
              <a:rPr lang="en-GB" sz="1800">
                <a:solidFill>
                  <a:schemeClr val="dk1"/>
                </a:solidFill>
              </a:rPr>
              <a:t> says ~</a:t>
            </a:r>
            <a:r>
              <a:rPr b="1" lang="en-GB" sz="1800">
                <a:solidFill>
                  <a:schemeClr val="dk1"/>
                </a:solidFill>
              </a:rPr>
              <a:t>100</a:t>
            </a:r>
            <a:r>
              <a:rPr lang="en-GB" sz="1800">
                <a:solidFill>
                  <a:schemeClr val="dk1"/>
                </a:solidFill>
              </a:rPr>
              <a:t> </a:t>
            </a:r>
            <a:r>
              <a:rPr b="1" lang="en-GB" sz="1800">
                <a:solidFill>
                  <a:schemeClr val="dk1"/>
                </a:solidFill>
              </a:rPr>
              <a:t>ppb </a:t>
            </a:r>
            <a:r>
              <a:rPr lang="en-GB" sz="1800">
                <a:solidFill>
                  <a:schemeClr val="dk1"/>
                </a:solidFill>
              </a:rPr>
              <a:t>lead in human blood is toxic</a:t>
            </a:r>
            <a:endParaRPr sz="1800">
              <a:solidFill>
                <a:schemeClr val="dk1"/>
              </a:solidFill>
            </a:endParaRPr>
          </a:p>
          <a:p>
            <a:pPr indent="444500" lvl="0" marL="12700" rtl="0" algn="l">
              <a:lnSpc>
                <a:spcPct val="115000"/>
              </a:lnSpc>
              <a:spcBef>
                <a:spcPts val="1000"/>
              </a:spcBef>
              <a:spcAft>
                <a:spcPts val="0"/>
              </a:spcAft>
              <a:buNone/>
            </a:pPr>
            <a:r>
              <a:rPr lang="en-GB" sz="1800">
                <a:solidFill>
                  <a:schemeClr val="dk1"/>
                </a:solidFill>
              </a:rPr>
              <a:t>➢It can cause cancer, and developmental delays in children</a:t>
            </a:r>
            <a:endParaRPr sz="1800">
              <a:solidFill>
                <a:schemeClr val="dk1"/>
              </a:solidFill>
            </a:endParaRPr>
          </a:p>
          <a:p>
            <a:pPr indent="0" lvl="0" marL="0" rtl="0" algn="l">
              <a:lnSpc>
                <a:spcPct val="115000"/>
              </a:lnSpc>
              <a:spcBef>
                <a:spcPts val="1000"/>
              </a:spcBef>
              <a:spcAft>
                <a:spcPts val="0"/>
              </a:spcAft>
              <a:buNone/>
            </a:pPr>
            <a:r>
              <a:rPr b="1" lang="en-GB" sz="1800">
                <a:solidFill>
                  <a:schemeClr val="dk1"/>
                </a:solidFill>
              </a:rPr>
              <a:t>Canada</a:t>
            </a:r>
            <a:r>
              <a:rPr lang="en-GB" sz="1800">
                <a:solidFill>
                  <a:schemeClr val="dk1"/>
                </a:solidFill>
              </a:rPr>
              <a:t> regulation - max </a:t>
            </a:r>
            <a:r>
              <a:rPr b="1" lang="en-GB" sz="1800">
                <a:solidFill>
                  <a:schemeClr val="dk1"/>
                </a:solidFill>
              </a:rPr>
              <a:t>5 ppb</a:t>
            </a:r>
            <a:r>
              <a:rPr lang="en-GB" sz="1800">
                <a:solidFill>
                  <a:schemeClr val="dk1"/>
                </a:solidFill>
              </a:rPr>
              <a:t> for lead in drinking water</a:t>
            </a:r>
            <a:endParaRPr sz="1800">
              <a:solidFill>
                <a:schemeClr val="dk1"/>
              </a:solidFill>
            </a:endParaRPr>
          </a:p>
          <a:p>
            <a:pPr indent="0" lvl="0" marL="0" rtl="0" algn="l">
              <a:lnSpc>
                <a:spcPct val="115000"/>
              </a:lnSpc>
              <a:spcBef>
                <a:spcPts val="1000"/>
              </a:spcBef>
              <a:spcAft>
                <a:spcPts val="0"/>
              </a:spcAft>
              <a:buNone/>
            </a:pPr>
            <a:r>
              <a:rPr b="1" lang="en-GB" sz="1800">
                <a:solidFill>
                  <a:schemeClr val="dk1"/>
                </a:solidFill>
              </a:rPr>
              <a:t>US </a:t>
            </a:r>
            <a:r>
              <a:rPr lang="en-GB" sz="1800">
                <a:solidFill>
                  <a:schemeClr val="dk1"/>
                </a:solidFill>
              </a:rPr>
              <a:t>regulation - max </a:t>
            </a:r>
            <a:r>
              <a:rPr b="1" lang="en-GB" sz="1800">
                <a:solidFill>
                  <a:schemeClr val="dk1"/>
                </a:solidFill>
              </a:rPr>
              <a:t>15 ppb </a:t>
            </a:r>
            <a:r>
              <a:rPr lang="en-GB" sz="1800">
                <a:solidFill>
                  <a:schemeClr val="dk1"/>
                </a:solidFill>
              </a:rPr>
              <a:t>for lead in drinking water</a:t>
            </a:r>
            <a:endParaRPr sz="1800">
              <a:solidFill>
                <a:schemeClr val="dk1"/>
              </a:solidFill>
            </a:endParaRPr>
          </a:p>
          <a:p>
            <a:pPr indent="444500" lvl="0" marL="12700" rtl="0" algn="l">
              <a:lnSpc>
                <a:spcPct val="115000"/>
              </a:lnSpc>
              <a:spcBef>
                <a:spcPts val="1000"/>
              </a:spcBef>
              <a:spcAft>
                <a:spcPts val="0"/>
              </a:spcAft>
              <a:buNone/>
            </a:pPr>
            <a:r>
              <a:rPr lang="en-GB" sz="1800">
                <a:solidFill>
                  <a:schemeClr val="dk1"/>
                </a:solidFill>
              </a:rPr>
              <a:t>➢regulation - max </a:t>
            </a:r>
            <a:r>
              <a:rPr b="1" lang="en-GB" sz="1800">
                <a:solidFill>
                  <a:schemeClr val="dk1"/>
                </a:solidFill>
              </a:rPr>
              <a:t>50 ppb </a:t>
            </a:r>
            <a:r>
              <a:rPr lang="en-GB" sz="1800">
                <a:solidFill>
                  <a:schemeClr val="dk1"/>
                </a:solidFill>
              </a:rPr>
              <a:t>for lead in river water</a:t>
            </a:r>
            <a:endParaRPr sz="1800">
              <a:solidFill>
                <a:schemeClr val="dk1"/>
              </a:solidFill>
            </a:endParaRPr>
          </a:p>
          <a:p>
            <a:pPr indent="0" lvl="0" marL="0" rtl="0" algn="l">
              <a:lnSpc>
                <a:spcPct val="115000"/>
              </a:lnSpc>
              <a:spcBef>
                <a:spcPts val="1000"/>
              </a:spcBef>
              <a:spcAft>
                <a:spcPts val="1000"/>
              </a:spcAft>
              <a:buNone/>
            </a:pPr>
            <a:br>
              <a:rPr lang="en-GB" sz="1800">
                <a:solidFill>
                  <a:schemeClr val="dk1"/>
                </a:solidFill>
              </a:rPr>
            </a:br>
            <a:r>
              <a:rPr lang="en-GB" sz="1800">
                <a:solidFill>
                  <a:schemeClr val="dk1"/>
                </a:solidFill>
              </a:rPr>
              <a:t> This means that safe river water can still have 3x more lead than the limit for safe drinking water </a:t>
            </a:r>
            <a:endParaRPr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5"/>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200"/>
              <a:t>Explore - Calculating ppm &amp; ppb</a:t>
            </a:r>
            <a:endParaRPr sz="3700"/>
          </a:p>
        </p:txBody>
      </p:sp>
      <p:sp>
        <p:nvSpPr>
          <p:cNvPr id="296" name="Google Shape;296;p45"/>
          <p:cNvSpPr txBox="1"/>
          <p:nvPr/>
        </p:nvSpPr>
        <p:spPr>
          <a:xfrm>
            <a:off x="246125" y="1231175"/>
            <a:ext cx="8526600" cy="385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Corbel"/>
                <a:ea typeface="Corbel"/>
                <a:cs typeface="Corbel"/>
                <a:sym typeface="Corbel"/>
              </a:rPr>
              <a:t>IN YOUR GROUP - WORK AT A CLASS WHITEBOARD on these two slides</a:t>
            </a:r>
            <a:endParaRPr sz="2200">
              <a:solidFill>
                <a:schemeClr val="dk1"/>
              </a:solidFill>
              <a:latin typeface="Corbel"/>
              <a:ea typeface="Corbel"/>
              <a:cs typeface="Corbel"/>
              <a:sym typeface="Corbel"/>
            </a:endParaRPr>
          </a:p>
          <a:p>
            <a:pPr indent="0" lvl="0" marL="0" rtl="0" algn="ctr">
              <a:spcBef>
                <a:spcPts val="0"/>
              </a:spcBef>
              <a:spcAft>
                <a:spcPts val="0"/>
              </a:spcAft>
              <a:buNone/>
            </a:pPr>
            <a:r>
              <a:rPr b="1" lang="en-GB" sz="1800">
                <a:solidFill>
                  <a:schemeClr val="dk1"/>
                </a:solidFill>
                <a:latin typeface="Corbel"/>
                <a:ea typeface="Corbel"/>
                <a:cs typeface="Corbel"/>
                <a:sym typeface="Corbel"/>
              </a:rPr>
              <a:t>Record your work (take a photo and insert in these slides, redraw it in your notes etc)</a:t>
            </a:r>
            <a:endParaRPr b="1" sz="1800">
              <a:solidFill>
                <a:schemeClr val="dk1"/>
              </a:solidFill>
              <a:latin typeface="Corbel"/>
              <a:ea typeface="Corbel"/>
              <a:cs typeface="Corbel"/>
              <a:sym typeface="Corbel"/>
            </a:endParaRPr>
          </a:p>
          <a:p>
            <a:pPr indent="0" lvl="0" marL="0" rtl="0" algn="l">
              <a:lnSpc>
                <a:spcPct val="115000"/>
              </a:lnSpc>
              <a:spcBef>
                <a:spcPts val="0"/>
              </a:spcBef>
              <a:spcAft>
                <a:spcPts val="0"/>
              </a:spcAft>
              <a:buNone/>
            </a:pPr>
            <a:r>
              <a:t/>
            </a:r>
            <a:endParaRPr b="1" i="1" sz="1800">
              <a:solidFill>
                <a:schemeClr val="dk1"/>
              </a:solidFill>
            </a:endParaRPr>
          </a:p>
          <a:p>
            <a:pPr indent="0" lvl="0" marL="0" rtl="0" algn="l">
              <a:lnSpc>
                <a:spcPct val="115000"/>
              </a:lnSpc>
              <a:spcBef>
                <a:spcPts val="0"/>
              </a:spcBef>
              <a:spcAft>
                <a:spcPts val="0"/>
              </a:spcAft>
              <a:buNone/>
            </a:pPr>
            <a:r>
              <a:rPr b="1" i="1" lang="en-GB" sz="1800">
                <a:solidFill>
                  <a:schemeClr val="dk1"/>
                </a:solidFill>
              </a:rPr>
              <a:t>1. Health Canada’s guideline for maximum Mercury in fish is 0.5ppm.  When a 1.6kg salmon was tested, it was found to contain 0.6mg of Mercury.  Is this salmon safe to eat? Tip: convert the units to match!</a:t>
            </a:r>
            <a:endParaRPr b="1" i="1" sz="1800">
              <a:solidFill>
                <a:schemeClr val="dk1"/>
              </a:solidFill>
            </a:endParaRPr>
          </a:p>
          <a:p>
            <a:pPr indent="0" lvl="0" marL="0" rtl="0" algn="l">
              <a:lnSpc>
                <a:spcPct val="115000"/>
              </a:lnSpc>
              <a:spcBef>
                <a:spcPts val="0"/>
              </a:spcBef>
              <a:spcAft>
                <a:spcPts val="0"/>
              </a:spcAft>
              <a:buNone/>
            </a:pPr>
            <a:r>
              <a:t/>
            </a:r>
            <a:endParaRPr b="1" i="1" sz="1800">
              <a:solidFill>
                <a:schemeClr val="dk1"/>
              </a:solidFill>
            </a:endParaRPr>
          </a:p>
          <a:p>
            <a:pPr indent="0" lvl="0" marL="0" rtl="0" algn="l">
              <a:lnSpc>
                <a:spcPct val="115000"/>
              </a:lnSpc>
              <a:spcBef>
                <a:spcPts val="0"/>
              </a:spcBef>
              <a:spcAft>
                <a:spcPts val="0"/>
              </a:spcAft>
              <a:buNone/>
            </a:pPr>
            <a:r>
              <a:t/>
            </a:r>
            <a:endParaRPr b="1" i="1" sz="1800">
              <a:solidFill>
                <a:schemeClr val="dk1"/>
              </a:solidFill>
            </a:endParaRPr>
          </a:p>
          <a:p>
            <a:pPr indent="0" lvl="0" marL="0" rtl="0" algn="l">
              <a:lnSpc>
                <a:spcPct val="115000"/>
              </a:lnSpc>
              <a:spcBef>
                <a:spcPts val="0"/>
              </a:spcBef>
              <a:spcAft>
                <a:spcPts val="0"/>
              </a:spcAft>
              <a:buNone/>
            </a:pPr>
            <a:r>
              <a:t/>
            </a:r>
            <a:endParaRPr b="1" i="1" sz="1800">
              <a:solidFill>
                <a:schemeClr val="dk1"/>
              </a:solidFill>
            </a:endParaRPr>
          </a:p>
          <a:p>
            <a:pPr indent="0" lvl="0" marL="0" rtl="0" algn="l">
              <a:lnSpc>
                <a:spcPct val="115000"/>
              </a:lnSpc>
              <a:spcBef>
                <a:spcPts val="0"/>
              </a:spcBef>
              <a:spcAft>
                <a:spcPts val="0"/>
              </a:spcAft>
              <a:buNone/>
            </a:pPr>
            <a:r>
              <a:rPr b="1" i="1" lang="en-GB" sz="1800">
                <a:solidFill>
                  <a:schemeClr val="dk1"/>
                </a:solidFill>
              </a:rPr>
              <a:t>Answer slides at the bottom of slide deck.</a:t>
            </a:r>
            <a:endParaRPr b="1" i="1" sz="1800">
              <a:solidFill>
                <a:schemeClr val="dk1"/>
              </a:solidFil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6"/>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200"/>
              <a:t>Explore - Calculating ppm &amp; ppb</a:t>
            </a:r>
            <a:endParaRPr sz="3700"/>
          </a:p>
        </p:txBody>
      </p:sp>
      <p:sp>
        <p:nvSpPr>
          <p:cNvPr id="303" name="Google Shape;303;p46"/>
          <p:cNvSpPr txBox="1"/>
          <p:nvPr/>
        </p:nvSpPr>
        <p:spPr>
          <a:xfrm>
            <a:off x="246125" y="1231175"/>
            <a:ext cx="8526600" cy="385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Corbel"/>
                <a:ea typeface="Corbel"/>
                <a:cs typeface="Corbel"/>
                <a:sym typeface="Corbel"/>
              </a:rPr>
              <a:t>IN YOUR GROUP - WORK AT A CLASS WHITEBOARD</a:t>
            </a:r>
            <a:endParaRPr sz="2200">
              <a:solidFill>
                <a:schemeClr val="dk1"/>
              </a:solidFill>
              <a:latin typeface="Corbel"/>
              <a:ea typeface="Corbel"/>
              <a:cs typeface="Corbel"/>
              <a:sym typeface="Corbel"/>
            </a:endParaRPr>
          </a:p>
          <a:p>
            <a:pPr indent="0" lvl="0" marL="0" rtl="0" algn="ctr">
              <a:spcBef>
                <a:spcPts val="0"/>
              </a:spcBef>
              <a:spcAft>
                <a:spcPts val="0"/>
              </a:spcAft>
              <a:buNone/>
            </a:pPr>
            <a:r>
              <a:rPr b="1" lang="en-GB" sz="1800">
                <a:solidFill>
                  <a:schemeClr val="dk1"/>
                </a:solidFill>
                <a:latin typeface="Corbel"/>
                <a:ea typeface="Corbel"/>
                <a:cs typeface="Corbel"/>
                <a:sym typeface="Corbel"/>
              </a:rPr>
              <a:t>Record your work (take a photo and insert in these slides, redraw it in your notes etc)</a:t>
            </a:r>
            <a:endParaRPr b="1" sz="1800">
              <a:solidFill>
                <a:schemeClr val="dk1"/>
              </a:solidFill>
              <a:latin typeface="Corbel"/>
              <a:ea typeface="Corbel"/>
              <a:cs typeface="Corbel"/>
              <a:sym typeface="Corbel"/>
            </a:endParaRPr>
          </a:p>
          <a:p>
            <a:pPr indent="0" lvl="0" marL="0" rtl="0" algn="l">
              <a:lnSpc>
                <a:spcPct val="115000"/>
              </a:lnSpc>
              <a:spcBef>
                <a:spcPts val="0"/>
              </a:spcBef>
              <a:spcAft>
                <a:spcPts val="0"/>
              </a:spcAft>
              <a:buNone/>
            </a:pPr>
            <a:r>
              <a:t/>
            </a:r>
            <a:endParaRPr b="1" i="1" sz="1800">
              <a:solidFill>
                <a:schemeClr val="dk1"/>
              </a:solidFill>
            </a:endParaRPr>
          </a:p>
          <a:p>
            <a:pPr indent="0" lvl="0" marL="0" rtl="0" algn="l">
              <a:lnSpc>
                <a:spcPct val="115000"/>
              </a:lnSpc>
              <a:spcBef>
                <a:spcPts val="0"/>
              </a:spcBef>
              <a:spcAft>
                <a:spcPts val="0"/>
              </a:spcAft>
              <a:buNone/>
            </a:pPr>
            <a:r>
              <a:rPr b="1" i="1" lang="en-GB" sz="1800">
                <a:solidFill>
                  <a:schemeClr val="dk1"/>
                </a:solidFill>
              </a:rPr>
              <a:t>2. In Ontario, drinking water should have less than 10 ppb of lead in it. What is the maximum amount of lead allowed in a 500 mL bottle of water?</a:t>
            </a:r>
            <a:endParaRPr b="1" i="1"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i="1" lang="en-GB" sz="1800">
                <a:solidFill>
                  <a:schemeClr val="dk1"/>
                </a:solidFill>
              </a:rPr>
              <a:t> </a:t>
            </a:r>
            <a:endParaRPr b="1" i="1"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i="1" lang="en-GB" sz="1800">
                <a:solidFill>
                  <a:schemeClr val="dk1"/>
                </a:solidFill>
              </a:rPr>
              <a:t>1mL of water = 1g of water (using density)</a:t>
            </a:r>
            <a:endParaRPr b="1" i="1"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i="1" lang="en-GB" sz="1800">
                <a:solidFill>
                  <a:schemeClr val="dk1"/>
                </a:solidFill>
              </a:rPr>
              <a:t>Therefore 10ppb = 10g in 1,000,000,000g of water</a:t>
            </a:r>
            <a:endParaRPr b="1" i="1" sz="1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i="1" sz="1800">
              <a:solidFill>
                <a:schemeClr val="dk1"/>
              </a:solidFill>
            </a:endParaRPr>
          </a:p>
          <a:p>
            <a:pPr indent="0" lvl="0" marL="0" rtl="0" algn="l">
              <a:lnSpc>
                <a:spcPct val="115000"/>
              </a:lnSpc>
              <a:spcBef>
                <a:spcPts val="0"/>
              </a:spcBef>
              <a:spcAft>
                <a:spcPts val="0"/>
              </a:spcAft>
              <a:buNone/>
            </a:pPr>
            <a:r>
              <a:rPr lang="en-GB" sz="1800">
                <a:solidFill>
                  <a:schemeClr val="dk1"/>
                </a:solidFill>
              </a:rPr>
              <a:t>Set up equivalent Ratios using this data to answer the question!</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i="1" lang="en-GB" sz="1800">
                <a:solidFill>
                  <a:schemeClr val="dk1"/>
                </a:solidFill>
              </a:rPr>
              <a:t>Answer slides at the bottom of slide deck.</a:t>
            </a:r>
            <a:endParaRPr sz="1800">
              <a:solidFill>
                <a:schemeClr val="dk1"/>
              </a:solidFil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7"/>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600"/>
              <a:t>Know your prefixes! See the table below.</a:t>
            </a:r>
            <a:endParaRPr sz="3600"/>
          </a:p>
        </p:txBody>
      </p:sp>
      <p:pic>
        <p:nvPicPr>
          <p:cNvPr id="310" name="Google Shape;310;p47"/>
          <p:cNvPicPr preferRelativeResize="0"/>
          <p:nvPr/>
        </p:nvPicPr>
        <p:blipFill rotWithShape="1">
          <a:blip r:embed="rId3">
            <a:alphaModFix/>
          </a:blip>
          <a:srcRect b="35191" l="0" r="18400" t="0"/>
          <a:stretch/>
        </p:blipFill>
        <p:spPr>
          <a:xfrm>
            <a:off x="-12" y="1500000"/>
            <a:ext cx="8760226" cy="3553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8"/>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Concentration Activity </a:t>
            </a:r>
            <a:endParaRPr/>
          </a:p>
        </p:txBody>
      </p:sp>
      <p:sp>
        <p:nvSpPr>
          <p:cNvPr id="317" name="Google Shape;317;p48"/>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Ask for the Concentration Activity Sheet and visit the stations to complete.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Molar Concentration</a:t>
            </a:r>
            <a:endParaRPr/>
          </a:p>
        </p:txBody>
      </p:sp>
      <p:sp>
        <p:nvSpPr>
          <p:cNvPr id="324" name="Google Shape;324;p49"/>
          <p:cNvSpPr txBox="1"/>
          <p:nvPr/>
        </p:nvSpPr>
        <p:spPr>
          <a:xfrm>
            <a:off x="248250" y="1280250"/>
            <a:ext cx="8647500" cy="264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rPr>
              <a:t>Most useful way to measure concentrations in Chemistry is </a:t>
            </a:r>
            <a:r>
              <a:rPr b="1" lang="en-GB" sz="1800">
                <a:solidFill>
                  <a:schemeClr val="dk1"/>
                </a:solidFill>
              </a:rPr>
              <a:t>moles</a:t>
            </a:r>
            <a:r>
              <a:rPr lang="en-GB" sz="1800">
                <a:solidFill>
                  <a:schemeClr val="dk1"/>
                </a:solidFill>
              </a:rPr>
              <a:t> per </a:t>
            </a:r>
            <a:r>
              <a:rPr b="1" lang="en-GB" sz="1800">
                <a:solidFill>
                  <a:schemeClr val="dk1"/>
                </a:solidFill>
              </a:rPr>
              <a:t>volume</a:t>
            </a:r>
            <a:endParaRPr b="1" sz="1800">
              <a:solidFill>
                <a:schemeClr val="dk1"/>
              </a:solidFill>
            </a:endParaRPr>
          </a:p>
          <a:p>
            <a:pPr indent="0" lvl="0" marL="0" rtl="0" algn="l">
              <a:lnSpc>
                <a:spcPct val="115000"/>
              </a:lnSpc>
              <a:spcBef>
                <a:spcPts val="0"/>
              </a:spcBef>
              <a:spcAft>
                <a:spcPts val="0"/>
              </a:spcAft>
              <a:buNone/>
            </a:pPr>
            <a:r>
              <a:rPr lang="en-GB" sz="1800">
                <a:solidFill>
                  <a:schemeClr val="dk1"/>
                </a:solidFill>
              </a:rPr>
              <a:t>➢Remember it is easy to transfer moles, mass, and particles!</a:t>
            </a:r>
            <a:endParaRPr sz="1800">
              <a:solidFill>
                <a:schemeClr val="dk1"/>
              </a:solidFill>
            </a:endParaRPr>
          </a:p>
          <a:p>
            <a:pPr indent="0" lvl="0" marL="0" rtl="0" algn="l">
              <a:lnSpc>
                <a:spcPct val="115000"/>
              </a:lnSpc>
              <a:spcBef>
                <a:spcPts val="1600"/>
              </a:spcBef>
              <a:spcAft>
                <a:spcPts val="0"/>
              </a:spcAft>
              <a:buNone/>
            </a:pPr>
            <a:r>
              <a:rPr b="1" lang="en-GB" sz="1800">
                <a:solidFill>
                  <a:schemeClr val="dk1"/>
                </a:solidFill>
              </a:rPr>
              <a:t>Molar Concentration</a:t>
            </a:r>
            <a:r>
              <a:rPr lang="en-GB" sz="1800">
                <a:solidFill>
                  <a:schemeClr val="dk1"/>
                </a:solidFill>
              </a:rPr>
              <a:t> is </a:t>
            </a:r>
            <a:r>
              <a:rPr i="1" lang="en-GB" sz="1800" u="sng">
                <a:solidFill>
                  <a:schemeClr val="dk1"/>
                </a:solidFill>
              </a:rPr>
              <a:t>the moles of solute per Litre of solution</a:t>
            </a:r>
            <a:endParaRPr i="1" sz="1800" u="sng">
              <a:solidFill>
                <a:schemeClr val="dk1"/>
              </a:solidFill>
            </a:endParaRPr>
          </a:p>
          <a:p>
            <a:pPr indent="0" lvl="0" marL="12700" rtl="0" algn="l">
              <a:lnSpc>
                <a:spcPct val="115000"/>
              </a:lnSpc>
              <a:spcBef>
                <a:spcPts val="1600"/>
              </a:spcBef>
              <a:spcAft>
                <a:spcPts val="0"/>
              </a:spcAft>
              <a:buNone/>
            </a:pPr>
            <a:r>
              <a:rPr lang="en-GB" sz="1800">
                <a:solidFill>
                  <a:schemeClr val="dk1"/>
                </a:solidFill>
              </a:rPr>
              <a:t>➢The units for this are mol/L or </a:t>
            </a:r>
            <a:r>
              <a:rPr b="1" lang="en-GB" sz="1800">
                <a:solidFill>
                  <a:schemeClr val="dk1"/>
                </a:solidFill>
              </a:rPr>
              <a:t>Molarity</a:t>
            </a:r>
            <a:r>
              <a:rPr lang="en-GB" sz="1800">
                <a:solidFill>
                  <a:schemeClr val="dk1"/>
                </a:solidFill>
              </a:rPr>
              <a:t> (M)</a:t>
            </a:r>
            <a:endParaRPr sz="1800">
              <a:solidFill>
                <a:schemeClr val="dk1"/>
              </a:solidFill>
            </a:endParaRPr>
          </a:p>
          <a:p>
            <a:pPr indent="0" lvl="0" marL="12700" rtl="0" algn="l">
              <a:lnSpc>
                <a:spcPct val="115000"/>
              </a:lnSpc>
              <a:spcBef>
                <a:spcPts val="0"/>
              </a:spcBef>
              <a:spcAft>
                <a:spcPts val="0"/>
              </a:spcAft>
              <a:buNone/>
            </a:pPr>
            <a:r>
              <a:rPr lang="en-GB" sz="1800">
                <a:solidFill>
                  <a:schemeClr val="dk1"/>
                </a:solidFill>
              </a:rPr>
              <a:t>➢[  	] is also used for concentration</a:t>
            </a:r>
            <a:endParaRPr sz="1800">
              <a:solidFill>
                <a:schemeClr val="dk1"/>
              </a:solidFill>
            </a:endParaRPr>
          </a:p>
          <a:p>
            <a:pPr indent="0" lvl="0" marL="12700" rtl="0" algn="l">
              <a:lnSpc>
                <a:spcPct val="115000"/>
              </a:lnSpc>
              <a:spcBef>
                <a:spcPts val="0"/>
              </a:spcBef>
              <a:spcAft>
                <a:spcPts val="0"/>
              </a:spcAft>
              <a:buNone/>
            </a:pPr>
            <a:r>
              <a:rPr lang="en-GB" sz="1800">
                <a:solidFill>
                  <a:schemeClr val="dk1"/>
                </a:solidFill>
              </a:rPr>
              <a:t>Ex: [CuCl</a:t>
            </a:r>
            <a:r>
              <a:rPr baseline="-25000" lang="en-GB" sz="3000">
                <a:solidFill>
                  <a:schemeClr val="dk1"/>
                </a:solidFill>
              </a:rPr>
              <a:t>2</a:t>
            </a:r>
            <a:r>
              <a:rPr lang="en-GB" sz="1800">
                <a:solidFill>
                  <a:schemeClr val="dk1"/>
                </a:solidFill>
              </a:rPr>
              <a:t>] = 2M, means the concentration of CuCl</a:t>
            </a:r>
            <a:r>
              <a:rPr baseline="-25000" lang="en-GB" sz="3000">
                <a:solidFill>
                  <a:schemeClr val="dk1"/>
                </a:solidFill>
              </a:rPr>
              <a:t>2</a:t>
            </a:r>
            <a:r>
              <a:rPr lang="en-GB" sz="1800">
                <a:solidFill>
                  <a:schemeClr val="dk1"/>
                </a:solidFill>
              </a:rPr>
              <a:t> is 2 moles per L</a:t>
            </a:r>
            <a:endParaRPr sz="1800">
              <a:solidFill>
                <a:schemeClr val="dk1"/>
              </a:solidFill>
            </a:endParaRPr>
          </a:p>
        </p:txBody>
      </p:sp>
      <p:pic>
        <p:nvPicPr>
          <p:cNvPr id="325" name="Google Shape;325;p49"/>
          <p:cNvPicPr preferRelativeResize="0"/>
          <p:nvPr/>
        </p:nvPicPr>
        <p:blipFill rotWithShape="1">
          <a:blip r:embed="rId3">
            <a:alphaModFix/>
          </a:blip>
          <a:srcRect b="6758" l="1043" r="2328" t="5468"/>
          <a:stretch/>
        </p:blipFill>
        <p:spPr>
          <a:xfrm>
            <a:off x="1946600" y="3930150"/>
            <a:ext cx="5585225" cy="1130525"/>
          </a:xfrm>
          <a:prstGeom prst="rect">
            <a:avLst/>
          </a:prstGeom>
          <a:noFill/>
          <a:ln cap="flat" cmpd="sng" w="9525">
            <a:solidFill>
              <a:srgbClr val="6AA84F"/>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0"/>
          <p:cNvSpPr txBox="1"/>
          <p:nvPr>
            <p:ph type="title"/>
          </p:nvPr>
        </p:nvSpPr>
        <p:spPr>
          <a:xfrm>
            <a:off x="248250" y="116575"/>
            <a:ext cx="87063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700"/>
              <a:t>Explore - Calculating Molar Concentration</a:t>
            </a:r>
            <a:endParaRPr sz="3700"/>
          </a:p>
        </p:txBody>
      </p:sp>
      <p:pic>
        <p:nvPicPr>
          <p:cNvPr id="332" name="Google Shape;332;p50"/>
          <p:cNvPicPr preferRelativeResize="0"/>
          <p:nvPr/>
        </p:nvPicPr>
        <p:blipFill>
          <a:blip r:embed="rId3">
            <a:alphaModFix/>
          </a:blip>
          <a:stretch>
            <a:fillRect/>
          </a:stretch>
        </p:blipFill>
        <p:spPr>
          <a:xfrm>
            <a:off x="490188" y="1238525"/>
            <a:ext cx="8163632" cy="37825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Molarity Practice</a:t>
            </a:r>
            <a:endParaRPr/>
          </a:p>
        </p:txBody>
      </p:sp>
      <p:sp>
        <p:nvSpPr>
          <p:cNvPr id="339" name="Google Shape;339;p51"/>
          <p:cNvSpPr txBox="1"/>
          <p:nvPr/>
        </p:nvSpPr>
        <p:spPr>
          <a:xfrm>
            <a:off x="218300" y="1130525"/>
            <a:ext cx="8647500" cy="399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GB" sz="1800">
                <a:solidFill>
                  <a:schemeClr val="dk1"/>
                </a:solidFill>
              </a:rPr>
              <a:t>A student dissolves 0.212mol of FeCl</a:t>
            </a:r>
            <a:r>
              <a:rPr b="1" baseline="-25000" i="1" lang="en-GB" sz="3000">
                <a:solidFill>
                  <a:schemeClr val="dk1"/>
                </a:solidFill>
              </a:rPr>
              <a:t>3</a:t>
            </a:r>
            <a:r>
              <a:rPr b="1" i="1" lang="en-GB" sz="1800">
                <a:solidFill>
                  <a:schemeClr val="dk1"/>
                </a:solidFill>
              </a:rPr>
              <a:t> to make a 175mL solution. </a:t>
            </a:r>
            <a:br>
              <a:rPr b="1" i="1" lang="en-GB" sz="1800">
                <a:solidFill>
                  <a:schemeClr val="dk1"/>
                </a:solidFill>
              </a:rPr>
            </a:br>
            <a:r>
              <a:rPr b="1" i="1" lang="en-GB" sz="1800">
                <a:solidFill>
                  <a:schemeClr val="dk1"/>
                </a:solidFill>
              </a:rPr>
              <a:t>a) Calculate the concentration of the solution</a:t>
            </a:r>
            <a:br>
              <a:rPr b="1" i="1" lang="en-GB" sz="1800">
                <a:solidFill>
                  <a:schemeClr val="dk1"/>
                </a:solidFill>
              </a:rPr>
            </a:br>
            <a:r>
              <a:rPr b="1" i="1" lang="en-GB" sz="1800">
                <a:solidFill>
                  <a:schemeClr val="dk1"/>
                </a:solidFill>
              </a:rPr>
              <a:t>b) Calculate the concentration of chloride ions in solution</a:t>
            </a:r>
            <a:endParaRPr b="1" i="1" sz="1800">
              <a:solidFill>
                <a:schemeClr val="dk1"/>
              </a:solidFill>
            </a:endParaRPr>
          </a:p>
          <a:p>
            <a:pPr indent="0" lvl="0" marL="0" rtl="0" algn="l">
              <a:lnSpc>
                <a:spcPct val="115000"/>
              </a:lnSpc>
              <a:spcBef>
                <a:spcPts val="1600"/>
              </a:spcBef>
              <a:spcAft>
                <a:spcPts val="0"/>
              </a:spcAft>
              <a:buNone/>
            </a:pPr>
            <a:r>
              <a:rPr lang="en-GB" sz="1800">
                <a:solidFill>
                  <a:schemeClr val="dk1"/>
                </a:solidFill>
              </a:rPr>
              <a:t>a)</a:t>
            </a:r>
            <a:endParaRPr sz="1800">
              <a:solidFill>
                <a:schemeClr val="dk1"/>
              </a:solidFill>
            </a:endParaRPr>
          </a:p>
          <a:p>
            <a:pPr indent="0" lvl="0" marL="0" rtl="0" algn="l">
              <a:lnSpc>
                <a:spcPct val="115000"/>
              </a:lnSpc>
              <a:spcBef>
                <a:spcPts val="1600"/>
              </a:spcBef>
              <a:spcAft>
                <a:spcPts val="0"/>
              </a:spcAft>
              <a:buNone/>
            </a:pPr>
            <a:r>
              <a:t/>
            </a:r>
            <a:endParaRPr sz="1800">
              <a:solidFill>
                <a:schemeClr val="dk1"/>
              </a:solidFill>
            </a:endParaRPr>
          </a:p>
          <a:p>
            <a:pPr indent="0" lvl="0" marL="0" rtl="0" algn="l">
              <a:lnSpc>
                <a:spcPct val="100000"/>
              </a:lnSpc>
              <a:spcBef>
                <a:spcPts val="1600"/>
              </a:spcBef>
              <a:spcAft>
                <a:spcPts val="0"/>
              </a:spcAft>
              <a:buNone/>
            </a:pPr>
            <a:r>
              <a:rPr lang="en-GB" sz="1800">
                <a:solidFill>
                  <a:schemeClr val="dk1"/>
                </a:solidFill>
              </a:rPr>
              <a:t>b)			      Fe : Cl</a:t>
            </a:r>
            <a:endParaRPr sz="1800">
              <a:solidFill>
                <a:schemeClr val="dk1"/>
              </a:solidFill>
            </a:endParaRPr>
          </a:p>
          <a:p>
            <a:pPr indent="0" lvl="0" marL="0" rtl="0" algn="l">
              <a:lnSpc>
                <a:spcPct val="100000"/>
              </a:lnSpc>
              <a:spcBef>
                <a:spcPts val="0"/>
              </a:spcBef>
              <a:spcAft>
                <a:spcPts val="0"/>
              </a:spcAft>
              <a:buNone/>
            </a:pPr>
            <a:r>
              <a:rPr lang="en-GB" sz="1800">
                <a:solidFill>
                  <a:schemeClr val="dk1"/>
                </a:solidFill>
              </a:rPr>
              <a:t>			        1 : 3</a:t>
            </a:r>
            <a:endParaRPr sz="1800">
              <a:solidFill>
                <a:schemeClr val="dk1"/>
              </a:solidFill>
            </a:endParaRPr>
          </a:p>
          <a:p>
            <a:pPr indent="0" lvl="0" marL="0" rtl="0" algn="l">
              <a:lnSpc>
                <a:spcPct val="100000"/>
              </a:lnSpc>
              <a:spcBef>
                <a:spcPts val="0"/>
              </a:spcBef>
              <a:spcAft>
                <a:spcPts val="0"/>
              </a:spcAft>
              <a:buNone/>
            </a:pPr>
            <a:r>
              <a:rPr lang="en-GB" sz="1800">
                <a:solidFill>
                  <a:schemeClr val="dk1"/>
                </a:solidFill>
              </a:rPr>
              <a:t>                         1.21 : x</a:t>
            </a:r>
            <a:endParaRPr sz="1800">
              <a:solidFill>
                <a:schemeClr val="dk1"/>
              </a:solidFill>
            </a:endParaRPr>
          </a:p>
          <a:p>
            <a:pPr indent="0" lvl="0" marL="0" rtl="0" algn="l">
              <a:lnSpc>
                <a:spcPct val="100000"/>
              </a:lnSpc>
              <a:spcBef>
                <a:spcPts val="0"/>
              </a:spcBef>
              <a:spcAft>
                <a:spcPts val="0"/>
              </a:spcAft>
              <a:buNone/>
            </a:pPr>
            <a:r>
              <a:rPr lang="en-GB" sz="1800">
                <a:solidFill>
                  <a:schemeClr val="dk1"/>
                </a:solidFill>
              </a:rPr>
              <a:t>				</a:t>
            </a:r>
            <a:r>
              <a:rPr lang="en-GB" sz="1800">
                <a:solidFill>
                  <a:schemeClr val="dk1"/>
                </a:solidFill>
              </a:rPr>
              <a:t>x</a:t>
            </a:r>
            <a:r>
              <a:rPr lang="en-GB" sz="1800">
                <a:solidFill>
                  <a:schemeClr val="dk1"/>
                </a:solidFill>
              </a:rPr>
              <a:t>  = (1.21)(3) = 3.63 M Cl</a:t>
            </a:r>
            <a:r>
              <a:rPr baseline="30000" lang="en-GB" sz="1800">
                <a:solidFill>
                  <a:schemeClr val="dk1"/>
                </a:solidFill>
              </a:rPr>
              <a:t>- </a:t>
            </a:r>
            <a:endParaRPr baseline="30000" sz="1800">
              <a:solidFill>
                <a:schemeClr val="dk1"/>
              </a:solidFill>
            </a:endParaRPr>
          </a:p>
          <a:p>
            <a:pPr indent="0" lvl="0" marL="12700" rtl="0" algn="l">
              <a:lnSpc>
                <a:spcPct val="115000"/>
              </a:lnSpc>
              <a:spcBef>
                <a:spcPts val="0"/>
              </a:spcBef>
              <a:spcAft>
                <a:spcPts val="0"/>
              </a:spcAft>
              <a:buNone/>
            </a:pPr>
            <a:r>
              <a:t/>
            </a:r>
            <a:endParaRPr sz="1800">
              <a:solidFill>
                <a:schemeClr val="dk1"/>
              </a:solidFill>
            </a:endParaRPr>
          </a:p>
        </p:txBody>
      </p:sp>
      <p:pic>
        <p:nvPicPr>
          <p:cNvPr id="340" name="Google Shape;340;p51"/>
          <p:cNvPicPr preferRelativeResize="0"/>
          <p:nvPr/>
        </p:nvPicPr>
        <p:blipFill rotWithShape="1">
          <a:blip r:embed="rId3">
            <a:alphaModFix/>
          </a:blip>
          <a:srcRect b="60694" l="0" r="3660" t="0"/>
          <a:stretch/>
        </p:blipFill>
        <p:spPr>
          <a:xfrm>
            <a:off x="1544975" y="2525425"/>
            <a:ext cx="4908750" cy="736100"/>
          </a:xfrm>
          <a:prstGeom prst="rect">
            <a:avLst/>
          </a:prstGeom>
          <a:noFill/>
          <a:ln>
            <a:noFill/>
          </a:ln>
        </p:spPr>
      </p:pic>
      <p:pic>
        <p:nvPicPr>
          <p:cNvPr descr="We know that concentration is typically expressed with molarity, which is moles per liter. But how do we know how many moles of solute are present in solution when an ionic solid dissolves in water? It's not so simple because these will dissociate into individual ions, so there is some extra stoichiometry to do!&#10;&#10;Watch the whole General Chemistry playlist: http://bit.ly/ProfDaveGenChem&#10;&#10;Organic Chemistry Tutorials: http://bit.ly/ProfDaveOrgChem&#10;Biochemistry Tutorials: http://bit.ly/ProfDaveBiochem&#10;Biology Tutorials: http://bit.ly/ProfDaveBio&#10;Classical Physics Tutorials: http://bit.ly/ProfDavePhysics1&#10;Modern Physics Tutorials: http://bit.ly/ProfDavePhysics2&#10;Mathematics Tutorials: http://bit.ly/ProfDaveMaths&#10;&#10;EMAIL► ProfessorDaveExplains@gmail.com&#10;PATREON► http://patreon.com/ProfessorDaveExplains&#10;&#10;Check out &quot;Is This Wi-Fi Organic?&quot;, my book on disarming pseudoscience!&#10;Amazon: https://amzn.to/2HtNpVH&#10;Bookshop: https://bit.ly/39cKADM&#10; Barnes and Noble: https://bit.ly/3pUjmrn &#10;Book Depository: http://bit.ly/3aOVDlT" id="341" name="Google Shape;341;p51" title="Calculating Ion Concentrations in Solution">
            <a:hlinkClick r:id="rId4"/>
          </p:cNvPr>
          <p:cNvPicPr preferRelativeResize="0"/>
          <p:nvPr/>
        </p:nvPicPr>
        <p:blipFill>
          <a:blip r:embed="rId5">
            <a:alphaModFix/>
          </a:blip>
          <a:stretch>
            <a:fillRect/>
          </a:stretch>
        </p:blipFill>
        <p:spPr>
          <a:xfrm>
            <a:off x="5902700" y="3261525"/>
            <a:ext cx="3048000" cy="1714500"/>
          </a:xfrm>
          <a:prstGeom prst="rect">
            <a:avLst/>
          </a:prstGeom>
          <a:noFill/>
          <a:ln cap="flat" cmpd="sng" w="9525">
            <a:solidFill>
              <a:srgbClr val="93C47D"/>
            </a:solidFill>
            <a:prstDash val="solid"/>
            <a:round/>
            <a:headEnd len="sm" w="sm" type="none"/>
            <a:tailEnd len="sm" w="sm" type="none"/>
          </a:ln>
        </p:spPr>
      </p:pic>
      <p:pic>
        <p:nvPicPr>
          <p:cNvPr id="342" name="Google Shape;342;p51"/>
          <p:cNvPicPr preferRelativeResize="0"/>
          <p:nvPr/>
        </p:nvPicPr>
        <p:blipFill rotWithShape="1">
          <a:blip r:embed="rId6">
            <a:alphaModFix/>
          </a:blip>
          <a:srcRect b="0" l="50332" r="0" t="0"/>
          <a:stretch/>
        </p:blipFill>
        <p:spPr>
          <a:xfrm>
            <a:off x="5174700" y="3261525"/>
            <a:ext cx="640080" cy="7360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2"/>
          <p:cNvSpPr txBox="1"/>
          <p:nvPr>
            <p:ph type="title"/>
          </p:nvPr>
        </p:nvSpPr>
        <p:spPr>
          <a:xfrm>
            <a:off x="248250" y="116575"/>
            <a:ext cx="86475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400"/>
              <a:t>Explore - Mass to Molarity Practice</a:t>
            </a:r>
            <a:endParaRPr sz="4400"/>
          </a:p>
        </p:txBody>
      </p:sp>
      <p:sp>
        <p:nvSpPr>
          <p:cNvPr id="349" name="Google Shape;349;p52"/>
          <p:cNvSpPr txBox="1"/>
          <p:nvPr/>
        </p:nvSpPr>
        <p:spPr>
          <a:xfrm>
            <a:off x="248250" y="1280250"/>
            <a:ext cx="8647500" cy="351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GB" sz="1800">
                <a:solidFill>
                  <a:schemeClr val="dk1"/>
                </a:solidFill>
              </a:rPr>
              <a:t>A student dissolves 29.43g of NaOH into 500mL of distilled water.  What is the molar concentration of NaOH in the solution?</a:t>
            </a:r>
            <a:endParaRPr b="1" i="1" sz="1800">
              <a:solidFill>
                <a:schemeClr val="dk1"/>
              </a:solidFill>
            </a:endParaRPr>
          </a:p>
          <a:p>
            <a:pPr indent="0" lvl="0" marL="0" rtl="0" algn="l">
              <a:lnSpc>
                <a:spcPct val="115000"/>
              </a:lnSpc>
              <a:spcBef>
                <a:spcPts val="0"/>
              </a:spcBef>
              <a:spcAft>
                <a:spcPts val="0"/>
              </a:spcAft>
              <a:buNone/>
            </a:pPr>
            <a:r>
              <a:t/>
            </a:r>
            <a:endParaRPr b="1" i="1"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ctr">
              <a:lnSpc>
                <a:spcPct val="115000"/>
              </a:lnSpc>
              <a:spcBef>
                <a:spcPts val="1600"/>
              </a:spcBef>
              <a:spcAft>
                <a:spcPts val="0"/>
              </a:spcAft>
              <a:buNone/>
            </a:pPr>
            <a:r>
              <a:t/>
            </a:r>
            <a:endParaRPr b="1" i="1" sz="1800">
              <a:solidFill>
                <a:srgbClr val="FF0000"/>
              </a:solidFill>
            </a:endParaRPr>
          </a:p>
          <a:p>
            <a:pPr indent="0" lvl="0" marL="0" rtl="0" algn="ctr">
              <a:lnSpc>
                <a:spcPct val="115000"/>
              </a:lnSpc>
              <a:spcBef>
                <a:spcPts val="1600"/>
              </a:spcBef>
              <a:spcAft>
                <a:spcPts val="0"/>
              </a:spcAft>
              <a:buNone/>
            </a:pPr>
            <a:r>
              <a:t/>
            </a:r>
            <a:endParaRPr b="1" i="1" sz="1800">
              <a:solidFill>
                <a:srgbClr val="FF0000"/>
              </a:solidFill>
            </a:endParaRPr>
          </a:p>
          <a:p>
            <a:pPr indent="0" lvl="0" marL="0" rtl="0" algn="ctr">
              <a:lnSpc>
                <a:spcPct val="115000"/>
              </a:lnSpc>
              <a:spcBef>
                <a:spcPts val="1600"/>
              </a:spcBef>
              <a:spcAft>
                <a:spcPts val="0"/>
              </a:spcAft>
              <a:buNone/>
            </a:pPr>
            <a:r>
              <a:t/>
            </a:r>
            <a:endParaRPr b="1" i="1" sz="1800">
              <a:solidFill>
                <a:srgbClr val="FF0000"/>
              </a:solidFill>
            </a:endParaRPr>
          </a:p>
          <a:p>
            <a:pPr indent="0" lvl="0" marL="12700" rtl="0" algn="l">
              <a:lnSpc>
                <a:spcPct val="115000"/>
              </a:lnSpc>
              <a:spcBef>
                <a:spcPts val="1600"/>
              </a:spcBef>
              <a:spcAft>
                <a:spcPts val="0"/>
              </a:spcAft>
              <a:buNone/>
            </a:pPr>
            <a:r>
              <a:t/>
            </a:r>
            <a:endParaRPr sz="1800">
              <a:solidFill>
                <a:schemeClr val="dk1"/>
              </a:solidFill>
            </a:endParaRPr>
          </a:p>
        </p:txBody>
      </p:sp>
      <p:sp>
        <p:nvSpPr>
          <p:cNvPr id="350" name="Google Shape;350;p52"/>
          <p:cNvSpPr txBox="1"/>
          <p:nvPr/>
        </p:nvSpPr>
        <p:spPr>
          <a:xfrm>
            <a:off x="328075" y="2211925"/>
            <a:ext cx="36936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rPr>
              <a:t>Determine </a:t>
            </a:r>
            <a:r>
              <a:rPr lang="en-GB" sz="1800">
                <a:solidFill>
                  <a:schemeClr val="dk1"/>
                </a:solidFill>
              </a:rPr>
              <a:t>Moles:</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None/>
            </a:pPr>
            <a:r>
              <a:rPr lang="en-GB" sz="1800">
                <a:solidFill>
                  <a:schemeClr val="dk1"/>
                </a:solidFill>
              </a:rPr>
              <a:t>MM</a:t>
            </a:r>
            <a:r>
              <a:rPr baseline="-25000" lang="en-GB" sz="1800">
                <a:solidFill>
                  <a:schemeClr val="dk1"/>
                </a:solidFill>
              </a:rPr>
              <a:t>NaOH</a:t>
            </a:r>
            <a:r>
              <a:rPr lang="en-GB" sz="1800">
                <a:solidFill>
                  <a:schemeClr val="dk1"/>
                </a:solidFill>
              </a:rPr>
              <a:t> = 22.99 + 16 + 1.01 = 40</a:t>
            </a:r>
            <a:endParaRPr sz="1800">
              <a:solidFill>
                <a:schemeClr val="dk1"/>
              </a:solidFill>
            </a:endParaRPr>
          </a:p>
          <a:p>
            <a:pPr indent="0" lvl="0" marL="0" rtl="0" algn="l">
              <a:lnSpc>
                <a:spcPct val="115000"/>
              </a:lnSpc>
              <a:spcBef>
                <a:spcPts val="0"/>
              </a:spcBef>
              <a:spcAft>
                <a:spcPts val="0"/>
              </a:spcAft>
              <a:buNone/>
            </a:pPr>
            <a:r>
              <a:rPr lang="en-GB" sz="1800">
                <a:solidFill>
                  <a:schemeClr val="dk1"/>
                </a:solidFill>
              </a:rPr>
              <a:t>n = m/MM</a:t>
            </a:r>
            <a:endParaRPr sz="1800">
              <a:solidFill>
                <a:schemeClr val="dk1"/>
              </a:solidFill>
            </a:endParaRPr>
          </a:p>
          <a:p>
            <a:pPr indent="0" lvl="0" marL="0" rtl="0" algn="l">
              <a:lnSpc>
                <a:spcPct val="115000"/>
              </a:lnSpc>
              <a:spcBef>
                <a:spcPts val="0"/>
              </a:spcBef>
              <a:spcAft>
                <a:spcPts val="0"/>
              </a:spcAft>
              <a:buNone/>
            </a:pPr>
            <a:r>
              <a:rPr lang="en-GB" sz="1800">
                <a:solidFill>
                  <a:schemeClr val="dk1"/>
                </a:solidFill>
              </a:rPr>
              <a:t>n = 29.43 / 40</a:t>
            </a:r>
            <a:r>
              <a:rPr lang="en-GB" sz="1800">
                <a:solidFill>
                  <a:schemeClr val="dk1"/>
                </a:solidFill>
              </a:rPr>
              <a:t> </a:t>
            </a:r>
            <a:endParaRPr sz="1800">
              <a:solidFill>
                <a:schemeClr val="dk1"/>
              </a:solidFill>
            </a:endParaRPr>
          </a:p>
          <a:p>
            <a:pPr indent="0" lvl="0" marL="0" rtl="0" algn="l">
              <a:lnSpc>
                <a:spcPct val="115000"/>
              </a:lnSpc>
              <a:spcBef>
                <a:spcPts val="0"/>
              </a:spcBef>
              <a:spcAft>
                <a:spcPts val="0"/>
              </a:spcAft>
              <a:buNone/>
            </a:pPr>
            <a:r>
              <a:rPr lang="en-GB" sz="1800">
                <a:solidFill>
                  <a:schemeClr val="dk1"/>
                </a:solidFill>
              </a:rPr>
              <a:t>n</a:t>
            </a:r>
            <a:r>
              <a:rPr lang="en-GB" sz="1800">
                <a:solidFill>
                  <a:schemeClr val="dk1"/>
                </a:solidFill>
              </a:rPr>
              <a:t> = 0.73575 mol</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None/>
            </a:pPr>
            <a:r>
              <a:rPr lang="en-GB" sz="1800">
                <a:solidFill>
                  <a:schemeClr val="dk1"/>
                </a:solidFill>
              </a:rPr>
              <a:t>500mL = 0.5 L</a:t>
            </a:r>
            <a:endParaRPr sz="1800">
              <a:solidFill>
                <a:schemeClr val="dk1"/>
              </a:solidFill>
            </a:endParaRPr>
          </a:p>
        </p:txBody>
      </p:sp>
      <p:sp>
        <p:nvSpPr>
          <p:cNvPr id="351" name="Google Shape;351;p52"/>
          <p:cNvSpPr txBox="1"/>
          <p:nvPr/>
        </p:nvSpPr>
        <p:spPr>
          <a:xfrm>
            <a:off x="4349775" y="2211925"/>
            <a:ext cx="43125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rPr>
              <a:t>Using moles, determine Concentration:</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GB" sz="1800">
                <a:solidFill>
                  <a:schemeClr val="dk1"/>
                </a:solidFill>
              </a:rPr>
              <a:t>C = n/V</a:t>
            </a:r>
            <a:endParaRPr sz="1800">
              <a:solidFill>
                <a:schemeClr val="dk1"/>
              </a:solidFill>
            </a:endParaRPr>
          </a:p>
          <a:p>
            <a:pPr indent="0" lvl="0" marL="0" rtl="0" algn="l">
              <a:spcBef>
                <a:spcPts val="0"/>
              </a:spcBef>
              <a:spcAft>
                <a:spcPts val="0"/>
              </a:spcAft>
              <a:buNone/>
            </a:pPr>
            <a:r>
              <a:rPr lang="en-GB" sz="1800">
                <a:solidFill>
                  <a:schemeClr val="dk1"/>
                </a:solidFill>
              </a:rPr>
              <a:t>C = 0.73575 / 0.5</a:t>
            </a:r>
            <a:endParaRPr sz="1800">
              <a:solidFill>
                <a:schemeClr val="dk1"/>
              </a:solidFill>
            </a:endParaRPr>
          </a:p>
          <a:p>
            <a:pPr indent="0" lvl="0" marL="0" rtl="0" algn="l">
              <a:spcBef>
                <a:spcPts val="0"/>
              </a:spcBef>
              <a:spcAft>
                <a:spcPts val="0"/>
              </a:spcAft>
              <a:buNone/>
            </a:pPr>
            <a:r>
              <a:rPr lang="en-GB" sz="1800">
                <a:solidFill>
                  <a:schemeClr val="dk1"/>
                </a:solidFill>
              </a:rPr>
              <a:t>C = 1.47 M</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GB" sz="1800">
                <a:solidFill>
                  <a:schemeClr val="dk1"/>
                </a:solidFill>
              </a:rPr>
              <a:t>∴ the concentration of NaOH is 1.47M</a:t>
            </a:r>
            <a:endParaRPr sz="1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3"/>
          <p:cNvSpPr txBox="1"/>
          <p:nvPr>
            <p:ph type="title"/>
          </p:nvPr>
        </p:nvSpPr>
        <p:spPr>
          <a:xfrm>
            <a:off x="248250" y="116575"/>
            <a:ext cx="87687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Molarity to Mass Practice</a:t>
            </a:r>
            <a:endParaRPr/>
          </a:p>
        </p:txBody>
      </p:sp>
      <p:sp>
        <p:nvSpPr>
          <p:cNvPr id="358" name="Google Shape;358;p53"/>
          <p:cNvSpPr txBox="1"/>
          <p:nvPr/>
        </p:nvSpPr>
        <p:spPr>
          <a:xfrm>
            <a:off x="248250" y="1280250"/>
            <a:ext cx="8647500" cy="1828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i="1" lang="en-GB" sz="1800">
                <a:solidFill>
                  <a:schemeClr val="dk1"/>
                </a:solidFill>
              </a:rPr>
              <a:t>Normal saline solution for rehydration in hospitals contains 0.154M NaCl.  Calculate the mass of NaCl present in 500mL of solution.</a:t>
            </a:r>
            <a:endParaRPr b="1" i="1" sz="1800">
              <a:solidFill>
                <a:schemeClr val="dk1"/>
              </a:solidFill>
            </a:endParaRPr>
          </a:p>
          <a:p>
            <a:pPr indent="0" lvl="0" marL="0" rtl="0" algn="ctr">
              <a:lnSpc>
                <a:spcPct val="115000"/>
              </a:lnSpc>
              <a:spcBef>
                <a:spcPts val="1600"/>
              </a:spcBef>
              <a:spcAft>
                <a:spcPts val="0"/>
              </a:spcAft>
              <a:buNone/>
            </a:pPr>
            <a:r>
              <a:t/>
            </a:r>
            <a:endParaRPr b="1" i="1" sz="1800">
              <a:solidFill>
                <a:srgbClr val="FF0000"/>
              </a:solidFill>
            </a:endParaRPr>
          </a:p>
          <a:p>
            <a:pPr indent="0" lvl="0" marL="12700" rtl="0" algn="l">
              <a:lnSpc>
                <a:spcPct val="115000"/>
              </a:lnSpc>
              <a:spcBef>
                <a:spcPts val="1600"/>
              </a:spcBef>
              <a:spcAft>
                <a:spcPts val="0"/>
              </a:spcAft>
              <a:buNone/>
            </a:pPr>
            <a:r>
              <a:t/>
            </a:r>
            <a:endParaRPr sz="1800">
              <a:solidFill>
                <a:schemeClr val="dk1"/>
              </a:solidFill>
            </a:endParaRPr>
          </a:p>
        </p:txBody>
      </p:sp>
      <p:sp>
        <p:nvSpPr>
          <p:cNvPr id="359" name="Google Shape;359;p53"/>
          <p:cNvSpPr txBox="1"/>
          <p:nvPr/>
        </p:nvSpPr>
        <p:spPr>
          <a:xfrm>
            <a:off x="1158750" y="2148425"/>
            <a:ext cx="4312500" cy="271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rPr>
              <a:t>Concentration:</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rPr>
              <a:t>500mL = 0.5 L</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GB" sz="1800">
                <a:solidFill>
                  <a:schemeClr val="dk1"/>
                </a:solidFill>
              </a:rPr>
              <a:t>C = n/V</a:t>
            </a:r>
            <a:endParaRPr sz="1800">
              <a:solidFill>
                <a:schemeClr val="dk1"/>
              </a:solidFill>
            </a:endParaRPr>
          </a:p>
          <a:p>
            <a:pPr indent="0" lvl="0" marL="0" rtl="0" algn="l">
              <a:spcBef>
                <a:spcPts val="0"/>
              </a:spcBef>
              <a:spcAft>
                <a:spcPts val="0"/>
              </a:spcAft>
              <a:buNone/>
            </a:pPr>
            <a:r>
              <a:rPr lang="en-GB" sz="1800">
                <a:solidFill>
                  <a:schemeClr val="dk1"/>
                </a:solidFill>
              </a:rPr>
              <a:t>0.154 = n / 0.5L</a:t>
            </a:r>
            <a:endParaRPr sz="1800">
              <a:solidFill>
                <a:schemeClr val="dk1"/>
              </a:solidFill>
            </a:endParaRPr>
          </a:p>
          <a:p>
            <a:pPr indent="0" lvl="0" marL="0" rtl="0" algn="l">
              <a:spcBef>
                <a:spcPts val="0"/>
              </a:spcBef>
              <a:spcAft>
                <a:spcPts val="0"/>
              </a:spcAft>
              <a:buNone/>
            </a:pPr>
            <a:r>
              <a:rPr lang="en-GB" sz="1800">
                <a:solidFill>
                  <a:schemeClr val="dk1"/>
                </a:solidFill>
              </a:rPr>
              <a:t>n</a:t>
            </a:r>
            <a:r>
              <a:rPr lang="en-GB" sz="1800">
                <a:solidFill>
                  <a:schemeClr val="dk1"/>
                </a:solidFill>
              </a:rPr>
              <a:t> = 0.077 mol</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
        <p:nvSpPr>
          <p:cNvPr id="360" name="Google Shape;360;p53"/>
          <p:cNvSpPr txBox="1"/>
          <p:nvPr/>
        </p:nvSpPr>
        <p:spPr>
          <a:xfrm>
            <a:off x="3672750" y="2162225"/>
            <a:ext cx="43125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rPr>
              <a:t>Mass</a:t>
            </a:r>
            <a:r>
              <a:rPr lang="en-GB" sz="1800">
                <a:solidFill>
                  <a:schemeClr val="dk1"/>
                </a:solidFill>
              </a:rPr>
              <a:t>:</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None/>
            </a:pPr>
            <a:r>
              <a:rPr lang="en-GB" sz="1800">
                <a:solidFill>
                  <a:schemeClr val="dk1"/>
                </a:solidFill>
              </a:rPr>
              <a:t>MM</a:t>
            </a:r>
            <a:r>
              <a:rPr baseline="-25000" lang="en-GB" sz="1800">
                <a:solidFill>
                  <a:schemeClr val="dk1"/>
                </a:solidFill>
              </a:rPr>
              <a:t>NaCl</a:t>
            </a:r>
            <a:r>
              <a:rPr lang="en-GB" sz="1800">
                <a:solidFill>
                  <a:schemeClr val="dk1"/>
                </a:solidFill>
              </a:rPr>
              <a:t> = 22.99 + 35.45 = 58.44</a:t>
            </a:r>
            <a:endParaRPr sz="1800">
              <a:solidFill>
                <a:schemeClr val="dk1"/>
              </a:solidFill>
            </a:endParaRPr>
          </a:p>
          <a:p>
            <a:pPr indent="0" lvl="0" marL="0" rtl="0" algn="l">
              <a:lnSpc>
                <a:spcPct val="115000"/>
              </a:lnSpc>
              <a:spcBef>
                <a:spcPts val="0"/>
              </a:spcBef>
              <a:spcAft>
                <a:spcPts val="0"/>
              </a:spcAft>
              <a:buNone/>
            </a:pPr>
            <a:r>
              <a:rPr lang="en-GB" sz="1800">
                <a:solidFill>
                  <a:schemeClr val="dk1"/>
                </a:solidFill>
              </a:rPr>
              <a:t>n = m/MM</a:t>
            </a:r>
            <a:endParaRPr sz="1800">
              <a:solidFill>
                <a:schemeClr val="dk1"/>
              </a:solidFill>
            </a:endParaRPr>
          </a:p>
          <a:p>
            <a:pPr indent="0" lvl="0" marL="0" rtl="0" algn="l">
              <a:lnSpc>
                <a:spcPct val="115000"/>
              </a:lnSpc>
              <a:spcBef>
                <a:spcPts val="0"/>
              </a:spcBef>
              <a:spcAft>
                <a:spcPts val="0"/>
              </a:spcAft>
              <a:buNone/>
            </a:pPr>
            <a:r>
              <a:rPr lang="en-GB" sz="1800">
                <a:solidFill>
                  <a:schemeClr val="dk1"/>
                </a:solidFill>
              </a:rPr>
              <a:t>0.077 = m / 58.44 </a:t>
            </a:r>
            <a:endParaRPr sz="1800">
              <a:solidFill>
                <a:schemeClr val="dk1"/>
              </a:solidFill>
            </a:endParaRPr>
          </a:p>
          <a:p>
            <a:pPr indent="0" lvl="0" marL="0" rtl="0" algn="l">
              <a:lnSpc>
                <a:spcPct val="115000"/>
              </a:lnSpc>
              <a:spcBef>
                <a:spcPts val="0"/>
              </a:spcBef>
              <a:spcAft>
                <a:spcPts val="0"/>
              </a:spcAft>
              <a:buNone/>
            </a:pPr>
            <a:r>
              <a:rPr lang="en-GB" sz="1800">
                <a:solidFill>
                  <a:schemeClr val="dk1"/>
                </a:solidFill>
              </a:rPr>
              <a:t>n = 4.50 g</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spcBef>
                <a:spcPts val="0"/>
              </a:spcBef>
              <a:spcAft>
                <a:spcPts val="0"/>
              </a:spcAft>
              <a:buNone/>
            </a:pPr>
            <a:r>
              <a:rPr lang="en-GB" sz="1800">
                <a:solidFill>
                  <a:schemeClr val="dk1"/>
                </a:solidFill>
              </a:rPr>
              <a:t>∴ the mass of NaCl in solution is 4.50 g</a:t>
            </a:r>
            <a:endParaRPr sz="18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4"/>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Molarity</a:t>
            </a:r>
            <a:endParaRPr/>
          </a:p>
        </p:txBody>
      </p:sp>
      <p:sp>
        <p:nvSpPr>
          <p:cNvPr id="367" name="Google Shape;367;p54"/>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Corbel"/>
                <a:ea typeface="Corbel"/>
                <a:cs typeface="Corbel"/>
                <a:sym typeface="Corbel"/>
              </a:rPr>
              <a:t>{Optional} For further help you can watch this video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pic>
        <p:nvPicPr>
          <p:cNvPr id="368" name="Google Shape;368;p54"/>
          <p:cNvPicPr preferRelativeResize="0"/>
          <p:nvPr/>
        </p:nvPicPr>
        <p:blipFill rotWithShape="1">
          <a:blip r:embed="rId3">
            <a:alphaModFix/>
          </a:blip>
          <a:srcRect b="0" l="50332" r="0" t="0"/>
          <a:stretch/>
        </p:blipFill>
        <p:spPr>
          <a:xfrm>
            <a:off x="401625" y="1155100"/>
            <a:ext cx="640080" cy="736092"/>
          </a:xfrm>
          <a:prstGeom prst="rect">
            <a:avLst/>
          </a:prstGeom>
          <a:noFill/>
          <a:ln>
            <a:noFill/>
          </a:ln>
        </p:spPr>
      </p:pic>
      <p:pic>
        <p:nvPicPr>
          <p:cNvPr descr="PRACTICE PROBLEM:&#10;A 34.53 mL sample of H2SO4 reacts with 27.86 mL of 0.08964 M NaOH solution. Calculate the molarity of the H2SO4 solution. &#10;&#10;H2SO4 + 2NaOH = Na2SO4 + 2H2O &#10;&#10;📗 FREE CHEMISTRY SURVIVAL GUIDE&#10;https://melissa.help/freechemguide&#10;&#10;💯 HERE'S HOW TO PASS ORGANIC CHEMISTRY 🎉&#10;https://chemmunity.info/youtube&#10;&#10;👉 MORE CHEMISTRY RESOURCES I CREATED 👈&#10;https://melissamaribel.com/&#10;&#10;🎓 CHECKOUT MY COMPLETE CHEMISTRY GUIDES:&#10;&#10;📕 Thermochemistry Guide&#10;https://melissa.help/thermonotes&#10;📗 Acids and Bases Guide&#10;https://melissa.help/acidbase1notes&#10;📘 Naming Compounds and Acids Guide&#10;https://melissa.help/namingnotes&#10;📙 Dimensional Analysis, Significant Figures, and Density Guide&#10;https://melissa.help/sigfignotes&#10;📕 Gas Laws Guide&#10;https://melissa.help/gaslawsnotes&#10;📗 Stoichiometry Guide&#10;https://melissa.help/stoichnotes&#10;📘 Redox Reactions Guide&#10;https://melissa.help/redoxnotes&#10;📙 Molarity Guide&#10;https://melissa.help/molaritynotes&#10;📕 Limiting Reactants Guide&#10;https://melissa.help/limreactnotes&#10;📗 Lewis Structures Guide&#10;https://melissa.help/lewisnotes&#10;📘 Kinetics Guide&#10;https://melissa.help/kineticsnotes&#10;📙 Titrations Guide&#10;https://melissa.help/titrations&#10;📕 Matter, Atomic Structure, Empirical and Molecular Formulas Guide&#10;https://melissa.help/matterguide&#10;&#10;🙌  This was my go-to homework help when I was in school. Chegg Study is one of my favorites.&#10;https://melissa.help/cheggstudy&#10;&#10;📚  I made the mistake of buying all of my textbooks, I wish I had the option of renting them. Thankfully you do, with Chegg Textbook Rentals.&#10;https://melissa.help/cheggbooks&#10;&#10;💁‍♀️ HI I'M MELISSA MARIBEL&#10;I help students pass Chemistry and Organic Chemistry. I used to struggle with this subject, so when I finally graduated with a bachelor's degree in Chemistry, I became a tutor so that you wouldn't have to struggle like I did. I know that with the right help, YOU CAN LEARN ANYTHING!&#10;&#10;DISCLAIMER: Some links in the description are affiliate links, which means that if you buy from those links, I’ll receive a small commission. This helps support the channel and allows me to continue making videos like this. Thanks for the support!&#10;&#10;&#10;STEP BY STEP ANSWER:&#10;&#10;Given:                                  &#10;34.53 mL H2SO4               &#10;27.86 mL NaOH&#10;0.08964 M NaOH&#10;&#10;Find: &#10;M H2SO4&#10;&#10;Remember 0.08964 M NaOH means 0.08964 mol NaOH/ 1 L &#10;&#10;Step 1: Find mol of H2SO4&#10;&#10;Plan: mL NaOH  to    L NaOH  to   mol NaOH   to     mol H2SO4 &#10;      Metric system     molarity NaOH        mol to mol ratio&#10;Setup: &#10;27.86 mL NaOH x ( 10^-3 L NaOH/ 1 mL NaOH) x (0.08964 mol NaOH/ 1 L NaOH) x ( 1 mol H2SO4/2 mol NaOH) &#10;&#10;= 0.001249 mol H2SO4&#10;&#10;Step 2: Convert mL to L of H2SO4&#10;&#10;34.53 mL H2SO4 x ( 10^-3 L H2SO4/ 1 mL H2SO4) &#10;= 0.03453 L H2SO4&#10;&#10;Step 3: Divide mol/L &#10;&#10;M= 0.001249 mol H2SO4/0.03453 L H2SO4 &#10;&#10;Answer= 0.03617 M H2SO4" id="369" name="Google Shape;369;p54" title="How to Do Solution Stoichiometry Using Molarity as a Conversion Factor | How to Pass Chemistry">
            <a:hlinkClick r:id="rId4"/>
          </p:cNvPr>
          <p:cNvPicPr preferRelativeResize="0"/>
          <p:nvPr/>
        </p:nvPicPr>
        <p:blipFill>
          <a:blip r:embed="rId5">
            <a:alphaModFix/>
          </a:blip>
          <a:stretch>
            <a:fillRect/>
          </a:stretch>
        </p:blipFill>
        <p:spPr>
          <a:xfrm>
            <a:off x="2000250" y="1756850"/>
            <a:ext cx="5249300" cy="2952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1000"/>
                                        <p:tgtEl>
                                          <p:spTgt spid="3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5"/>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3: Apply</a:t>
            </a:r>
            <a:endParaRPr sz="72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6"/>
          <p:cNvSpPr txBox="1"/>
          <p:nvPr>
            <p:ph type="title"/>
          </p:nvPr>
        </p:nvSpPr>
        <p:spPr>
          <a:xfrm>
            <a:off x="1397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Apply</a:t>
            </a:r>
            <a:r>
              <a:rPr lang="en-GB"/>
              <a:t>-  Complete the questions</a:t>
            </a:r>
            <a:endParaRPr/>
          </a:p>
        </p:txBody>
      </p:sp>
      <p:pic>
        <p:nvPicPr>
          <p:cNvPr id="382" name="Google Shape;382;p56"/>
          <p:cNvPicPr preferRelativeResize="0"/>
          <p:nvPr/>
        </p:nvPicPr>
        <p:blipFill>
          <a:blip r:embed="rId3">
            <a:alphaModFix/>
          </a:blip>
          <a:stretch>
            <a:fillRect/>
          </a:stretch>
        </p:blipFill>
        <p:spPr>
          <a:xfrm>
            <a:off x="8010175" y="46963"/>
            <a:ext cx="1078825" cy="1078825"/>
          </a:xfrm>
          <a:prstGeom prst="rect">
            <a:avLst/>
          </a:prstGeom>
          <a:noFill/>
          <a:ln>
            <a:noFill/>
          </a:ln>
        </p:spPr>
      </p:pic>
      <p:sp>
        <p:nvSpPr>
          <p:cNvPr id="383" name="Google Shape;383;p56"/>
          <p:cNvSpPr txBox="1"/>
          <p:nvPr/>
        </p:nvSpPr>
        <p:spPr>
          <a:xfrm>
            <a:off x="179850" y="1310700"/>
            <a:ext cx="8784300" cy="383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GB" sz="2100"/>
              <a:t>Show all your work! Include formulas, conversions, units, etc.</a:t>
            </a:r>
            <a:endParaRPr b="1" i="1" sz="2100"/>
          </a:p>
          <a:p>
            <a:pPr indent="0" lvl="0" marL="0" rtl="0" algn="l">
              <a:spcBef>
                <a:spcPts val="0"/>
              </a:spcBef>
              <a:spcAft>
                <a:spcPts val="0"/>
              </a:spcAft>
              <a:buNone/>
            </a:pPr>
            <a:r>
              <a:t/>
            </a:r>
            <a:endParaRPr sz="1800"/>
          </a:p>
          <a:p>
            <a:pPr indent="-342900" lvl="0" marL="457200" rtl="0" algn="l">
              <a:spcBef>
                <a:spcPts val="0"/>
              </a:spcBef>
              <a:spcAft>
                <a:spcPts val="0"/>
              </a:spcAft>
              <a:buSzPts val="1800"/>
              <a:buAutoNum type="arabicParenR"/>
            </a:pPr>
            <a:r>
              <a:rPr lang="en-GB" sz="1800"/>
              <a:t>(m/v)%: 45g of Cobalt Chloride is dissolved in 231mL of water.  What is the (m/V)% Concentration of the solution?</a:t>
            </a:r>
            <a:endParaRPr sz="1800"/>
          </a:p>
          <a:p>
            <a:pPr indent="-342900" lvl="0" marL="457200" rtl="0" algn="l">
              <a:spcBef>
                <a:spcPts val="0"/>
              </a:spcBef>
              <a:spcAft>
                <a:spcPts val="0"/>
              </a:spcAft>
              <a:buSzPts val="1800"/>
              <a:buAutoNum type="arabicParenR"/>
            </a:pPr>
            <a:r>
              <a:rPr lang="en-GB" sz="1800"/>
              <a:t>(m/m)%: Bronze medals in the 2018 PyeongChang Olympics had a mass of 493g.  If each bronze medal contained about 435g of Copper, what is the (m/m)% of Copper in the bronze medal?</a:t>
            </a:r>
            <a:endParaRPr sz="1800"/>
          </a:p>
          <a:p>
            <a:pPr indent="-342900" lvl="0" marL="457200" rtl="0" algn="l">
              <a:spcBef>
                <a:spcPts val="0"/>
              </a:spcBef>
              <a:spcAft>
                <a:spcPts val="0"/>
              </a:spcAft>
              <a:buSzPts val="1800"/>
              <a:buAutoNum type="arabicParenR"/>
            </a:pPr>
            <a:r>
              <a:rPr lang="en-GB" sz="1800"/>
              <a:t>(v/v)%: A 300mL bottle of wine contains 35mL of alcohol.  What is the (v/v)%</a:t>
            </a:r>
            <a:endParaRPr sz="1800"/>
          </a:p>
          <a:p>
            <a:pPr indent="-342900" lvl="0" marL="457200" rtl="0" algn="l">
              <a:spcBef>
                <a:spcPts val="0"/>
              </a:spcBef>
              <a:spcAft>
                <a:spcPts val="0"/>
              </a:spcAft>
              <a:buSzPts val="1800"/>
              <a:buAutoNum type="arabicParenR"/>
            </a:pPr>
            <a:r>
              <a:rPr lang="en-GB" sz="1800"/>
              <a:t>(v/v)%: A water sample is taken from a river to test for pollution.  It must be diluted to 2% by volume of its original amount.  If you have a 30mL sample, how much water must you add to get to this desired concentration?</a:t>
            </a:r>
            <a:endParaRPr sz="1800"/>
          </a:p>
          <a:p>
            <a:pPr indent="-342900" lvl="0" marL="457200" rtl="0" algn="l">
              <a:spcBef>
                <a:spcPts val="0"/>
              </a:spcBef>
              <a:spcAft>
                <a:spcPts val="0"/>
              </a:spcAft>
              <a:buSzPts val="1800"/>
              <a:buAutoNum type="arabicParenR"/>
            </a:pPr>
            <a:r>
              <a:rPr lang="en-GB" sz="1800"/>
              <a:t>ppm/ppb: 3mg of a dangerous chemical is found In 300 L of water.  What is its concentration in ppm?</a:t>
            </a:r>
            <a:endParaRPr sz="1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7"/>
          <p:cNvSpPr txBox="1"/>
          <p:nvPr>
            <p:ph type="title"/>
          </p:nvPr>
        </p:nvSpPr>
        <p:spPr>
          <a:xfrm>
            <a:off x="1397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Apply-  Complete the questions</a:t>
            </a:r>
            <a:endParaRPr/>
          </a:p>
        </p:txBody>
      </p:sp>
      <p:pic>
        <p:nvPicPr>
          <p:cNvPr id="390" name="Google Shape;390;p57"/>
          <p:cNvPicPr preferRelativeResize="0"/>
          <p:nvPr/>
        </p:nvPicPr>
        <p:blipFill>
          <a:blip r:embed="rId3">
            <a:alphaModFix/>
          </a:blip>
          <a:stretch>
            <a:fillRect/>
          </a:stretch>
        </p:blipFill>
        <p:spPr>
          <a:xfrm>
            <a:off x="8010175" y="46963"/>
            <a:ext cx="1078825" cy="1078825"/>
          </a:xfrm>
          <a:prstGeom prst="rect">
            <a:avLst/>
          </a:prstGeom>
          <a:noFill/>
          <a:ln>
            <a:noFill/>
          </a:ln>
        </p:spPr>
      </p:pic>
      <p:sp>
        <p:nvSpPr>
          <p:cNvPr id="391" name="Google Shape;391;p57"/>
          <p:cNvSpPr txBox="1"/>
          <p:nvPr/>
        </p:nvSpPr>
        <p:spPr>
          <a:xfrm>
            <a:off x="179850" y="1310700"/>
            <a:ext cx="8784300" cy="253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GB" sz="2100"/>
              <a:t>Work at the board  for the next few slides. Insert photos of your work and compare to answers after attempting. Show all your work! Include formulas, conversions, units, etc.</a:t>
            </a:r>
            <a:endParaRPr b="1" i="1" sz="2100"/>
          </a:p>
          <a:p>
            <a:pPr indent="0" lvl="0" marL="0" rtl="0" algn="l">
              <a:spcBef>
                <a:spcPts val="0"/>
              </a:spcBef>
              <a:spcAft>
                <a:spcPts val="0"/>
              </a:spcAft>
              <a:buNone/>
            </a:pPr>
            <a:r>
              <a:t/>
            </a:r>
            <a:endParaRPr sz="1800"/>
          </a:p>
          <a:p>
            <a:pPr indent="-342900" lvl="0" marL="457200" rtl="0" algn="l">
              <a:spcBef>
                <a:spcPts val="0"/>
              </a:spcBef>
              <a:spcAft>
                <a:spcPts val="0"/>
              </a:spcAft>
              <a:buSzPts val="1800"/>
              <a:buAutoNum type="arabicParenR"/>
            </a:pPr>
            <a:r>
              <a:rPr lang="en-GB" sz="1800"/>
              <a:t>How many moles of sucrose are dissolved in 250 mL of solution if the solution concentration is 0.150 M?</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 </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8"/>
          <p:cNvSpPr txBox="1"/>
          <p:nvPr>
            <p:ph type="title"/>
          </p:nvPr>
        </p:nvSpPr>
        <p:spPr>
          <a:xfrm>
            <a:off x="1397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Apply-  Complete the questions</a:t>
            </a:r>
            <a:endParaRPr/>
          </a:p>
        </p:txBody>
      </p:sp>
      <p:pic>
        <p:nvPicPr>
          <p:cNvPr id="398" name="Google Shape;398;p58"/>
          <p:cNvPicPr preferRelativeResize="0"/>
          <p:nvPr/>
        </p:nvPicPr>
        <p:blipFill>
          <a:blip r:embed="rId3">
            <a:alphaModFix/>
          </a:blip>
          <a:stretch>
            <a:fillRect/>
          </a:stretch>
        </p:blipFill>
        <p:spPr>
          <a:xfrm>
            <a:off x="8010175" y="46963"/>
            <a:ext cx="1078825" cy="1078825"/>
          </a:xfrm>
          <a:prstGeom prst="rect">
            <a:avLst/>
          </a:prstGeom>
          <a:noFill/>
          <a:ln>
            <a:noFill/>
          </a:ln>
        </p:spPr>
      </p:pic>
      <p:sp>
        <p:nvSpPr>
          <p:cNvPr id="399" name="Google Shape;399;p58"/>
          <p:cNvSpPr txBox="1"/>
          <p:nvPr/>
        </p:nvSpPr>
        <p:spPr>
          <a:xfrm>
            <a:off x="179850" y="1310700"/>
            <a:ext cx="8784300" cy="253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GB" sz="2100"/>
              <a:t>Work at the board  for the next few slides. Insert photos of your work and compare to answers after attempting. Show all your work! Include formulas, conversions, units, etc.</a:t>
            </a:r>
            <a:endParaRPr b="1" i="1" sz="21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2)</a:t>
            </a:r>
            <a:r>
              <a:rPr lang="en-GB" sz="1800"/>
              <a:t> What is the molarity of a solution of HNO3 that contains 12.6 grams HNO3 in 1.0 L of solution?</a:t>
            </a:r>
            <a:endParaRPr sz="1800"/>
          </a:p>
          <a:p>
            <a:pPr indent="0" lvl="0" marL="0" rtl="0" algn="l">
              <a:spcBef>
                <a:spcPts val="0"/>
              </a:spcBef>
              <a:spcAft>
                <a:spcPts val="0"/>
              </a:spcAft>
              <a:buNone/>
            </a:pPr>
            <a:r>
              <a:rPr lang="en-GB" sz="1800"/>
              <a:t>      </a:t>
            </a:r>
            <a:endParaRPr sz="1800"/>
          </a:p>
          <a:p>
            <a:pPr indent="0" lvl="0" marL="0" rtl="0" algn="l">
              <a:spcBef>
                <a:spcPts val="0"/>
              </a:spcBef>
              <a:spcAft>
                <a:spcPts val="0"/>
              </a:spcAft>
              <a:buNone/>
            </a:pPr>
            <a:r>
              <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9"/>
          <p:cNvSpPr txBox="1"/>
          <p:nvPr>
            <p:ph type="ctrTitle"/>
          </p:nvPr>
        </p:nvSpPr>
        <p:spPr>
          <a:xfrm>
            <a:off x="685800" y="2516887"/>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900"/>
              <a:t>Next few slides provide answers to activities</a:t>
            </a:r>
            <a:endParaRPr sz="3900"/>
          </a:p>
        </p:txBody>
      </p:sp>
      <p:sp>
        <p:nvSpPr>
          <p:cNvPr id="406" name="Google Shape;406;p59"/>
          <p:cNvSpPr txBox="1"/>
          <p:nvPr>
            <p:ph idx="1" type="subTitle"/>
          </p:nvPr>
        </p:nvSpPr>
        <p:spPr>
          <a:xfrm>
            <a:off x="685800" y="1371600"/>
            <a:ext cx="8077200" cy="112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0"/>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Part B: 5 minutes</a:t>
            </a:r>
            <a:endParaRPr/>
          </a:p>
        </p:txBody>
      </p:sp>
      <p:pic>
        <p:nvPicPr>
          <p:cNvPr id="413" name="Google Shape;413;p60"/>
          <p:cNvPicPr preferRelativeResize="0"/>
          <p:nvPr/>
        </p:nvPicPr>
        <p:blipFill>
          <a:blip r:embed="rId3">
            <a:alphaModFix/>
          </a:blip>
          <a:stretch>
            <a:fillRect/>
          </a:stretch>
        </p:blipFill>
        <p:spPr>
          <a:xfrm>
            <a:off x="233075" y="2582762"/>
            <a:ext cx="3391749" cy="1012075"/>
          </a:xfrm>
          <a:prstGeom prst="rect">
            <a:avLst/>
          </a:prstGeom>
          <a:noFill/>
          <a:ln>
            <a:noFill/>
          </a:ln>
        </p:spPr>
      </p:pic>
      <p:pic>
        <p:nvPicPr>
          <p:cNvPr id="414" name="Google Shape;414;p60"/>
          <p:cNvPicPr preferRelativeResize="0"/>
          <p:nvPr/>
        </p:nvPicPr>
        <p:blipFill rotWithShape="1">
          <a:blip r:embed="rId4">
            <a:alphaModFix/>
          </a:blip>
          <a:srcRect b="11331" l="0" r="0" t="0"/>
          <a:stretch/>
        </p:blipFill>
        <p:spPr>
          <a:xfrm>
            <a:off x="3698900" y="1421589"/>
            <a:ext cx="5305750" cy="33344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1"/>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200"/>
              <a:t>Explore - Calculating ppm &amp; ppb</a:t>
            </a:r>
            <a:endParaRPr sz="3700"/>
          </a:p>
        </p:txBody>
      </p:sp>
      <p:sp>
        <p:nvSpPr>
          <p:cNvPr id="421" name="Google Shape;421;p61"/>
          <p:cNvSpPr txBox="1"/>
          <p:nvPr/>
        </p:nvSpPr>
        <p:spPr>
          <a:xfrm>
            <a:off x="246125" y="1231175"/>
            <a:ext cx="8526600" cy="385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Corbel"/>
                <a:ea typeface="Corbel"/>
                <a:cs typeface="Corbel"/>
                <a:sym typeface="Corbel"/>
              </a:rPr>
              <a:t>IN YOUR GROUP - WORK AT A CLASS WHITEBOARD</a:t>
            </a:r>
            <a:endParaRPr sz="2200">
              <a:solidFill>
                <a:schemeClr val="dk1"/>
              </a:solidFill>
              <a:latin typeface="Corbel"/>
              <a:ea typeface="Corbel"/>
              <a:cs typeface="Corbel"/>
              <a:sym typeface="Corbel"/>
            </a:endParaRPr>
          </a:p>
          <a:p>
            <a:pPr indent="0" lvl="0" marL="0" rtl="0" algn="ctr">
              <a:spcBef>
                <a:spcPts val="0"/>
              </a:spcBef>
              <a:spcAft>
                <a:spcPts val="0"/>
              </a:spcAft>
              <a:buNone/>
            </a:pPr>
            <a:r>
              <a:rPr b="1" lang="en-GB" sz="1800">
                <a:solidFill>
                  <a:schemeClr val="dk1"/>
                </a:solidFill>
                <a:latin typeface="Corbel"/>
                <a:ea typeface="Corbel"/>
                <a:cs typeface="Corbel"/>
                <a:sym typeface="Corbel"/>
              </a:rPr>
              <a:t>Record your work (take a photo and insert in these slides, redraw it in your notes etc)</a:t>
            </a:r>
            <a:endParaRPr b="1" sz="1800">
              <a:solidFill>
                <a:schemeClr val="dk1"/>
              </a:solidFill>
              <a:latin typeface="Corbel"/>
              <a:ea typeface="Corbel"/>
              <a:cs typeface="Corbel"/>
              <a:sym typeface="Corbel"/>
            </a:endParaRPr>
          </a:p>
          <a:p>
            <a:pPr indent="0" lvl="0" marL="0" rtl="0" algn="l">
              <a:lnSpc>
                <a:spcPct val="115000"/>
              </a:lnSpc>
              <a:spcBef>
                <a:spcPts val="0"/>
              </a:spcBef>
              <a:spcAft>
                <a:spcPts val="0"/>
              </a:spcAft>
              <a:buNone/>
            </a:pPr>
            <a:r>
              <a:rPr b="1" i="1" lang="en-GB" sz="1800">
                <a:solidFill>
                  <a:schemeClr val="dk1"/>
                </a:solidFill>
              </a:rPr>
              <a:t>Health Canada’s guideline for maximum Mercury in fish is 0.5ppm.  When a 1.6kg salmon was tested, it was found to contain 0.6mg of Mercury.  Is this salmon safe to eat?</a:t>
            </a:r>
            <a:endParaRPr b="1" i="1" sz="1800">
              <a:solidFill>
                <a:schemeClr val="dk1"/>
              </a:solidFil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pic>
        <p:nvPicPr>
          <p:cNvPr id="422" name="Google Shape;422;p61"/>
          <p:cNvPicPr preferRelativeResize="0"/>
          <p:nvPr/>
        </p:nvPicPr>
        <p:blipFill>
          <a:blip r:embed="rId3">
            <a:alphaModFix/>
          </a:blip>
          <a:stretch>
            <a:fillRect/>
          </a:stretch>
        </p:blipFill>
        <p:spPr>
          <a:xfrm>
            <a:off x="314450" y="2928200"/>
            <a:ext cx="7631650" cy="2245250"/>
          </a:xfrm>
          <a:prstGeom prst="rect">
            <a:avLst/>
          </a:prstGeom>
          <a:noFill/>
          <a:ln>
            <a:noFill/>
          </a:ln>
        </p:spPr>
      </p:pic>
      <p:sp>
        <p:nvSpPr>
          <p:cNvPr id="423" name="Google Shape;423;p61"/>
          <p:cNvSpPr txBox="1"/>
          <p:nvPr/>
        </p:nvSpPr>
        <p:spPr>
          <a:xfrm>
            <a:off x="6056900" y="3286750"/>
            <a:ext cx="30996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900">
                <a:solidFill>
                  <a:schemeClr val="dk1"/>
                </a:solidFill>
                <a:latin typeface="Corbel"/>
                <a:ea typeface="Corbel"/>
                <a:cs typeface="Corbel"/>
                <a:sym typeface="Corbel"/>
              </a:rPr>
              <a:t>Yes, it is safe to eat.</a:t>
            </a:r>
            <a:endParaRPr i="1" sz="2900">
              <a:solidFill>
                <a:schemeClr val="dk1"/>
              </a:solidFill>
              <a:latin typeface="Corbel"/>
              <a:ea typeface="Corbel"/>
              <a:cs typeface="Corbel"/>
              <a:sym typeface="Corbe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2"/>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200"/>
              <a:t>Explore - Calculating ppm &amp; ppb</a:t>
            </a:r>
            <a:endParaRPr sz="3700"/>
          </a:p>
        </p:txBody>
      </p:sp>
      <p:sp>
        <p:nvSpPr>
          <p:cNvPr id="430" name="Google Shape;430;p62"/>
          <p:cNvSpPr txBox="1"/>
          <p:nvPr/>
        </p:nvSpPr>
        <p:spPr>
          <a:xfrm>
            <a:off x="274175" y="1567200"/>
            <a:ext cx="3920700" cy="3576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i="1" lang="en-GB" sz="1800">
                <a:solidFill>
                  <a:schemeClr val="dk1"/>
                </a:solidFill>
              </a:rPr>
              <a:t>2. In Ontario, drinking water should have less than 10 ppb of lead in it. What is the maximum amount of lead allowed in a 500 mL bottle of water?</a:t>
            </a:r>
            <a:endParaRPr b="1" i="1" sz="1800">
              <a:solidFill>
                <a:schemeClr val="dk1"/>
              </a:solidFill>
            </a:endParaRPr>
          </a:p>
          <a:p>
            <a:pPr indent="0" lvl="0" marL="0" rtl="0" algn="l">
              <a:lnSpc>
                <a:spcPct val="115000"/>
              </a:lnSpc>
              <a:spcBef>
                <a:spcPts val="0"/>
              </a:spcBef>
              <a:spcAft>
                <a:spcPts val="0"/>
              </a:spcAft>
              <a:buNone/>
            </a:pPr>
            <a:r>
              <a:rPr b="1" i="1" lang="en-GB" sz="1800">
                <a:solidFill>
                  <a:schemeClr val="dk1"/>
                </a:solidFill>
              </a:rPr>
              <a:t> </a:t>
            </a:r>
            <a:endParaRPr b="1" i="1" sz="1800">
              <a:solidFill>
                <a:schemeClr val="dk1"/>
              </a:solidFill>
            </a:endParaRPr>
          </a:p>
          <a:p>
            <a:pPr indent="0" lvl="0" marL="0" rtl="0" algn="l">
              <a:lnSpc>
                <a:spcPct val="115000"/>
              </a:lnSpc>
              <a:spcBef>
                <a:spcPts val="0"/>
              </a:spcBef>
              <a:spcAft>
                <a:spcPts val="0"/>
              </a:spcAft>
              <a:buNone/>
            </a:pPr>
            <a:r>
              <a:rPr b="1" i="1" lang="en-GB" sz="1800">
                <a:solidFill>
                  <a:schemeClr val="dk1"/>
                </a:solidFill>
              </a:rPr>
              <a:t>1mL of water = 1g of water (using density)</a:t>
            </a:r>
            <a:endParaRPr b="1" i="1" sz="1800">
              <a:solidFill>
                <a:schemeClr val="dk1"/>
              </a:solidFill>
            </a:endParaRPr>
          </a:p>
          <a:p>
            <a:pPr indent="0" lvl="0" marL="0" rtl="0" algn="l">
              <a:lnSpc>
                <a:spcPct val="115000"/>
              </a:lnSpc>
              <a:spcBef>
                <a:spcPts val="0"/>
              </a:spcBef>
              <a:spcAft>
                <a:spcPts val="0"/>
              </a:spcAft>
              <a:buNone/>
            </a:pPr>
            <a:r>
              <a:rPr b="1" i="1" lang="en-GB" sz="1800">
                <a:solidFill>
                  <a:schemeClr val="dk1"/>
                </a:solidFill>
              </a:rPr>
              <a:t>Therefore 10ppb = 10g in 1,000,000,000g of water</a:t>
            </a:r>
            <a:endParaRPr b="1" i="1" sz="1800">
              <a:solidFill>
                <a:schemeClr val="dk1"/>
              </a:solidFill>
            </a:endParaRPr>
          </a:p>
          <a:p>
            <a:pPr indent="0" lvl="0" marL="0" rtl="0" algn="l">
              <a:lnSpc>
                <a:spcPct val="115000"/>
              </a:lnSpc>
              <a:spcBef>
                <a:spcPts val="0"/>
              </a:spcBef>
              <a:spcAft>
                <a:spcPts val="0"/>
              </a:spcAft>
              <a:buNone/>
            </a:pPr>
            <a:r>
              <a:t/>
            </a:r>
            <a:endParaRPr b="1" i="1" sz="1800">
              <a:solidFill>
                <a:schemeClr val="dk1"/>
              </a:solidFill>
            </a:endParaRPr>
          </a:p>
          <a:p>
            <a:pPr indent="0" lvl="0" marL="0" rtl="0" algn="l">
              <a:lnSpc>
                <a:spcPct val="115000"/>
              </a:lnSpc>
              <a:spcBef>
                <a:spcPts val="0"/>
              </a:spcBef>
              <a:spcAft>
                <a:spcPts val="0"/>
              </a:spcAft>
              <a:buNone/>
            </a:pPr>
            <a:r>
              <a:t/>
            </a:r>
            <a:endParaRPr b="1" i="1" sz="1800">
              <a:solidFill>
                <a:schemeClr val="dk1"/>
              </a:solidFil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sp>
        <p:nvSpPr>
          <p:cNvPr id="431" name="Google Shape;431;p62"/>
          <p:cNvSpPr txBox="1"/>
          <p:nvPr/>
        </p:nvSpPr>
        <p:spPr>
          <a:xfrm>
            <a:off x="4313600" y="1631280"/>
            <a:ext cx="4935900" cy="2426100"/>
          </a:xfrm>
          <a:prstGeom prst="rect">
            <a:avLst/>
          </a:prstGeom>
          <a:blipFill rotWithShape="1">
            <a:blip r:embed="rId3">
              <a:alphaModFix/>
            </a:blip>
            <a:stretch>
              <a:fillRect b="0" l="-1639" r="0" t="-1899"/>
            </a:stretch>
          </a:blipFill>
          <a:ln cap="flat" cmpd="sng" w="28575">
            <a:solidFill>
              <a:schemeClr val="dk1">
                <a:alpha val="0"/>
              </a:schemeClr>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spcBef>
                <a:spcPts val="0"/>
              </a:spcBef>
              <a:spcAft>
                <a:spcPts val="0"/>
              </a:spcAft>
              <a:buClr>
                <a:srgbClr val="FFCC00"/>
              </a:buClr>
              <a:buSzPts val="3200"/>
              <a:buChar char="●"/>
            </a:pPr>
            <a:r>
              <a:rPr lang="en-GB" sz="3200">
                <a:solidFill>
                  <a:srgbClr val="000000"/>
                </a:solidFill>
                <a:latin typeface="Tahoma"/>
                <a:ea typeface="Tahoma"/>
                <a:cs typeface="Tahoma"/>
                <a:sym typeface="Tahoma"/>
              </a:rPr>
              <a:t> </a:t>
            </a:r>
            <a:endParaRPr sz="3200">
              <a:solidFill>
                <a:srgbClr val="000000"/>
              </a:solidFill>
              <a:latin typeface="Tahoma"/>
              <a:ea typeface="Tahoma"/>
              <a:cs typeface="Tahoma"/>
              <a:sym typeface="Tahom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3"/>
          <p:cNvSpPr txBox="1"/>
          <p:nvPr>
            <p:ph type="title"/>
          </p:nvPr>
        </p:nvSpPr>
        <p:spPr>
          <a:xfrm>
            <a:off x="1397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Apply-  Complete the questions</a:t>
            </a:r>
            <a:endParaRPr/>
          </a:p>
        </p:txBody>
      </p:sp>
      <p:pic>
        <p:nvPicPr>
          <p:cNvPr id="438" name="Google Shape;438;p63"/>
          <p:cNvPicPr preferRelativeResize="0"/>
          <p:nvPr/>
        </p:nvPicPr>
        <p:blipFill>
          <a:blip r:embed="rId3">
            <a:alphaModFix/>
          </a:blip>
          <a:stretch>
            <a:fillRect/>
          </a:stretch>
        </p:blipFill>
        <p:spPr>
          <a:xfrm>
            <a:off x="8010175" y="46963"/>
            <a:ext cx="1078825" cy="1078825"/>
          </a:xfrm>
          <a:prstGeom prst="rect">
            <a:avLst/>
          </a:prstGeom>
          <a:noFill/>
          <a:ln>
            <a:noFill/>
          </a:ln>
        </p:spPr>
      </p:pic>
      <p:sp>
        <p:nvSpPr>
          <p:cNvPr id="439" name="Google Shape;439;p63"/>
          <p:cNvSpPr txBox="1"/>
          <p:nvPr/>
        </p:nvSpPr>
        <p:spPr>
          <a:xfrm>
            <a:off x="179850" y="1310700"/>
            <a:ext cx="8784300" cy="38481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AutoNum type="arabicParenR"/>
            </a:pPr>
            <a:r>
              <a:rPr lang="en-GB" sz="1700"/>
              <a:t>(m/v)%: 45g of Cobalt Chloride is dissolved in 231mL of water.  What is the (m/V)% Concentration of the solution?  </a:t>
            </a:r>
            <a:r>
              <a:rPr lang="en-GB" sz="1700">
                <a:solidFill>
                  <a:srgbClr val="FF0000"/>
                </a:solidFill>
              </a:rPr>
              <a:t>Ans:  Percent = m/v x 100 = 45g/231ml x 100 = 19%</a:t>
            </a:r>
            <a:endParaRPr sz="1700">
              <a:solidFill>
                <a:srgbClr val="FF0000"/>
              </a:solidFill>
            </a:endParaRPr>
          </a:p>
          <a:p>
            <a:pPr indent="-336550" lvl="0" marL="457200" rtl="0" algn="l">
              <a:spcBef>
                <a:spcPts val="0"/>
              </a:spcBef>
              <a:spcAft>
                <a:spcPts val="0"/>
              </a:spcAft>
              <a:buSzPts val="1700"/>
              <a:buAutoNum type="arabicParenR"/>
            </a:pPr>
            <a:r>
              <a:rPr lang="en-GB" sz="1700"/>
              <a:t>(m/m)%: Bronze medals in the 2018 PyeongChang Olympics had a mass of 493g.  If each bronze medal contained about 435g of Copper, what is the (m/m)% of Copper in the bronze medal? </a:t>
            </a:r>
            <a:r>
              <a:rPr lang="en-GB" sz="1700">
                <a:solidFill>
                  <a:srgbClr val="FF0000"/>
                </a:solidFill>
              </a:rPr>
              <a:t>Ans:  Percent = m/m x 100 = 435g/493ml x 100 = 88.2%</a:t>
            </a:r>
            <a:endParaRPr sz="1700">
              <a:solidFill>
                <a:srgbClr val="FF0000"/>
              </a:solidFill>
            </a:endParaRPr>
          </a:p>
          <a:p>
            <a:pPr indent="-336550" lvl="0" marL="457200" rtl="0" algn="l">
              <a:spcBef>
                <a:spcPts val="0"/>
              </a:spcBef>
              <a:spcAft>
                <a:spcPts val="0"/>
              </a:spcAft>
              <a:buSzPts val="1700"/>
              <a:buAutoNum type="arabicParenR"/>
            </a:pPr>
            <a:r>
              <a:rPr lang="en-GB" sz="1700"/>
              <a:t>(v/v)%: A 300mL bottle of wine contains 35mL of alcohol.  What is the (v/v)%? </a:t>
            </a:r>
            <a:r>
              <a:rPr lang="en-GB" sz="1700">
                <a:solidFill>
                  <a:srgbClr val="FF0000"/>
                </a:solidFill>
              </a:rPr>
              <a:t>Ans:  Percent = v/v x 100 = 35ml/300ml x 100 = 12%</a:t>
            </a:r>
            <a:endParaRPr sz="1700">
              <a:solidFill>
                <a:srgbClr val="FF0000"/>
              </a:solidFill>
            </a:endParaRPr>
          </a:p>
          <a:p>
            <a:pPr indent="-336550" lvl="0" marL="457200" rtl="0" algn="l">
              <a:spcBef>
                <a:spcPts val="0"/>
              </a:spcBef>
              <a:spcAft>
                <a:spcPts val="0"/>
              </a:spcAft>
              <a:buSzPts val="1700"/>
              <a:buAutoNum type="arabicParenR"/>
            </a:pPr>
            <a:r>
              <a:rPr lang="en-GB" sz="1700"/>
              <a:t>(v/v)%: </a:t>
            </a:r>
            <a:r>
              <a:rPr lang="en-GB" sz="1700"/>
              <a:t>A</a:t>
            </a:r>
            <a:r>
              <a:rPr lang="en-GB" sz="1700"/>
              <a:t> water sample is taken from a river to test for pollution.  It must be diluted to 2% by volume of its original amount.  If you have a 30mL sample, how much water must you add to get to this desired concentration? </a:t>
            </a:r>
            <a:r>
              <a:rPr lang="en-GB" sz="1700">
                <a:solidFill>
                  <a:srgbClr val="FF0000"/>
                </a:solidFill>
              </a:rPr>
              <a:t>Ans:  Percent = v/v x 100   -&gt; 2% = 30ml/total volume x 100  Rearrange -&gt; Total volume = 1500ml. Amount to add =  total- original volume = 1500ml-30ml = 1470 ml added </a:t>
            </a:r>
            <a:endParaRPr sz="1700">
              <a:solidFill>
                <a:srgbClr val="FF0000"/>
              </a:solidFill>
            </a:endParaRPr>
          </a:p>
          <a:p>
            <a:pPr indent="-336550" lvl="0" marL="457200" rtl="0" algn="l">
              <a:spcBef>
                <a:spcPts val="0"/>
              </a:spcBef>
              <a:spcAft>
                <a:spcPts val="0"/>
              </a:spcAft>
              <a:buSzPts val="1700"/>
              <a:buAutoNum type="arabicParenR"/>
            </a:pPr>
            <a:r>
              <a:rPr lang="en-GB" sz="1700"/>
              <a:t>pp</a:t>
            </a:r>
            <a:r>
              <a:rPr lang="en-GB" sz="1700"/>
              <a:t>m/ppb: 3mg of a dangerous chemical is found In 300 L of water.  What is its concentration in ppm? </a:t>
            </a:r>
            <a:r>
              <a:rPr lang="en-GB" sz="1700">
                <a:solidFill>
                  <a:srgbClr val="FF0000"/>
                </a:solidFill>
              </a:rPr>
              <a:t>Ppm = 0.003g/300000g x 10</a:t>
            </a:r>
            <a:r>
              <a:rPr baseline="30000" lang="en-GB" sz="1700">
                <a:solidFill>
                  <a:srgbClr val="FF0000"/>
                </a:solidFill>
              </a:rPr>
              <a:t>6</a:t>
            </a:r>
            <a:r>
              <a:rPr lang="en-GB" sz="1700">
                <a:solidFill>
                  <a:srgbClr val="FF0000"/>
                </a:solidFill>
              </a:rPr>
              <a:t> = 0.01 ppm</a:t>
            </a:r>
            <a:endParaRPr sz="170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4"/>
          <p:cNvSpPr txBox="1"/>
          <p:nvPr>
            <p:ph type="title"/>
          </p:nvPr>
        </p:nvSpPr>
        <p:spPr>
          <a:xfrm>
            <a:off x="1397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Apply-  Complete the questions</a:t>
            </a:r>
            <a:endParaRPr/>
          </a:p>
        </p:txBody>
      </p:sp>
      <p:pic>
        <p:nvPicPr>
          <p:cNvPr id="446" name="Google Shape;446;p64"/>
          <p:cNvPicPr preferRelativeResize="0"/>
          <p:nvPr/>
        </p:nvPicPr>
        <p:blipFill>
          <a:blip r:embed="rId3">
            <a:alphaModFix/>
          </a:blip>
          <a:stretch>
            <a:fillRect/>
          </a:stretch>
        </p:blipFill>
        <p:spPr>
          <a:xfrm>
            <a:off x="8010175" y="46963"/>
            <a:ext cx="1078825" cy="1078825"/>
          </a:xfrm>
          <a:prstGeom prst="rect">
            <a:avLst/>
          </a:prstGeom>
          <a:noFill/>
          <a:ln>
            <a:noFill/>
          </a:ln>
        </p:spPr>
      </p:pic>
      <p:sp>
        <p:nvSpPr>
          <p:cNvPr id="447" name="Google Shape;447;p64"/>
          <p:cNvSpPr txBox="1"/>
          <p:nvPr/>
        </p:nvSpPr>
        <p:spPr>
          <a:xfrm>
            <a:off x="179850" y="1310700"/>
            <a:ext cx="8784300" cy="364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GB" sz="2100"/>
              <a:t>Work at the board  for the next few slides. Insert photos of your work and compare to answers after attempting. Show all your work! Include formulas, conversions, units, etc.</a:t>
            </a:r>
            <a:endParaRPr b="1" i="1" sz="2100"/>
          </a:p>
          <a:p>
            <a:pPr indent="0" lvl="0" marL="0" rtl="0" algn="l">
              <a:spcBef>
                <a:spcPts val="0"/>
              </a:spcBef>
              <a:spcAft>
                <a:spcPts val="0"/>
              </a:spcAft>
              <a:buNone/>
            </a:pPr>
            <a:r>
              <a:t/>
            </a:r>
            <a:endParaRPr sz="1800"/>
          </a:p>
          <a:p>
            <a:pPr indent="-342900" lvl="0" marL="457200" rtl="0" algn="l">
              <a:spcBef>
                <a:spcPts val="0"/>
              </a:spcBef>
              <a:spcAft>
                <a:spcPts val="0"/>
              </a:spcAft>
              <a:buSzPts val="1800"/>
              <a:buAutoNum type="arabicParenR"/>
            </a:pPr>
            <a:r>
              <a:rPr lang="en-GB" sz="1800"/>
              <a:t>How many moles of sucrose are dissolved in 250 mL of solution if the solution concentration is 0.150 M?</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Ans: Convert to L = 250 mL × 1 L 1000 mL = 0.25 L  </a:t>
            </a:r>
            <a:endParaRPr sz="1800"/>
          </a:p>
          <a:p>
            <a:pPr indent="0" lvl="0" marL="0" rtl="0" algn="l">
              <a:spcBef>
                <a:spcPts val="0"/>
              </a:spcBef>
              <a:spcAft>
                <a:spcPts val="0"/>
              </a:spcAft>
              <a:buNone/>
            </a:pPr>
            <a:r>
              <a:rPr lang="en-GB" sz="1800"/>
              <a:t> M = n/V   </a:t>
            </a:r>
            <a:endParaRPr sz="1800"/>
          </a:p>
          <a:p>
            <a:pPr indent="0" lvl="0" marL="0" rtl="0" algn="l">
              <a:spcBef>
                <a:spcPts val="0"/>
              </a:spcBef>
              <a:spcAft>
                <a:spcPts val="0"/>
              </a:spcAft>
              <a:buNone/>
            </a:pPr>
            <a:r>
              <a:rPr lang="en-GB" sz="1800"/>
              <a:t>0.150 M =   </a:t>
            </a:r>
            <a:r>
              <a:rPr lang="en-GB" sz="1800" u="sng"/>
              <a:t>  n    </a:t>
            </a:r>
            <a:endParaRPr sz="1800" u="sng"/>
          </a:p>
          <a:p>
            <a:pPr indent="0" lvl="0" marL="0" rtl="0" algn="l">
              <a:spcBef>
                <a:spcPts val="0"/>
              </a:spcBef>
              <a:spcAft>
                <a:spcPts val="0"/>
              </a:spcAft>
              <a:buNone/>
            </a:pPr>
            <a:r>
              <a:rPr lang="en-GB" sz="1800"/>
              <a:t>                  0.25 L       </a:t>
            </a:r>
            <a:endParaRPr sz="1800"/>
          </a:p>
          <a:p>
            <a:pPr indent="0" lvl="0" marL="0" rtl="0" algn="l">
              <a:spcBef>
                <a:spcPts val="0"/>
              </a:spcBef>
              <a:spcAft>
                <a:spcPts val="0"/>
              </a:spcAft>
              <a:buNone/>
            </a:pPr>
            <a:r>
              <a:rPr lang="en-GB" sz="1800"/>
              <a:t>n = 0.038 mol  </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5"/>
          <p:cNvSpPr txBox="1"/>
          <p:nvPr>
            <p:ph type="title"/>
          </p:nvPr>
        </p:nvSpPr>
        <p:spPr>
          <a:xfrm>
            <a:off x="1397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Apply-  Complete the questions</a:t>
            </a:r>
            <a:endParaRPr/>
          </a:p>
        </p:txBody>
      </p:sp>
      <p:pic>
        <p:nvPicPr>
          <p:cNvPr id="454" name="Google Shape;454;p65"/>
          <p:cNvPicPr preferRelativeResize="0"/>
          <p:nvPr/>
        </p:nvPicPr>
        <p:blipFill>
          <a:blip r:embed="rId3">
            <a:alphaModFix/>
          </a:blip>
          <a:stretch>
            <a:fillRect/>
          </a:stretch>
        </p:blipFill>
        <p:spPr>
          <a:xfrm>
            <a:off x="8010175" y="46963"/>
            <a:ext cx="1078825" cy="1078825"/>
          </a:xfrm>
          <a:prstGeom prst="rect">
            <a:avLst/>
          </a:prstGeom>
          <a:noFill/>
          <a:ln>
            <a:noFill/>
          </a:ln>
        </p:spPr>
      </p:pic>
      <p:sp>
        <p:nvSpPr>
          <p:cNvPr id="455" name="Google Shape;455;p65"/>
          <p:cNvSpPr txBox="1"/>
          <p:nvPr/>
        </p:nvSpPr>
        <p:spPr>
          <a:xfrm>
            <a:off x="179850" y="1310700"/>
            <a:ext cx="8784300" cy="420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GB" sz="2100"/>
              <a:t>Work at the board  for the next few slides. Insert photos of your work and compare to answers after attempting. Show all your work! Include formulas, conversions, units, etc.</a:t>
            </a:r>
            <a:endParaRPr b="1" i="1" sz="21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2) What is the molarity of a solution of HNO3 that contains 12.6 grams HNO3 in 1.0 L of solution?</a:t>
            </a:r>
            <a:endParaRPr sz="1800"/>
          </a:p>
          <a:p>
            <a:pPr indent="0" lvl="0" marL="0" rtl="0" algn="l">
              <a:spcBef>
                <a:spcPts val="0"/>
              </a:spcBef>
              <a:spcAft>
                <a:spcPts val="0"/>
              </a:spcAft>
              <a:buNone/>
            </a:pPr>
            <a:r>
              <a:rPr lang="en-GB" sz="1800"/>
              <a:t>Answer: n = m/ MM</a:t>
            </a:r>
            <a:endParaRPr sz="1800"/>
          </a:p>
          <a:p>
            <a:pPr indent="0" lvl="0" marL="0" rtl="0" algn="l">
              <a:spcBef>
                <a:spcPts val="0"/>
              </a:spcBef>
              <a:spcAft>
                <a:spcPts val="0"/>
              </a:spcAft>
              <a:buNone/>
            </a:pPr>
            <a:r>
              <a:rPr lang="en-GB" sz="1800"/>
              <a:t>   n of HNO3 = </a:t>
            </a:r>
            <a:r>
              <a:rPr lang="en-GB" sz="1800" u="sng"/>
              <a:t>12.6 g HNO3</a:t>
            </a:r>
            <a:endParaRPr sz="1800" u="sng"/>
          </a:p>
          <a:p>
            <a:pPr indent="0" lvl="0" marL="0" rtl="0" algn="l">
              <a:spcBef>
                <a:spcPts val="0"/>
              </a:spcBef>
              <a:spcAft>
                <a:spcPts val="0"/>
              </a:spcAft>
              <a:buNone/>
            </a:pPr>
            <a:r>
              <a:rPr lang="en-GB" sz="1800"/>
              <a:t>                         63.0 g HNO3 </a:t>
            </a:r>
            <a:endParaRPr sz="1800"/>
          </a:p>
          <a:p>
            <a:pPr indent="0" lvl="0" marL="0" rtl="0" algn="l">
              <a:spcBef>
                <a:spcPts val="0"/>
              </a:spcBef>
              <a:spcAft>
                <a:spcPts val="0"/>
              </a:spcAft>
              <a:buNone/>
            </a:pPr>
            <a:r>
              <a:rPr lang="en-GB" sz="1800"/>
              <a:t>                   n = 0.200 mol HNO3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0.150 M =   </a:t>
            </a:r>
            <a:r>
              <a:rPr lang="en-GB" sz="1800" u="sng"/>
              <a:t>  n    </a:t>
            </a:r>
            <a:endParaRPr sz="1800" u="sng"/>
          </a:p>
          <a:p>
            <a:pPr indent="0" lvl="0" marL="0" rtl="0" algn="l">
              <a:spcBef>
                <a:spcPts val="0"/>
              </a:spcBef>
              <a:spcAft>
                <a:spcPts val="0"/>
              </a:spcAft>
              <a:buNone/>
            </a:pPr>
            <a:r>
              <a:rPr lang="en-GB" sz="1800"/>
              <a:t>                  0.25 L       </a:t>
            </a:r>
            <a:endParaRPr sz="1800"/>
          </a:p>
          <a:p>
            <a:pPr indent="0" lvl="0" marL="0" rtl="0" algn="l">
              <a:spcBef>
                <a:spcPts val="0"/>
              </a:spcBef>
              <a:spcAft>
                <a:spcPts val="0"/>
              </a:spcAft>
              <a:buNone/>
            </a:pPr>
            <a:r>
              <a:rPr lang="en-GB" sz="1800"/>
              <a:t>n = 0.038 mol  </a:t>
            </a:r>
            <a:endParaRPr sz="1800"/>
          </a:p>
        </p:txBody>
      </p:sp>
      <p:sp>
        <p:nvSpPr>
          <p:cNvPr id="456" name="Google Shape;456;p65"/>
          <p:cNvSpPr txBox="1"/>
          <p:nvPr/>
        </p:nvSpPr>
        <p:spPr>
          <a:xfrm>
            <a:off x="5049250" y="3298850"/>
            <a:ext cx="3702900" cy="17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rPr>
              <a:t>M = n/V</a:t>
            </a:r>
            <a:endParaRPr sz="1800">
              <a:solidFill>
                <a:schemeClr val="dk1"/>
              </a:solidFill>
            </a:endParaRPr>
          </a:p>
          <a:p>
            <a:pPr indent="0" lvl="0" marL="0" rtl="0" algn="l">
              <a:spcBef>
                <a:spcPts val="0"/>
              </a:spcBef>
              <a:spcAft>
                <a:spcPts val="0"/>
              </a:spcAft>
              <a:buNone/>
            </a:pPr>
            <a:r>
              <a:rPr lang="en-GB" sz="1800">
                <a:solidFill>
                  <a:schemeClr val="dk1"/>
                </a:solidFill>
              </a:rPr>
              <a:t>M =  </a:t>
            </a:r>
            <a:r>
              <a:rPr lang="en-GB" sz="1800" u="sng">
                <a:solidFill>
                  <a:schemeClr val="dk1"/>
                </a:solidFill>
              </a:rPr>
              <a:t>0.200 mol HNO3 </a:t>
            </a:r>
            <a:endParaRPr sz="1800" u="sng">
              <a:solidFill>
                <a:schemeClr val="dk1"/>
              </a:solidFill>
            </a:endParaRPr>
          </a:p>
          <a:p>
            <a:pPr indent="0" lvl="0" marL="0" rtl="0" algn="l">
              <a:spcBef>
                <a:spcPts val="0"/>
              </a:spcBef>
              <a:spcAft>
                <a:spcPts val="0"/>
              </a:spcAft>
              <a:buNone/>
            </a:pPr>
            <a:r>
              <a:rPr lang="en-GB" sz="1800">
                <a:solidFill>
                  <a:schemeClr val="dk1"/>
                </a:solidFill>
              </a:rPr>
              <a:t>         1.0 L </a:t>
            </a:r>
            <a:endParaRPr sz="1800">
              <a:solidFill>
                <a:schemeClr val="dk1"/>
              </a:solidFill>
            </a:endParaRPr>
          </a:p>
          <a:p>
            <a:pPr indent="0" lvl="0" marL="0" rtl="0" algn="l">
              <a:spcBef>
                <a:spcPts val="0"/>
              </a:spcBef>
              <a:spcAft>
                <a:spcPts val="0"/>
              </a:spcAft>
              <a:buNone/>
            </a:pPr>
            <a:r>
              <a:rPr lang="en-GB" sz="1800">
                <a:solidFill>
                  <a:schemeClr val="dk1"/>
                </a:solidFill>
              </a:rPr>
              <a:t>M = 0.200 M </a:t>
            </a:r>
            <a:endParaRPr sz="1800">
              <a:solidFill>
                <a:schemeClr val="dk1"/>
              </a:solidFill>
            </a:endParaRPr>
          </a:p>
          <a:p>
            <a:pPr indent="0" lvl="0" marL="0" rtl="0" algn="l">
              <a:spcBef>
                <a:spcPts val="0"/>
              </a:spcBef>
              <a:spcAft>
                <a:spcPts val="0"/>
              </a:spcAft>
              <a:buNone/>
            </a:pPr>
            <a:r>
              <a:rPr lang="en-GB" sz="1800">
                <a:solidFill>
                  <a:schemeClr val="dk1"/>
                </a:solidFill>
              </a:rPr>
              <a:t>∴ the molarity of the solution is  0.200 M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6"/>
          <p:cNvSpPr txBox="1"/>
          <p:nvPr>
            <p:ph type="ctrTitle"/>
          </p:nvPr>
        </p:nvSpPr>
        <p:spPr>
          <a:xfrm>
            <a:off x="756825" y="85366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6500"/>
              <a:t>Part 5: Beyond the course extensions</a:t>
            </a:r>
            <a:endParaRPr sz="6500"/>
          </a:p>
          <a:p>
            <a:pPr indent="0" lvl="0" marL="0" rtl="0" algn="l">
              <a:spcBef>
                <a:spcPts val="0"/>
              </a:spcBef>
              <a:spcAft>
                <a:spcPts val="0"/>
              </a:spcAft>
              <a:buNone/>
            </a:pPr>
            <a:r>
              <a:rPr lang="en-GB" sz="6500"/>
              <a:t>{optional}</a:t>
            </a:r>
            <a:endParaRPr sz="6500"/>
          </a:p>
        </p:txBody>
      </p:sp>
    </p:spTree>
  </p:cSld>
  <p:clrMapOvr>
    <a:masterClrMapping/>
  </p:clrMapOvr>
</p:sld>
</file>

<file path=ppt/theme/theme1.xml><?xml version="1.0" encoding="utf-8"?>
<a:theme xmlns:a="http://schemas.openxmlformats.org/drawingml/2006/main" xmlns:r="http://schemas.openxmlformats.org/officeDocument/2006/relationships" name="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