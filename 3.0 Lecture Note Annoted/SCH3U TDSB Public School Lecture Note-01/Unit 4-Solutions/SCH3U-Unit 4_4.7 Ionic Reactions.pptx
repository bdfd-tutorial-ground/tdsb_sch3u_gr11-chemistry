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1d57742e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1d57742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21d57742e7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290fc799d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290fc799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2290fc799d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290fc799d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290fc799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2290fc799d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290fc799d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290fc799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2290fc799d_0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290fc799d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290fc799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2290fc799d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90fc799d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290fc799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2290fc799d_0_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1d57742e7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1d57742e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21d57742e7_0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2701925" y="2130425"/>
            <a:ext cx="4800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701925" y="3886200"/>
            <a:ext cx="4114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600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057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514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2971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429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3886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9FC5E8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2703513" y="274638"/>
            <a:ext cx="63166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2693988" y="1600200"/>
            <a:ext cx="632618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2703513" y="274638"/>
            <a:ext cx="63166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2693988" y="1600200"/>
            <a:ext cx="30861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5932488" y="1600200"/>
            <a:ext cx="308768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2703513" y="274638"/>
            <a:ext cx="63166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2703513" y="274638"/>
            <a:ext cx="63166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94100" y="700088"/>
            <a:ext cx="4525963" cy="6326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5303837" y="2409825"/>
            <a:ext cx="5851525" cy="15811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2064544" y="904082"/>
            <a:ext cx="5851525" cy="45926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2703513" y="274638"/>
            <a:ext cx="63166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2693988" y="1600200"/>
            <a:ext cx="632618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jpg"/><Relationship Id="rId5" Type="http://schemas.openxmlformats.org/officeDocument/2006/relationships/image" Target="../media/image8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Relationship Id="rId4" Type="http://schemas.openxmlformats.org/officeDocument/2006/relationships/image" Target="../media/image13.jpg"/><Relationship Id="rId5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268186" y="55739"/>
            <a:ext cx="6607628" cy="28711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Ionic Reactions</a:t>
            </a:r>
            <a:endParaRPr b="0" i="0" sz="96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ww.cartoonstock.com/lowres/ksm0269l.jpg"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1686" y="2698919"/>
            <a:ext cx="3940628" cy="411553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1428070" y="274638"/>
            <a:ext cx="628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Solubility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576950" y="1338150"/>
            <a:ext cx="8207700" cy="3636600"/>
          </a:xfrm>
          <a:prstGeom prst="rect">
            <a:avLst/>
          </a:prstGeom>
          <a:solidFill>
            <a:srgbClr val="AEA4E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=max. amount that </a:t>
            </a:r>
            <a:b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dissolve/L of solvent at a </a:t>
            </a:r>
            <a:b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specific temperature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solubility </a:t>
            </a:r>
            <a:r>
              <a:rPr b="1" i="0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0.1 mol/L = </a:t>
            </a:r>
            <a:r>
              <a:rPr b="1" i="0" lang="en-US" sz="3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soluble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solubility &lt; 0.1 mol/L = </a:t>
            </a:r>
            <a:r>
              <a:rPr b="1" i="0" lang="en-US" sz="3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insoluble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(highlight on table on your note)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insoluble = </a:t>
            </a:r>
            <a:r>
              <a:rPr b="1" i="0" lang="en-US" sz="3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precipitate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i.ehow.com/images/GlobalPhoto/Articles/4597376/80279-main_Full.jp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2172" y="1638722"/>
            <a:ext cx="1632857" cy="1632857"/>
          </a:xfrm>
          <a:prstGeom prst="rect">
            <a:avLst/>
          </a:prstGeom>
          <a:noFill/>
          <a:ln>
            <a:noFill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</p:pic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genchem.chem.wisc.edu/demonstrations/Images/04chemrxn/ppt.jp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6050" y="5271157"/>
            <a:ext cx="3771900" cy="1419225"/>
          </a:xfrm>
          <a:prstGeom prst="rect">
            <a:avLst/>
          </a:prstGeom>
          <a:noFill/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1056935" y="274638"/>
            <a:ext cx="703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576944" y="1600203"/>
            <a:ext cx="8207700" cy="675000"/>
          </a:xfrm>
          <a:prstGeom prst="rect">
            <a:avLst/>
          </a:prstGeom>
          <a:solidFill>
            <a:srgbClr val="AEA4E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AgNO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NaCl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➔</a:t>
            </a:r>
            <a:endParaRPr/>
          </a:p>
        </p:txBody>
      </p:sp>
      <p:pic>
        <p:nvPicPr>
          <p:cNvPr id="106" name="Google Shape;106;p15"/>
          <p:cNvPicPr preferRelativeResize="0"/>
          <p:nvPr/>
        </p:nvPicPr>
        <p:blipFill rotWithShape="1">
          <a:blip r:embed="rId3">
            <a:alphaModFix/>
          </a:blip>
          <a:srcRect b="11059" l="2230" r="7432" t="16129"/>
          <a:stretch/>
        </p:blipFill>
        <p:spPr>
          <a:xfrm>
            <a:off x="76202" y="2558435"/>
            <a:ext cx="8958322" cy="1905000"/>
          </a:xfrm>
          <a:prstGeom prst="rect">
            <a:avLst/>
          </a:prstGeom>
          <a:noFill/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</p:pic>
      <p:sp>
        <p:nvSpPr>
          <p:cNvPr id="107" name="Google Shape;107;p15"/>
          <p:cNvSpPr/>
          <p:nvPr/>
        </p:nvSpPr>
        <p:spPr>
          <a:xfrm>
            <a:off x="5083628" y="1603606"/>
            <a:ext cx="376645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AgCl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NaNO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3(aq)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ww.iun.edu/~cpanhd/C101webnotes/chemical%20reactions/images/agcl.jp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7825" y="4533902"/>
            <a:ext cx="1857375" cy="2247900"/>
          </a:xfrm>
          <a:prstGeom prst="rect">
            <a:avLst/>
          </a:prstGeom>
          <a:noFill/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</p:pic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ww.dartmouth.edu/~chemlab/chem3-5/qual_cat/graphics/procedure/proc6.gif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45289" y="4713516"/>
            <a:ext cx="1809750" cy="1905000"/>
          </a:xfrm>
          <a:prstGeom prst="rect">
            <a:avLst/>
          </a:prstGeom>
          <a:noFill/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3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167675" y="274650"/>
            <a:ext cx="88527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person in group choose a different one of these reactions and write on your sheet.</a:t>
            </a:r>
            <a:endParaRPr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209675" y="1315150"/>
            <a:ext cx="8768700" cy="45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/>
              <a:t>Option 1:  </a:t>
            </a:r>
            <a:endParaRPr sz="22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/>
              <a:t>Mg(NO</a:t>
            </a:r>
            <a:r>
              <a:rPr baseline="-25000" lang="en-US" sz="2200"/>
              <a:t>3</a:t>
            </a:r>
            <a:r>
              <a:rPr lang="en-US" sz="2200"/>
              <a:t>)</a:t>
            </a:r>
            <a:r>
              <a:rPr baseline="-25000" lang="en-US" sz="2200"/>
              <a:t>2</a:t>
            </a:r>
            <a:r>
              <a:rPr lang="en-US" sz="2200"/>
              <a:t> </a:t>
            </a:r>
            <a:r>
              <a:rPr baseline="-25000" lang="en-US" sz="2200"/>
              <a:t>(aq) </a:t>
            </a:r>
            <a:r>
              <a:rPr lang="en-US" sz="2200"/>
              <a:t>+ Na</a:t>
            </a:r>
            <a:r>
              <a:rPr baseline="-25000" lang="en-US" sz="2200"/>
              <a:t>2</a:t>
            </a:r>
            <a:r>
              <a:rPr lang="en-US" sz="2200"/>
              <a:t>CO</a:t>
            </a:r>
            <a:r>
              <a:rPr baseline="-25000" lang="en-US" sz="2200"/>
              <a:t>3</a:t>
            </a:r>
            <a:r>
              <a:rPr lang="en-US" sz="2200"/>
              <a:t> </a:t>
            </a:r>
            <a:r>
              <a:rPr baseline="-25000" lang="en-US" sz="2200"/>
              <a:t>(aq)</a:t>
            </a:r>
            <a:r>
              <a:rPr lang="en-US" sz="2200"/>
              <a:t> →  MgCO</a:t>
            </a:r>
            <a:r>
              <a:rPr baseline="-25000" lang="en-US" sz="2200"/>
              <a:t>3 (s) </a:t>
            </a:r>
            <a:r>
              <a:rPr lang="en-US" sz="2200"/>
              <a:t>+ 2 NaNO</a:t>
            </a:r>
            <a:r>
              <a:rPr baseline="-25000" lang="en-US" sz="2200"/>
              <a:t>3 (aq)</a:t>
            </a:r>
            <a:endParaRPr baseline="-25000" sz="22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/>
              <a:t>Option 2: </a:t>
            </a:r>
            <a:endParaRPr sz="22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/>
              <a:t>2 Cr(NO</a:t>
            </a:r>
            <a:r>
              <a:rPr baseline="-25000" lang="en-US" sz="2200"/>
              <a:t>3</a:t>
            </a:r>
            <a:r>
              <a:rPr lang="en-US" sz="2200"/>
              <a:t>)</a:t>
            </a:r>
            <a:r>
              <a:rPr baseline="-25000" lang="en-US" sz="2200"/>
              <a:t>3 (aq)</a:t>
            </a:r>
            <a:r>
              <a:rPr lang="en-US" sz="2200"/>
              <a:t> + 3 FeSO</a:t>
            </a:r>
            <a:r>
              <a:rPr baseline="-25000" lang="en-US" sz="2200"/>
              <a:t>4 (aq)</a:t>
            </a:r>
            <a:r>
              <a:rPr lang="en-US" sz="2200"/>
              <a:t> →  3 Fe(NO</a:t>
            </a:r>
            <a:r>
              <a:rPr baseline="-25000" lang="en-US" sz="2200"/>
              <a:t>3</a:t>
            </a:r>
            <a:r>
              <a:rPr lang="en-US" sz="2200"/>
              <a:t>)</a:t>
            </a:r>
            <a:r>
              <a:rPr baseline="-25000" lang="en-US" sz="2200"/>
              <a:t>2 (aq) </a:t>
            </a:r>
            <a:r>
              <a:rPr lang="en-US" sz="2200"/>
              <a:t>+ Cr</a:t>
            </a:r>
            <a:r>
              <a:rPr baseline="-25000" lang="en-US" sz="2200"/>
              <a:t>2</a:t>
            </a:r>
            <a:r>
              <a:rPr lang="en-US" sz="2200"/>
              <a:t>(SO</a:t>
            </a:r>
            <a:r>
              <a:rPr baseline="-25000" lang="en-US" sz="2200"/>
              <a:t>4</a:t>
            </a:r>
            <a:r>
              <a:rPr lang="en-US" sz="2200"/>
              <a:t>)</a:t>
            </a:r>
            <a:r>
              <a:rPr baseline="-25000" lang="en-US" sz="2200"/>
              <a:t>3 (aq)</a:t>
            </a:r>
            <a:endParaRPr baseline="-25000" sz="22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/>
              <a:t>Option 3: </a:t>
            </a:r>
            <a:endParaRPr sz="22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/>
              <a:t>K</a:t>
            </a:r>
            <a:r>
              <a:rPr baseline="-25000" lang="en-US" sz="2200"/>
              <a:t>3</a:t>
            </a:r>
            <a:r>
              <a:rPr lang="en-US" sz="2200"/>
              <a:t>PO</a:t>
            </a:r>
            <a:r>
              <a:rPr baseline="-25000" lang="en-US" sz="2200"/>
              <a:t>4 (aq) </a:t>
            </a:r>
            <a:r>
              <a:rPr lang="en-US" sz="2200"/>
              <a:t>+ Al(NO</a:t>
            </a:r>
            <a:r>
              <a:rPr baseline="-25000" lang="en-US" sz="2200"/>
              <a:t>3</a:t>
            </a:r>
            <a:r>
              <a:rPr lang="en-US" sz="2200"/>
              <a:t>)</a:t>
            </a:r>
            <a:r>
              <a:rPr baseline="-25000" lang="en-US" sz="2200"/>
              <a:t>3 (aq) </a:t>
            </a:r>
            <a:r>
              <a:rPr lang="en-US" sz="2200"/>
              <a:t>→    AlPO</a:t>
            </a:r>
            <a:r>
              <a:rPr baseline="-25000" lang="en-US" sz="2200"/>
              <a:t>4 (s) </a:t>
            </a:r>
            <a:r>
              <a:rPr lang="en-US" sz="2200"/>
              <a:t>+ 3 KNO</a:t>
            </a:r>
            <a:r>
              <a:rPr baseline="-25000" lang="en-US" sz="2200"/>
              <a:t>3</a:t>
            </a:r>
            <a:r>
              <a:rPr lang="en-US" sz="2200"/>
              <a:t> </a:t>
            </a:r>
            <a:r>
              <a:rPr baseline="-25000" lang="en-US" sz="2200"/>
              <a:t>(aq)</a:t>
            </a:r>
            <a:endParaRPr baseline="-25000" sz="22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/>
              <a:t>Option 4: </a:t>
            </a:r>
            <a:endParaRPr sz="22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/>
              <a:t>BeI</a:t>
            </a:r>
            <a:r>
              <a:rPr baseline="-25000" lang="en-US" sz="2200"/>
              <a:t>2 (aq) </a:t>
            </a:r>
            <a:r>
              <a:rPr lang="en-US" sz="2200"/>
              <a:t>+ Cu</a:t>
            </a:r>
            <a:r>
              <a:rPr baseline="-25000" lang="en-US" sz="2200"/>
              <a:t>2</a:t>
            </a:r>
            <a:r>
              <a:rPr lang="en-US" sz="2200"/>
              <a:t>SO</a:t>
            </a:r>
            <a:r>
              <a:rPr baseline="-25000" lang="en-US" sz="2200"/>
              <a:t>4 (aq)</a:t>
            </a:r>
            <a:r>
              <a:rPr lang="en-US" sz="2200"/>
              <a:t>  → BeSO</a:t>
            </a:r>
            <a:r>
              <a:rPr baseline="-25000" lang="en-US" sz="2200"/>
              <a:t>4 (aq)</a:t>
            </a:r>
            <a:r>
              <a:rPr lang="en-US" sz="2200"/>
              <a:t> + 2 CuI </a:t>
            </a:r>
            <a:r>
              <a:rPr baseline="-25000" lang="en-US" sz="2200"/>
              <a:t>(s)</a:t>
            </a:r>
            <a:endParaRPr baseline="-25000" sz="22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6553200" y="6245225"/>
            <a:ext cx="2133600" cy="47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905453" y="274650"/>
            <a:ext cx="81150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1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301830" y="1600200"/>
            <a:ext cx="8718300" cy="45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3000"/>
              <a:t>Review the next  3   slides, then complete for your reaction.</a:t>
            </a:r>
            <a:endParaRPr sz="30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3000"/>
              <a:t>Check each other’s work in your group.</a:t>
            </a:r>
            <a:endParaRPr sz="3000"/>
          </a:p>
        </p:txBody>
      </p:sp>
      <p:sp>
        <p:nvSpPr>
          <p:cNvPr id="126" name="Google Shape;126;p17"/>
          <p:cNvSpPr txBox="1"/>
          <p:nvPr>
            <p:ph idx="12" type="sldNum"/>
          </p:nvPr>
        </p:nvSpPr>
        <p:spPr>
          <a:xfrm>
            <a:off x="6553200" y="6245225"/>
            <a:ext cx="2133600" cy="47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1231107" y="274638"/>
            <a:ext cx="668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Ionic Reactions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576944" y="1600200"/>
            <a:ext cx="8207700" cy="2917500"/>
          </a:xfrm>
          <a:prstGeom prst="rect">
            <a:avLst/>
          </a:prstGeom>
          <a:solidFill>
            <a:srgbClr val="AEA4E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create an </a:t>
            </a:r>
            <a:r>
              <a:rPr b="1" i="0" lang="en-US" sz="3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ionic equation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specify individual ions present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dissolve NaCl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water, it becomes: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baseline="-2500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2269566" y="3757805"/>
            <a:ext cx="28424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Cl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ww.humboldt.edu/~rap1/ChemSupp/Images/Hyd_Na+Wiki.jpg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0993" y="3860721"/>
            <a:ext cx="2687445" cy="2786980"/>
          </a:xfrm>
          <a:prstGeom prst="rect">
            <a:avLst/>
          </a:prstGeom>
          <a:noFill/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</p:pic>
      <p:sp>
        <p:nvSpPr>
          <p:cNvPr id="136" name="Google Shape;136;p18"/>
          <p:cNvSpPr txBox="1"/>
          <p:nvPr/>
        </p:nvSpPr>
        <p:spPr>
          <a:xfrm>
            <a:off x="385650" y="4996775"/>
            <a:ext cx="47265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type="title"/>
          </p:nvPr>
        </p:nvSpPr>
        <p:spPr>
          <a:xfrm>
            <a:off x="1231107" y="274638"/>
            <a:ext cx="668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Ionic Reactions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 txBox="1"/>
          <p:nvPr>
            <p:ph idx="1" type="body"/>
          </p:nvPr>
        </p:nvSpPr>
        <p:spPr>
          <a:xfrm>
            <a:off x="576944" y="1600200"/>
            <a:ext cx="8207700" cy="4082100"/>
          </a:xfrm>
          <a:prstGeom prst="rect">
            <a:avLst/>
          </a:prstGeom>
          <a:solidFill>
            <a:srgbClr val="AEA4E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# 2     sodium hydroxide + 						     hydrochloric acid: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NaOH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HCl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➔ NaCl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H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(l)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now identify ions (only aq!):</a:t>
            </a:r>
            <a:endParaRPr b="1" i="0" sz="32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OH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H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Cl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		 	    									     ➔ Na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Cl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H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baseline="-25000" i="0" lang="en-US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(l)</a:t>
            </a:r>
            <a:endParaRPr b="1" i="0" sz="32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ww.fotosearch.com/bthumb/IMZ/IMZ105/tri0011.jpg" id="144" name="Google Shape;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666" y="4706130"/>
            <a:ext cx="1619250" cy="1619251"/>
          </a:xfrm>
          <a:prstGeom prst="rect">
            <a:avLst/>
          </a:prstGeom>
          <a:noFill/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721004" y="274650"/>
            <a:ext cx="82992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COUNT ALL IONS AND USE COEFFICENTS ONLY TO INDICATE NUMBER</a:t>
            </a: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402429" y="1600200"/>
            <a:ext cx="8617800" cy="45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examples: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2NaCl </a:t>
            </a:r>
            <a:r>
              <a:rPr baseline="-25000" lang="en-US"/>
              <a:t>(aq)</a:t>
            </a:r>
            <a:r>
              <a:rPr lang="en-US"/>
              <a:t> becomes 2Na </a:t>
            </a:r>
            <a:r>
              <a:rPr baseline="30000" lang="en-US"/>
              <a:t>+</a:t>
            </a:r>
            <a:r>
              <a:rPr baseline="-25000" lang="en-US"/>
              <a:t>(aq)</a:t>
            </a:r>
            <a:r>
              <a:rPr lang="en-US"/>
              <a:t> + 2 Cl</a:t>
            </a:r>
            <a:r>
              <a:rPr baseline="30000" lang="en-US"/>
              <a:t>_</a:t>
            </a:r>
            <a:r>
              <a:rPr baseline="-25000" lang="en-US"/>
              <a:t>(aq)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MgCl</a:t>
            </a:r>
            <a:r>
              <a:rPr baseline="-25000" lang="en-US"/>
              <a:t>2</a:t>
            </a:r>
            <a:r>
              <a:rPr lang="en-US"/>
              <a:t> </a:t>
            </a:r>
            <a:r>
              <a:rPr baseline="-25000" lang="en-US"/>
              <a:t>(aq)</a:t>
            </a:r>
            <a:r>
              <a:rPr lang="en-US"/>
              <a:t>  becomes Mg</a:t>
            </a:r>
            <a:r>
              <a:rPr lang="en-US"/>
              <a:t> </a:t>
            </a:r>
            <a:r>
              <a:rPr baseline="30000" lang="en-US"/>
              <a:t>2+</a:t>
            </a:r>
            <a:r>
              <a:rPr baseline="-25000" lang="en-US"/>
              <a:t>(aq)</a:t>
            </a:r>
            <a:r>
              <a:rPr lang="en-US"/>
              <a:t> + 2 Cl</a:t>
            </a:r>
            <a:r>
              <a:rPr baseline="30000" lang="en-US"/>
              <a:t>_</a:t>
            </a:r>
            <a:r>
              <a:rPr baseline="-25000" lang="en-US"/>
              <a:t>(aq)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What would 2MgCl</a:t>
            </a:r>
            <a:r>
              <a:rPr baseline="-25000" lang="en-US"/>
              <a:t>2  </a:t>
            </a:r>
            <a:r>
              <a:rPr lang="en-US"/>
              <a:t>become?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WHY does AgCl NOT separate into ions?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Complete this separation to ions for ALL compounds in your reaction THAT ARE AQUEOUS and compare with group.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 txBox="1"/>
          <p:nvPr>
            <p:ph idx="12" type="sldNum"/>
          </p:nvPr>
        </p:nvSpPr>
        <p:spPr>
          <a:xfrm>
            <a:off x="6553200" y="6245225"/>
            <a:ext cx="2133600" cy="47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905453" y="274650"/>
            <a:ext cx="81150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2</a:t>
            </a:r>
            <a:endParaRPr/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301830" y="1600200"/>
            <a:ext cx="8718300" cy="45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Review the next     3   slides then complete for your reaction.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Check each other’s work in your group</a:t>
            </a:r>
            <a:endParaRPr/>
          </a:p>
        </p:txBody>
      </p:sp>
      <p:sp>
        <p:nvSpPr>
          <p:cNvPr id="160" name="Google Shape;160;p21"/>
          <p:cNvSpPr txBox="1"/>
          <p:nvPr>
            <p:ph idx="12" type="sldNum"/>
          </p:nvPr>
        </p:nvSpPr>
        <p:spPr>
          <a:xfrm>
            <a:off x="6553200" y="6245225"/>
            <a:ext cx="2133600" cy="47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1231107" y="274638"/>
            <a:ext cx="668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Net Ionic Rxns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576950" y="1600200"/>
            <a:ext cx="8207700" cy="5121300"/>
          </a:xfrm>
          <a:prstGeom prst="rect">
            <a:avLst/>
          </a:prstGeom>
          <a:solidFill>
            <a:srgbClr val="AEA4E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cancel </a:t>
            </a:r>
            <a:r>
              <a:rPr b="1" i="0" lang="en-US" sz="3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ions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appearing on both sides of the ionic equation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called </a:t>
            </a:r>
            <a:r>
              <a:rPr b="1" i="0" lang="en-US" sz="3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spectator ions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they are not really involved in reaction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/>
              <a:t>They begin the reaction</a:t>
            </a:r>
            <a:endParaRPr b="1" sz="3200"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3200"/>
              <a:t> as dissolved ions and </a:t>
            </a:r>
            <a:endParaRPr b="1" sz="3200"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3200"/>
              <a:t>are still the same  </a:t>
            </a:r>
            <a:endParaRPr b="1" sz="3200"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3200"/>
              <a:t>dissolved ion after</a:t>
            </a:r>
            <a:br>
              <a:rPr b="1" lang="en-US" sz="3200"/>
            </a:br>
            <a:endParaRPr/>
          </a:p>
        </p:txBody>
      </p:sp>
      <p:pic>
        <p:nvPicPr>
          <p:cNvPr descr="http://bclionsden.ca/blog/wp-content/uploads/2009/08/armchair-quarterback.jpg" id="167" name="Google Shape;1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199" y="3858575"/>
            <a:ext cx="2580300" cy="2621100"/>
          </a:xfrm>
          <a:prstGeom prst="rect">
            <a:avLst/>
          </a:prstGeom>
          <a:noFill/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</p:pic>
      <p:sp>
        <p:nvSpPr>
          <p:cNvPr id="168" name="Google Shape;168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1231107" y="274638"/>
            <a:ext cx="668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Net Ionic Rxns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3"/>
          <p:cNvSpPr txBox="1"/>
          <p:nvPr>
            <p:ph idx="1" type="body"/>
          </p:nvPr>
        </p:nvSpPr>
        <p:spPr>
          <a:xfrm>
            <a:off x="576944" y="1600199"/>
            <a:ext cx="8207700" cy="5029200"/>
          </a:xfrm>
          <a:prstGeom prst="rect">
            <a:avLst/>
          </a:prstGeom>
          <a:solidFill>
            <a:srgbClr val="AEA4E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our example: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OH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H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Cl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		 	    									     ➔ Na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Cl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H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OH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H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➔ H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base + acid  ➔ water 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23"/>
          <p:cNvGrpSpPr/>
          <p:nvPr/>
        </p:nvGrpSpPr>
        <p:grpSpPr>
          <a:xfrm>
            <a:off x="1197430" y="2253343"/>
            <a:ext cx="3820889" cy="1436917"/>
            <a:chOff x="1197430" y="2253343"/>
            <a:chExt cx="3820889" cy="1436917"/>
          </a:xfrm>
        </p:grpSpPr>
        <p:cxnSp>
          <p:nvCxnSpPr>
            <p:cNvPr id="176" name="Google Shape;176;p23"/>
            <p:cNvCxnSpPr/>
            <p:nvPr/>
          </p:nvCxnSpPr>
          <p:spPr>
            <a:xfrm rot="5400000">
              <a:off x="1121230" y="2329542"/>
              <a:ext cx="489857" cy="337458"/>
            </a:xfrm>
            <a:prstGeom prst="straightConnector1">
              <a:avLst/>
            </a:prstGeom>
            <a:noFill/>
            <a:ln cap="flat" cmpd="sng" w="444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23"/>
            <p:cNvCxnSpPr/>
            <p:nvPr/>
          </p:nvCxnSpPr>
          <p:spPr>
            <a:xfrm rot="5400000">
              <a:off x="4604661" y="3276602"/>
              <a:ext cx="489857" cy="337458"/>
            </a:xfrm>
            <a:prstGeom prst="straightConnector1">
              <a:avLst/>
            </a:prstGeom>
            <a:noFill/>
            <a:ln cap="flat" cmpd="sng" w="444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8" name="Google Shape;178;p23"/>
          <p:cNvGrpSpPr/>
          <p:nvPr/>
        </p:nvGrpSpPr>
        <p:grpSpPr>
          <a:xfrm>
            <a:off x="5751708" y="2235626"/>
            <a:ext cx="758713" cy="1479448"/>
            <a:chOff x="5751708" y="2235626"/>
            <a:chExt cx="758713" cy="1479448"/>
          </a:xfrm>
        </p:grpSpPr>
        <p:cxnSp>
          <p:nvCxnSpPr>
            <p:cNvPr id="179" name="Google Shape;179;p23"/>
            <p:cNvCxnSpPr/>
            <p:nvPr/>
          </p:nvCxnSpPr>
          <p:spPr>
            <a:xfrm rot="5400000">
              <a:off x="5675508" y="2311825"/>
              <a:ext cx="489857" cy="337458"/>
            </a:xfrm>
            <a:prstGeom prst="straightConnector1">
              <a:avLst/>
            </a:prstGeom>
            <a:noFill/>
            <a:ln cap="flat" cmpd="sng" w="444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23"/>
            <p:cNvCxnSpPr/>
            <p:nvPr/>
          </p:nvCxnSpPr>
          <p:spPr>
            <a:xfrm rot="5400000">
              <a:off x="6096763" y="3301416"/>
              <a:ext cx="489857" cy="337458"/>
            </a:xfrm>
            <a:prstGeom prst="straightConnector1">
              <a:avLst/>
            </a:prstGeom>
            <a:noFill/>
            <a:ln cap="flat" cmpd="sng" w="444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http://www.fotosearch.com/bthumb/UNC/UNC002/u19155704.jpg" id="181" name="Google Shape;1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6449" y="1784196"/>
            <a:ext cx="1652668" cy="1137424"/>
          </a:xfrm>
          <a:prstGeom prst="rect">
            <a:avLst/>
          </a:prstGeom>
          <a:noFill/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</p:pic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5778923" y="3778410"/>
            <a:ext cx="620486" cy="108857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23"/>
          <p:cNvCxnSpPr/>
          <p:nvPr/>
        </p:nvCxnSpPr>
        <p:spPr>
          <a:xfrm flipH="1" rot="-5400000">
            <a:off x="1676400" y="3167743"/>
            <a:ext cx="772886" cy="685800"/>
          </a:xfrm>
          <a:prstGeom prst="straightConnector1">
            <a:avLst/>
          </a:prstGeom>
          <a:noFill/>
          <a:ln cap="flat" cmpd="sng" w="9525">
            <a:solidFill>
              <a:srgbClr val="C599D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5" name="Google Shape;185;p23"/>
          <p:cNvSpPr txBox="1"/>
          <p:nvPr/>
        </p:nvSpPr>
        <p:spPr>
          <a:xfrm>
            <a:off x="859971" y="5519058"/>
            <a:ext cx="7424059" cy="1077218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190500" algn="ctr" dir="2700000" dist="228600">
              <a:srgbClr val="000000">
                <a:alpha val="2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3EAF8"/>
                </a:solidFill>
                <a:latin typeface="Arial"/>
                <a:ea typeface="Arial"/>
                <a:cs typeface="Arial"/>
                <a:sym typeface="Arial"/>
              </a:rPr>
              <a:t>note that only (aq) species become ions and may become spectator 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>
            <p:ph type="title"/>
          </p:nvPr>
        </p:nvSpPr>
        <p:spPr>
          <a:xfrm>
            <a:off x="2703513" y="274638"/>
            <a:ext cx="63168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192" name="Google Shape;192;p24"/>
          <p:cNvSpPr txBox="1"/>
          <p:nvPr>
            <p:ph idx="1" type="body"/>
          </p:nvPr>
        </p:nvSpPr>
        <p:spPr>
          <a:xfrm>
            <a:off x="977153" y="1600200"/>
            <a:ext cx="8043000" cy="45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Coefficients AND charges AND states must all be identical to fully cancel out.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524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Complete Step 2 and compare in your groups</a:t>
            </a:r>
            <a:endParaRPr/>
          </a:p>
        </p:txBody>
      </p:sp>
      <p:sp>
        <p:nvSpPr>
          <p:cNvPr id="193" name="Google Shape;193;p24"/>
          <p:cNvSpPr txBox="1"/>
          <p:nvPr>
            <p:ph idx="12" type="sldNum"/>
          </p:nvPr>
        </p:nvSpPr>
        <p:spPr>
          <a:xfrm>
            <a:off x="6553200" y="6245225"/>
            <a:ext cx="2133600" cy="47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>
            <p:ph type="title"/>
          </p:nvPr>
        </p:nvSpPr>
        <p:spPr>
          <a:xfrm>
            <a:off x="2703513" y="274638"/>
            <a:ext cx="63168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3</a:t>
            </a:r>
            <a:endParaRPr/>
          </a:p>
        </p:txBody>
      </p:sp>
      <p:sp>
        <p:nvSpPr>
          <p:cNvPr id="200" name="Google Shape;200;p25"/>
          <p:cNvSpPr txBox="1"/>
          <p:nvPr>
            <p:ph idx="1" type="body"/>
          </p:nvPr>
        </p:nvSpPr>
        <p:spPr>
          <a:xfrm>
            <a:off x="1072288" y="1719125"/>
            <a:ext cx="6326100" cy="45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Just rewrite what remains (everything NOT crossed out on either side). See next slide for example.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Compare with your group and with other groups. </a:t>
            </a:r>
            <a:endParaRPr/>
          </a:p>
        </p:txBody>
      </p:sp>
      <p:sp>
        <p:nvSpPr>
          <p:cNvPr id="201" name="Google Shape;201;p25"/>
          <p:cNvSpPr txBox="1"/>
          <p:nvPr>
            <p:ph idx="12" type="sldNum"/>
          </p:nvPr>
        </p:nvSpPr>
        <p:spPr>
          <a:xfrm>
            <a:off x="6553200" y="6245225"/>
            <a:ext cx="2133600" cy="47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1231107" y="274638"/>
            <a:ext cx="668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Net Ionic Rxns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 txBox="1"/>
          <p:nvPr>
            <p:ph idx="1" type="body"/>
          </p:nvPr>
        </p:nvSpPr>
        <p:spPr>
          <a:xfrm>
            <a:off x="576944" y="1600200"/>
            <a:ext cx="8207700" cy="5116200"/>
          </a:xfrm>
          <a:prstGeom prst="rect">
            <a:avLst/>
          </a:prstGeom>
          <a:solidFill>
            <a:srgbClr val="AEA4E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the original example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AgNO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NaCl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➔AgCl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NaNO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3(aq)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total ionic: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NO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Na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Cl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➔ 												AgCl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Na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NO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net ionic: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2200940" y="5718289"/>
            <a:ext cx="47421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r>
              <a:rPr b="1" baseline="30000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baseline="-25000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Cl</a:t>
            </a:r>
            <a:r>
              <a:rPr b="1" baseline="30000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baseline="-25000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r>
              <a:rPr b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➔ AgCl</a:t>
            </a:r>
            <a:r>
              <a:rPr b="1" baseline="-25000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(s)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26"/>
          <p:cNvGrpSpPr/>
          <p:nvPr/>
        </p:nvGrpSpPr>
        <p:grpSpPr>
          <a:xfrm>
            <a:off x="2841172" y="3418116"/>
            <a:ext cx="4539347" cy="1458689"/>
            <a:chOff x="2841172" y="3418116"/>
            <a:chExt cx="4539347" cy="1458689"/>
          </a:xfrm>
        </p:grpSpPr>
        <p:cxnSp>
          <p:nvCxnSpPr>
            <p:cNvPr id="210" name="Google Shape;210;p26"/>
            <p:cNvCxnSpPr/>
            <p:nvPr/>
          </p:nvCxnSpPr>
          <p:spPr>
            <a:xfrm rot="5400000">
              <a:off x="2764972" y="3494315"/>
              <a:ext cx="489857" cy="337458"/>
            </a:xfrm>
            <a:prstGeom prst="straightConnector1">
              <a:avLst/>
            </a:prstGeom>
            <a:noFill/>
            <a:ln cap="flat" cmpd="sng" w="444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1" name="Google Shape;211;p26"/>
            <p:cNvCxnSpPr/>
            <p:nvPr/>
          </p:nvCxnSpPr>
          <p:spPr>
            <a:xfrm rot="5400000">
              <a:off x="6966861" y="4463147"/>
              <a:ext cx="489857" cy="337458"/>
            </a:xfrm>
            <a:prstGeom prst="straightConnector1">
              <a:avLst/>
            </a:prstGeom>
            <a:noFill/>
            <a:ln cap="flat" cmpd="sng" w="444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2" name="Google Shape;212;p26"/>
          <p:cNvGrpSpPr/>
          <p:nvPr/>
        </p:nvGrpSpPr>
        <p:grpSpPr>
          <a:xfrm>
            <a:off x="4593774" y="3450773"/>
            <a:ext cx="1023259" cy="1447803"/>
            <a:chOff x="4593774" y="3450773"/>
            <a:chExt cx="1023259" cy="1447803"/>
          </a:xfrm>
        </p:grpSpPr>
        <p:cxnSp>
          <p:nvCxnSpPr>
            <p:cNvPr id="213" name="Google Shape;213;p26"/>
            <p:cNvCxnSpPr/>
            <p:nvPr/>
          </p:nvCxnSpPr>
          <p:spPr>
            <a:xfrm rot="5400000">
              <a:off x="4517575" y="3526972"/>
              <a:ext cx="489857" cy="337458"/>
            </a:xfrm>
            <a:prstGeom prst="straightConnector1">
              <a:avLst/>
            </a:prstGeom>
            <a:noFill/>
            <a:ln cap="flat" cmpd="sng" w="444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4" name="Google Shape;214;p26"/>
            <p:cNvCxnSpPr/>
            <p:nvPr/>
          </p:nvCxnSpPr>
          <p:spPr>
            <a:xfrm rot="5400000">
              <a:off x="5203376" y="4484918"/>
              <a:ext cx="489857" cy="337458"/>
            </a:xfrm>
            <a:prstGeom prst="straightConnector1">
              <a:avLst/>
            </a:prstGeom>
            <a:noFill/>
            <a:ln cap="flat" cmpd="sng" w="444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5" name="Google Shape;215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2703513" y="274638"/>
            <a:ext cx="63168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 lets try this one:</a:t>
            </a:r>
            <a:endParaRPr/>
          </a:p>
        </p:txBody>
      </p:sp>
      <p:sp>
        <p:nvSpPr>
          <p:cNvPr id="222" name="Google Shape;222;p27"/>
          <p:cNvSpPr txBox="1"/>
          <p:nvPr>
            <p:ph idx="1" type="body"/>
          </p:nvPr>
        </p:nvSpPr>
        <p:spPr>
          <a:xfrm>
            <a:off x="2693988" y="1600200"/>
            <a:ext cx="6326100" cy="45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Ni(NO3)3 (aq) + 3 KBr (aq)  NiBr3 (aq) + 3 KNO3 (aq)</a:t>
            </a:r>
            <a:endParaRPr/>
          </a:p>
        </p:txBody>
      </p:sp>
      <p:sp>
        <p:nvSpPr>
          <p:cNvPr id="223" name="Google Shape;223;p27"/>
          <p:cNvSpPr txBox="1"/>
          <p:nvPr>
            <p:ph idx="12" type="sldNum"/>
          </p:nvPr>
        </p:nvSpPr>
        <p:spPr>
          <a:xfrm>
            <a:off x="6553200" y="6245225"/>
            <a:ext cx="2133600" cy="47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>
            <p:ph type="title"/>
          </p:nvPr>
        </p:nvSpPr>
        <p:spPr>
          <a:xfrm>
            <a:off x="1428070" y="274638"/>
            <a:ext cx="628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Rxn Drive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8"/>
          <p:cNvSpPr txBox="1"/>
          <p:nvPr>
            <p:ph idx="1" type="body"/>
          </p:nvPr>
        </p:nvSpPr>
        <p:spPr>
          <a:xfrm>
            <a:off x="576944" y="1937667"/>
            <a:ext cx="8207700" cy="3494400"/>
          </a:xfrm>
          <a:prstGeom prst="rect">
            <a:avLst/>
          </a:prstGeom>
          <a:solidFill>
            <a:srgbClr val="AEA4E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net ionic equation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also reflects one reason the reaction moved forward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sng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ww.madscience.org/locations/columbia/images/FoamingBeakerCartoon.jpg" id="230" name="Google Shape;23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5587" y="0"/>
            <a:ext cx="1578413" cy="17290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fotosearch.com/bthumb/IMZ/IMZ184/szo0258.jpg" id="231" name="Google Shape;23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76375" cy="1619250"/>
          </a:xfrm>
          <a:prstGeom prst="rect">
            <a:avLst/>
          </a:prstGeom>
          <a:noFill/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</p:pic>
      <p:sp>
        <p:nvSpPr>
          <p:cNvPr id="232" name="Google Shape;232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ww.fotosearch.com/bthumb/GLW/GLW112/gwil11307.jpg" id="233" name="Google Shape;23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2714" y="3095952"/>
            <a:ext cx="2198572" cy="2198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ind_3991_slide">
  <a:themeElements>
    <a:clrScheme name="Office Theme 2">
      <a:dk1>
        <a:srgbClr val="000000"/>
      </a:dk1>
      <a:lt1>
        <a:srgbClr val="CEC8F1"/>
      </a:lt1>
      <a:dk2>
        <a:srgbClr val="000000"/>
      </a:dk2>
      <a:lt2>
        <a:srgbClr val="B2B2B2"/>
      </a:lt2>
      <a:accent1>
        <a:srgbClr val="CA9FE0"/>
      </a:accent1>
      <a:accent2>
        <a:srgbClr val="8C7ED5"/>
      </a:accent2>
      <a:accent3>
        <a:srgbClr val="E3E0F7"/>
      </a:accent3>
      <a:accent4>
        <a:srgbClr val="000000"/>
      </a:accent4>
      <a:accent5>
        <a:srgbClr val="E1CDED"/>
      </a:accent5>
      <a:accent6>
        <a:srgbClr val="7E72C1"/>
      </a:accent6>
      <a:hlink>
        <a:srgbClr val="4A0075"/>
      </a:hlink>
      <a:folHlink>
        <a:srgbClr val="00307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