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y="6858000" cx="9144000"/>
  <p:notesSz cx="6858000" cy="9144000"/>
  <p:embeddedFontLst>
    <p:embeddedFont>
      <p:font typeface="Tahoma"/>
      <p:regular r:id="rId42"/>
      <p:bold r:id="rId43"/>
    </p:embeddedFont>
    <p:embeddedFont>
      <p:font typeface="Book Antiqua"/>
      <p:regular r:id="rId44"/>
      <p:bold r:id="rId45"/>
      <p:italic r:id="rId46"/>
      <p:boldItalic r:id="rId47"/>
    </p:embeddedFont>
    <p:embeddedFont>
      <p:font typeface="Arial Black"/>
      <p:regular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783590-D541-411C-8297-3059DC88DF9F}">
  <a:tblStyle styleId="{C6783590-D541-411C-8297-3059DC88DF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font" Target="fonts/Tahoma-regular.fntdata"/><Relationship Id="rId41" Type="http://schemas.openxmlformats.org/officeDocument/2006/relationships/slide" Target="slides/slide33.xml"/><Relationship Id="rId22" Type="http://schemas.openxmlformats.org/officeDocument/2006/relationships/slide" Target="slides/slide14.xml"/><Relationship Id="rId44" Type="http://schemas.openxmlformats.org/officeDocument/2006/relationships/font" Target="fonts/BookAntiqua-regular.fntdata"/><Relationship Id="rId21" Type="http://schemas.openxmlformats.org/officeDocument/2006/relationships/slide" Target="slides/slide13.xml"/><Relationship Id="rId43" Type="http://schemas.openxmlformats.org/officeDocument/2006/relationships/font" Target="fonts/Tahoma-bold.fntdata"/><Relationship Id="rId24" Type="http://schemas.openxmlformats.org/officeDocument/2006/relationships/slide" Target="slides/slide16.xml"/><Relationship Id="rId46" Type="http://schemas.openxmlformats.org/officeDocument/2006/relationships/font" Target="fonts/BookAntiqua-italic.fntdata"/><Relationship Id="rId23" Type="http://schemas.openxmlformats.org/officeDocument/2006/relationships/slide" Target="slides/slide15.xml"/><Relationship Id="rId45" Type="http://schemas.openxmlformats.org/officeDocument/2006/relationships/font" Target="fonts/BookAntiqu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48" Type="http://schemas.openxmlformats.org/officeDocument/2006/relationships/font" Target="fonts/ArialBlack-regular.fntdata"/><Relationship Id="rId25" Type="http://schemas.openxmlformats.org/officeDocument/2006/relationships/slide" Target="slides/slide17.xml"/><Relationship Id="rId47" Type="http://schemas.openxmlformats.org/officeDocument/2006/relationships/font" Target="fonts/BookAntiqua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0cf0eaa257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10cf0eaa257_0_81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1d56b552f_0_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1d56b552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7c0ba3f3d5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7c0ba3f3d5_0_13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2167c38246_0_5:notes"/>
          <p:cNvSpPr txBox="1"/>
          <p:nvPr>
            <p:ph idx="1" type="body"/>
          </p:nvPr>
        </p:nvSpPr>
        <p:spPr>
          <a:xfrm>
            <a:off x="914634" y="4344228"/>
            <a:ext cx="50286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22167c38246_0_5:notes"/>
          <p:cNvSpPr/>
          <p:nvPr>
            <p:ph idx="2" type="sldImg"/>
          </p:nvPr>
        </p:nvSpPr>
        <p:spPr>
          <a:xfrm>
            <a:off x="2136098" y="685385"/>
            <a:ext cx="258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2167c38246_0_53:notes"/>
          <p:cNvSpPr txBox="1"/>
          <p:nvPr>
            <p:ph idx="1" type="body"/>
          </p:nvPr>
        </p:nvSpPr>
        <p:spPr>
          <a:xfrm>
            <a:off x="914634" y="4344228"/>
            <a:ext cx="50286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22167c38246_0_53:notes"/>
          <p:cNvSpPr/>
          <p:nvPr>
            <p:ph idx="2" type="sldImg"/>
          </p:nvPr>
        </p:nvSpPr>
        <p:spPr>
          <a:xfrm>
            <a:off x="2136098" y="685385"/>
            <a:ext cx="258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167c38246_0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22167c38246_0_149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2167c38246_0_101:notes"/>
          <p:cNvSpPr txBox="1"/>
          <p:nvPr>
            <p:ph idx="1" type="body"/>
          </p:nvPr>
        </p:nvSpPr>
        <p:spPr>
          <a:xfrm>
            <a:off x="914634" y="4344228"/>
            <a:ext cx="50286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22167c38246_0_101:notes"/>
          <p:cNvSpPr/>
          <p:nvPr>
            <p:ph idx="2" type="sldImg"/>
          </p:nvPr>
        </p:nvSpPr>
        <p:spPr>
          <a:xfrm>
            <a:off x="2136098" y="685385"/>
            <a:ext cx="258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5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8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7c0ba3f3d5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7c0ba3f3d5_0_0:notes"/>
          <p:cNvSpPr/>
          <p:nvPr>
            <p:ph idx="2" type="sldImg"/>
          </p:nvPr>
        </p:nvSpPr>
        <p:spPr>
          <a:xfrm>
            <a:off x="1149350" y="692150"/>
            <a:ext cx="4559400" cy="341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1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2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914400" y="685800"/>
            <a:ext cx="772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133600" y="3886200"/>
            <a:ext cx="64008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1430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600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057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514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2971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429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3886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11200" y="6229350"/>
            <a:ext cx="1930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149600" y="6229350"/>
            <a:ext cx="2844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604000" y="6229350"/>
            <a:ext cx="1828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885950"/>
            <a:ext cx="40132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22800" y="1885950"/>
            <a:ext cx="40132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 rot="5400000">
            <a:off x="4692650" y="2114550"/>
            <a:ext cx="5829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 rot="5400000">
            <a:off x="501650" y="133350"/>
            <a:ext cx="58293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 rot="5400000">
            <a:off x="2460625" y="-117475"/>
            <a:ext cx="4171950" cy="8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52" name="Google Shape;52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•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•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6340675" y="5971200"/>
            <a:ext cx="24165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Contributor:  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3536150" y="6091833"/>
            <a:ext cx="2660400" cy="6207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2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457200" y="1885950"/>
            <a:ext cx="81789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5" name="Google Shape;145;p27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46" name="Google Shape;146;p27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457200" y="1885950"/>
            <a:ext cx="40131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1" name="Google Shape;151;p28"/>
          <p:cNvSpPr txBox="1"/>
          <p:nvPr>
            <p:ph idx="2" type="body"/>
          </p:nvPr>
        </p:nvSpPr>
        <p:spPr>
          <a:xfrm>
            <a:off x="4622800" y="1885950"/>
            <a:ext cx="40131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ahoma"/>
              <a:buChar char="–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2" name="Google Shape;152;p28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 rot="5400000">
            <a:off x="4692650" y="2114550"/>
            <a:ext cx="5829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 rot="5400000">
            <a:off x="501650" y="133350"/>
            <a:ext cx="58293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8" name="Google Shape;158;p29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59" name="Google Shape;159;p29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 rot="5400000">
            <a:off x="2460500" y="-117450"/>
            <a:ext cx="4172100" cy="81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65" name="Google Shape;165;p30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69" name="Google Shape;169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ahoma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1" name="Google Shape;171;p31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73" name="Google Shape;173;p31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457200" y="273050"/>
            <a:ext cx="3008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79" name="Google Shape;179;p32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80" name="Google Shape;180;p32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87" name="Google Shape;187;p34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88" name="Google Shape;188;p34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89" name="Google Shape;189;p34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•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4" name="Google Shape;194;p3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b="1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5" name="Google Shape;195;p3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•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Tahoma"/>
              <a:buChar char="–"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6" name="Google Shape;196;p35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97" name="Google Shape;197;p35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98" name="Google Shape;198;p35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  <a:defRPr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03" name="Google Shape;203;p36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:\paint.GIF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11200" y="6229350"/>
            <a:ext cx="1930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49600" y="6229350"/>
            <a:ext cx="2844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604000" y="6229350"/>
            <a:ext cx="1828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74E"/>
              </a:buClr>
              <a:buFont typeface="Arial"/>
              <a:buNone/>
              <a:defRPr b="0" i="0" sz="1400" u="none" cap="none" strike="noStrike">
                <a:solidFill>
                  <a:srgbClr val="5E574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descr="A:\paint.GIF" id="24" name="Google Shape;24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457200" y="1885950"/>
            <a:ext cx="81789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Char char="–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8" name="Google Shape;138;p26"/>
          <p:cNvSpPr txBox="1"/>
          <p:nvPr>
            <p:ph idx="10" type="dt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39" name="Google Shape;139;p26"/>
          <p:cNvSpPr txBox="1"/>
          <p:nvPr>
            <p:ph idx="11" type="ftr"/>
          </p:nvPr>
        </p:nvSpPr>
        <p:spPr>
          <a:xfrm>
            <a:off x="3124200" y="622935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6731000" y="622935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  <a:defRPr b="0" i="0" sz="1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descr="A:\paint.GIF" id="141" name="Google Shape;141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4400" y="1314450"/>
            <a:ext cx="8229600" cy="384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www.youtube.com/watch?v=MCrNjHcfcpY" TargetMode="External"/><Relationship Id="rId4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chemcollective.org/stoich/dilution.ph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/>
        </p:nvSpPr>
        <p:spPr>
          <a:xfrm flipH="1">
            <a:off x="5673725" y="2255837"/>
            <a:ext cx="1587" cy="158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152400" y="-76200"/>
            <a:ext cx="7772397" cy="24698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miter lim="8000"/>
                  <a:headEnd len="sm" w="sm" type="none"/>
                  <a:tailEnd len="sm" w="sm" type="none"/>
                </a:ln>
                <a:gradFill>
                  <a:gsLst>
                    <a:gs pos="0">
                      <a:srgbClr val="99CCFF"/>
                    </a:gs>
                    <a:gs pos="100000">
                      <a:srgbClr val="006600"/>
                    </a:gs>
                  </a:gsLst>
                  <a:lin ang="5400000" scaled="0"/>
                </a:gradFill>
                <a:latin typeface="Arial"/>
              </a:rPr>
              <a:t>Concentration </a:t>
            </a:r>
          </a:p>
        </p:txBody>
      </p:sp>
      <p:pic>
        <p:nvPicPr>
          <p:cNvPr descr="card" id="211" name="Google Shape;2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6437" y="22860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2" name="Google Shape;2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3237" y="22860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3" name="Google Shape;2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6837" y="51816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4" name="Google Shape;21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6837" y="22860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5" name="Google Shape;21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6437" y="37338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6" name="Google Shape;2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3237" y="37338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7" name="Google Shape;2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037" y="37338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8" name="Google Shape;2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637" y="22860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19" name="Google Shape;2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637" y="37338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20" name="Google Shape;22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037" y="51816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21" name="Google Shape;2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3237" y="51816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22" name="Google Shape;2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9637" y="51816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rd" id="223" name="Google Shape;22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6837" y="37338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ades_ace_lg_clr" id="224" name="Google Shape;22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5750" y="2263775"/>
            <a:ext cx="11239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ades_ace_lg_clr2" id="225" name="Google Shape;22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5181600"/>
            <a:ext cx="11223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t_blinking_lg_clr" id="226" name="Google Shape;22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505200"/>
            <a:ext cx="2286000" cy="196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99CC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Check Point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457200" y="1885950"/>
            <a:ext cx="8178900" cy="4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CA"/>
              <a:t>Please return to the website guide!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Concentration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457200" y="1885950"/>
            <a:ext cx="59436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solution is a homogeneous mixture of one substance (the solute) dissolved in another substance (the solvent).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Concentration is a ratio of the amount of solute to the amount of solvent.</a:t>
            </a:r>
            <a:endParaRPr/>
          </a:p>
        </p:txBody>
      </p:sp>
      <p:pic>
        <p:nvPicPr>
          <p:cNvPr descr="File:SaltInWaterSolutionLiquid.jpg" id="239" name="Google Shape;23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1981200"/>
            <a:ext cx="1905000" cy="361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Molarity (M) is the most common unit of concentration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Molarity is an expression of moles/Liter of the solute.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will also learn about percentage and very small concentrations, which are useful in certain situations.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Units of Concentration</a:t>
            </a:r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4900" y="5321300"/>
            <a:ext cx="1670050" cy="1268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1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Molarity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685800" y="1295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Molarity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one way to measure the concentration of a solution.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1.00 molar (1.00 M) solution contains 1.00 mol solute in every 1 liter of solution.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1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Units of molarity are: </a:t>
            </a:r>
            <a:r>
              <a:rPr b="1" i="0" lang="en-CA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mol/L  = M</a:t>
            </a:r>
            <a:endParaRPr/>
          </a:p>
        </p:txBody>
      </p:sp>
      <p:grpSp>
        <p:nvGrpSpPr>
          <p:cNvPr id="253" name="Google Shape;253;p41"/>
          <p:cNvGrpSpPr/>
          <p:nvPr/>
        </p:nvGrpSpPr>
        <p:grpSpPr>
          <a:xfrm>
            <a:off x="838200" y="2590800"/>
            <a:ext cx="6975475" cy="1052512"/>
            <a:chOff x="1366837" y="4445000"/>
            <a:chExt cx="6975475" cy="1052512"/>
          </a:xfrm>
        </p:grpSpPr>
        <p:grpSp>
          <p:nvGrpSpPr>
            <p:cNvPr id="254" name="Google Shape;254;p41"/>
            <p:cNvGrpSpPr/>
            <p:nvPr/>
          </p:nvGrpSpPr>
          <p:grpSpPr>
            <a:xfrm>
              <a:off x="3630612" y="4445000"/>
              <a:ext cx="4711700" cy="1052512"/>
              <a:chOff x="3630612" y="4445000"/>
              <a:chExt cx="4711700" cy="1052512"/>
            </a:xfrm>
          </p:grpSpPr>
          <p:grpSp>
            <p:nvGrpSpPr>
              <p:cNvPr id="255" name="Google Shape;255;p41"/>
              <p:cNvGrpSpPr/>
              <p:nvPr/>
            </p:nvGrpSpPr>
            <p:grpSpPr>
              <a:xfrm>
                <a:off x="3630612" y="4445000"/>
                <a:ext cx="4711700" cy="1052512"/>
                <a:chOff x="2211387" y="4368800"/>
                <a:chExt cx="4711700" cy="1052512"/>
              </a:xfrm>
            </p:grpSpPr>
            <p:sp>
              <p:nvSpPr>
                <p:cNvPr id="256" name="Google Shape;256;p41"/>
                <p:cNvSpPr txBox="1"/>
                <p:nvPr/>
              </p:nvSpPr>
              <p:spPr>
                <a:xfrm>
                  <a:off x="3162300" y="4368800"/>
                  <a:ext cx="2795587" cy="519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82E32"/>
                    </a:buClr>
                    <a:buFont typeface="Arial"/>
                    <a:buNone/>
                  </a:pPr>
                  <a:r>
                    <a:rPr b="1" i="0" lang="en-CA" sz="2800" u="none">
                      <a:solidFill>
                        <a:srgbClr val="C82E3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moles of solute</a:t>
                  </a:r>
                  <a:endParaRPr/>
                </a:p>
              </p:txBody>
            </p:sp>
            <p:sp>
              <p:nvSpPr>
                <p:cNvPr id="257" name="Google Shape;257;p41"/>
                <p:cNvSpPr txBox="1"/>
                <p:nvPr/>
              </p:nvSpPr>
              <p:spPr>
                <a:xfrm>
                  <a:off x="2211387" y="4902200"/>
                  <a:ext cx="4711700" cy="519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82E32"/>
                    </a:buClr>
                    <a:buFont typeface="Arial"/>
                    <a:buNone/>
                  </a:pPr>
                  <a:r>
                    <a:rPr b="1" i="0" lang="en-CA" sz="2800" u="none">
                      <a:solidFill>
                        <a:srgbClr val="C82E3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volume of solution in liters</a:t>
                  </a:r>
                  <a:endParaRPr/>
                </a:p>
              </p:txBody>
            </p:sp>
          </p:grpSp>
          <p:cxnSp>
            <p:nvCxnSpPr>
              <p:cNvPr id="258" name="Google Shape;258;p41"/>
              <p:cNvCxnSpPr/>
              <p:nvPr/>
            </p:nvCxnSpPr>
            <p:spPr>
              <a:xfrm>
                <a:off x="3886200" y="5000625"/>
                <a:ext cx="44196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82E3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sp>
          <p:nvSpPr>
            <p:cNvPr id="259" name="Google Shape;259;p41"/>
            <p:cNvSpPr txBox="1"/>
            <p:nvPr/>
          </p:nvSpPr>
          <p:spPr>
            <a:xfrm>
              <a:off x="1366837" y="4724400"/>
              <a:ext cx="2489200" cy="519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82E32"/>
                </a:buClr>
                <a:buFont typeface="Arial"/>
                <a:buNone/>
              </a:pPr>
              <a:r>
                <a:rPr b="1" i="0" lang="en-CA" sz="2800" u="none">
                  <a:solidFill>
                    <a:srgbClr val="C82E32"/>
                  </a:solidFill>
                  <a:latin typeface="Arial"/>
                  <a:ea typeface="Arial"/>
                  <a:cs typeface="Arial"/>
                  <a:sym typeface="Arial"/>
                </a:rPr>
                <a:t>Molarity (</a:t>
              </a:r>
              <a:r>
                <a:rPr b="1" i="1" lang="en-CA" sz="2800" u="none">
                  <a:solidFill>
                    <a:srgbClr val="C82E32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1" i="0" lang="en-CA" sz="2800" u="none">
                  <a:solidFill>
                    <a:srgbClr val="C82E32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r>
                <a:rPr b="0" i="0" lang="en-CA" sz="2800" u="none">
                  <a:solidFill>
                    <a:srgbClr val="C82E32"/>
                  </a:solidFill>
                  <a:latin typeface="Arial"/>
                  <a:ea typeface="Arial"/>
                  <a:cs typeface="Arial"/>
                  <a:sym typeface="Arial"/>
                </a:rPr>
                <a:t> =</a:t>
              </a:r>
              <a:endParaRPr/>
            </a:p>
          </p:txBody>
        </p:sp>
      </p:grp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t/>
            </a:r>
            <a:endParaRPr sz="3600"/>
          </a:p>
        </p:txBody>
      </p:sp>
      <p:pic>
        <p:nvPicPr>
          <p:cNvPr descr="d4c5cb4801e587313c732d7831daf8ee.jpg"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275" y="354944"/>
            <a:ext cx="6368901" cy="63689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7496025" y="5917000"/>
            <a:ext cx="15720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Yejoon Song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Molarity (can use c or M for symbol)</a:t>
            </a:r>
            <a:endParaRPr/>
          </a:p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354012" y="1865312"/>
            <a:ext cx="8283600" cy="419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26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Molarity Example</a:t>
            </a:r>
            <a:endParaRPr/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457200" y="1885950"/>
            <a:ext cx="77216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1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1: </a:t>
            </a: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mass of NaCl is needed to make 250 mL of a 0.850 M solution?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0.850 mol/L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= 250 mL = 0.250 L	</a:t>
            </a:r>
            <a:r>
              <a:rPr b="0" i="1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(convert so that units are consistent)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01600" lvl="2" marL="1143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Molarity Example</a:t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457200" y="1676400"/>
            <a:ext cx="77216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n/V   → rearrange to solve for n, then you can convert n to mass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= MV = (0.850 mol/L)(0.250 L) = 0.212 mol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nMM	</a:t>
            </a:r>
            <a:r>
              <a:rPr b="0" i="1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(don’t confuse molar mass (MM) with molarity (M))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= (0.212 mol)(58.5 g/mol) = 12.4 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Therefore, 12.4 g of NaCl is needed to make 250 mL of a 0.850 M NaCl solution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Diluting Solutions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Often once you have made a stock solution, you need to dilute it to a working concentration.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determine how to dilute the stock solution, use the dilution equation: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NOTE: Dilution does NOT change the number of moles solute in the original volume</a:t>
            </a:r>
            <a:endParaRPr/>
          </a:p>
        </p:txBody>
      </p:sp>
      <p:sp>
        <p:nvSpPr>
          <p:cNvPr id="292" name="Google Shape;292;p46"/>
          <p:cNvSpPr txBox="1"/>
          <p:nvPr/>
        </p:nvSpPr>
        <p:spPr>
          <a:xfrm>
            <a:off x="2514600" y="4572000"/>
            <a:ext cx="533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baseline="-2500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= M</a:t>
            </a:r>
            <a:r>
              <a:rPr b="0" baseline="-2500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/>
          </a:p>
        </p:txBody>
      </p:sp>
      <p:sp>
        <p:nvSpPr>
          <p:cNvPr id="293" name="Google Shape;293;p46"/>
          <p:cNvSpPr txBox="1"/>
          <p:nvPr/>
        </p:nvSpPr>
        <p:spPr>
          <a:xfrm>
            <a:off x="5029200" y="4495800"/>
            <a:ext cx="3581400" cy="1077912"/>
          </a:xfrm>
          <a:prstGeom prst="rect">
            <a:avLst/>
          </a:prstGeom>
          <a:noFill/>
          <a:ln cap="flat" cmpd="sng" w="9525">
            <a:solidFill>
              <a:srgbClr val="FF66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baseline="-2500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– concentration of stock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baseline="-2500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- concentration of diluted solution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– volume needed of stock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CA" sz="16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– final volume of dilution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idx="1" type="body"/>
          </p:nvPr>
        </p:nvSpPr>
        <p:spPr>
          <a:xfrm>
            <a:off x="457200" y="1885950"/>
            <a:ext cx="81788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r>
              <a:rPr lang="en-CA"/>
              <a:t>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volume of 16.0 M nitric acid solution is needed to prepare 500 mL of a 0.500 M nitric acid solution?</a:t>
            </a:r>
            <a:endParaRPr/>
          </a:p>
        </p:txBody>
      </p:sp>
      <p:sp>
        <p:nvSpPr>
          <p:cNvPr id="299" name="Google Shape;299;p47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Dilutin</a:t>
            </a:r>
            <a:r>
              <a:rPr lang="en-CA">
                <a:solidFill>
                  <a:srgbClr val="FF6600"/>
                </a:solidFill>
              </a:rPr>
              <a:t>g</a:t>
            </a: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 Solutions</a:t>
            </a:r>
            <a:endParaRPr/>
          </a:p>
        </p:txBody>
      </p:sp>
      <p:sp>
        <p:nvSpPr>
          <p:cNvPr id="300" name="Google Shape;300;p47"/>
          <p:cNvSpPr txBox="1"/>
          <p:nvPr/>
        </p:nvSpPr>
        <p:spPr>
          <a:xfrm>
            <a:off x="1524000" y="3432175"/>
            <a:ext cx="6096000" cy="30416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499" r="0" t="-280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Book Antiqua"/>
              <a:buNone/>
            </a:pPr>
            <a:r>
              <a:rPr b="0" i="0" lang="en-CA" sz="2400" u="none" cap="none" strike="noStrike">
                <a:latin typeface="Book Antiqua"/>
                <a:ea typeface="Book Antiqua"/>
                <a:cs typeface="Book Antiqua"/>
                <a:sym typeface="Book Antiqua"/>
              </a:rPr>
              <a:t> </a:t>
            </a:r>
            <a:endParaRPr/>
          </a:p>
        </p:txBody>
      </p:sp>
      <p:sp>
        <p:nvSpPr>
          <p:cNvPr id="301" name="Google Shape;301;p47"/>
          <p:cNvSpPr txBox="1"/>
          <p:nvPr/>
        </p:nvSpPr>
        <p:spPr>
          <a:xfrm>
            <a:off x="719250" y="2023950"/>
            <a:ext cx="501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Diluting Solutions</a:t>
            </a:r>
            <a:endParaRPr/>
          </a:p>
        </p:txBody>
      </p:sp>
      <p:sp>
        <p:nvSpPr>
          <p:cNvPr id="307" name="Google Shape;307;p48"/>
          <p:cNvSpPr txBox="1"/>
          <p:nvPr/>
        </p:nvSpPr>
        <p:spPr>
          <a:xfrm>
            <a:off x="1249850" y="1937325"/>
            <a:ext cx="7249500" cy="3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r>
              <a:rPr lang="en-CA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baseline="-25000" lang="en-CA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lang="en-CA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CA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aseline="-25000" sz="24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 M</a:t>
            </a:r>
            <a:r>
              <a:rPr baseline="-25000"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aseline="-2500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r>
              <a:rPr lang="en-CA" sz="24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(0.500mol/L)(0.500L)</a:t>
            </a:r>
            <a:endParaRPr sz="2400" u="sng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(16.0mol/L)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baseline="-25000"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n-CA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=0.015625L=15.6mL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to make desired solution, 15.6 mL of 16 .0 M nitric acid solution is used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8"/>
          <p:cNvSpPr txBox="1"/>
          <p:nvPr/>
        </p:nvSpPr>
        <p:spPr>
          <a:xfrm>
            <a:off x="527550" y="5990675"/>
            <a:ext cx="81351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Next up: Serial Dilution</a:t>
            </a:r>
            <a:endParaRPr sz="30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457200" y="1885950"/>
            <a:ext cx="8178900" cy="4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rial Dilution Method: Definition and Procedure Explained&#10;http://www.biologyexams4u.com/2013/12/serial-dilution-protocol-pdf.html" id="315" name="Google Shape;315;p49" title="Serial Dilution Method Protocol Step Wise Explanatio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400" y="304800"/>
            <a:ext cx="8441425" cy="63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idx="1" type="body"/>
          </p:nvPr>
        </p:nvSpPr>
        <p:spPr>
          <a:xfrm>
            <a:off x="517475" y="4267825"/>
            <a:ext cx="5905500" cy="17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lang="en-CA"/>
              <a:t>Unfortunately, due to Adobe Flash discontinuation, this isn’t avail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3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Dilutions tutorial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lang="en-CA"/>
              <a:t>Takes several minutes to load</a:t>
            </a:r>
            <a:endParaRPr/>
          </a:p>
        </p:txBody>
      </p:sp>
      <p:sp>
        <p:nvSpPr>
          <p:cNvPr id="321" name="Google Shape;321;p50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Diluting Solutions</a:t>
            </a:r>
            <a:endParaRPr/>
          </a:p>
        </p:txBody>
      </p:sp>
      <p:sp>
        <p:nvSpPr>
          <p:cNvPr id="322" name="Google Shape;322;p50"/>
          <p:cNvSpPr txBox="1"/>
          <p:nvPr/>
        </p:nvSpPr>
        <p:spPr>
          <a:xfrm>
            <a:off x="805200" y="1915800"/>
            <a:ext cx="7772400" cy="20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omic Sans MS"/>
              <a:buNone/>
            </a:pPr>
            <a:r>
              <a:rPr b="1" i="0" lang="en-CA" sz="320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Concentrations in Consumer Products</a:t>
            </a:r>
            <a:endParaRPr/>
          </a:p>
        </p:txBody>
      </p:sp>
      <p:sp>
        <p:nvSpPr>
          <p:cNvPr id="328" name="Google Shape;328;p51"/>
          <p:cNvSpPr txBox="1"/>
          <p:nvPr>
            <p:ph idx="1" type="body"/>
          </p:nvPr>
        </p:nvSpPr>
        <p:spPr>
          <a:xfrm>
            <a:off x="755650" y="1557337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Arial"/>
              <a:buChar char="●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concentrations are typically found on the product label.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Arial"/>
              <a:buChar char="●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Used because you don’t have to be familiar with moles.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Arial"/>
              <a:buChar char="●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Eamples: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–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hair dyes, peroxides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–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medicines like topical creams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–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rubbing alcohol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mic Sans MS"/>
              <a:buChar char="–"/>
            </a:pPr>
            <a:r>
              <a:rPr b="0" i="0" lang="en-CA" sz="28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vinegar for food consumption.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539750" y="1341437"/>
            <a:ext cx="7772400" cy="5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188912" lvl="0" marL="2333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Arial"/>
              <a:buNone/>
            </a:pPr>
            <a:r>
              <a:t/>
            </a:r>
            <a:endParaRPr b="0" i="0" sz="10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%V/V =      </a:t>
            </a:r>
            <a:r>
              <a:rPr b="1" i="0" lang="en-CA" sz="2400" u="sng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volume solute</a:t>
            </a: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x 100%	</a:t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		            volume solution </a:t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%W/V =      </a:t>
            </a:r>
            <a:r>
              <a:rPr b="1" i="0" lang="en-CA" sz="2400" u="sng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mass solute </a:t>
            </a: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x 100%</a:t>
            </a:r>
            <a:endParaRPr/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		            volume solution 	</a:t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6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1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%W/W =      </a:t>
            </a:r>
            <a:r>
              <a:rPr b="1" i="0" lang="en-CA" sz="2400" u="sng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mass solute</a:t>
            </a: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 x 100%</a:t>
            </a:r>
            <a:endParaRPr/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1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		              mass solution 	</a:t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26682" lvl="0" marL="233362" rtl="0" algn="l">
              <a:lnSpc>
                <a:spcPct val="6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6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0" i="0" sz="10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88912" lvl="0" marL="233362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Arial"/>
              <a:buNone/>
            </a:pPr>
            <a:r>
              <a:t/>
            </a:r>
            <a:endParaRPr b="0" i="0" sz="10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typically the volumes are in mL</a:t>
            </a:r>
            <a:endParaRPr/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% by mass – often used in medicated creams</a:t>
            </a:r>
            <a:endParaRPr/>
          </a:p>
          <a:p>
            <a:pPr indent="-233362" lvl="0" marL="23336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% by volume – often used in rubbing alcohol, vinegar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4" name="Google Shape;334;p52"/>
          <p:cNvSpPr txBox="1"/>
          <p:nvPr>
            <p:ph type="title"/>
          </p:nvPr>
        </p:nvSpPr>
        <p:spPr>
          <a:xfrm>
            <a:off x="468312" y="260350"/>
            <a:ext cx="834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omic Sans MS"/>
              <a:buNone/>
            </a:pPr>
            <a:r>
              <a:rPr b="1" i="0" lang="en-CA" sz="320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% Concentration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3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Concentration Activity</a:t>
            </a:r>
            <a:endParaRPr/>
          </a:p>
        </p:txBody>
      </p:sp>
      <p:sp>
        <p:nvSpPr>
          <p:cNvPr id="340" name="Google Shape;340;p53"/>
          <p:cNvSpPr txBox="1"/>
          <p:nvPr>
            <p:ph idx="1" type="body"/>
          </p:nvPr>
        </p:nvSpPr>
        <p:spPr>
          <a:xfrm>
            <a:off x="457200" y="1885950"/>
            <a:ext cx="8178900" cy="4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CA"/>
              <a:t>Visit each station and use the calculation given on the sheet to practice determining these percentages from the consumer products.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CA"/>
              <a:t>You can use the rest of the slides in this presentation to further your understanding if needed.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4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Solution Percentages</a:t>
            </a:r>
            <a:endParaRPr/>
          </a:p>
        </p:txBody>
      </p:sp>
      <p:sp>
        <p:nvSpPr>
          <p:cNvPr id="346" name="Google Shape;346;p54"/>
          <p:cNvSpPr txBox="1"/>
          <p:nvPr>
            <p:ph idx="1" type="body"/>
          </p:nvPr>
        </p:nvSpPr>
        <p:spPr>
          <a:xfrm>
            <a:off x="457200" y="1885950"/>
            <a:ext cx="8229600" cy="512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method of determining concentration is common in industrial applications and are typically used to quickly prepare solutions.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 volume (%V/V)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% volume = 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volume solute   (ml)  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x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         volume solution (ml)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		Solution = solvent + solute</a:t>
            </a:r>
            <a:endParaRPr/>
          </a:p>
          <a:p>
            <a:pPr indent="1143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</a:pPr>
            <a:r>
              <a:rPr b="0" i="0" lang="en-CA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% V/V of a solution prepared by adding 10 mL of solute to 45 mL of solvent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</a:pPr>
            <a:r>
              <a:rPr b="0" i="0" lang="en-CA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10/(10 + 45) x 100% = 18.2 % V/V </a:t>
            </a:r>
            <a:r>
              <a:rPr b="0" i="1" lang="en-CA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(include this term in your answer)</a:t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7" name="Google Shape;347;p54"/>
          <p:cNvSpPr txBox="1"/>
          <p:nvPr/>
        </p:nvSpPr>
        <p:spPr>
          <a:xfrm>
            <a:off x="4114800" y="4724400"/>
            <a:ext cx="3886200" cy="457200"/>
          </a:xfrm>
          <a:prstGeom prst="rect">
            <a:avLst/>
          </a:prstGeom>
          <a:noFill/>
          <a:ln cap="flat" cmpd="sng" w="3810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5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Solution Percentages</a:t>
            </a:r>
            <a:endParaRPr/>
          </a:p>
        </p:txBody>
      </p:sp>
      <p:sp>
        <p:nvSpPr>
          <p:cNvPr id="353" name="Google Shape;353;p55"/>
          <p:cNvSpPr txBox="1"/>
          <p:nvPr>
            <p:ph idx="1" type="body"/>
          </p:nvPr>
        </p:nvSpPr>
        <p:spPr>
          <a:xfrm>
            <a:off x="457200" y="1885950"/>
            <a:ext cx="82296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 mass per volume (%W/V)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% mass = 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solute   (g)  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x 100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      volume solution (ml)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Note: given the mass of water is 1 gm/ml, these are essentially the same units (g per g) as water is the most common solvent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= solvent volume as solute is assumed to be negligible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% W/V of a solution prepared by adding 10 g of solute to 45 mL of solvent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% = 10/45 x 100% = 22.2 % W/V </a:t>
            </a:r>
            <a:r>
              <a:rPr b="0" i="1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(include this term in your answer)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4" name="Google Shape;354;p55"/>
          <p:cNvSpPr txBox="1"/>
          <p:nvPr/>
        </p:nvSpPr>
        <p:spPr>
          <a:xfrm>
            <a:off x="457200" y="3987800"/>
            <a:ext cx="7543800" cy="838200"/>
          </a:xfrm>
          <a:prstGeom prst="rect">
            <a:avLst/>
          </a:prstGeom>
          <a:noFill/>
          <a:ln cap="flat" cmpd="sng" w="3810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Solution Percentages</a:t>
            </a:r>
            <a:endParaRPr/>
          </a:p>
        </p:txBody>
      </p:sp>
      <p:sp>
        <p:nvSpPr>
          <p:cNvPr id="360" name="Google Shape;360;p56"/>
          <p:cNvSpPr txBox="1"/>
          <p:nvPr>
            <p:ph idx="1" type="body"/>
          </p:nvPr>
        </p:nvSpPr>
        <p:spPr>
          <a:xfrm>
            <a:off x="457200" y="1885950"/>
            <a:ext cx="82296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Percent mass per mass (%W/W)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% mass = 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mass solute   (g)  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x 100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      mass solution (ml)</a:t>
            </a:r>
            <a:r>
              <a:rPr b="0" i="0" lang="en-CA" sz="24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Assume water density to be 1.0g/mL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= mass solvent + mass solute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% W/W of a solution prepared by adding 10 g of solute to 45 mL of water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10/(10 + 45) x 100% = 18.2 % W/W </a:t>
            </a:r>
            <a:r>
              <a:rPr b="0" i="1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(include this term in your answer)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Google Shape;361;p56"/>
          <p:cNvSpPr txBox="1"/>
          <p:nvPr/>
        </p:nvSpPr>
        <p:spPr>
          <a:xfrm>
            <a:off x="457200" y="3756025"/>
            <a:ext cx="7543800" cy="431800"/>
          </a:xfrm>
          <a:prstGeom prst="rect">
            <a:avLst/>
          </a:prstGeom>
          <a:noFill/>
          <a:ln cap="flat" cmpd="sng" w="38100">
            <a:solidFill>
              <a:srgbClr val="FFC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7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Units of Concentration</a:t>
            </a:r>
            <a:endParaRPr/>
          </a:p>
        </p:txBody>
      </p:sp>
      <p:sp>
        <p:nvSpPr>
          <p:cNvPr id="367" name="Google Shape;367;p57"/>
          <p:cNvSpPr txBox="1"/>
          <p:nvPr>
            <p:ph idx="1" type="body"/>
          </p:nvPr>
        </p:nvSpPr>
        <p:spPr>
          <a:xfrm>
            <a:off x="457200" y="1885950"/>
            <a:ext cx="82296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1: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percent by volume concentration of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in which 75.0 ml of ethanol is diluted to 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volume of 250.0 ml?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57"/>
          <p:cNvSpPr txBox="1"/>
          <p:nvPr/>
        </p:nvSpPr>
        <p:spPr>
          <a:xfrm>
            <a:off x="615825" y="4267200"/>
            <a:ext cx="6318300" cy="15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lang="en-CA" sz="2400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% ethanol = </a:t>
            </a: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75.0 ml </a:t>
            </a: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x 100      </a:t>
            </a: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lang="en-CA" sz="2400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               </a:t>
            </a: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250.0 ml</a:t>
            </a:r>
            <a:endParaRPr b="0" i="0" sz="2400" u="none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Tahoma"/>
              <a:buNone/>
            </a:pPr>
            <a:r>
              <a:rPr lang="en-CA" sz="24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               </a:t>
            </a:r>
            <a:r>
              <a:rPr lang="en-CA" sz="24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=   30.0% </a:t>
            </a:r>
            <a:endParaRPr sz="2400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Units of Concentration</a:t>
            </a:r>
            <a:endParaRPr/>
          </a:p>
        </p:txBody>
      </p:sp>
      <p:sp>
        <p:nvSpPr>
          <p:cNvPr id="374" name="Google Shape;374;p58"/>
          <p:cNvSpPr txBox="1"/>
          <p:nvPr>
            <p:ph idx="1" type="body"/>
          </p:nvPr>
        </p:nvSpPr>
        <p:spPr>
          <a:xfrm>
            <a:off x="457200" y="1885950"/>
            <a:ext cx="82296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2: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volume of acetic acid is present in a bottle containing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350.0 ml of a solution which measures 5.00%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concentration?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p58"/>
          <p:cNvSpPr txBox="1"/>
          <p:nvPr/>
        </p:nvSpPr>
        <p:spPr>
          <a:xfrm>
            <a:off x="2362200" y="4038600"/>
            <a:ext cx="3962400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lang="en-CA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ethanol</a:t>
            </a:r>
            <a:r>
              <a:rPr b="0" i="0" lang="en-CA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=   0.05   </a:t>
            </a: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lang="en-CA" sz="2400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350.0 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ook Antiqua"/>
              <a:buNone/>
            </a:pPr>
            <a:r>
              <a:t/>
            </a:r>
            <a:endParaRPr b="0" i="0" sz="2400" u="none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x = 17.5 ml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9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Units of Concentration</a:t>
            </a:r>
            <a:endParaRPr/>
          </a:p>
        </p:txBody>
      </p:sp>
      <p:sp>
        <p:nvSpPr>
          <p:cNvPr id="381" name="Google Shape;381;p59"/>
          <p:cNvSpPr txBox="1"/>
          <p:nvPr>
            <p:ph idx="1" type="body"/>
          </p:nvPr>
        </p:nvSpPr>
        <p:spPr>
          <a:xfrm>
            <a:off x="457200" y="1885950"/>
            <a:ext cx="82296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3: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Find the percent by mass in which 41.0 g of NaCl 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dissolved in 331 grams of water.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2" name="Google Shape;382;p59"/>
          <p:cNvSpPr txBox="1"/>
          <p:nvPr/>
        </p:nvSpPr>
        <p:spPr>
          <a:xfrm>
            <a:off x="2362200" y="4038600"/>
            <a:ext cx="39624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41 g  </a:t>
            </a: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 x 100  =   11.0%   </a:t>
            </a:r>
            <a:r>
              <a:rPr b="0" i="0" lang="en-CA" sz="2400" u="sng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4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372 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Book Antiqu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ahoma"/>
              <a:buNone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idx="1" type="body"/>
          </p:nvPr>
        </p:nvSpPr>
        <p:spPr>
          <a:xfrm>
            <a:off x="323850" y="1341437"/>
            <a:ext cx="8604300" cy="52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188912" lvl="0" marL="2333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Arial"/>
              <a:buNone/>
            </a:pPr>
            <a:r>
              <a:t/>
            </a:r>
            <a:endParaRPr b="0" i="0" sz="10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some instances molar concentration is not an effective measuring tool, such as when concentrations are very low.  Example: Environmental pollutants.  </a:t>
            </a:r>
            <a:endParaRPr/>
          </a:p>
          <a:p>
            <a:pPr indent="-126682" lvl="0" marL="2333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these situations, scientists use:</a:t>
            </a:r>
            <a:endParaRPr/>
          </a:p>
          <a:p>
            <a:pPr indent="-223837" lvl="1" marL="571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–"/>
            </a:pP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ppm: parts per million, 1:10</a:t>
            </a:r>
            <a:r>
              <a:rPr b="0" baseline="3000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 (drop in a full bathtub)</a:t>
            </a:r>
            <a:endParaRPr/>
          </a:p>
          <a:p>
            <a:pPr indent="-223837" lvl="1" marL="571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–"/>
            </a:pP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ppb: parts per billion, 1:10</a:t>
            </a:r>
            <a:r>
              <a:rPr b="0" baseline="3000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9   </a:t>
            </a: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(drop in a large swimming pool)</a:t>
            </a:r>
            <a:endParaRPr/>
          </a:p>
          <a:p>
            <a:pPr indent="-223837" lvl="1" marL="571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omic Sans MS"/>
              <a:buChar char="–"/>
            </a:pP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ppt: parts per trillion 1:10</a:t>
            </a:r>
            <a:r>
              <a:rPr b="0" baseline="3000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12  </a:t>
            </a:r>
            <a:r>
              <a:rPr b="0" i="0" lang="en-CA" sz="20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(drop in 1000 swimming pools)</a:t>
            </a:r>
            <a:endParaRPr/>
          </a:p>
          <a:p>
            <a:pPr indent="-126682" lvl="0" marL="2333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33362" lvl="0" marL="23336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rial"/>
              <a:buChar char="●"/>
            </a:pP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are a special case of %</a:t>
            </a:r>
            <a:r>
              <a:rPr lang="en-CA" sz="24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W</a:t>
            </a:r>
            <a:r>
              <a:rPr b="0" i="0" lang="en-CA" sz="2400" u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/W concentration.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88" name="Google Shape;388;p60"/>
          <p:cNvSpPr txBox="1"/>
          <p:nvPr>
            <p:ph type="title"/>
          </p:nvPr>
        </p:nvSpPr>
        <p:spPr>
          <a:xfrm>
            <a:off x="468312" y="260350"/>
            <a:ext cx="834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Comic Sans MS"/>
              <a:buNone/>
            </a:pPr>
            <a:r>
              <a:rPr b="1" i="0" lang="en-CA" sz="3200" u="none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Extremely Low Concentrations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b="0" i="0" lang="en-CA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Statistics are most often described in this manner; for example mortality rates are described in deaths per 100,000 people. (Canada’s mortality rate is 7.74; USA’s is 8.38).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4" name="Google Shape;394;p61"/>
          <p:cNvSpPr txBox="1"/>
          <p:nvPr>
            <p:ph type="title"/>
          </p:nvPr>
        </p:nvSpPr>
        <p:spPr>
          <a:xfrm>
            <a:off x="406400" y="228600"/>
            <a:ext cx="84564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35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Extremely small concentrations</a:t>
            </a:r>
            <a:endParaRPr sz="35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2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Times New Roman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Picture it!</a:t>
            </a:r>
            <a:endParaRPr/>
          </a:p>
        </p:txBody>
      </p:sp>
      <p:graphicFrame>
        <p:nvGraphicFramePr>
          <p:cNvPr id="400" name="Google Shape;400;p62"/>
          <p:cNvGraphicFramePr/>
          <p:nvPr/>
        </p:nvGraphicFramePr>
        <p:xfrm>
          <a:off x="7620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{C6783590-D541-411C-8297-3059DC88DF9F}</a:tableStyleId>
              </a:tblPr>
              <a:tblGrid>
                <a:gridCol w="1235075"/>
                <a:gridCol w="6765925"/>
              </a:tblGrid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Tahoma"/>
                        <a:buNone/>
                      </a:pPr>
                      <a:r>
                        <a:rPr b="1" i="0" lang="en-CA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Measurement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Tahoma"/>
                        <a:buNone/>
                      </a:pPr>
                      <a:r>
                        <a:rPr b="1" i="0" lang="en-CA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Equivalent Ratio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417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Tahoma"/>
                        <a:buNone/>
                      </a:pPr>
                      <a:r>
                        <a:rPr b="1" i="0" lang="en-CA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ppm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drop of water in a full bathtub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second in 11.5 days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minute in 2 years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3CB"/>
                    </a:solidFill>
                  </a:tcPr>
                </a:tc>
              </a:tr>
              <a:tr h="2362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Font typeface="Tahoma"/>
                        <a:buNone/>
                      </a:pPr>
                      <a:r>
                        <a:rPr b="1" i="0" lang="en-CA" sz="20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ppb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drop of water in a full swimming pool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square of toilet paper in a line stretching from New York to London, England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second in 32 years</a:t>
                      </a:r>
                      <a:endParaRPr/>
                    </a:p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Char char="∙"/>
                      </a:pPr>
                      <a:r>
                        <a:rPr b="0" i="0" lang="en-CA" sz="20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 pinch of salt in 10160.5kg of potato chips</a:t>
                      </a:r>
                      <a:endParaRPr/>
                    </a:p>
                  </a:txBody>
                  <a:tcPr marT="0" marB="0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A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3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Calculating small concentrations</a:t>
            </a:r>
            <a:endParaRPr/>
          </a:p>
        </p:txBody>
      </p:sp>
      <p:sp>
        <p:nvSpPr>
          <p:cNvPr id="406" name="Google Shape;406;p63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doing quantitative calculations, as we must first ensure that the </a:t>
            </a:r>
            <a:r>
              <a:rPr b="1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units</a:t>
            </a: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solute and solvent are the same before working out the stoichiometry.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1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1.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Ontario, drinking water should have less than 10 ppb of lead in it. What is the maximum amount of lead allowed in a 500 mL bottle of water?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1" i="0" lang="en-CA" sz="240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1mL of water = 1g of water (using density)</a:t>
            </a:r>
            <a:endParaRPr b="1" i="0" sz="2400" u="non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Therefore 10ppb = 10g in 1,000,000,000g of water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4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12" name="Google Shape;412;p64"/>
          <p:cNvSpPr txBox="1"/>
          <p:nvPr>
            <p:ph idx="1" type="body"/>
          </p:nvPr>
        </p:nvSpPr>
        <p:spPr>
          <a:xfrm>
            <a:off x="415200" y="1822962"/>
            <a:ext cx="8313600" cy="4254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639" r="0" t="-18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lang="en-CA" sz="32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  <p:sp>
        <p:nvSpPr>
          <p:cNvPr id="413" name="Google Shape;413;p64"/>
          <p:cNvSpPr txBox="1"/>
          <p:nvPr/>
        </p:nvSpPr>
        <p:spPr>
          <a:xfrm>
            <a:off x="406400" y="5469750"/>
            <a:ext cx="6969000" cy="860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>
                <a:latin typeface="Tahoma"/>
                <a:ea typeface="Tahoma"/>
                <a:cs typeface="Tahoma"/>
                <a:sym typeface="Tahoma"/>
              </a:rPr>
              <a:t>Know your prefixes. See the table on the next page.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5"/>
          <p:cNvPicPr preferRelativeResize="0"/>
          <p:nvPr/>
        </p:nvPicPr>
        <p:blipFill rotWithShape="1">
          <a:blip r:embed="rId3">
            <a:alphaModFix/>
          </a:blip>
          <a:srcRect b="35191" l="0" r="18400" t="0"/>
          <a:stretch/>
        </p:blipFill>
        <p:spPr>
          <a:xfrm>
            <a:off x="191888" y="832975"/>
            <a:ext cx="8760226" cy="35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6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Example 2</a:t>
            </a:r>
            <a:endParaRPr/>
          </a:p>
        </p:txBody>
      </p:sp>
      <p:sp>
        <p:nvSpPr>
          <p:cNvPr id="424" name="Google Shape;424;p66"/>
          <p:cNvSpPr txBox="1"/>
          <p:nvPr>
            <p:ph idx="1" type="body"/>
          </p:nvPr>
        </p:nvSpPr>
        <p:spPr>
          <a:xfrm>
            <a:off x="401637" y="1719262"/>
            <a:ext cx="8589962" cy="46815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642" r="0" t="-785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●"/>
            </a:pPr>
            <a:r>
              <a:rPr lang="en-CA" sz="3200">
                <a:latin typeface="Tahoma"/>
                <a:ea typeface="Tahoma"/>
                <a:cs typeface="Tahoma"/>
                <a:sym typeface="Tahoma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7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HERE</a:t>
            </a:r>
            <a:endParaRPr b="0" i="0" sz="4000" u="none" cap="none" strike="noStrike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0" name="Google Shape;430;p67"/>
          <p:cNvSpPr txBox="1"/>
          <p:nvPr>
            <p:ph idx="1" type="body"/>
          </p:nvPr>
        </p:nvSpPr>
        <p:spPr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8"/>
          <p:cNvSpPr txBox="1"/>
          <p:nvPr>
            <p:ph idx="1" type="body"/>
          </p:nvPr>
        </p:nvSpPr>
        <p:spPr>
          <a:xfrm>
            <a:off x="457200" y="1885950"/>
            <a:ext cx="8178800" cy="276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You just calculated the molar mass of sodium chloride to be 58.44 g/mol.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●"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determine how to make a stock solution of sodium chloride, use the formula:</a:t>
            </a:r>
            <a:endParaRPr/>
          </a:p>
        </p:txBody>
      </p:sp>
      <p:sp>
        <p:nvSpPr>
          <p:cNvPr id="436" name="Google Shape;436;p68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Making Solutions</a:t>
            </a:r>
            <a:endParaRPr/>
          </a:p>
        </p:txBody>
      </p:sp>
      <p:sp>
        <p:nvSpPr>
          <p:cNvPr id="437" name="Google Shape;437;p68"/>
          <p:cNvSpPr txBox="1"/>
          <p:nvPr/>
        </p:nvSpPr>
        <p:spPr>
          <a:xfrm>
            <a:off x="1828800" y="4343400"/>
            <a:ext cx="533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32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g = M x L x molar mass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Wheeler PC\Desktop\Picture1.jpg" id="442" name="Google Shape;44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3581400"/>
            <a:ext cx="4948237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69"/>
          <p:cNvSpPr txBox="1"/>
          <p:nvPr>
            <p:ph idx="1" type="body"/>
          </p:nvPr>
        </p:nvSpPr>
        <p:spPr>
          <a:xfrm>
            <a:off x="457200" y="1828800"/>
            <a:ext cx="81788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●"/>
            </a:pPr>
            <a:r>
              <a:rPr b="0" i="0" lang="en-CA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many grams of NaCl would you need to prepare 200.0 mL of a 5 M solution?</a:t>
            </a:r>
            <a:endParaRPr/>
          </a:p>
        </p:txBody>
      </p:sp>
      <p:sp>
        <p:nvSpPr>
          <p:cNvPr id="444" name="Google Shape;444;p69"/>
          <p:cNvSpPr txBox="1"/>
          <p:nvPr>
            <p:ph type="title"/>
          </p:nvPr>
        </p:nvSpPr>
        <p:spPr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Arial Black"/>
              <a:buNone/>
            </a:pPr>
            <a:r>
              <a:rPr b="0" i="0" lang="en-CA" sz="4000" u="none" cap="none" strike="noStrike">
                <a:solidFill>
                  <a:srgbClr val="FF6600"/>
                </a:solidFill>
                <a:latin typeface="Arial Black"/>
                <a:ea typeface="Arial Black"/>
                <a:cs typeface="Arial Black"/>
                <a:sym typeface="Arial Black"/>
              </a:rPr>
              <a:t>Making Solutions</a:t>
            </a:r>
            <a:endParaRPr/>
          </a:p>
        </p:txBody>
      </p:sp>
      <p:sp>
        <p:nvSpPr>
          <p:cNvPr id="445" name="Google Shape;445;p69"/>
          <p:cNvSpPr txBox="1"/>
          <p:nvPr/>
        </p:nvSpPr>
        <p:spPr>
          <a:xfrm>
            <a:off x="1295400" y="2667000"/>
            <a:ext cx="66294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Tahoma"/>
              <a:buNone/>
            </a:pPr>
            <a:r>
              <a:rPr b="0" i="0" lang="en-CA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 =  M x L x molar mass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8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g = (5mol/L) (0.2L) (58.44g/mol)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Font typeface="Tahoma"/>
              <a:buNone/>
            </a:pPr>
            <a:r>
              <a:rPr b="0" i="0" lang="en-CA" sz="2800" u="non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g = 58.44 g</a:t>
            </a:r>
            <a:endParaRPr/>
          </a:p>
        </p:txBody>
      </p:sp>
      <p:sp>
        <p:nvSpPr>
          <p:cNvPr id="446" name="Google Shape;446;p69"/>
          <p:cNvSpPr txBox="1"/>
          <p:nvPr/>
        </p:nvSpPr>
        <p:spPr>
          <a:xfrm>
            <a:off x="2895600" y="5029200"/>
            <a:ext cx="31242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temporary Portrait">
  <a:themeElements>
    <a:clrScheme name="Custom 5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ntemporary Portrait">
  <a:themeElements>
    <a:clrScheme name="Custom 5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ontemporary Portrait">
  <a:themeElements>
    <a:clrScheme name="Custom 5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