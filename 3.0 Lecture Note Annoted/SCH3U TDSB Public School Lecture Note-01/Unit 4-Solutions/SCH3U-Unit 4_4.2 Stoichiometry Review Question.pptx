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2" r:id="rId3"/>
    <p:sldMasterId id="2147483693" r:id="rId4"/>
    <p:sldMasterId id="2147483694" r:id="rId5"/>
    <p:sldMasterId id="214748369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presenters mode notes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b4b7c6c5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b4b7c6c5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a2351a36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2a2351a36b_0_1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a237519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2a2375199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aecb4ea712cfae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aecb4ea712cfa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aecb4ea712cfae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7aecb4ea712cfae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a2375199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2a23751995_0_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a2375199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2a23751995_0_1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a23751995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2a23751995_0_3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a23751995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2a23751995_0_4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a2351a3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2a2351a36b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a23751995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2a23751995_0_2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a23751995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2a23751995_0_4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a23751995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2a23751995_0_4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a23751995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2a23751995_0_4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a23751995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2a23751995_0_5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b0606e2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b0606e2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b0606e2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b0606e2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b0606e2a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b0606e2a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b0606e2a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b0606e2a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b0606e2a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b0606e2a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b0606e2a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b0606e2a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b0606e2a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b0606e2a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b0606e2a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b0606e2a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b0606e2a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b0606e2a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b0606e2a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b0606e2a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b0606e2a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b0606e2a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b0606e2a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b0606e2a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cc325664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cc325664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cc325664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cc325664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cc325664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cc325664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c325664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c325664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cc325664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cc325664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cc325664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cc325664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cc325664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cc325664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cc325664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cc325664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cc325664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cc325664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cc325664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cc325664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cc325664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1cc325664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cc325664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1cc325664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ea9fcd8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ea9fcd8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ea9fcd8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ea9fcd8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ea9fcd8c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ea9fcd8c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ea9fcd8c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ea9fcd8c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ea9fcd8c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ea9fcd8c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ea9fcd8c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ea9fcd8c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ea9fcd8c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ea9fcd8c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ea9fcd8c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ea9fcd8c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ea9fcd8c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ea9fcd8c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ea9fcd8c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ea9fcd8c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ea9fcd8c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ea9fcd8c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ea9fcd8c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ea9fcd8c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ea9fcd8c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ea9fcd8c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ea9fcd8c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ea9fcd8c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ea9fcd8c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ea9fcd8c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1ea9fcd8c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1ea9fcd8c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ea9fcd8c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ea9fcd8c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1ea9fcd8c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1ea9fcd8c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ea9fcd8c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ea9fcd8c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ea9fcd8c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1ea9fcd8c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1ea9fcd8c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1ea9fcd8c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1ea9fcd8c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1ea9fcd8c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1ea9fcd8c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1ea9fcd8c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1ea9fcd8c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1ea9fcd8c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7132025" y="1255325"/>
            <a:ext cx="17220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REMINDER: Tell on your classmates </a:t>
            </a:r>
            <a:r>
              <a:rPr lang="en">
                <a:solidFill>
                  <a:schemeClr val="dk1"/>
                </a:solidFill>
              </a:rPr>
              <a:t>(or yourself): Cool stuff, great accomplishments (or small ones), epic fails (or small ones), fun quotes etc -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Post them to the side board!!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/>
        </p:nvSpPr>
        <p:spPr>
          <a:xfrm>
            <a:off x="477675" y="4299225"/>
            <a:ext cx="7932000" cy="62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Review your homework with a classmate and/or with provided answers. </a:t>
            </a:r>
            <a:r>
              <a:rPr b="1" lang="en">
                <a:solidFill>
                  <a:srgbClr val="0000FF"/>
                </a:solidFill>
              </a:rPr>
              <a:t>Ask </a:t>
            </a:r>
            <a:r>
              <a:rPr b="1" lang="en">
                <a:solidFill>
                  <a:srgbClr val="0000FF"/>
                </a:solidFill>
              </a:rPr>
              <a:t> any remaining questions!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685800" y="159782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2645" lvl="1" marL="457145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593" lvl="2" marL="914293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539" lvl="3" marL="1371439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485" lvl="4" marL="182858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433" lvl="5" marL="228573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2378" lvl="6" marL="274287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2326" lvl="7" marL="320002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2272" lvl="8" marL="3657172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722313" y="3305177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722313" y="2180036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457203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457203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45029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45029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57204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575051" y="204789"/>
            <a:ext cx="5111700" cy="43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2" type="body"/>
          </p:nvPr>
        </p:nvSpPr>
        <p:spPr>
          <a:xfrm>
            <a:off x="457204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1792288" y="3600451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0" name="Google Shape;110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2645" lvl="1" marL="457145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2593" lvl="2" marL="914293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539" lvl="3" marL="1371439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485" lvl="4" marL="182858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433" lvl="5" marL="228573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2378" lvl="6" marL="274287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2326" lvl="7" marL="320002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2272" lvl="8" marL="3657172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 rot="5400000">
            <a:off x="2874750" y="-1217398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 rot="5400000">
            <a:off x="5463750" y="1371630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9" name="Google Shape;139;p27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2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31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31"/>
          <p:cNvSpPr txBox="1"/>
          <p:nvPr>
            <p:ph idx="3" type="body"/>
          </p:nvPr>
        </p:nvSpPr>
        <p:spPr>
          <a:xfrm>
            <a:off x="4645025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7" name="Google Shape;167;p31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3" name="Google Shape;173;p3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3575050" y="204788"/>
            <a:ext cx="5111700" cy="43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9" name="Google Shape;179;p33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3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3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3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3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3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3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3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3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3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title"/>
          </p:nvPr>
        </p:nvSpPr>
        <p:spPr>
          <a:xfrm rot="5400000">
            <a:off x="5463750" y="1371628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8" name="Google Shape;198;p36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3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0" name="Google Shape;200;p3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1" name="Google Shape;201;p3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3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4" name="Google Shape;214;p39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5" name="Google Shape;215;p3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0" name="Google Shape;220;p4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1" name="Google Shape;221;p4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2" name="Google Shape;222;p4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3" name="Google Shape;223;p4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6" name="Google Shape;226;p41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7" name="Google Shape;227;p4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p4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9" name="Google Shape;229;p4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42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9" name="Google Shape;239;p43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0" name="Google Shape;240;p43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43"/>
          <p:cNvSpPr txBox="1"/>
          <p:nvPr>
            <p:ph idx="3" type="body"/>
          </p:nvPr>
        </p:nvSpPr>
        <p:spPr>
          <a:xfrm>
            <a:off x="4645025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43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3" name="Google Shape;243;p4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4" name="Google Shape;244;p4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4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8" name="Google Shape;248;p4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9" name="Google Shape;249;p4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0" name="Google Shape;250;p4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3" name="Google Shape;253;p45"/>
          <p:cNvSpPr txBox="1"/>
          <p:nvPr>
            <p:ph idx="1" type="body"/>
          </p:nvPr>
        </p:nvSpPr>
        <p:spPr>
          <a:xfrm>
            <a:off x="3575050" y="204788"/>
            <a:ext cx="5111700" cy="43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4" name="Google Shape;254;p45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5" name="Google Shape;255;p4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4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7" name="Google Shape;257;p4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0" name="Google Shape;260;p4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1" name="Google Shape;261;p46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2" name="Google Shape;262;p4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7" name="Google Shape;267;p47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8" name="Google Shape;268;p4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" name="Google Shape;269;p4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0" name="Google Shape;270;p4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/>
          <p:nvPr>
            <p:ph type="title"/>
          </p:nvPr>
        </p:nvSpPr>
        <p:spPr>
          <a:xfrm rot="5400000">
            <a:off x="5463750" y="1371628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3" name="Google Shape;273;p48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4" name="Google Shape;274;p4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5" name="Google Shape;275;p4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6" name="Google Shape;276;p4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4" name="Google Shape;204;p3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3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3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slide" Target="/ppt/slides/slide1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slide" Target="/ppt/slides/slide1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slide" Target="/ppt/slides/slide1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slide" Target="/ppt/slides/slide12.xml"/><Relationship Id="rId5" Type="http://schemas.openxmlformats.org/officeDocument/2006/relationships/slide" Target="/ppt/slides/slide1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slide" Target="/ppt/slides/slide1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slide" Target="/ppt/slides/slide1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slide" Target="/ppt/slides/slide16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slide" Target="/ppt/slides/slide16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slide" Target="/ppt/slides/slide16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282" name="Google Shape;282;p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1- 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links to specific slides by copying URL when viewing slide (each page has its own)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a todaysmeet linkk permanently on side board with daily reminder to community time notes.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0"/>
          <p:cNvSpPr txBox="1"/>
          <p:nvPr>
            <p:ph idx="1" type="subTitle"/>
          </p:nvPr>
        </p:nvSpPr>
        <p:spPr>
          <a:xfrm>
            <a:off x="214125" y="1505400"/>
            <a:ext cx="8520600" cy="27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What is the difference between solute and solvent? Which is in the greatest quantity?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List several solution examples identifying the solute and solvent (challenge: include one non-liquid solution example)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8" name="Google Shape;288;p50"/>
          <p:cNvSpPr txBox="1"/>
          <p:nvPr/>
        </p:nvSpPr>
        <p:spPr>
          <a:xfrm>
            <a:off x="311700" y="250900"/>
            <a:ext cx="8520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Bellwork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1"/>
          <p:cNvSpPr/>
          <p:nvPr/>
        </p:nvSpPr>
        <p:spPr>
          <a:xfrm>
            <a:off x="660402" y="1440673"/>
            <a:ext cx="8191500" cy="16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equation, balance, and </a:t>
            </a:r>
            <a:r>
              <a:rPr b="0" i="0" lang="en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the precipitate on #3: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 startAt="3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__ Li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i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+  __ BaBr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i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</a:t>
            </a:r>
            <a:endParaRPr/>
          </a:p>
          <a:p>
            <a:pPr indent="-1714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 startAt="3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__ C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+  __ O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51"/>
          <p:cNvCxnSpPr/>
          <p:nvPr/>
        </p:nvCxnSpPr>
        <p:spPr>
          <a:xfrm>
            <a:off x="6512850" y="2571750"/>
            <a:ext cx="482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51"/>
          <p:cNvCxnSpPr/>
          <p:nvPr/>
        </p:nvCxnSpPr>
        <p:spPr>
          <a:xfrm>
            <a:off x="4514800" y="3223375"/>
            <a:ext cx="482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p51"/>
          <p:cNvSpPr txBox="1"/>
          <p:nvPr/>
        </p:nvSpPr>
        <p:spPr>
          <a:xfrm>
            <a:off x="1563225" y="3958475"/>
            <a:ext cx="2042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Answers - reactions &amp; stoich bellwork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/>
          <p:nvPr/>
        </p:nvSpPr>
        <p:spPr>
          <a:xfrm>
            <a:off x="546100" y="1360527"/>
            <a:ext cx="8026500" cy="17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CuCl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+ 2NaNO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	      Cu(NO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+  2NaCl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63600" lvl="0" marL="1092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 startAt="6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19.8 g NaCl are actually produced in the lab using 24.3 g CuCl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what is the percent yield?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52"/>
          <p:cNvCxnSpPr/>
          <p:nvPr/>
        </p:nvCxnSpPr>
        <p:spPr>
          <a:xfrm>
            <a:off x="4356100" y="1609725"/>
            <a:ext cx="6984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3" name="Google Shape;303;p52"/>
          <p:cNvSpPr txBox="1"/>
          <p:nvPr/>
        </p:nvSpPr>
        <p:spPr>
          <a:xfrm>
            <a:off x="1563225" y="3958475"/>
            <a:ext cx="2042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Answers - reactions &amp; stoich bellwork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3"/>
          <p:cNvSpPr txBox="1"/>
          <p:nvPr>
            <p:ph type="title"/>
          </p:nvPr>
        </p:nvSpPr>
        <p:spPr>
          <a:xfrm rot="5400000">
            <a:off x="5463750" y="1371628"/>
            <a:ext cx="4388700" cy="20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3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4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4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5"/>
          <p:cNvSpPr/>
          <p:nvPr/>
        </p:nvSpPr>
        <p:spPr>
          <a:xfrm>
            <a:off x="342900" y="976826"/>
            <a:ext cx="8280300" cy="3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Fe  +  O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	  Fe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0900" lvl="0" marL="863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arenR" startAt="7"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and balance the equation above.</a:t>
            </a:r>
            <a:endParaRPr sz="3000"/>
          </a:p>
          <a:p>
            <a:pPr indent="-850900" lvl="0" marL="863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arenR" startAt="7"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16.4 g Fe react with excess oxygen, how many grams of iron (III) oxide should be produced?</a:t>
            </a:r>
            <a:endParaRPr sz="3000"/>
          </a:p>
          <a:p>
            <a:pPr indent="-850900" lvl="0" marL="863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arenR" startAt="7"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If, at the end of the experiment, 15.7 grams of iron (III) oxide were actually produced, what is the percent yield?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55"/>
          <p:cNvCxnSpPr/>
          <p:nvPr/>
        </p:nvCxnSpPr>
        <p:spPr>
          <a:xfrm>
            <a:off x="3721100" y="1238250"/>
            <a:ext cx="482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p55"/>
          <p:cNvSpPr txBox="1"/>
          <p:nvPr/>
        </p:nvSpPr>
        <p:spPr>
          <a:xfrm>
            <a:off x="6252875" y="733950"/>
            <a:ext cx="2042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Answers - reactions &amp; stoich bellwork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6"/>
          <p:cNvSpPr/>
          <p:nvPr/>
        </p:nvSpPr>
        <p:spPr>
          <a:xfrm>
            <a:off x="355600" y="1084302"/>
            <a:ext cx="8521800" cy="18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__ LiOH + __ H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__ Li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__ H</a:t>
            </a:r>
            <a:r>
              <a:rPr baseline="-25000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 (unbalanced)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63600" lvl="0" marL="863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 startAt="12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 the chemical equation above.  Then determine how many moles of LiOH are required to react with 20.0 mol H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329" name="Google Shape;329;p56"/>
          <p:cNvCxnSpPr/>
          <p:nvPr/>
        </p:nvCxnSpPr>
        <p:spPr>
          <a:xfrm>
            <a:off x="3424992" y="1314450"/>
            <a:ext cx="42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56"/>
          <p:cNvSpPr txBox="1"/>
          <p:nvPr/>
        </p:nvSpPr>
        <p:spPr>
          <a:xfrm>
            <a:off x="1954025" y="3709100"/>
            <a:ext cx="2042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Answers - reactions &amp; stoich bellwork</a:t>
            </a:r>
            <a:r>
              <a:rPr lang="en" u="sng">
                <a:solidFill>
                  <a:schemeClr val="hlink"/>
                </a:solidFill>
                <a:hlinkClick action="ppaction://hlinksldjump" r:id="rId5"/>
              </a:rPr>
              <a:t> p2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7"/>
          <p:cNvSpPr/>
          <p:nvPr/>
        </p:nvSpPr>
        <p:spPr>
          <a:xfrm>
            <a:off x="546100" y="1236702"/>
            <a:ext cx="8166000" cy="21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the activity series, predict whether the following reactions will or will not occur.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36600" lvl="0" marL="2400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 startAt="15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 &amp; H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  <a:p>
            <a:pPr indent="-736600" lvl="0" marL="2400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 startAt="15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KI</a:t>
            </a:r>
            <a:endParaRPr/>
          </a:p>
          <a:p>
            <a:pPr indent="-736600" lvl="0" marL="2400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 startAt="15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 &amp; H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</a:t>
            </a:r>
            <a:endParaRPr/>
          </a:p>
        </p:txBody>
      </p:sp>
      <p:sp>
        <p:nvSpPr>
          <p:cNvPr id="336" name="Google Shape;336;p57"/>
          <p:cNvSpPr txBox="1"/>
          <p:nvPr/>
        </p:nvSpPr>
        <p:spPr>
          <a:xfrm>
            <a:off x="6605875" y="3658675"/>
            <a:ext cx="2042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Answers - reactions &amp; stoich bellwork p2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8"/>
          <p:cNvSpPr/>
          <p:nvPr/>
        </p:nvSpPr>
        <p:spPr>
          <a:xfrm>
            <a:off x="469900" y="1293852"/>
            <a:ext cx="80646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the type of chemical reaction for the following.  Complete &amp; balance—</a:t>
            </a:r>
            <a:r>
              <a:rPr b="1" lang="en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identify the precipitate in the product.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36600" lvl="0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 startAt="18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(NH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i="1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 Ba(NO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58"/>
          <p:cNvCxnSpPr/>
          <p:nvPr/>
        </p:nvCxnSpPr>
        <p:spPr>
          <a:xfrm>
            <a:off x="7112000" y="2828925"/>
            <a:ext cx="622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3" name="Google Shape;343;p58"/>
          <p:cNvSpPr txBox="1"/>
          <p:nvPr/>
        </p:nvSpPr>
        <p:spPr>
          <a:xfrm>
            <a:off x="6605875" y="3658675"/>
            <a:ext cx="2042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Answers - reactions &amp; stoich bellwork p2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9"/>
          <p:cNvSpPr/>
          <p:nvPr/>
        </p:nvSpPr>
        <p:spPr>
          <a:xfrm>
            <a:off x="416734" y="613735"/>
            <a:ext cx="8562300" cy="421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025" lIns="82050" spcFirstLastPara="1" rIns="82050" wrap="square" tIns="41025">
            <a:noAutofit/>
          </a:bodyPr>
          <a:lstStyle/>
          <a:p>
            <a:pPr indent="-609600" lvl="0" marL="635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      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600" lvl="0" marL="635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/>
            </a:pP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600" lvl="0" marL="635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aq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 +  BaBr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aq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     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LiBr (</a:t>
            </a:r>
            <a:r>
              <a:rPr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aq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 +  BaCO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600" lvl="0" marL="635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2400"/>
          </a:p>
          <a:p>
            <a:pPr indent="-609600" lvl="0" marL="635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replacement,</a:t>
            </a:r>
            <a:endParaRPr sz="2400"/>
          </a:p>
          <a:p>
            <a:pPr indent="-635000" lvl="0" marL="635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Zn + AuNO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Zn(NO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 Au</a:t>
            </a:r>
            <a:endParaRPr sz="2400"/>
          </a:p>
          <a:p>
            <a:pPr indent="-1371600" lvl="0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Yes, will occur—using the activity series,</a:t>
            </a:r>
            <a:endParaRPr sz="2400"/>
          </a:p>
          <a:p>
            <a:pPr indent="0" lvl="0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zinc will replace gold.</a:t>
            </a:r>
            <a:endParaRPr sz="2400"/>
          </a:p>
          <a:p>
            <a:pPr indent="-609600" lvl="0" marL="635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6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93.8%</a:t>
            </a:r>
            <a:endParaRPr sz="2400"/>
          </a:p>
          <a:p>
            <a:pPr indent="-609600" lvl="0" marL="635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6"/>
            </a:pP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3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2400"/>
          </a:p>
          <a:p>
            <a:pPr indent="-609600" lvl="0" marL="635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6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23.4 g Fe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09600" lvl="0" marL="635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6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67.1%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59"/>
          <p:cNvCxnSpPr/>
          <p:nvPr/>
        </p:nvCxnSpPr>
        <p:spPr>
          <a:xfrm>
            <a:off x="3180645" y="823913"/>
            <a:ext cx="42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" name="Google Shape;350;p59"/>
          <p:cNvCxnSpPr/>
          <p:nvPr/>
        </p:nvCxnSpPr>
        <p:spPr>
          <a:xfrm>
            <a:off x="2909712" y="1985963"/>
            <a:ext cx="42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1" name="Google Shape;351;p59"/>
          <p:cNvCxnSpPr/>
          <p:nvPr/>
        </p:nvCxnSpPr>
        <p:spPr>
          <a:xfrm>
            <a:off x="4704645" y="1585913"/>
            <a:ext cx="42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2" name="Google Shape;352;p59"/>
          <p:cNvCxnSpPr/>
          <p:nvPr/>
        </p:nvCxnSpPr>
        <p:spPr>
          <a:xfrm>
            <a:off x="3392311" y="1166813"/>
            <a:ext cx="42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3" name="Google Shape;353;p59"/>
          <p:cNvCxnSpPr/>
          <p:nvPr/>
        </p:nvCxnSpPr>
        <p:spPr>
          <a:xfrm>
            <a:off x="3426178" y="2624138"/>
            <a:ext cx="42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4" name="Google Shape;354;p59"/>
          <p:cNvCxnSpPr/>
          <p:nvPr/>
        </p:nvCxnSpPr>
        <p:spPr>
          <a:xfrm>
            <a:off x="2757312" y="3900488"/>
            <a:ext cx="42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" name="Google Shape;355;p59"/>
          <p:cNvCxnSpPr/>
          <p:nvPr/>
        </p:nvCxnSpPr>
        <p:spPr>
          <a:xfrm>
            <a:off x="8157936" y="1479550"/>
            <a:ext cx="0" cy="219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0"/>
          <p:cNvSpPr/>
          <p:nvPr/>
        </p:nvSpPr>
        <p:spPr>
          <a:xfrm>
            <a:off x="416734" y="613735"/>
            <a:ext cx="8562300" cy="421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025" lIns="82050" spcFirstLastPara="1" rIns="82050" wrap="square" tIns="41025">
            <a:noAutofit/>
          </a:bodyPr>
          <a:lstStyle/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0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__Al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3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Ca(OH)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Al(OH)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3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1"/>
            </a:pPr>
            <a:r>
              <a:rPr b="0" i="0" lang="en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NH</a:t>
            </a:r>
            <a:r>
              <a:rPr b="0" baseline="-2500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 + </a:t>
            </a:r>
            <a:r>
              <a:rPr b="0" i="0" lang="en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Ca(OH)</a:t>
            </a:r>
            <a:r>
              <a:rPr b="0" baseline="-2500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CaCl</a:t>
            </a:r>
            <a:r>
              <a:rPr b="0" baseline="-2500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0" lang="en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NH</a:t>
            </a:r>
            <a:r>
              <a:rPr b="0" baseline="-2500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0" lang="en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2"/>
            </a:pP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LiOH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 	40.0 mol LiOH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2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120 g NaOH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2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49.7 L 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2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not occur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2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occur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2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reacts with steam, but not cold water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2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double replacement,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(NH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aq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Ba(NO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aq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   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aq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+ </a:t>
            </a:r>
            <a:r>
              <a:rPr lang="en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BaSO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9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13.2 g H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9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36.0 L N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9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44.5 g CaCl</a:t>
            </a:r>
            <a:r>
              <a:rPr baseline="-25000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arenR" startAt="19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94.3%</a:t>
            </a:r>
            <a:endParaRPr/>
          </a:p>
          <a:p>
            <a:pPr indent="-457200" lvl="0" marL="635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60"/>
          <p:cNvCxnSpPr/>
          <p:nvPr/>
        </p:nvCxnSpPr>
        <p:spPr>
          <a:xfrm>
            <a:off x="4144434" y="823913"/>
            <a:ext cx="42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2" name="Google Shape;362;p60"/>
          <p:cNvCxnSpPr/>
          <p:nvPr/>
        </p:nvCxnSpPr>
        <p:spPr>
          <a:xfrm>
            <a:off x="3426178" y="1355725"/>
            <a:ext cx="42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3" name="Google Shape;363;p60"/>
          <p:cNvCxnSpPr/>
          <p:nvPr/>
        </p:nvCxnSpPr>
        <p:spPr>
          <a:xfrm>
            <a:off x="3702050" y="1066800"/>
            <a:ext cx="330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60"/>
          <p:cNvCxnSpPr/>
          <p:nvPr/>
        </p:nvCxnSpPr>
        <p:spPr>
          <a:xfrm>
            <a:off x="5238750" y="3295650"/>
            <a:ext cx="32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5" name="Google Shape;365;p60"/>
          <p:cNvCxnSpPr/>
          <p:nvPr/>
        </p:nvCxnSpPr>
        <p:spPr>
          <a:xfrm>
            <a:off x="8810172" y="3186113"/>
            <a:ext cx="0" cy="219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1"/>
          <p:cNvSpPr/>
          <p:nvPr/>
        </p:nvSpPr>
        <p:spPr>
          <a:xfrm>
            <a:off x="1115737" y="1370848"/>
            <a:ext cx="69912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77900" lvl="0" marL="977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arenR"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many moles of NaCl are contained in 250.0 mL of a solution with a concentration of 1.25 M?</a:t>
            </a:r>
            <a:endParaRPr/>
          </a:p>
        </p:txBody>
      </p:sp>
      <p:sp>
        <p:nvSpPr>
          <p:cNvPr id="371" name="Google Shape;371;p61"/>
          <p:cNvSpPr txBox="1"/>
          <p:nvPr/>
        </p:nvSpPr>
        <p:spPr>
          <a:xfrm>
            <a:off x="6605875" y="3658675"/>
            <a:ext cx="2042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Answers - Solutions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/>
          <p:nvPr/>
        </p:nvSpPr>
        <p:spPr>
          <a:xfrm>
            <a:off x="812800" y="1508210"/>
            <a:ext cx="78105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77900" lvl="0" marL="977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 startAt="2"/>
            </a:pPr>
            <a:r>
              <a:rPr b="0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grams of KCl are needed to prepare 0.750 L of a 1.50 M solution?</a:t>
            </a:r>
            <a:endParaRPr/>
          </a:p>
        </p:txBody>
      </p:sp>
      <p:sp>
        <p:nvSpPr>
          <p:cNvPr id="377" name="Google Shape;377;p62"/>
          <p:cNvSpPr txBox="1"/>
          <p:nvPr/>
        </p:nvSpPr>
        <p:spPr>
          <a:xfrm>
            <a:off x="6605875" y="3658675"/>
            <a:ext cx="2042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Answers - Solutions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/>
          <p:nvPr/>
        </p:nvSpPr>
        <p:spPr>
          <a:xfrm>
            <a:off x="502198" y="673038"/>
            <a:ext cx="7323600" cy="22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77900" lvl="0" marL="977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arenR" startAt="12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 any of the following that are homogeneous mixtures:  </a:t>
            </a:r>
            <a:endParaRPr/>
          </a:p>
          <a:p>
            <a:pPr indent="-571500" lvl="0" marL="1892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✧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water	</a:t>
            </a:r>
            <a:endParaRPr/>
          </a:p>
          <a:p>
            <a:pPr indent="-571500" lvl="0" marL="1892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✧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sugar 	  	</a:t>
            </a:r>
            <a:endParaRPr/>
          </a:p>
          <a:p>
            <a:pPr indent="-571500" lvl="0" marL="1892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✧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coffee		</a:t>
            </a:r>
            <a:endParaRPr/>
          </a:p>
          <a:p>
            <a:pPr indent="-571500" lvl="0" marL="18923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✧"/>
            </a:pPr>
            <a:r>
              <a:rPr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sand			</a:t>
            </a:r>
            <a:endParaRPr/>
          </a:p>
        </p:txBody>
      </p:sp>
      <p:sp>
        <p:nvSpPr>
          <p:cNvPr id="383" name="Google Shape;383;p63"/>
          <p:cNvSpPr txBox="1"/>
          <p:nvPr/>
        </p:nvSpPr>
        <p:spPr>
          <a:xfrm>
            <a:off x="3891901" y="1718935"/>
            <a:ext cx="50037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✧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aqueous KNO</a:t>
            </a:r>
            <a:r>
              <a:rPr baseline="-25000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solution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✧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sugar-water solution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✧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whole wheat bread	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✧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pitcher of Kool-Aid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63"/>
          <p:cNvSpPr txBox="1"/>
          <p:nvPr/>
        </p:nvSpPr>
        <p:spPr>
          <a:xfrm>
            <a:off x="6605875" y="3658675"/>
            <a:ext cx="2042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Answers - Solutions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stretch>
            <a:fillRect b="0" l="0" r="0" t="0"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/>
          <p:nvPr/>
        </p:nvSpPr>
        <p:spPr>
          <a:xfrm>
            <a:off x="416734" y="598748"/>
            <a:ext cx="8562300" cy="3959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025" lIns="82050" spcFirstLastPara="1" rIns="82050" wrap="square" tIns="41025">
            <a:no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AutoNum type="arabicParenR"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0.313 mol NaCl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8975" lvl="0" marL="688975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83.9 g KCl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4.00 M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salt and water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Sr(OH)</a:t>
            </a:r>
            <a:r>
              <a:rPr baseline="-25000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</a:t>
            </a:r>
            <a:r>
              <a:rPr baseline="-25000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</a:t>
            </a:r>
            <a:r>
              <a:rPr baseline="-25000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Sr</a:t>
            </a:r>
            <a:r>
              <a:rPr baseline="-25000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(PO</a:t>
            </a:r>
            <a:r>
              <a:rPr baseline="-25000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-25000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6 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</a:t>
            </a:r>
            <a:r>
              <a:rPr baseline="-25000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  <a:p>
            <a:pPr indent="-688975" lvl="0" marL="688975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salt = strontium phosphate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acid 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acid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acid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/>
          </a:p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arenR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aqueous KNO</a:t>
            </a:r>
            <a:r>
              <a:rPr baseline="-25000"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coffee, sugar-water, Kool=Aid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64"/>
          <p:cNvCxnSpPr/>
          <p:nvPr/>
        </p:nvCxnSpPr>
        <p:spPr>
          <a:xfrm>
            <a:off x="4267746" y="2076854"/>
            <a:ext cx="520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 - </a:t>
            </a:r>
            <a:endParaRPr/>
          </a:p>
        </p:txBody>
      </p:sp>
      <p:sp>
        <p:nvSpPr>
          <p:cNvPr id="400" name="Google Shape;400;p66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t/>
            </a:r>
            <a:endParaRPr sz="3600"/>
          </a:p>
        </p:txBody>
      </p:sp>
      <p:sp>
        <p:nvSpPr>
          <p:cNvPr id="401" name="Google Shape;401;p66"/>
          <p:cNvSpPr txBox="1"/>
          <p:nvPr/>
        </p:nvSpPr>
        <p:spPr>
          <a:xfrm>
            <a:off x="389850" y="4263200"/>
            <a:ext cx="82497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on your classmates (or yourself): Cool stuff, great accomplishments (or small ones), epic fails (or small ones), fun quotes etc - Post them to the side board!!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407" name="Google Shape;407;p67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3" name="Google Shape;413;p68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9" name="Google Shape;419;p69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425" name="Google Shape;425;p70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Bellwork</a:t>
            </a:r>
            <a:endParaRPr b="1" sz="3000"/>
          </a:p>
        </p:txBody>
      </p:sp>
      <p:sp>
        <p:nvSpPr>
          <p:cNvPr id="431" name="Google Shape;431;p71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1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437" name="Google Shape;437;p72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443" name="Google Shape;443;p73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9" name="Google Shape;449;p74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5" name="Google Shape;455;p75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461" name="Google Shape;461;p76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t/>
            </a:r>
            <a:endParaRPr sz="3600"/>
          </a:p>
        </p:txBody>
      </p:sp>
      <p:sp>
        <p:nvSpPr>
          <p:cNvPr id="462" name="Google Shape;462;p76"/>
          <p:cNvSpPr txBox="1"/>
          <p:nvPr/>
        </p:nvSpPr>
        <p:spPr>
          <a:xfrm>
            <a:off x="592500" y="416025"/>
            <a:ext cx="105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hgfre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 - </a:t>
            </a:r>
            <a:endParaRPr/>
          </a:p>
        </p:txBody>
      </p:sp>
      <p:sp>
        <p:nvSpPr>
          <p:cNvPr id="472" name="Google Shape;472;p78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t/>
            </a:r>
            <a:endParaRPr sz="3600"/>
          </a:p>
        </p:txBody>
      </p:sp>
      <p:sp>
        <p:nvSpPr>
          <p:cNvPr id="473" name="Google Shape;473;p78"/>
          <p:cNvSpPr txBox="1"/>
          <p:nvPr/>
        </p:nvSpPr>
        <p:spPr>
          <a:xfrm>
            <a:off x="389850" y="4263200"/>
            <a:ext cx="82497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on your classmates (or yourself): Cool stuff, great accomplishments (or small ones), epic fails (or small ones), fun quotes etc - Post them to the side board!!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479" name="Google Shape;479;p79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5" name="Google Shape;485;p80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91" name="Google Shape;491;p81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497" name="Google Shape;497;p82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Bellwork</a:t>
            </a:r>
            <a:endParaRPr b="1" sz="3000"/>
          </a:p>
        </p:txBody>
      </p:sp>
      <p:sp>
        <p:nvSpPr>
          <p:cNvPr id="503" name="Google Shape;503;p83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1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509" name="Google Shape;509;p84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515" name="Google Shape;515;p85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1" name="Google Shape;521;p86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7" name="Google Shape;527;p87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533" name="Google Shape;533;p88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 - </a:t>
            </a:r>
            <a:endParaRPr/>
          </a:p>
        </p:txBody>
      </p:sp>
      <p:sp>
        <p:nvSpPr>
          <p:cNvPr id="543" name="Google Shape;543;p90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t/>
            </a:r>
            <a:endParaRPr sz="3600"/>
          </a:p>
        </p:txBody>
      </p:sp>
      <p:sp>
        <p:nvSpPr>
          <p:cNvPr id="544" name="Google Shape;544;p90"/>
          <p:cNvSpPr txBox="1"/>
          <p:nvPr/>
        </p:nvSpPr>
        <p:spPr>
          <a:xfrm>
            <a:off x="389850" y="4263200"/>
            <a:ext cx="82497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on your classmates (or yourself): Cool stuff, great accomplishments (or small ones), epic fails (or small ones), fun quotes etc - Post them to the side board!!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550" name="Google Shape;550;p91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6" name="Google Shape;556;p92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2" name="Google Shape;562;p93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568" name="Google Shape;568;p94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Bellwork</a:t>
            </a:r>
            <a:endParaRPr b="1" sz="3000"/>
          </a:p>
        </p:txBody>
      </p:sp>
      <p:sp>
        <p:nvSpPr>
          <p:cNvPr id="574" name="Google Shape;574;p95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1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580" name="Google Shape;580;p96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586" name="Google Shape;586;p97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2" name="Google Shape;592;p98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8" name="Google Shape;598;p99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604" name="Google Shape;604;p100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 - </a:t>
            </a:r>
            <a:endParaRPr/>
          </a:p>
        </p:txBody>
      </p:sp>
      <p:sp>
        <p:nvSpPr>
          <p:cNvPr id="614" name="Google Shape;614;p102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t/>
            </a:r>
            <a:endParaRPr sz="3600"/>
          </a:p>
        </p:txBody>
      </p:sp>
      <p:sp>
        <p:nvSpPr>
          <p:cNvPr id="615" name="Google Shape;615;p102"/>
          <p:cNvSpPr txBox="1"/>
          <p:nvPr/>
        </p:nvSpPr>
        <p:spPr>
          <a:xfrm>
            <a:off x="389850" y="4263200"/>
            <a:ext cx="82497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on your classmates (or yourself): Cool stuff, great accomplishments (or small ones), epic fails (or small ones), fun quotes etc - Post them to the side board!!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621" name="Google Shape;621;p103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7" name="Google Shape;627;p104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3" name="Google Shape;633;p105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639" name="Google Shape;639;p106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Bellwork</a:t>
            </a:r>
            <a:endParaRPr b="1" sz="3000"/>
          </a:p>
        </p:txBody>
      </p:sp>
      <p:sp>
        <p:nvSpPr>
          <p:cNvPr id="645" name="Google Shape;645;p107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</a:rPr>
              <a:t>1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651" name="Google Shape;651;p108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657" name="Google Shape;657;p109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00FF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3" name="Google Shape;663;p110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Bellwork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9" name="Google Shape;669;p111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●"/>
            </a:pPr>
            <a:r>
              <a:t/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Bellwork</a:t>
            </a:r>
            <a:endParaRPr/>
          </a:p>
        </p:txBody>
      </p:sp>
      <p:sp>
        <p:nvSpPr>
          <p:cNvPr id="675" name="Google Shape;675;p112"/>
          <p:cNvSpPr txBox="1"/>
          <p:nvPr>
            <p:ph idx="1" type="body"/>
          </p:nvPr>
        </p:nvSpPr>
        <p:spPr>
          <a:xfrm>
            <a:off x="311700" y="1152475"/>
            <a:ext cx="63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