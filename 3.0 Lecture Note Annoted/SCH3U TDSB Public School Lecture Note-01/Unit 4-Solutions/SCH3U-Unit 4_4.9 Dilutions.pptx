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2.xml"/>
  <Override ContentType="application/vnd.openxmlformats-officedocument.themeOverride+xml" PartName="/ppt/theme/themeOverr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Cabin"/>
      <p:regular r:id="rId31"/>
      <p:bold r:id="rId32"/>
      <p:italic r:id="rId33"/>
      <p:boldItalic r:id="rId34"/>
    </p:embeddedFont>
    <p:embeddedFont>
      <p:font typeface="Corbel"/>
      <p:regular r:id="rId35"/>
      <p:bold r:id="rId36"/>
      <p:italic r:id="rId37"/>
      <p:boldItalic r:id="rId38"/>
    </p:embeddedFont>
    <p:embeddedFont>
      <p:font typeface="Questrial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bin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abin-italic.fntdata"/><Relationship Id="rId10" Type="http://schemas.openxmlformats.org/officeDocument/2006/relationships/slide" Target="slides/slide5.xml"/><Relationship Id="rId32" Type="http://schemas.openxmlformats.org/officeDocument/2006/relationships/font" Target="fonts/Cabin-bold.fntdata"/><Relationship Id="rId13" Type="http://schemas.openxmlformats.org/officeDocument/2006/relationships/slide" Target="slides/slide8.xml"/><Relationship Id="rId35" Type="http://schemas.openxmlformats.org/officeDocument/2006/relationships/font" Target="fonts/Corbel-regular.fntdata"/><Relationship Id="rId12" Type="http://schemas.openxmlformats.org/officeDocument/2006/relationships/slide" Target="slides/slide7.xml"/><Relationship Id="rId34" Type="http://schemas.openxmlformats.org/officeDocument/2006/relationships/font" Target="fonts/Cabin-boldItalic.fntdata"/><Relationship Id="rId15" Type="http://schemas.openxmlformats.org/officeDocument/2006/relationships/slide" Target="slides/slide10.xml"/><Relationship Id="rId37" Type="http://schemas.openxmlformats.org/officeDocument/2006/relationships/font" Target="fonts/Corbel-italic.fntdata"/><Relationship Id="rId14" Type="http://schemas.openxmlformats.org/officeDocument/2006/relationships/slide" Target="slides/slide9.xml"/><Relationship Id="rId36" Type="http://schemas.openxmlformats.org/officeDocument/2006/relationships/font" Target="fonts/Corbel-bold.fntdata"/><Relationship Id="rId17" Type="http://schemas.openxmlformats.org/officeDocument/2006/relationships/slide" Target="slides/slide12.xml"/><Relationship Id="rId39" Type="http://schemas.openxmlformats.org/officeDocument/2006/relationships/font" Target="fonts/Questrial-regular.fntdata"/><Relationship Id="rId16" Type="http://schemas.openxmlformats.org/officeDocument/2006/relationships/slide" Target="slides/slide11.xml"/><Relationship Id="rId38" Type="http://schemas.openxmlformats.org/officeDocument/2006/relationships/font" Target="fonts/Corbel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f9c74333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f9c7433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29005721e_0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29005721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429005721e_0_2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29005721e_0_1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29005721e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429005721e_0_1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29005721e_0_2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29005721e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429005721e_0_2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29005721e_0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29005721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429005721e_0_2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29005721e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2900572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429005721e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29005721e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29005721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429005721e_0_1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429005721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42900572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https://www.scientificamerican.com/article/fact-or-fiction-archimede/</a:t>
            </a:r>
            <a:endParaRPr/>
          </a:p>
        </p:txBody>
      </p:sp>
      <p:sp>
        <p:nvSpPr>
          <p:cNvPr id="195" name="Google Shape;195;g429005721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29005721e_0_1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29005721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429005721e_0_1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072f04052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6072f0405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26072f04052_0_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6072f04052_0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6072f0405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26072f04052_0_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a55cdf2ff9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a55cdf2ff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a55cdf2ff9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a55cdf2ff9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a55cdf2ff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2a55cdf2ff9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9deec4ab8a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9deec4ab8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29deec4ab8a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a55cdf2ff9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a55cdf2ff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2a55cdf2ff9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9deec4ab8a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9deec4ab8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9deec4ab8a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9deec4ab8a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9deec4ab8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9deec4ab8a_0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a55cdf2ff9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a55cdf2ff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a55cdf2ff9_0_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9deec4ab8a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9deec4ab8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9deec4ab8a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6072f04052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6072f0405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26072f04052_0_10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429005721e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429005721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429005721e_0_1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6072f04052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6072f0405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26072f04052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20d8824dd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20d8824d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120d8824dd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a55cdf2ff9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a55cdf2ff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2a55cdf2ff9_0_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429005721e_0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429005721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429005721e_0_1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" type="body"/>
          </p:nvPr>
        </p:nvSpPr>
        <p:spPr>
          <a:xfrm>
            <a:off x="456480" y="1331780"/>
            <a:ext cx="8231100" cy="3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116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2640960" y="4857271"/>
            <a:ext cx="5508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456480" y="114492"/>
            <a:ext cx="823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457200" y="1330453"/>
            <a:ext cx="40386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7084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◼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6576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16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E66C7D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6BB76D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E88651"/>
              </a:buClr>
              <a:buSzPts val="1800"/>
              <a:buFont typeface="Noto Sans Symbols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2" type="body"/>
          </p:nvPr>
        </p:nvSpPr>
        <p:spPr>
          <a:xfrm>
            <a:off x="4648200" y="1330453"/>
            <a:ext cx="40386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7084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◼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6576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16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E66C7D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6BB76D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E88651"/>
              </a:buClr>
              <a:buSzPts val="1800"/>
              <a:buFont typeface="Noto Sans Symbols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2640960" y="4857271"/>
            <a:ext cx="5508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1"/>
            <a:ext cx="9144000" cy="3851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0" y="3846284"/>
            <a:ext cx="9144000" cy="34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" name="Google Shape;33;p4"/>
          <p:cNvSpPr txBox="1"/>
          <p:nvPr>
            <p:ph type="ctrTitle"/>
          </p:nvPr>
        </p:nvSpPr>
        <p:spPr>
          <a:xfrm>
            <a:off x="685800" y="2516887"/>
            <a:ext cx="80772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7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685800" y="1371600"/>
            <a:ext cx="80772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20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12653" lvl="1" marL="457153" marR="0" rtl="0" algn="ctr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None/>
              <a:defRPr b="0" i="0" sz="2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12605" lvl="2" marL="914305" marR="0" rtl="0" algn="ctr">
              <a:spcBef>
                <a:spcPts val="48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12557" lvl="3" marL="1371458" marR="0" rtl="0" algn="ctr">
              <a:spcBef>
                <a:spcPts val="40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12510" lvl="4" marL="1828610" marR="0" rtl="0" algn="ctr">
              <a:spcBef>
                <a:spcPts val="40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12462" lvl="5" marL="2285763" marR="0" rtl="0" algn="ctr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12414" lvl="6" marL="2742915" marR="0" rtl="0" algn="ctr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368" lvl="7" marL="3200068" marR="0" rtl="0" algn="ctr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12320" lvl="8" marL="3657220" marR="0" rtl="0" algn="ctr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2640960" y="4857271"/>
            <a:ext cx="5508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0"/>
            <a:ext cx="9144000" cy="1951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1951765"/>
            <a:ext cx="9144000" cy="34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749808" y="89154"/>
            <a:ext cx="80133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7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740664" y="1371600"/>
            <a:ext cx="80223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20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2640960" y="4857271"/>
            <a:ext cx="5508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456480" y="114492"/>
            <a:ext cx="823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457200" y="1274240"/>
            <a:ext cx="40401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1" i="0" sz="2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457200" y="1837135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052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29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E66C7D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6BB76D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E8865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3" type="body"/>
          </p:nvPr>
        </p:nvSpPr>
        <p:spPr>
          <a:xfrm>
            <a:off x="4645025" y="1274240"/>
            <a:ext cx="40419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1" i="0" sz="2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4" type="body"/>
          </p:nvPr>
        </p:nvSpPr>
        <p:spPr>
          <a:xfrm>
            <a:off x="4645025" y="1837135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052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29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E66C7D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6BB76D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E8865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2640960" y="4857271"/>
            <a:ext cx="5508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6480" y="114492"/>
            <a:ext cx="823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2640960" y="4857271"/>
            <a:ext cx="5508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2640960" y="4857271"/>
            <a:ext cx="5508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2855520" y="0"/>
            <a:ext cx="46200" cy="109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2855520" y="0"/>
            <a:ext cx="46200" cy="109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167838" y="114300"/>
            <a:ext cx="25236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3019378" y="1307350"/>
            <a:ext cx="5920500" cy="3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116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167839" y="1297514"/>
            <a:ext cx="2469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2640960" y="4857271"/>
            <a:ext cx="5508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>
            <a:off x="2855520" y="0"/>
            <a:ext cx="462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2855520" y="0"/>
            <a:ext cx="462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" name="Google Shape;76;p10"/>
          <p:cNvSpPr txBox="1"/>
          <p:nvPr>
            <p:ph type="title"/>
          </p:nvPr>
        </p:nvSpPr>
        <p:spPr>
          <a:xfrm>
            <a:off x="164592" y="116586"/>
            <a:ext cx="25251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7" name="Google Shape;77;p10"/>
          <p:cNvSpPr/>
          <p:nvPr>
            <p:ph idx="2" type="pic"/>
          </p:nvPr>
        </p:nvSpPr>
        <p:spPr>
          <a:xfrm>
            <a:off x="2903806" y="1113607"/>
            <a:ext cx="6247500" cy="4029900"/>
          </a:xfrm>
          <a:prstGeom prst="rect">
            <a:avLst/>
          </a:prstGeom>
          <a:solidFill>
            <a:srgbClr val="BABAB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12653" lvl="1" marL="457153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12605" lvl="2" marL="914305" marR="0" rtl="0" algn="l">
              <a:spcBef>
                <a:spcPts val="480"/>
              </a:spcBef>
              <a:spcAft>
                <a:spcPts val="0"/>
              </a:spcAft>
              <a:buClr>
                <a:srgbClr val="E66C7D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12557" lvl="3" marL="1371458" marR="0" rtl="0" algn="l">
              <a:spcBef>
                <a:spcPts val="400"/>
              </a:spcBef>
              <a:spcAft>
                <a:spcPts val="0"/>
              </a:spcAft>
              <a:buClr>
                <a:srgbClr val="6BB76D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12510" lvl="4" marL="1828610" marR="0" rtl="0" algn="l">
              <a:spcBef>
                <a:spcPts val="400"/>
              </a:spcBef>
              <a:spcAft>
                <a:spcPts val="0"/>
              </a:spcAft>
              <a:buClr>
                <a:srgbClr val="E88651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12462" lvl="5" marL="2285763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12414" lvl="6" marL="274291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368" lvl="7" marL="3200068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12320" lvl="8" marL="365722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164592" y="1296162"/>
            <a:ext cx="2469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164160" y="878132"/>
            <a:ext cx="2524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3035521" y="878132"/>
            <a:ext cx="5194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ABABA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8339041" y="878132"/>
            <a:ext cx="734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456480" y="114492"/>
            <a:ext cx="823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 rot="5400000">
            <a:off x="2837370" y="-1049170"/>
            <a:ext cx="3469200" cy="82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116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2640960" y="4857271"/>
            <a:ext cx="5508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/>
          <p:nvPr/>
        </p:nvSpPr>
        <p:spPr>
          <a:xfrm>
            <a:off x="6599520" y="0"/>
            <a:ext cx="447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108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6647041" y="0"/>
            <a:ext cx="25158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 rot="5400000">
            <a:off x="5539950" y="1447831"/>
            <a:ext cx="43887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 rot="5400000">
            <a:off x="1272750" y="-586949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116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2640960" y="4782742"/>
            <a:ext cx="383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1160" lvl="0" marL="457200" rtl="0">
              <a:spcBef>
                <a:spcPts val="0"/>
              </a:spcBef>
              <a:spcAft>
                <a:spcPts val="0"/>
              </a:spcAft>
              <a:buSzPts val="2560"/>
              <a:buChar char="◼"/>
              <a:defRPr/>
            </a:lvl1pPr>
            <a:lvl2pPr indent="-388619" lvl="1" marL="914400" rtl="0">
              <a:spcBef>
                <a:spcPts val="560"/>
              </a:spcBef>
              <a:spcAft>
                <a:spcPts val="0"/>
              </a:spcAft>
              <a:buSzPts val="2520"/>
              <a:buChar char="▪"/>
              <a:defRPr/>
            </a:lvl2pPr>
            <a:lvl3pPr indent="-381000" lvl="2" marL="1371600" rtl="0">
              <a:spcBef>
                <a:spcPts val="480"/>
              </a:spcBef>
              <a:spcAft>
                <a:spcPts val="0"/>
              </a:spcAft>
              <a:buSzPts val="2400"/>
              <a:buChar char="▪"/>
              <a:defRPr/>
            </a:lvl3pPr>
            <a:lvl4pPr indent="-355600" lvl="3" marL="1828800" rtl="0">
              <a:spcBef>
                <a:spcPts val="400"/>
              </a:spcBef>
              <a:spcAft>
                <a:spcPts val="0"/>
              </a:spcAft>
              <a:buSzPts val="2000"/>
              <a:buChar char="▪"/>
              <a:defRPr/>
            </a:lvl4pPr>
            <a:lvl5pPr indent="-355600" lvl="4" marL="22860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5pPr>
            <a:lvl6pPr indent="-355600" lvl="5" marL="2743200" rtl="0">
              <a:spcBef>
                <a:spcPts val="400"/>
              </a:spcBef>
              <a:spcAft>
                <a:spcPts val="0"/>
              </a:spcAft>
              <a:buSzPts val="2000"/>
              <a:buChar char="⚫"/>
              <a:defRPr/>
            </a:lvl6pPr>
            <a:lvl7pPr indent="-342900" lvl="6" marL="3200400" rtl="0">
              <a:spcBef>
                <a:spcPts val="360"/>
              </a:spcBef>
              <a:spcAft>
                <a:spcPts val="0"/>
              </a:spcAft>
              <a:buSzPts val="1800"/>
              <a:buChar char="⚫"/>
              <a:defRPr/>
            </a:lvl7pPr>
            <a:lvl8pPr indent="-342900" lvl="7" marL="3657600" rtl="0">
              <a:spcBef>
                <a:spcPts val="360"/>
              </a:spcBef>
              <a:spcAft>
                <a:spcPts val="0"/>
              </a:spcAft>
              <a:buSzPts val="1800"/>
              <a:buChar char="⚫"/>
              <a:defRPr/>
            </a:lvl8pPr>
            <a:lvl9pPr indent="-342900" lvl="8" marL="4114800" rtl="0">
              <a:spcBef>
                <a:spcPts val="360"/>
              </a:spcBef>
              <a:spcAft>
                <a:spcPts val="0"/>
              </a:spcAft>
              <a:buSzPts val="1800"/>
              <a:buChar char="⚫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b" bIns="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6" name="Google Shape;10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4" name="Google Shape;134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1076873"/>
            <a:ext cx="9144000" cy="34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0"/>
            <a:ext cx="9144000" cy="1075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456480" y="114492"/>
            <a:ext cx="823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8325" lvl="5" marL="41472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951" lvl="6" marL="82945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12278" lvl="7" marL="124417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7903" lvl="8" marL="165890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 u="none" cap="none" strike="noStrike">
                <a:solidFill>
                  <a:srgbClr val="FFC8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6480" y="1331780"/>
            <a:ext cx="8231100" cy="3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116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66C7D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6BB76D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865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56481" y="4857271"/>
            <a:ext cx="21342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2640960" y="4857271"/>
            <a:ext cx="5508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8203681" y="4857271"/>
            <a:ext cx="7344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  <a:defRPr b="0" i="0" sz="1200" u="none" cap="none" strike="noStrike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  <a:defRPr b="0" i="0" sz="1200" u="none" cap="none" strike="noStrike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  <a:defRPr b="0" i="0" sz="1200" u="none" cap="none" strike="noStrike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  <a:defRPr b="0" i="0" sz="1200" u="none" cap="none" strike="noStrike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  <a:defRPr b="0" i="0" sz="1200" u="none" cap="none" strike="noStrike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  <a:defRPr b="0" i="0" sz="1200" u="none" cap="none" strike="noStrike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  <a:defRPr b="0" i="0" sz="1200" u="none" cap="none" strike="noStrike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  <a:defRPr b="0" i="0" sz="1200" u="none" cap="none" strike="noStrike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  <a:defRPr b="0" i="0" sz="1200" u="none" cap="none" strike="noStrike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7.xml"/><Relationship Id="rId4" Type="http://schemas.openxmlformats.org/officeDocument/2006/relationships/slide" Target="/ppt/slides/slide9.xml"/><Relationship Id="rId5" Type="http://schemas.openxmlformats.org/officeDocument/2006/relationships/slide" Target="/ppt/slides/slide21.xml"/><Relationship Id="rId6" Type="http://schemas.openxmlformats.org/officeDocument/2006/relationships/slide" Target="/ppt/slides/slide2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hyperlink" Target="http://www.youtube.com/watch?v=QYK3Aj-IUIs" TargetMode="External"/><Relationship Id="rId5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ctrTitle"/>
          </p:nvPr>
        </p:nvSpPr>
        <p:spPr>
          <a:xfrm>
            <a:off x="311700" y="270475"/>
            <a:ext cx="8520600" cy="1771200"/>
          </a:xfrm>
          <a:prstGeom prst="rect">
            <a:avLst/>
          </a:prstGeom>
          <a:solidFill>
            <a:srgbClr val="FFF2CC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ONE PERSON IN GROUP-&gt; CLICK USE TEMPLATE</a:t>
            </a:r>
            <a:endParaRPr sz="4800"/>
          </a:p>
        </p:txBody>
      </p:sp>
      <p:sp>
        <p:nvSpPr>
          <p:cNvPr id="150" name="Google Shape;150;p26"/>
          <p:cNvSpPr txBox="1"/>
          <p:nvPr>
            <p:ph idx="1" type="subTitle"/>
          </p:nvPr>
        </p:nvSpPr>
        <p:spPr>
          <a:xfrm>
            <a:off x="78525" y="2238000"/>
            <a:ext cx="8886600" cy="26829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FF"/>
                </a:solidFill>
              </a:rPr>
              <a:t>WHEN THE COPIED TEMPLATE OF THESE SLIDES OPENS IN A NEW TAB:</a:t>
            </a:r>
            <a:endParaRPr sz="2000">
              <a:solidFill>
                <a:srgbClr val="FF00F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000"/>
              <a:buChar char="●"/>
            </a:pPr>
            <a:r>
              <a:rPr lang="en-GB" sz="2000">
                <a:solidFill>
                  <a:srgbClr val="FF00FF"/>
                </a:solidFill>
              </a:rPr>
              <a:t>ADD YOUR Group NAME TO THE TITLE </a:t>
            </a:r>
            <a:endParaRPr sz="2000">
              <a:solidFill>
                <a:srgbClr val="FF00F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000"/>
              <a:buChar char="●"/>
            </a:pPr>
            <a:r>
              <a:rPr lang="en-GB" sz="2000">
                <a:solidFill>
                  <a:srgbClr val="FF00FF"/>
                </a:solidFill>
              </a:rPr>
              <a:t>SHARE WITH GROUP MEMBERS (USE SHARE BUTTON)</a:t>
            </a:r>
            <a:endParaRPr sz="2000">
              <a:solidFill>
                <a:srgbClr val="FF00F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000"/>
              <a:buChar char="●"/>
            </a:pPr>
            <a:r>
              <a:rPr lang="en-GB" sz="2000">
                <a:solidFill>
                  <a:srgbClr val="FF00FF"/>
                </a:solidFill>
              </a:rPr>
              <a:t>COPY THE TITLE AND LINK TO YOUR RECORDS (Digital folder/table of contents)</a:t>
            </a:r>
            <a:endParaRPr sz="2000">
              <a:solidFill>
                <a:srgbClr val="FF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ACC3"/>
              </a:buClr>
              <a:buSzPts val="1800"/>
              <a:buChar char="●"/>
            </a:pPr>
            <a:r>
              <a:rPr lang="en-GB" sz="1800">
                <a:solidFill>
                  <a:srgbClr val="00ACC3"/>
                </a:solidFill>
              </a:rPr>
              <a:t>Remember it is advisable to make a PERSONAL copy and link it when DONE</a:t>
            </a:r>
            <a:endParaRPr sz="1800">
              <a:solidFill>
                <a:srgbClr val="00ACC3"/>
              </a:solidFill>
            </a:endParaRPr>
          </a:p>
        </p:txBody>
      </p:sp>
      <p:cxnSp>
        <p:nvCxnSpPr>
          <p:cNvPr id="151" name="Google Shape;151;p26"/>
          <p:cNvCxnSpPr/>
          <p:nvPr/>
        </p:nvCxnSpPr>
        <p:spPr>
          <a:xfrm flipH="1" rot="10800000">
            <a:off x="8310750" y="475525"/>
            <a:ext cx="693600" cy="1361100"/>
          </a:xfrm>
          <a:prstGeom prst="straightConnector1">
            <a:avLst/>
          </a:prstGeom>
          <a:noFill/>
          <a:ln cap="flat" cmpd="sng" w="15240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ctrTitle"/>
          </p:nvPr>
        </p:nvSpPr>
        <p:spPr>
          <a:xfrm>
            <a:off x="711650" y="1857787"/>
            <a:ext cx="8077200" cy="12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Dilutions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ESSENTIAL QUESTIONS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456450" y="1173149"/>
            <a:ext cx="8231100" cy="4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Remember, you should be able to thoroughly answer these AFTER learning through following resources.</a:t>
            </a:r>
            <a:endParaRPr b="1" sz="2400">
              <a:solidFill>
                <a:srgbClr val="FF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abin"/>
              <a:buChar char="◼"/>
            </a:pPr>
            <a:r>
              <a:rPr b="1" lang="en-GB" sz="2400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rPr>
              <a:t>How can we calculate dilutions and concentrations we need in the lab?</a:t>
            </a:r>
            <a:endParaRPr b="1" sz="2400">
              <a:solidFill>
                <a:srgbClr val="43434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abin"/>
              <a:buChar char="◼"/>
            </a:pPr>
            <a:r>
              <a:rPr b="1" lang="en-GB" sz="2400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rPr>
              <a:t>How can we safely prepare dilutions for our needs?</a:t>
            </a:r>
            <a:endParaRPr b="1" sz="2400">
              <a:solidFill>
                <a:srgbClr val="43434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Instructions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456450" y="1056174"/>
            <a:ext cx="8231100" cy="40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latin typeface="Questrial"/>
                <a:ea typeface="Questrial"/>
                <a:cs typeface="Questrial"/>
                <a:sym typeface="Questrial"/>
              </a:rPr>
              <a:t>Follow through the </a:t>
            </a:r>
            <a:r>
              <a:rPr b="1" lang="en-GB" sz="2400">
                <a:highlight>
                  <a:srgbClr val="FFFF00"/>
                </a:highlight>
                <a:latin typeface="Questrial"/>
                <a:ea typeface="Questrial"/>
                <a:cs typeface="Questrial"/>
                <a:sym typeface="Questrial"/>
              </a:rPr>
              <a:t>Engage to Apply </a:t>
            </a:r>
            <a:r>
              <a:rPr b="1" lang="en-GB" sz="2400">
                <a:latin typeface="Questrial"/>
                <a:ea typeface="Questrial"/>
                <a:cs typeface="Questrial"/>
                <a:sym typeface="Questrial"/>
              </a:rPr>
              <a:t>resources in order . </a:t>
            </a:r>
            <a:endParaRPr b="1" sz="2400">
              <a:latin typeface="Questrial"/>
              <a:ea typeface="Questrial"/>
              <a:cs typeface="Questrial"/>
              <a:sym typeface="Quest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estrial"/>
              <a:buChar char="●"/>
            </a:pPr>
            <a:r>
              <a:rPr b="1" lang="en-GB" sz="2400">
                <a:latin typeface="Questrial"/>
                <a:ea typeface="Questrial"/>
                <a:cs typeface="Questrial"/>
                <a:sym typeface="Questrial"/>
              </a:rPr>
              <a:t>Once complete, choose from Extend resources as interested. </a:t>
            </a:r>
            <a:endParaRPr b="1" sz="2400">
              <a:latin typeface="Questrial"/>
              <a:ea typeface="Questrial"/>
              <a:cs typeface="Questrial"/>
              <a:sym typeface="Quest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estrial"/>
              <a:buChar char="●"/>
            </a:pPr>
            <a:r>
              <a:rPr b="1" lang="en-GB" sz="2400">
                <a:latin typeface="Questrial"/>
                <a:ea typeface="Questrial"/>
                <a:cs typeface="Questrial"/>
                <a:sym typeface="Questrial"/>
              </a:rPr>
              <a:t>Record your learning in your </a:t>
            </a:r>
            <a:r>
              <a:rPr b="1" lang="en-GB" sz="2400">
                <a:highlight>
                  <a:srgbClr val="FFFF00"/>
                </a:highlight>
                <a:latin typeface="Questrial"/>
                <a:ea typeface="Questrial"/>
                <a:cs typeface="Questrial"/>
                <a:sym typeface="Questrial"/>
              </a:rPr>
              <a:t>these slides- Remember to keep track of where to find these slides for studying!</a:t>
            </a:r>
            <a:endParaRPr b="1" sz="2400">
              <a:highlight>
                <a:srgbClr val="FFFF00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estrial"/>
              <a:buChar char="●"/>
            </a:pPr>
            <a:r>
              <a:rPr b="1" lang="en-GB" sz="2400">
                <a:latin typeface="Questrial"/>
                <a:ea typeface="Questrial"/>
                <a:cs typeface="Questrial"/>
                <a:sym typeface="Questrial"/>
              </a:rPr>
              <a:t>Complete the  </a:t>
            </a:r>
            <a:r>
              <a:rPr b="1" lang="en-GB" sz="2400">
                <a:highlight>
                  <a:srgbClr val="FFFF00"/>
                </a:highlight>
                <a:latin typeface="Questrial"/>
                <a:ea typeface="Questrial"/>
                <a:cs typeface="Questrial"/>
                <a:sym typeface="Questrial"/>
              </a:rPr>
              <a:t>Essential Questions Response in the Apply Section</a:t>
            </a:r>
            <a:r>
              <a:rPr b="1" lang="en-GB" sz="2400">
                <a:latin typeface="Questrial"/>
                <a:ea typeface="Questrial"/>
                <a:cs typeface="Questrial"/>
                <a:sym typeface="Questrial"/>
              </a:rPr>
              <a:t>. </a:t>
            </a:r>
            <a:endParaRPr b="1" sz="2400">
              <a:latin typeface="Questrial"/>
              <a:ea typeface="Questrial"/>
              <a:cs typeface="Questrial"/>
              <a:sym typeface="Quest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Questrial"/>
              <a:buChar char="●"/>
            </a:pPr>
            <a:r>
              <a:rPr b="1" lang="en-GB" sz="2400">
                <a:latin typeface="Questrial"/>
                <a:ea typeface="Questrial"/>
                <a:cs typeface="Questrial"/>
                <a:sym typeface="Questrial"/>
              </a:rPr>
              <a:t>Try the Extend section and optional Apply practice as desired to deepen your understanding</a:t>
            </a:r>
            <a:endParaRPr b="1" sz="2400"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Hyperdoc Elements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456480" y="1331780"/>
            <a:ext cx="8231100" cy="34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for quick access to:</a:t>
            </a:r>
            <a:endParaRPr/>
          </a:p>
          <a:p>
            <a:pPr indent="-391160" lvl="0" marL="457200" rtl="0" algn="l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en-GB" u="sng">
                <a:solidFill>
                  <a:schemeClr val="hlink"/>
                </a:solidFill>
                <a:hlinkClick action="ppaction://hlinksldjump" r:id="rId3"/>
              </a:rPr>
              <a:t>Engage</a:t>
            </a:r>
            <a:endParaRPr/>
          </a:p>
          <a:p>
            <a:pPr indent="-391160" lvl="0" marL="457200" rtl="0" algn="l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en-GB" u="sng">
                <a:solidFill>
                  <a:schemeClr val="hlink"/>
                </a:solidFill>
                <a:hlinkClick/>
              </a:rPr>
              <a:t>Explore</a:t>
            </a:r>
            <a:endParaRPr/>
          </a:p>
          <a:p>
            <a:pPr indent="-391160" lvl="0" marL="457200" rtl="0" algn="l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en-GB" u="sng">
                <a:solidFill>
                  <a:schemeClr val="hlink"/>
                </a:solidFill>
                <a:hlinkClick action="ppaction://hlinksldjump" r:id="rId4"/>
              </a:rPr>
              <a:t>Explain</a:t>
            </a:r>
            <a:endParaRPr/>
          </a:p>
          <a:p>
            <a:pPr indent="-391160" lvl="0" marL="457200" rtl="0" algn="l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en-GB" u="sng">
                <a:solidFill>
                  <a:schemeClr val="hlink"/>
                </a:solidFill>
                <a:hlinkClick action="ppaction://hlinksldjump" r:id="rId5"/>
              </a:rPr>
              <a:t>Apply</a:t>
            </a:r>
            <a:endParaRPr/>
          </a:p>
          <a:p>
            <a:pPr indent="-391160" lvl="0" marL="457200" rtl="0" algn="l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en-GB" u="sng">
                <a:solidFill>
                  <a:schemeClr val="hlink"/>
                </a:solidFill>
                <a:hlinkClick action="ppaction://hlinksldjump" r:id="rId6"/>
              </a:rPr>
              <a:t>Extend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Terminology - As you encounter terms new to you, define in your own words here, include examples (make them up!)</a:t>
            </a:r>
            <a:endParaRPr sz="2400"/>
          </a:p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456480" y="1331780"/>
            <a:ext cx="8231100" cy="34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ctrTitle"/>
          </p:nvPr>
        </p:nvSpPr>
        <p:spPr>
          <a:xfrm>
            <a:off x="776250" y="1944312"/>
            <a:ext cx="8077200" cy="12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/>
              <a:t>Part 1: </a:t>
            </a:r>
            <a:r>
              <a:rPr lang="en-GB" sz="7200"/>
              <a:t>ENGAGE</a:t>
            </a:r>
            <a:endParaRPr sz="7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Explore - Part A: 5 minutes</a:t>
            </a:r>
            <a:endParaRPr/>
          </a:p>
        </p:txBody>
      </p:sp>
      <p:sp>
        <p:nvSpPr>
          <p:cNvPr id="198" name="Google Shape;198;p33"/>
          <p:cNvSpPr txBox="1"/>
          <p:nvPr/>
        </p:nvSpPr>
        <p:spPr>
          <a:xfrm>
            <a:off x="246275" y="1557950"/>
            <a:ext cx="4066200" cy="17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Make two observations &amp; one inference about the image on the right:</a:t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Observations:</a:t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Inference:</a:t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99" name="Google Shape;199;p33"/>
          <p:cNvPicPr preferRelativeResize="0"/>
          <p:nvPr/>
        </p:nvPicPr>
        <p:blipFill rotWithShape="1">
          <a:blip r:embed="rId3">
            <a:alphaModFix/>
          </a:blip>
          <a:srcRect b="1605" l="18832" r="20905" t="22996"/>
          <a:stretch/>
        </p:blipFill>
        <p:spPr>
          <a:xfrm>
            <a:off x="4312475" y="1557950"/>
            <a:ext cx="4552026" cy="32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ctrTitle"/>
          </p:nvPr>
        </p:nvSpPr>
        <p:spPr>
          <a:xfrm>
            <a:off x="776250" y="1944312"/>
            <a:ext cx="8077200" cy="12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/>
              <a:t>Part 2: EXPLORE</a:t>
            </a:r>
            <a:endParaRPr sz="7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Explore - Preparing Solutions</a:t>
            </a: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46125" y="1231175"/>
            <a:ext cx="85266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246125" y="1231175"/>
            <a:ext cx="8617800" cy="3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Preparing solutions with known concentrations is an important skill in chemistry</a:t>
            </a:r>
            <a:endParaRPr sz="18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➢Prepared Solutions with </a:t>
            </a:r>
            <a:r>
              <a:rPr lang="en-GB" sz="1800" u="sng">
                <a:solidFill>
                  <a:schemeClr val="dk1"/>
                </a:solidFill>
              </a:rPr>
              <a:t>known concentrations</a:t>
            </a:r>
            <a:r>
              <a:rPr lang="en-GB" sz="1800">
                <a:solidFill>
                  <a:schemeClr val="dk1"/>
                </a:solidFill>
              </a:rPr>
              <a:t> - </a:t>
            </a:r>
            <a:r>
              <a:rPr b="1" lang="en-GB" sz="1800">
                <a:solidFill>
                  <a:schemeClr val="dk1"/>
                </a:solidFill>
              </a:rPr>
              <a:t>Standard Solution</a:t>
            </a:r>
            <a:endParaRPr b="1" sz="18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➢Purchased Solutions from a Chemical Provider - </a:t>
            </a:r>
            <a:r>
              <a:rPr b="1" lang="en-GB" sz="1800">
                <a:solidFill>
                  <a:schemeClr val="dk1"/>
                </a:solidFill>
              </a:rPr>
              <a:t>Stock Solution</a:t>
            </a:r>
            <a:endParaRPr b="1" sz="1800">
              <a:solidFill>
                <a:schemeClr val="dk1"/>
              </a:solidFill>
            </a:endParaRPr>
          </a:p>
          <a:p>
            <a:pPr indent="43180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○Both used for accurate stoichiometric calculations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There are two ways to prepare Standard Solutions:</a:t>
            </a:r>
            <a:endParaRPr sz="18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FF9900"/>
                </a:solidFill>
              </a:rPr>
              <a:t>1.</a:t>
            </a:r>
            <a:r>
              <a:rPr lang="en-GB" sz="1800">
                <a:solidFill>
                  <a:schemeClr val="dk1"/>
                </a:solidFill>
              </a:rPr>
              <a:t>Dissolving solid solutes in a Volume of water</a:t>
            </a:r>
            <a:endParaRPr sz="18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FF9900"/>
                </a:solidFill>
              </a:rPr>
              <a:t>2.</a:t>
            </a:r>
            <a:r>
              <a:rPr lang="en-GB" sz="1800">
                <a:solidFill>
                  <a:schemeClr val="dk1"/>
                </a:solidFill>
              </a:rPr>
              <a:t>Diluting a Stock Solution to a required Concentration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Explore - Glassware &amp; Tools</a:t>
            </a:r>
            <a:endParaRPr sz="4000"/>
          </a:p>
        </p:txBody>
      </p:sp>
      <p:sp>
        <p:nvSpPr>
          <p:cNvPr id="220" name="Google Shape;220;p36"/>
          <p:cNvSpPr txBox="1"/>
          <p:nvPr/>
        </p:nvSpPr>
        <p:spPr>
          <a:xfrm>
            <a:off x="457200" y="1418350"/>
            <a:ext cx="85266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Because solutions need to be </a:t>
            </a:r>
            <a:r>
              <a:rPr b="1" lang="en-GB" sz="1800">
                <a:solidFill>
                  <a:schemeClr val="dk1"/>
                </a:solidFill>
              </a:rPr>
              <a:t>accurate</a:t>
            </a:r>
            <a:r>
              <a:rPr lang="en-GB" sz="1800">
                <a:solidFill>
                  <a:schemeClr val="dk1"/>
                </a:solidFill>
              </a:rPr>
              <a:t> and </a:t>
            </a:r>
            <a:r>
              <a:rPr b="1" lang="en-GB" sz="1800">
                <a:solidFill>
                  <a:schemeClr val="dk1"/>
                </a:solidFill>
              </a:rPr>
              <a:t>reliable</a:t>
            </a:r>
            <a:r>
              <a:rPr lang="en-GB" sz="1800">
                <a:solidFill>
                  <a:schemeClr val="dk1"/>
                </a:solidFill>
              </a:rPr>
              <a:t>, there are special pieces of glassware we can use to prepare solutions: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b="1" lang="en-GB" sz="1800">
                <a:solidFill>
                  <a:schemeClr val="dk1"/>
                </a:solidFill>
              </a:rPr>
              <a:t>Volumetric Flask:</a:t>
            </a:r>
            <a:r>
              <a:rPr lang="en-GB" sz="1800">
                <a:solidFill>
                  <a:schemeClr val="dk1"/>
                </a:solidFill>
              </a:rPr>
              <a:t> a flask that measures a single volume </a:t>
            </a:r>
            <a:r>
              <a:rPr lang="en-GB" sz="1800" u="sng">
                <a:solidFill>
                  <a:schemeClr val="dk1"/>
                </a:solidFill>
              </a:rPr>
              <a:t>with very high accuracy</a:t>
            </a:r>
            <a:endParaRPr sz="1800" u="sng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b="1" lang="en-GB" sz="1800">
                <a:solidFill>
                  <a:schemeClr val="dk1"/>
                </a:solidFill>
              </a:rPr>
              <a:t>Graduated Cylinder:</a:t>
            </a:r>
            <a:r>
              <a:rPr lang="en-GB" sz="1800">
                <a:solidFill>
                  <a:schemeClr val="dk1"/>
                </a:solidFill>
              </a:rPr>
              <a:t> a piece of glassware with gradations, that can measure many volumes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b="1" lang="en-GB" sz="1800">
                <a:solidFill>
                  <a:schemeClr val="dk1"/>
                </a:solidFill>
              </a:rPr>
              <a:t>Pipette:</a:t>
            </a:r>
            <a:r>
              <a:rPr lang="en-GB" sz="1800">
                <a:solidFill>
                  <a:schemeClr val="dk1"/>
                </a:solidFill>
              </a:rPr>
              <a:t> a piece of glassware with gradations that can </a:t>
            </a:r>
            <a:r>
              <a:rPr lang="en-GB" sz="1800" u="sng">
                <a:solidFill>
                  <a:schemeClr val="dk1"/>
                </a:solidFill>
              </a:rPr>
              <a:t>measure volumes with high accuracy</a:t>
            </a:r>
            <a:endParaRPr sz="18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21" name="Google Shape;221;p36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6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Explore - Glassware &amp; Tools</a:t>
            </a:r>
            <a:endParaRPr sz="4000"/>
          </a:p>
        </p:txBody>
      </p:sp>
      <p:pic>
        <p:nvPicPr>
          <p:cNvPr id="229" name="Google Shape;229;p37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7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8150" y="1268486"/>
            <a:ext cx="7313194" cy="3782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Explore - Measuring Volumes</a:t>
            </a:r>
            <a:endParaRPr/>
          </a:p>
        </p:txBody>
      </p:sp>
      <p:pic>
        <p:nvPicPr>
          <p:cNvPr id="238" name="Google Shape;238;p38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8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8"/>
          <p:cNvSpPr txBox="1"/>
          <p:nvPr/>
        </p:nvSpPr>
        <p:spPr>
          <a:xfrm>
            <a:off x="172175" y="1385075"/>
            <a:ext cx="8640000" cy="17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When measuring </a:t>
            </a:r>
            <a:r>
              <a:rPr b="1" lang="en-GB" sz="1800">
                <a:solidFill>
                  <a:schemeClr val="dk1"/>
                </a:solidFill>
              </a:rPr>
              <a:t>volumes of liquids</a:t>
            </a:r>
            <a:r>
              <a:rPr lang="en-GB" sz="1800">
                <a:solidFill>
                  <a:schemeClr val="dk1"/>
                </a:solidFill>
              </a:rPr>
              <a:t>, it is important to consider the </a:t>
            </a:r>
            <a:r>
              <a:rPr b="1" lang="en-GB" sz="1800">
                <a:solidFill>
                  <a:schemeClr val="dk1"/>
                </a:solidFill>
              </a:rPr>
              <a:t>meniscus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marR="76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-GB" sz="1800">
                <a:solidFill>
                  <a:schemeClr val="dk1"/>
                </a:solidFill>
              </a:rPr>
              <a:t>When measuring liquids, </a:t>
            </a:r>
            <a:r>
              <a:rPr b="1" lang="en-GB" sz="1800" u="sng">
                <a:solidFill>
                  <a:schemeClr val="dk1"/>
                </a:solidFill>
              </a:rPr>
              <a:t>you must measure from the BOTTOM of the meniscus</a:t>
            </a:r>
            <a:endParaRPr b="1" sz="1800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41" name="Google Shape;24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689600"/>
            <a:ext cx="2819925" cy="188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8200" y="2405125"/>
            <a:ext cx="4145074" cy="264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Explore - Preparing Solutions</a:t>
            </a:r>
            <a:endParaRPr sz="4000"/>
          </a:p>
        </p:txBody>
      </p:sp>
      <p:pic>
        <p:nvPicPr>
          <p:cNvPr id="249" name="Google Shape;249;p39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9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9"/>
          <p:cNvSpPr txBox="1"/>
          <p:nvPr/>
        </p:nvSpPr>
        <p:spPr>
          <a:xfrm>
            <a:off x="179675" y="1302725"/>
            <a:ext cx="8610000" cy="28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Solutions with </a:t>
            </a:r>
            <a:r>
              <a:rPr b="1" lang="en-GB" sz="1800">
                <a:solidFill>
                  <a:schemeClr val="dk1"/>
                </a:solidFill>
              </a:rPr>
              <a:t>Solid Solutes</a:t>
            </a:r>
            <a:r>
              <a:rPr lang="en-GB" sz="1800">
                <a:solidFill>
                  <a:schemeClr val="dk1"/>
                </a:solidFill>
              </a:rPr>
              <a:t> can be prepared using the following steps: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>
                <a:solidFill>
                  <a:schemeClr val="dk1"/>
                </a:solidFill>
              </a:rPr>
              <a:t>Measure mass of solute using balance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>
                <a:solidFill>
                  <a:schemeClr val="dk1"/>
                </a:solidFill>
              </a:rPr>
              <a:t>Dissolve solute in water (less than total volume)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>
                <a:solidFill>
                  <a:schemeClr val="dk1"/>
                </a:solidFill>
              </a:rPr>
              <a:t>Pour mixture to </a:t>
            </a:r>
            <a:r>
              <a:rPr b="1" lang="en-GB" sz="1800">
                <a:solidFill>
                  <a:schemeClr val="dk1"/>
                </a:solidFill>
              </a:rPr>
              <a:t>volumetric flask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>
                <a:solidFill>
                  <a:schemeClr val="dk1"/>
                </a:solidFill>
              </a:rPr>
              <a:t>Rinse beaker with distilled water, and pour mixture into volumetric flask. Repeat this step twice.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>
                <a:solidFill>
                  <a:schemeClr val="dk1"/>
                </a:solidFill>
              </a:rPr>
              <a:t>Add solvent to correct volume.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>
                <a:solidFill>
                  <a:schemeClr val="dk1"/>
                </a:solidFill>
              </a:rPr>
              <a:t>Mix and store solution in container.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Explore - Preparing Solutions</a:t>
            </a:r>
            <a:endParaRPr sz="4000"/>
          </a:p>
        </p:txBody>
      </p:sp>
      <p:pic>
        <p:nvPicPr>
          <p:cNvPr id="258" name="Google Shape;258;p40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0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246011"/>
            <a:ext cx="8295528" cy="3782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457200" y="116575"/>
            <a:ext cx="84921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Explore - Solutions from Dilutions</a:t>
            </a:r>
            <a:endParaRPr sz="4000"/>
          </a:p>
        </p:txBody>
      </p:sp>
      <p:pic>
        <p:nvPicPr>
          <p:cNvPr id="267" name="Google Shape;267;p41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1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1"/>
          <p:cNvSpPr txBox="1"/>
          <p:nvPr/>
        </p:nvSpPr>
        <p:spPr>
          <a:xfrm>
            <a:off x="404300" y="1243275"/>
            <a:ext cx="84153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Highly concentrated</a:t>
            </a:r>
            <a:r>
              <a:rPr lang="en-GB" sz="1800">
                <a:solidFill>
                  <a:schemeClr val="dk1"/>
                </a:solidFill>
              </a:rPr>
              <a:t> solutions from a manufacturer are called </a:t>
            </a:r>
            <a:r>
              <a:rPr lang="en-GB" sz="1800" u="sng">
                <a:solidFill>
                  <a:schemeClr val="dk1"/>
                </a:solidFill>
              </a:rPr>
              <a:t>stock solutions</a:t>
            </a:r>
            <a:endParaRPr sz="1800" u="sng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➢Concentrations often </a:t>
            </a:r>
            <a:r>
              <a:rPr i="1" lang="en-GB" sz="1800">
                <a:solidFill>
                  <a:schemeClr val="dk1"/>
                </a:solidFill>
              </a:rPr>
              <a:t>too high</a:t>
            </a:r>
            <a:r>
              <a:rPr lang="en-GB" sz="1800">
                <a:solidFill>
                  <a:schemeClr val="dk1"/>
                </a:solidFill>
              </a:rPr>
              <a:t> for experiments</a:t>
            </a:r>
            <a:endParaRPr sz="18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➢diluted to useful concentrations by adding more solvent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70" name="Google Shape;27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5225" y="2581947"/>
            <a:ext cx="4350200" cy="2416025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1" name="Google Shape;271;p41"/>
          <p:cNvSpPr txBox="1"/>
          <p:nvPr/>
        </p:nvSpPr>
        <p:spPr>
          <a:xfrm>
            <a:off x="823550" y="3010625"/>
            <a:ext cx="30000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</a:t>
            </a:r>
            <a:r>
              <a:rPr b="1" lang="en-GB" sz="1800">
                <a:solidFill>
                  <a:schemeClr val="dk1"/>
                </a:solidFill>
              </a:rPr>
              <a:t>solution-dilution equation </a:t>
            </a:r>
            <a:r>
              <a:rPr lang="en-GB" sz="1800">
                <a:solidFill>
                  <a:schemeClr val="dk1"/>
                </a:solidFill>
              </a:rPr>
              <a:t>can help us determine how to dilute to get desired concentrations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277025" y="116575"/>
            <a:ext cx="87447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/>
              <a:t>Explore - Solution-Dilution Equation</a:t>
            </a:r>
            <a:endParaRPr sz="3400"/>
          </a:p>
        </p:txBody>
      </p:sp>
      <p:pic>
        <p:nvPicPr>
          <p:cNvPr id="278" name="Google Shape;278;p42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2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254" y="1199713"/>
            <a:ext cx="8296247" cy="299236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2"/>
          <p:cNvSpPr txBox="1"/>
          <p:nvPr/>
        </p:nvSpPr>
        <p:spPr>
          <a:xfrm>
            <a:off x="552050" y="4335625"/>
            <a:ext cx="8253900" cy="807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Discuss! Why does n</a:t>
            </a:r>
            <a:r>
              <a:rPr baseline="-25000" lang="en-GB" sz="2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lang="en-GB" sz="2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= n</a:t>
            </a:r>
            <a:r>
              <a:rPr baseline="-25000" lang="en-GB" sz="2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lang="en-GB" sz="2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? Remember you are DILUTING a volume (v</a:t>
            </a:r>
            <a:r>
              <a:rPr baseline="-25000" lang="en-GB" sz="2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lang="en-GB" sz="2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) of the stock to a new higher volume but lower concentration solution.</a:t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type="title"/>
          </p:nvPr>
        </p:nvSpPr>
        <p:spPr>
          <a:xfrm>
            <a:off x="277025" y="116575"/>
            <a:ext cx="87447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/>
              <a:t>Explore - Solution-Dilution Practice</a:t>
            </a:r>
            <a:endParaRPr sz="3400"/>
          </a:p>
        </p:txBody>
      </p:sp>
      <p:pic>
        <p:nvPicPr>
          <p:cNvPr id="288" name="Google Shape;288;p43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3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3"/>
          <p:cNvSpPr txBox="1"/>
          <p:nvPr/>
        </p:nvSpPr>
        <p:spPr>
          <a:xfrm>
            <a:off x="127275" y="1212875"/>
            <a:ext cx="87447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chemeClr val="dk1"/>
                </a:solidFill>
              </a:rPr>
              <a:t>Ms.K &amp; Dr. Loney want to prepare 2.00L of a 0.100M solution of HCl.  The concentration of the stock 12.0M.  What volume of stock HCl is needed to make this solution?</a:t>
            </a:r>
            <a:endParaRPr b="1" i="1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i="1" sz="1800">
              <a:solidFill>
                <a:srgbClr val="FF0000"/>
              </a:solidFill>
            </a:endParaRPr>
          </a:p>
        </p:txBody>
      </p:sp>
      <p:pic>
        <p:nvPicPr>
          <p:cNvPr id="291" name="Google Shape;29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025" y="2468325"/>
            <a:ext cx="8601562" cy="220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3"/>
          <p:cNvSpPr txBox="1"/>
          <p:nvPr/>
        </p:nvSpPr>
        <p:spPr>
          <a:xfrm>
            <a:off x="6594075" y="3720550"/>
            <a:ext cx="2284500" cy="7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 = 16.7mL</a:t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277025" y="116575"/>
            <a:ext cx="88212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/>
              <a:t>Explore - Labelling Solution Containers</a:t>
            </a:r>
            <a:endParaRPr sz="3700"/>
          </a:p>
        </p:txBody>
      </p:sp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4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4"/>
          <p:cNvSpPr txBox="1"/>
          <p:nvPr/>
        </p:nvSpPr>
        <p:spPr>
          <a:xfrm>
            <a:off x="246125" y="1231175"/>
            <a:ext cx="86409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Solutions should have the following information on their containers when stored:</a:t>
            </a:r>
            <a:endParaRPr sz="1800">
              <a:solidFill>
                <a:schemeClr val="dk1"/>
              </a:solidFill>
            </a:endParaRPr>
          </a:p>
          <a:p>
            <a:pPr indent="0" lvl="0" marL="12700" marR="635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➢Chemical name of solute</a:t>
            </a:r>
            <a:endParaRPr sz="1800">
              <a:solidFill>
                <a:schemeClr val="dk1"/>
              </a:solidFill>
            </a:endParaRPr>
          </a:p>
          <a:p>
            <a:pPr indent="0" lvl="0" marL="12700" marR="63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➢Concentration</a:t>
            </a:r>
            <a:endParaRPr sz="1800">
              <a:solidFill>
                <a:schemeClr val="dk1"/>
              </a:solidFill>
            </a:endParaRPr>
          </a:p>
          <a:p>
            <a:pPr indent="0" lvl="0" marL="12700" marR="63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➢Date prepared</a:t>
            </a:r>
            <a:endParaRPr sz="1800">
              <a:solidFill>
                <a:schemeClr val="dk1"/>
              </a:solidFill>
            </a:endParaRPr>
          </a:p>
          <a:p>
            <a:pPr indent="0" lvl="0" marL="12700" marR="63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➢Name of person who prepared the solution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02" name="Google Shape;30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2831" y="1613125"/>
            <a:ext cx="2671570" cy="33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type="title"/>
          </p:nvPr>
        </p:nvSpPr>
        <p:spPr>
          <a:xfrm>
            <a:off x="4572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Explore - Dissolving</a:t>
            </a:r>
            <a:endParaRPr/>
          </a:p>
        </p:txBody>
      </p:sp>
      <p:sp>
        <p:nvSpPr>
          <p:cNvPr id="309" name="Google Shape;309;p45"/>
          <p:cNvSpPr txBox="1"/>
          <p:nvPr/>
        </p:nvSpPr>
        <p:spPr>
          <a:xfrm>
            <a:off x="246125" y="1231175"/>
            <a:ext cx="85266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{Optional}</a:t>
            </a:r>
            <a:r>
              <a:rPr lang="en-GB" sz="2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For further help you can watch this video </a:t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10" name="Google Shape;310;p45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5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401625" y="1155100"/>
            <a:ext cx="640080" cy="7360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w those pesky moles are swimming! But how much solute is there? Let's learn about how we measure concentrations of solutions, and how to perform dilution calculations.&#10;&#10;Watch the whole General Chemistry playlist: http://bit.ly/ProfDaveGenChem&#10;&#10;More AP Chemistry review materials from me: bit.ly/URPDave&#10;&#10;Organic Chemistry Tutorials: http://bit.ly/ProfDaveOrgChem&#10;Biochemistry Tutorials: http://bit.ly/ProfDaveBiochem&#10;Biology Tutorials: http://bit.ly/ProfDaveBio&#10;Classical Physics Tutorials: http://bit.ly/ProfDavePhysics1&#10;Modern Physics Tutorials: http://bit.ly/ProfDavePhysics2&#10;Mathematics Tutorials: http://bit.ly/ProfDaveMaths&#10;&#10;EMAIL► ProfessorDaveExplains@gmail.com&#10;PATREON► http://patreon.com/ProfessorDaveExplains&#10;&#10;Check out &quot;Is This Wi-Fi Organic?&quot;, my book on disarming pseudoscience!&#10;Amazon: https://amzn.to/2HtNpVH&#10;Bookshop: https://bit.ly/39cKADM&#10; Barnes and Noble: https://bit.ly/3pUjmrn &#10;Book Depository: http://bit.ly/3aOVDlT" id="312" name="Google Shape;312;p45" title="Molarity and Dilution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7550" y="1714500"/>
            <a:ext cx="5425150" cy="305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"/>
          <p:cNvSpPr txBox="1"/>
          <p:nvPr>
            <p:ph type="ctrTitle"/>
          </p:nvPr>
        </p:nvSpPr>
        <p:spPr>
          <a:xfrm>
            <a:off x="776250" y="1944312"/>
            <a:ext cx="8077200" cy="12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/>
              <a:t>Part 3: Apply</a:t>
            </a:r>
            <a:endParaRPr sz="7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/>
          <p:nvPr>
            <p:ph type="title"/>
          </p:nvPr>
        </p:nvSpPr>
        <p:spPr>
          <a:xfrm>
            <a:off x="1397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Apply</a:t>
            </a:r>
            <a:r>
              <a:rPr lang="en-GB"/>
              <a:t>-  Complete the questions</a:t>
            </a:r>
            <a:endParaRPr/>
          </a:p>
        </p:txBody>
      </p:sp>
      <p:pic>
        <p:nvPicPr>
          <p:cNvPr id="325" name="Google Shape;325;p47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7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0175" y="46963"/>
            <a:ext cx="1078825" cy="10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7"/>
          <p:cNvSpPr txBox="1"/>
          <p:nvPr/>
        </p:nvSpPr>
        <p:spPr>
          <a:xfrm>
            <a:off x="179850" y="1310700"/>
            <a:ext cx="87843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100"/>
              <a:t>Show all your work! Include formulas, conversions, units, etc.</a:t>
            </a:r>
            <a:endParaRPr b="1" i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a lab, it requires 305mL of a 4M sugar solution.  The labs then tells you to add 695mL of water to the solution.  What is the final concentration of the sugar solution?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You want to create 375mL of a 0.450M solution of Sulfuric Acid.  If you have a stock solution of 12M solution, how many mL of the stock is required?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280mL of water is added to 50mL of a 2M solution of Lead Chloride.  What is the new concentration of the solution?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type="ctrTitle"/>
          </p:nvPr>
        </p:nvSpPr>
        <p:spPr>
          <a:xfrm>
            <a:off x="685800" y="2516887"/>
            <a:ext cx="8077200" cy="12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900"/>
              <a:t>Next few slides provide answers to activities</a:t>
            </a:r>
            <a:endParaRPr sz="3900"/>
          </a:p>
        </p:txBody>
      </p:sp>
      <p:sp>
        <p:nvSpPr>
          <p:cNvPr id="335" name="Google Shape;335;p48"/>
          <p:cNvSpPr txBox="1"/>
          <p:nvPr>
            <p:ph idx="1" type="subTitle"/>
          </p:nvPr>
        </p:nvSpPr>
        <p:spPr>
          <a:xfrm>
            <a:off x="685800" y="1371600"/>
            <a:ext cx="8077200" cy="11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type="title"/>
          </p:nvPr>
        </p:nvSpPr>
        <p:spPr>
          <a:xfrm>
            <a:off x="139700" y="116586"/>
            <a:ext cx="8229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Apply-  Complete the questions</a:t>
            </a:r>
            <a:endParaRPr/>
          </a:p>
        </p:txBody>
      </p:sp>
      <p:pic>
        <p:nvPicPr>
          <p:cNvPr id="342" name="Google Shape;342;p49"/>
          <p:cNvPicPr preferRelativeResize="0"/>
          <p:nvPr/>
        </p:nvPicPr>
        <p:blipFill rotWithShape="1">
          <a:blip r:embed="rId3">
            <a:alphaModFix/>
          </a:blip>
          <a:srcRect b="0" l="0" r="50332" t="0"/>
          <a:stretch/>
        </p:blipFill>
        <p:spPr>
          <a:xfrm>
            <a:off x="-1420537" y="902544"/>
            <a:ext cx="640080" cy="729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9"/>
          <p:cNvPicPr preferRelativeResize="0"/>
          <p:nvPr/>
        </p:nvPicPr>
        <p:blipFill rotWithShape="1">
          <a:blip r:embed="rId3">
            <a:alphaModFix/>
          </a:blip>
          <a:srcRect b="0" l="50332" r="0" t="0"/>
          <a:stretch/>
        </p:blipFill>
        <p:spPr>
          <a:xfrm>
            <a:off x="-1420525" y="1789325"/>
            <a:ext cx="640080" cy="73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0175" y="46963"/>
            <a:ext cx="1078825" cy="10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9"/>
          <p:cNvSpPr txBox="1"/>
          <p:nvPr/>
        </p:nvSpPr>
        <p:spPr>
          <a:xfrm>
            <a:off x="179850" y="1310700"/>
            <a:ext cx="87843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100"/>
              <a:t>Show all your work! Include formulas, conversions, units, etc.</a:t>
            </a:r>
            <a:endParaRPr b="1" i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a lab, it requires 305mL of a 4M sugar solution.  The labs then tells you to add 695mL of water to the solution.  What is the final concentration of the sugar solution? </a:t>
            </a:r>
            <a:r>
              <a:rPr lang="en-GB" sz="1800">
                <a:solidFill>
                  <a:srgbClr val="FF0000"/>
                </a:solidFill>
              </a:rPr>
              <a:t>Ans: 1.22M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You want to create 375mL of a 0.450M solution of Sulfuric Acid.  If you have a stock solution of 12M solution, how many mL of the stock is required? </a:t>
            </a:r>
            <a:r>
              <a:rPr lang="en-GB" sz="1800">
                <a:solidFill>
                  <a:srgbClr val="FF0000"/>
                </a:solidFill>
              </a:rPr>
              <a:t>Ans: 14ml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280m</a:t>
            </a:r>
            <a:r>
              <a:rPr lang="en-GB" sz="1800"/>
              <a:t>L of water is added to 50mL of a 2M solution of Lead Chloride.  What is the new concentration of the solution? </a:t>
            </a:r>
            <a:r>
              <a:rPr lang="en-GB" sz="1800">
                <a:solidFill>
                  <a:srgbClr val="FF0000"/>
                </a:solidFill>
              </a:rPr>
              <a:t>Ans: 0.3M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>
            <p:ph type="ctrTitle"/>
          </p:nvPr>
        </p:nvSpPr>
        <p:spPr>
          <a:xfrm>
            <a:off x="756825" y="853662"/>
            <a:ext cx="8077200" cy="12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0"/>
              <a:t>Part 5: Beyond the course extensions</a:t>
            </a:r>
            <a:endParaRPr sz="6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0"/>
              <a:t>{optional}</a:t>
            </a:r>
            <a:endParaRPr sz="6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ule">
  <a:themeElements>
    <a:clrScheme name="Module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 xmlns:r="http://schemas.openxmlformats.org/officeDocument/2006/relationships">
  <a:clrScheme name="Module">
    <a:dk1>
      <a:srgbClr val="000000"/>
    </a:dk1>
    <a:lt1>
      <a:srgbClr val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 xmlns:r="http://schemas.openxmlformats.org/officeDocument/2006/relationships">
  <a:clrScheme name="Module">
    <a:dk1>
      <a:srgbClr val="000000"/>
    </a:dk1>
    <a:lt1>
      <a:srgbClr val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