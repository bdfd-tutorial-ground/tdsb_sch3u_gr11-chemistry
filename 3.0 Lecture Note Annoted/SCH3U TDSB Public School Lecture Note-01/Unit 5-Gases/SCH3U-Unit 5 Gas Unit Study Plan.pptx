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Karl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94B11E-19B9-436E-848B-11610B1C1BB2}">
  <a:tblStyle styleId="{F894B11E-19B9-436E-848B-11610B1C1B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Karla-bold.fntdata"/><Relationship Id="rId27" Type="http://schemas.openxmlformats.org/officeDocument/2006/relationships/font" Target="fonts/Karl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Karl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Karl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5c8f1409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5c8f140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1f062c708a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1f062c70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53d790520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53d79052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0dbdaafe88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0dbdaafe8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5c8f14095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5c8f1409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5c8f14095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5c8f1409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85c8f14095_0_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85c8f1409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1f062c708a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1f062c708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5c8f14095_0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5c8f1409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0" name="Google Shape;10;p2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48300" y="3175950"/>
            <a:ext cx="35307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4" name="Google Shape;14;p3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1_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9" name="Google Shape;19;p4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ig image">
  <p:cSld name="TITLE_1_2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2092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4" name="Google Shape;24;p5"/>
          <p:cNvSpPr/>
          <p:nvPr/>
        </p:nvSpPr>
        <p:spPr>
          <a:xfrm>
            <a:off x="-193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8" name="Google Shape;28;p6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Google Shape;29;p6"/>
          <p:cNvSpPr txBox="1"/>
          <p:nvPr/>
        </p:nvSpPr>
        <p:spPr>
          <a:xfrm>
            <a:off x="799645" y="697675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38250" y="16573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Font typeface="Montserrat"/>
              <a:buChar char="▸"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3" name="Google Shape;33;p7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8" name="Google Shape;38;p8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841001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3673842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44" name="Google Shape;44;p9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841000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3043281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5245562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1" name="Google Shape;51;p10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5" name="Google Shape;55;p11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841000" y="4025300"/>
            <a:ext cx="7845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9" name="Google Shape;59;p12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BLANK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8BC34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41100"/>
            <a:ext cx="518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b="1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b="1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b="1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b="1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b="1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b="1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b="1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b="1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Montserrat"/>
              <a:buNone/>
              <a:defRPr b="1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52550"/>
            <a:ext cx="51852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▸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▹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▹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●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○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■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●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○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Karla"/>
              <a:buChar char="■"/>
              <a:defRPr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open?id=1Msb68nbRWydOgvR-jwQ1GzAi9a04AQTJ" TargetMode="External"/><Relationship Id="rId10" Type="http://schemas.openxmlformats.org/officeDocument/2006/relationships/hyperlink" Target="https://docs.google.com/document/d/1Vvh2qF7Ktm5JUSvttcCcDoQRoBzBGP3NpqIO5RZPJ98/edit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5.xml"/><Relationship Id="rId4" Type="http://schemas.openxmlformats.org/officeDocument/2006/relationships/slide" Target="/ppt/slides/slide6.xml"/><Relationship Id="rId9" Type="http://schemas.openxmlformats.org/officeDocument/2006/relationships/hyperlink" Target="https://drive.google.com/file/d/0BzCIvA_rN_d3ZEt3ak42amlaTVk/view?usp=sharing&amp;resourcekey=0-zCKi-xywLQ9t4wX2jhsp7g" TargetMode="External"/><Relationship Id="rId5" Type="http://schemas.openxmlformats.org/officeDocument/2006/relationships/slide" Target="/ppt/slides/slide7.xml"/><Relationship Id="rId6" Type="http://schemas.openxmlformats.org/officeDocument/2006/relationships/slide" Target="/ppt/slides/slide9.xml"/><Relationship Id="rId7" Type="http://schemas.openxmlformats.org/officeDocument/2006/relationships/slide" Target="/ppt/slides/slide10.xml"/><Relationship Id="rId8" Type="http://schemas.openxmlformats.org/officeDocument/2006/relationships/slide" Target="/ppt/slides/slide1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BCPpyIlOIUlR5a2y5tjaWXzlH0-krWIA/view?usp=sharing" TargetMode="External"/><Relationship Id="rId4" Type="http://schemas.openxmlformats.org/officeDocument/2006/relationships/hyperlink" Target="https://docs.google.com/presentation/d/12efQuapR1h5UhYrMC-WIo_I2kRPNo_l4f_35of-zp_o/edit#slide=id.p8" TargetMode="External"/><Relationship Id="rId9" Type="http://schemas.openxmlformats.org/officeDocument/2006/relationships/hyperlink" Target="https://www.youtube.com/watch?v=6dmtLj2dLi0" TargetMode="External"/><Relationship Id="rId5" Type="http://schemas.openxmlformats.org/officeDocument/2006/relationships/hyperlink" Target="https://www.youtube.com/watch?v=UQHT5RktlVk&amp;t=3s" TargetMode="External"/><Relationship Id="rId6" Type="http://schemas.openxmlformats.org/officeDocument/2006/relationships/hyperlink" Target="https://drive.google.com/file/d/1PkosC4OyLjOsNAWP-01_6jUBNuOrLgmO/view?usp=sharing" TargetMode="External"/><Relationship Id="rId7" Type="http://schemas.openxmlformats.org/officeDocument/2006/relationships/hyperlink" Target="https://docs.google.com/presentation/d/1BEJ7m-pDirGN_efxJLbnQUQ6X7fgAcaKa4LAbUtTGz0/edit#slide=id.g7c7cda7708_0_26" TargetMode="External"/><Relationship Id="rId8" Type="http://schemas.openxmlformats.org/officeDocument/2006/relationships/hyperlink" Target="https://www.youtube.com/watch?v=UCmYSIjOnUA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0BzCIvA_rN_d3cEQ1eEh3SHJ4X2xjM0VVd0Uxa0JiUE9rVjBz/view?usp=sharing" TargetMode="External"/><Relationship Id="rId4" Type="http://schemas.openxmlformats.org/officeDocument/2006/relationships/hyperlink" Target="https://docs.google.com/presentation/d/1GSfLPbvsJIVIwumFde3Rg1mCxRs79Pzz2OSZOPpqVRA/edit#slide=id.g2fba904610_0_5" TargetMode="External"/><Relationship Id="rId5" Type="http://schemas.openxmlformats.org/officeDocument/2006/relationships/hyperlink" Target="https://drive.google.com/file/d/1ad5D5Aukp3YOa3Hwhuqji5bQ36YmOLWN/view?usp=sharing" TargetMode="External"/><Relationship Id="rId6" Type="http://schemas.openxmlformats.org/officeDocument/2006/relationships/hyperlink" Target="https://drive.google.com/file/d/1aro2iXI1t-2cfwxYU8IPKo3MfTbw2qq6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ODnDyiI4S8S_Au3f9RMHUx1bd3EWpLl2/view?usp=sharing" TargetMode="External"/><Relationship Id="rId4" Type="http://schemas.openxmlformats.org/officeDocument/2006/relationships/hyperlink" Target="https://docs.google.com/spreadsheets/d/1k7n7RIVNmCm2mxdR82PuWE07mUAhyPWbDSk9GAwjviM/edit?gid=1422833731#gid=142283373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fIMdIMACyN4" TargetMode="External"/><Relationship Id="rId4" Type="http://schemas.openxmlformats.org/officeDocument/2006/relationships/hyperlink" Target="https://www.youtube.com/watch?v=fIMdIMACyN4" TargetMode="External"/><Relationship Id="rId5" Type="http://schemas.openxmlformats.org/officeDocument/2006/relationships/hyperlink" Target="https://www.youtube.com/watch?v=apOSDqZd6Fg" TargetMode="External"/><Relationship Id="rId6" Type="http://schemas.openxmlformats.org/officeDocument/2006/relationships/hyperlink" Target="https://www.youtube.com/watch?v=apOSDqZd6Fg" TargetMode="External"/><Relationship Id="rId7" Type="http://schemas.openxmlformats.org/officeDocument/2006/relationships/hyperlink" Target="https://www.youtube.com/watch?v=JHXxPnmyDbk&amp;index=12&amp;list=PLBlbxx65IcSEtyo10oy2k49N6Dd_Jjf4_" TargetMode="External"/><Relationship Id="rId8" Type="http://schemas.openxmlformats.org/officeDocument/2006/relationships/hyperlink" Target="https://docs.google.com/document/d/1k-6Q7NkVv_H6uk7QJQxg4gpidijmsT0frB9ad3iIAq8/edit" TargetMode="Externa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://www.youtube.com/watch?v=85cdaRSsMsc" TargetMode="External"/><Relationship Id="rId10" Type="http://schemas.openxmlformats.org/officeDocument/2006/relationships/image" Target="../media/image6.jpg"/><Relationship Id="rId12" Type="http://schemas.openxmlformats.org/officeDocument/2006/relationships/image" Target="../media/image12.jp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file/d/0BzCIvA_rN_d3clk2SEx4Y0Uwb3M/view?usp=sharing&amp;resourcekey=0-0dTy9CI0RgwyNtawRMY7Qg" TargetMode="External"/><Relationship Id="rId4" Type="http://schemas.openxmlformats.org/officeDocument/2006/relationships/hyperlink" Target="https://www.youtube.com/watch?v=oIfFoiwRCVE&amp;list=PLBlbxx65IcSEtyo10oy2k49N6Dd_Jjf4_&amp;index=11&amp;t=20s" TargetMode="External"/><Relationship Id="rId9" Type="http://schemas.openxmlformats.org/officeDocument/2006/relationships/hyperlink" Target="http://www.youtube.com/watch?v=ywD_GRVAhk8" TargetMode="External"/><Relationship Id="rId5" Type="http://schemas.openxmlformats.org/officeDocument/2006/relationships/hyperlink" Target="http://www.youtube.com/watch?v=RHCoTB__wLY" TargetMode="External"/><Relationship Id="rId6" Type="http://schemas.openxmlformats.org/officeDocument/2006/relationships/image" Target="../media/image3.jpg"/><Relationship Id="rId7" Type="http://schemas.openxmlformats.org/officeDocument/2006/relationships/hyperlink" Target="http://www.youtube.com/watch?v=I-1Dryl_l20" TargetMode="External"/><Relationship Id="rId8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3.jp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youtube.com/watch?v=CSPXSRRWmNk" TargetMode="External"/><Relationship Id="rId4" Type="http://schemas.openxmlformats.org/officeDocument/2006/relationships/image" Target="../media/image14.jpg"/><Relationship Id="rId9" Type="http://schemas.openxmlformats.org/officeDocument/2006/relationships/hyperlink" Target="http://www.youtube.com/watch?v=nHnBgG-oJQ0" TargetMode="External"/><Relationship Id="rId5" Type="http://schemas.openxmlformats.org/officeDocument/2006/relationships/hyperlink" Target="http://www.youtube.com/watch?v=OmVOXPl-ASA" TargetMode="External"/><Relationship Id="rId6" Type="http://schemas.openxmlformats.org/officeDocument/2006/relationships/image" Target="../media/image4.jpg"/><Relationship Id="rId7" Type="http://schemas.openxmlformats.org/officeDocument/2006/relationships/hyperlink" Target="http://www.youtube.com/watch?v=TC6q8XI3uCU" TargetMode="External"/><Relationship Id="rId8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0BzCIvA_rN_d3MmhDWjFwT2lpNUU/view?usp=sharing&amp;resourcekey=0-h4JFMnS0-qyPG_SNq0XTEw" TargetMode="External"/><Relationship Id="rId4" Type="http://schemas.openxmlformats.org/officeDocument/2006/relationships/hyperlink" Target="https://www.youtube.com/watch?v=zvh9uv2Hxx4&amp;list=PLBlbxx65IcSEtyo10oy2k49N6Dd_Jjf4_&amp;index=21" TargetMode="External"/><Relationship Id="rId9" Type="http://schemas.openxmlformats.org/officeDocument/2006/relationships/hyperlink" Target="https://www.youtube.com/watch?v=ZoGtVVu3ymQ&amp;list=PLBlbxx65IcSEtyo10oy2k49N6Dd_Jjf4_&amp;index=17" TargetMode="External"/><Relationship Id="rId5" Type="http://schemas.openxmlformats.org/officeDocument/2006/relationships/hyperlink" Target="https://www.youtube.com/watch?v=qv81QCGNnVo&amp;list=PLBlbxx65IcSEtyo10oy2k49N6Dd_Jjf4_&amp;index=22" TargetMode="External"/><Relationship Id="rId6" Type="http://schemas.openxmlformats.org/officeDocument/2006/relationships/hyperlink" Target="https://www.youtube.com/watch?v=qv81QCGNnVo&amp;list=PLBlbxx65IcSEtyo10oy2k49N6Dd_Jjf4_&amp;index=22" TargetMode="External"/><Relationship Id="rId7" Type="http://schemas.openxmlformats.org/officeDocument/2006/relationships/hyperlink" Target="http://www.learnerstv.com/animation/animation.php?ani=123&amp;cat=chemistry" TargetMode="External"/><Relationship Id="rId8" Type="http://schemas.openxmlformats.org/officeDocument/2006/relationships/hyperlink" Target="http://www.learnerstv.com/animation/animation.php?ani=123&amp;cat=chemistry" TargetMode="External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5pl-i7CE8G2jnB4ltfyVTVvTU7q4CYiP/view?usp=sharing" TargetMode="External"/><Relationship Id="rId4" Type="http://schemas.openxmlformats.org/officeDocument/2006/relationships/hyperlink" Target="https://drive.google.com/file/d/15mUpYD56ju29ZmUUPbh7c9R3WESd9v4Y/view?usp=sharing" TargetMode="External"/><Relationship Id="rId9" Type="http://schemas.openxmlformats.org/officeDocument/2006/relationships/hyperlink" Target="http://www.youtube.com/watch?v=P7elptYGE_g" TargetMode="External"/><Relationship Id="rId5" Type="http://schemas.openxmlformats.org/officeDocument/2006/relationships/hyperlink" Target="http://www.youtube.com/watch?v=o-4idy1kPRs" TargetMode="External"/><Relationship Id="rId6" Type="http://schemas.openxmlformats.org/officeDocument/2006/relationships/image" Target="../media/image15.jpg"/><Relationship Id="rId7" Type="http://schemas.openxmlformats.org/officeDocument/2006/relationships/hyperlink" Target="http://www.youtube.com/watch?v=rN_bv-Dt5DA" TargetMode="External"/><Relationship Id="rId8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0BzCIvA_rN_d3U1ZKMVlBYWc1cFU/view?usp=sharing&amp;resourcekey=0-0eLTn0r2DzKqjc913G6lIw" TargetMode="External"/><Relationship Id="rId4" Type="http://schemas.openxmlformats.org/officeDocument/2006/relationships/hyperlink" Target="https://www.youtube.com/watch?v=V89vHYQKLJo&amp;list=PLBlbxx65IcSEtyo10oy2k49N6Dd_Jjf4_&amp;index=20&amp;t=212s" TargetMode="External"/><Relationship Id="rId5" Type="http://schemas.openxmlformats.org/officeDocument/2006/relationships/hyperlink" Target="https://www.youtube.com/watch?v=kOp-3CMb6nY&amp;list=PLBlbxx65IcSEtyo10oy2k49N6Dd_Jjf4_&amp;index=10&amp;t=193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youtube.com/watch?v=WnAd2SJ7Fuw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1.jpg"/><Relationship Id="rId5" Type="http://schemas.openxmlformats.org/officeDocument/2006/relationships/hyperlink" Target="https://drive.google.com/file/d/0BzCIvA_rN_d3cFJGeUIzVkhzdDA/view?usp=sharing&amp;resourcekey=0-Y5Uz41c1W7WfD4yYy38xvA" TargetMode="External"/><Relationship Id="rId6" Type="http://schemas.openxmlformats.org/officeDocument/2006/relationships/hyperlink" Target="https://www.youtube.com/watch?v=i-vA9uLSf7Y" TargetMode="External"/><Relationship Id="rId7" Type="http://schemas.openxmlformats.org/officeDocument/2006/relationships/hyperlink" Target="https://www.youtube.com/watch?v=i-vA9uLSf7Y" TargetMode="External"/><Relationship Id="rId8" Type="http://schemas.openxmlformats.org/officeDocument/2006/relationships/hyperlink" Target="http://www.youtube.com/watch?v=i-vA9uLSf7Y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KnG-RbRNpVs" TargetMode="External"/><Relationship Id="rId4" Type="http://schemas.openxmlformats.org/officeDocument/2006/relationships/image" Target="../media/image16.jpg"/><Relationship Id="rId5" Type="http://schemas.openxmlformats.org/officeDocument/2006/relationships/hyperlink" Target="http://www.youtube.com/watch?v=9kEM0f3SeAY" TargetMode="External"/><Relationship Id="rId6" Type="http://schemas.openxmlformats.org/officeDocument/2006/relationships/image" Target="../media/image5.jpg"/><Relationship Id="rId7" Type="http://schemas.openxmlformats.org/officeDocument/2006/relationships/hyperlink" Target="http://www.youtube.com/watch?v=Pd9DaI9tv_c" TargetMode="External"/><Relationship Id="rId8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youtube.com/watch?v=0VaupcMr3oQ&amp;list=PLBlbxx65IcSEtyo10oy2k49N6Dd_Jjf4_&amp;index=18&amp;t=410s" TargetMode="External"/><Relationship Id="rId4" Type="http://schemas.openxmlformats.org/officeDocument/2006/relationships/hyperlink" Target="https://www.youtube.com/watch?v=Y8e7T09SKZ0" TargetMode="External"/><Relationship Id="rId5" Type="http://schemas.openxmlformats.org/officeDocument/2006/relationships/hyperlink" Target="https://www.youtube.com/watch?v=Y8e7T09SKZ0" TargetMode="External"/><Relationship Id="rId6" Type="http://schemas.openxmlformats.org/officeDocument/2006/relationships/hyperlink" Target="https://www.youtube.com/watch?v=UKUmYU6Q1cA&amp;list=PLBlbxx65IcSEtyo10oy2k49N6Dd_Jjf4_&amp;index=9" TargetMode="External"/><Relationship Id="rId7" Type="http://schemas.openxmlformats.org/officeDocument/2006/relationships/hyperlink" Target="https://www.youtube.com/watch?v=kOp-3CMb6nY&amp;list=PLBlbxx65IcSEtyo10oy2k49N6Dd_Jjf4_&amp;index=10&amp;t=193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28375" y="119825"/>
            <a:ext cx="8900700" cy="490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6" name="Google Shape;66;p14"/>
          <p:cNvGraphicFramePr/>
          <p:nvPr/>
        </p:nvGraphicFramePr>
        <p:xfrm>
          <a:off x="378425" y="59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{F894B11E-19B9-436E-848B-11610B1C1BB2}</a:tableStyleId>
              </a:tblPr>
              <a:tblGrid>
                <a:gridCol w="2270225"/>
                <a:gridCol w="3516925"/>
                <a:gridCol w="24752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Complete By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TOPIC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PRACTICE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Section 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Complete as  Apr 28  homework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action="ppaction://hlinksldjump" r:id="rId3"/>
                        </a:rPr>
                        <a:t>KMT Theory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Section 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Charles’ Law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action="ppaction://hlinksldjump" r:id="rId4"/>
                        </a:rPr>
                        <a:t>Volume vs Temperature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Questions on linked sheet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Charles': pg 434 #16-19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Work on Section 2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May 5-  9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Boyle’s Law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action="ppaction://hlinksldjump" r:id="rId5"/>
                        </a:rPr>
                        <a:t>Pressure vs Volume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Questions on linked sheet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Boyle's: pg428 #5-8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action="ppaction://hlinksldjump" r:id="rId6"/>
                        </a:rPr>
                        <a:t>Pressure vs Temperature</a:t>
                      </a:r>
                      <a:r>
                        <a:rPr lang="en"/>
                        <a:t> (Gay Lussac’s)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Section 3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May 12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- 16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action="ppaction://hlinksldjump" r:id="rId7"/>
                        </a:rPr>
                        <a:t>Combined Gas Law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Section 3 Assignment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- See slide for info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Questions at bottom of the Combined Note note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Section 4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May 20-23th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Ideal Gas Law  </a:t>
                      </a:r>
                      <a:r>
                        <a:rPr lang="en" u="sng">
                          <a:solidFill>
                            <a:schemeClr val="hlink"/>
                          </a:solidFill>
                          <a:hlinkClick action="ppaction://hlinksldjump" r:id="rId8"/>
                        </a:rPr>
                        <a:t>PV=nRT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text reference p. 443-445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hlinkClick r:id="rId9"/>
                        </a:rPr>
                        <a:t>Gases Textbook Solutions</a:t>
                      </a:r>
                      <a:endParaRPr sz="19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hlinkClick r:id="rId10"/>
                        </a:rPr>
                        <a:t>Investigating Gas Laws - Virtual lab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hlinkClick r:id="rId11"/>
                        </a:rPr>
                        <a:t>Atmospheric Gases and Health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" name="Google Shape;67;p14"/>
          <p:cNvSpPr txBox="1"/>
          <p:nvPr/>
        </p:nvSpPr>
        <p:spPr>
          <a:xfrm>
            <a:off x="2663550" y="25775"/>
            <a:ext cx="38169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Gas Laws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128375" y="119825"/>
            <a:ext cx="8900700" cy="490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397850" y="42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{F894B11E-19B9-436E-848B-11610B1C1BB2}</a:tableStyleId>
              </a:tblPr>
              <a:tblGrid>
                <a:gridCol w="1297950"/>
                <a:gridCol w="4830300"/>
                <a:gridCol w="22805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TOPIC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PRACTICE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25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Jun 6 &amp; 9 (dates are approximate)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Ideal Gas law and Partial Pressure wrap up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In class day to solidify your understanding of the Day 1-4 concepts and complete additional practice questions.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Focus on partial pressures and ideal gas law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Please bring all materials to utilize your time well.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hlinkClick r:id="rId3"/>
                        </a:rPr>
                        <a:t>Practice on Partial Pressures.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Answers are at the bottom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Dalton partial pressure</a:t>
                      </a:r>
                      <a:r>
                        <a:rPr lang="en"/>
                        <a:t> slides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Khan Partial Pressure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Jun 10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QUEST on Sections 1-3  </a:t>
                      </a:r>
                      <a:r>
                        <a:rPr lang="en"/>
                        <a:t>(this will count as a small mark on final grade)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After Quest: 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Read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6"/>
                        </a:rPr>
                        <a:t>p 466 - 468 on combining volumes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Jun 11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Molar Volume and Combining volumes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Molar Volume Note  &amp;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7"/>
                        </a:rPr>
                        <a:t>Slides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hlinkClick r:id="rId8"/>
                        </a:rPr>
                        <a:t>Molar Volume Of Gas | Chemical Calculations | Chemistry | FuseSchool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Molar Volume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of a Gas Lab DEMO (or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9"/>
                        </a:rPr>
                        <a:t>Video version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)  (Als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 read text p. 469-471)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Law of combining volumes (Last page of ideal gas law note, AKA Gay-Lussac’s Law)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Read p 466 - 468 on combining volumes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p. 471 #7-11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p. 472 #12-14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p. 474 #1-3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" name="Google Shape;74;p15"/>
          <p:cNvSpPr txBox="1"/>
          <p:nvPr/>
        </p:nvSpPr>
        <p:spPr>
          <a:xfrm>
            <a:off x="898475" y="25775"/>
            <a:ext cx="79563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In Class Gas Days - 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128375" y="119825"/>
            <a:ext cx="8900700" cy="490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" name="Google Shape;80;p16"/>
          <p:cNvGraphicFramePr/>
          <p:nvPr/>
        </p:nvGraphicFramePr>
        <p:xfrm>
          <a:off x="397850" y="42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{F894B11E-19B9-436E-848B-11610B1C1BB2}</a:tableStyleId>
              </a:tblPr>
              <a:tblGrid>
                <a:gridCol w="2270225"/>
                <a:gridCol w="3858025"/>
                <a:gridCol w="21341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TOPIC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PRACTICE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Jun 12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03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sng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Value of R Lab</a:t>
                      </a:r>
                      <a:r>
                        <a:rPr lang="en"/>
                        <a:t> (Class Set Handouts)</a:t>
                      </a:r>
                      <a:endParaRPr/>
                    </a:p>
                    <a:p>
                      <a:pPr indent="-228600" lvl="0" marL="203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Value of R lab Instructions &amp; Image</a:t>
                      </a:r>
                      <a:endParaRPr/>
                    </a:p>
                    <a:p>
                      <a:pPr indent="-228600" lvl="0" marL="203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Read stoichiometry portion of ideal law note (posted above) for next class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p. 468 #1-5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finish calculations from lab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Jun  13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Gas Stoichiometry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Read end of ideal gas law sheet and work on questions for homework.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hlinkClick r:id="rId5"/>
                        </a:rPr>
                        <a:t>Gas Law Stoichiometry Worksheet Practice.pdf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-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6"/>
                        </a:rPr>
                        <a:t>Answers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Note that the answer sheet uses a different problem solving method but you should be able to match your calculation and certainly see if you get the correct answer.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p. 483 #1-4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p. 486 #1-4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" name="Google Shape;81;p16"/>
          <p:cNvSpPr txBox="1"/>
          <p:nvPr/>
        </p:nvSpPr>
        <p:spPr>
          <a:xfrm>
            <a:off x="898475" y="25775"/>
            <a:ext cx="79563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In Class Gas Days - </a:t>
            </a:r>
            <a:endParaRPr sz="2300"/>
          </a:p>
        </p:txBody>
      </p:sp>
      <p:sp>
        <p:nvSpPr>
          <p:cNvPr id="82" name="Google Shape;82;p16"/>
          <p:cNvSpPr txBox="1"/>
          <p:nvPr/>
        </p:nvSpPr>
        <p:spPr>
          <a:xfrm>
            <a:off x="695075" y="3711650"/>
            <a:ext cx="7159200" cy="131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00"/>
                </a:solidFill>
                <a:latin typeface="Karla"/>
                <a:ea typeface="Karla"/>
                <a:cs typeface="Karla"/>
                <a:sym typeface="Karla"/>
              </a:rPr>
              <a:t>Teacher Note</a:t>
            </a:r>
            <a:r>
              <a:rPr lang="en"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f</a:t>
            </a:r>
            <a:r>
              <a:rPr lang="en"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or next time: The old STP values are given in Ideal and combined gas notes and in some of the questions if its possible to modify - S25 we decided NOT to modify, too hard with most resources using old STP </a:t>
            </a:r>
            <a:endParaRPr sz="2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5834000" y="787200"/>
            <a:ext cx="2937600" cy="7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Gas Laws Summary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417050" y="1654250"/>
            <a:ext cx="6408600" cy="321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The above summary is great. A few notes though:</a:t>
            </a:r>
            <a:endParaRPr sz="2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We will mostly use the value of R of:</a:t>
            </a:r>
            <a:endParaRPr sz="2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44336"/>
                </a:solidFill>
                <a:latin typeface="Karla"/>
                <a:ea typeface="Karla"/>
                <a:cs typeface="Karla"/>
                <a:sym typeface="Karla"/>
              </a:rPr>
              <a:t>8.31 L•kPa•mol-1•K-1 .   </a:t>
            </a:r>
            <a:r>
              <a:rPr b="1"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THis R value is in kPa which is why the number is different.</a:t>
            </a:r>
            <a:endParaRPr b="1"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ALSO: the current international Standards are different than your textbook and some of the notes here. However, we will use the same as your textbook:</a:t>
            </a:r>
            <a:endParaRPr b="1"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STP: 0C (273K) and P = 101.3 kPa</a:t>
            </a:r>
            <a:endParaRPr b="1"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SATP: 25C (298K) and P = 100kPa</a:t>
            </a:r>
            <a:endParaRPr b="1"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67275" y="105900"/>
            <a:ext cx="5088000" cy="68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0000"/>
                </a:solidFill>
                <a:latin typeface="Karla"/>
                <a:ea typeface="Karla"/>
                <a:cs typeface="Karla"/>
                <a:sym typeface="Karla"/>
              </a:rPr>
              <a:t>IMPORTANT NOTES</a:t>
            </a:r>
            <a:endParaRPr sz="2600">
              <a:solidFill>
                <a:srgbClr val="FF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69850" y="952050"/>
            <a:ext cx="4488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50" u="sng">
                <a:solidFill>
                  <a:srgbClr val="1155CC"/>
                </a:solidFill>
                <a:highlight>
                  <a:srgbClr val="EAD1DC"/>
                </a:highlight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SCH3U  Terms &amp; Translations </a:t>
            </a:r>
            <a:endParaRPr sz="31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A7D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 rot="4502688">
            <a:off x="5804411" y="2408896"/>
            <a:ext cx="4981328" cy="821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uFill>
                  <a:noFill/>
                </a:uFill>
                <a:hlinkClick action="ppaction://hlinkshowjump?jump=firstslide"/>
              </a:rPr>
              <a:t>Introduction &amp; </a:t>
            </a:r>
            <a:r>
              <a:rPr lang="en" sz="3200"/>
              <a:t>KMT</a:t>
            </a:r>
            <a:endParaRPr sz="3200"/>
          </a:p>
        </p:txBody>
      </p:sp>
      <p:sp>
        <p:nvSpPr>
          <p:cNvPr id="96" name="Google Shape;96;p18"/>
          <p:cNvSpPr txBox="1"/>
          <p:nvPr/>
        </p:nvSpPr>
        <p:spPr>
          <a:xfrm>
            <a:off x="1170725" y="961225"/>
            <a:ext cx="5459400" cy="3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Read Kinetic molecular theory p109-110 and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p419-420. Make own notes on it.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KMT Part 1 Video</a:t>
            </a:r>
            <a:endParaRPr sz="1900" u="sng">
              <a:solidFill>
                <a:srgbClr val="0000FF"/>
              </a:solidFill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u="sng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KMT Part 2 Video</a:t>
            </a:r>
            <a:endParaRPr sz="1900" u="sng">
              <a:solidFill>
                <a:srgbClr val="0000FF"/>
              </a:solidFill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rgbClr val="4A86E8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Absolute zero video</a:t>
            </a:r>
            <a:endParaRPr sz="2200">
              <a:solidFill>
                <a:srgbClr val="4A86E8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u="sng">
                <a:solidFill>
                  <a:srgbClr val="0000FF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Gas Particles Note &amp; Questions</a:t>
            </a:r>
            <a:r>
              <a:rPr lang="en" sz="1900">
                <a:solidFill>
                  <a:schemeClr val="dk1"/>
                </a:solidFill>
              </a:rPr>
              <a:t> is another optional reading &amp; practice</a:t>
            </a:r>
            <a:endParaRPr sz="2200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433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/>
        </p:nvSpPr>
        <p:spPr>
          <a:xfrm rot="4502688">
            <a:off x="5681186" y="2088496"/>
            <a:ext cx="4981328" cy="821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uFill>
                  <a:noFill/>
                </a:uFill>
                <a:hlinkClick action="ppaction://hlinkshowjump?jump=firstslide"/>
              </a:rPr>
              <a:t>Volume vs Temperature</a:t>
            </a:r>
            <a:endParaRPr sz="3500"/>
          </a:p>
        </p:txBody>
      </p:sp>
      <p:sp>
        <p:nvSpPr>
          <p:cNvPr id="102" name="Google Shape;102;p19"/>
          <p:cNvSpPr txBox="1"/>
          <p:nvPr/>
        </p:nvSpPr>
        <p:spPr>
          <a:xfrm>
            <a:off x="283450" y="4544425"/>
            <a:ext cx="74556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Temperature and Volume of Gases Sheet</a:t>
            </a:r>
            <a:r>
              <a:rPr lang="en" sz="1800">
                <a:solidFill>
                  <a:srgbClr val="0000FF"/>
                </a:solidFill>
              </a:rPr>
              <a:t>           </a:t>
            </a:r>
            <a:r>
              <a:rPr lang="en" sz="1800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Video on Charles Law</a:t>
            </a:r>
            <a:endParaRPr sz="2500"/>
          </a:p>
        </p:txBody>
      </p:sp>
      <p:pic>
        <p:nvPicPr>
          <p:cNvPr descr="This podcast explains the relationship of Volume and Temperature for an ideal gas using the PHeT Gas Properties simulation." id="103" name="Google Shape;103;p19" title="Gas Laws--V vs 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52263" y="205375"/>
            <a:ext cx="3163775" cy="237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contains the explanation of how to involve an example problem with changing conditions of Volume and Temperature." id="104" name="Google Shape;104;p19" title="Gas Laws--V vs T example 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44550" y="2960325"/>
            <a:ext cx="1951200" cy="146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contains an explanatin of how to solve an example involving changing conditions of Volume and Temperature" id="105" name="Google Shape;105;p19" title="Gas Laws--V vs T example 1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2550" y="2960325"/>
            <a:ext cx="1951200" cy="146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contains the explanation of how to solve an example involving changing conditions of Volume and Temperature" id="106" name="Google Shape;106;p19" title="Gas Laws--V vs T example 2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58550" y="2960325"/>
            <a:ext cx="1951200" cy="14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8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 rot="4502688">
            <a:off x="5681186" y="2088496"/>
            <a:ext cx="4981328" cy="821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uFill>
                  <a:noFill/>
                </a:uFill>
                <a:hlinkClick action="ppaction://hlinkshowjump?jump=firstslide"/>
              </a:rPr>
              <a:t>Pressure vs. Volume</a:t>
            </a:r>
            <a:endParaRPr sz="3600"/>
          </a:p>
        </p:txBody>
      </p:sp>
      <p:sp>
        <p:nvSpPr>
          <p:cNvPr id="112" name="Google Shape;112;p20"/>
          <p:cNvSpPr txBox="1"/>
          <p:nvPr/>
        </p:nvSpPr>
        <p:spPr>
          <a:xfrm>
            <a:off x="2185200" y="4544425"/>
            <a:ext cx="3297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Continued Next Slide</a:t>
            </a:r>
            <a:endParaRPr sz="2400"/>
          </a:p>
        </p:txBody>
      </p:sp>
      <p:pic>
        <p:nvPicPr>
          <p:cNvPr descr="This podcast explains the relationship of Pressure and Volume for an ideal gas using the PHeT Gas Properties simulation." id="113" name="Google Shape;113;p20" title="Gas Laws--P vs 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1351" y="253175"/>
            <a:ext cx="3165600" cy="237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contains a simple example involving a calculation of pressure versus volume." id="114" name="Google Shape;114;p20" title="Gas Laws--P vs V example 1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400" y="2960325"/>
            <a:ext cx="1951200" cy="146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contains a second simple example involving the calculation of pressure and volume." id="115" name="Google Shape;115;p20" title="Gas Laws--P vs V example 2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58550" y="2960325"/>
            <a:ext cx="1951200" cy="146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contains a third simple example of a calculation involving pressure and volume." id="116" name="Google Shape;116;p20" title="Gas Laws--P vs V example 3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4550" y="2960325"/>
            <a:ext cx="1951200" cy="14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8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 rot="4502688">
            <a:off x="5681186" y="2088496"/>
            <a:ext cx="4981328" cy="821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uFill>
                  <a:noFill/>
                </a:uFill>
                <a:hlinkClick action="ppaction://hlinkshowjump?jump=firstslide"/>
              </a:rPr>
              <a:t>Pressure vs. Volume</a:t>
            </a:r>
            <a:endParaRPr sz="3600"/>
          </a:p>
        </p:txBody>
      </p:sp>
      <p:sp>
        <p:nvSpPr>
          <p:cNvPr id="122" name="Google Shape;122;p21"/>
          <p:cNvSpPr txBox="1"/>
          <p:nvPr/>
        </p:nvSpPr>
        <p:spPr>
          <a:xfrm>
            <a:off x="1380225" y="924250"/>
            <a:ext cx="4707600" cy="3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Pressure and Volume of Gases Sheet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Gas Pressure Basics Vid</a:t>
            </a:r>
            <a:r>
              <a:rPr lang="en" sz="2400">
                <a:solidFill>
                  <a:srgbClr val="0000FF"/>
                </a:solidFill>
              </a:rPr>
              <a:t>eo</a:t>
            </a:r>
            <a:endParaRPr sz="24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rgbClr val="0000FF"/>
                </a:solidFill>
                <a:highlight>
                  <a:srgbClr val="FFEB3B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Pressure Conversions Video</a:t>
            </a:r>
            <a:endParaRPr sz="2400" u="sng">
              <a:solidFill>
                <a:srgbClr val="0000FF"/>
              </a:solidFill>
              <a:highlight>
                <a:srgbClr val="FFEB3B"/>
              </a:highlight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rgbClr val="0000FF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Pressure Animation</a:t>
            </a:r>
            <a:endParaRPr sz="2400" u="sng">
              <a:solidFill>
                <a:srgbClr val="0000FF"/>
              </a:solidFill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rgbClr val="0000FF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Boyle's Law Video</a:t>
            </a:r>
            <a:r>
              <a:rPr lang="en" sz="2400">
                <a:solidFill>
                  <a:srgbClr val="0000FF"/>
                </a:solidFill>
              </a:rPr>
              <a:t> </a:t>
            </a:r>
            <a:endParaRPr sz="24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572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/>
        </p:nvSpPr>
        <p:spPr>
          <a:xfrm rot="4502688">
            <a:off x="5681186" y="2088496"/>
            <a:ext cx="4981328" cy="821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uFill>
                  <a:noFill/>
                </a:uFill>
                <a:hlinkClick action="ppaction://hlinkshowjump?jump=firstslide"/>
              </a:rPr>
              <a:t>Pressure vs Temperature</a:t>
            </a:r>
            <a:endParaRPr sz="3200"/>
          </a:p>
        </p:txBody>
      </p:sp>
      <p:sp>
        <p:nvSpPr>
          <p:cNvPr id="128" name="Google Shape;128;p22"/>
          <p:cNvSpPr txBox="1"/>
          <p:nvPr/>
        </p:nvSpPr>
        <p:spPr>
          <a:xfrm>
            <a:off x="2481900" y="4544425"/>
            <a:ext cx="4129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Self-Check Quiz</a:t>
            </a:r>
            <a:r>
              <a:rPr lang="en" sz="2400"/>
              <a:t>   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Answers</a:t>
            </a:r>
            <a:endParaRPr sz="2400"/>
          </a:p>
        </p:txBody>
      </p:sp>
      <p:pic>
        <p:nvPicPr>
          <p:cNvPr descr="This podcast explains the relationship between Pressure and Temperature of an ideal gas. It uses the PHeT Gas Properties simulation." id="129" name="Google Shape;129;p22" title="Gas Laws--P vs 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5663" y="221100"/>
            <a:ext cx="3196975" cy="239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explains how to solve a problem involving the changing conditions of pressure and temperature." id="130" name="Google Shape;130;p22" title="Gas Laws--P vs T example 2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98163" y="2896125"/>
            <a:ext cx="2079000" cy="155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explains how to solve a problem involving the changing conditions of pressure and temperature." id="131" name="Google Shape;131;p22" title="Gas Laws--P vs T example 1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91150" y="2896125"/>
            <a:ext cx="2079000" cy="15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916025" y="493750"/>
            <a:ext cx="5324100" cy="26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Combined Gas Law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** FYI Some online materials may use different STP values &amp; you may see different numbers in university depending on your program.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(Try to fill in the blanks by yourself, for help see following video)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Rearranging the Combined Gas Law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Video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Optional Helpful Video: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Choosing the RIGHT Gas Equation</a:t>
            </a:r>
            <a:endParaRPr sz="2900">
              <a:solidFill>
                <a:srgbClr val="0000FF"/>
              </a:solidFill>
            </a:endParaRPr>
          </a:p>
        </p:txBody>
      </p:sp>
      <p:sp>
        <p:nvSpPr>
          <p:cNvPr id="137" name="Google Shape;137;p23"/>
          <p:cNvSpPr txBox="1"/>
          <p:nvPr/>
        </p:nvSpPr>
        <p:spPr>
          <a:xfrm rot="4502688">
            <a:off x="5681186" y="2088496"/>
            <a:ext cx="4981328" cy="821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Combined Gas law</a:t>
            </a:r>
            <a:endParaRPr sz="3200"/>
          </a:p>
        </p:txBody>
      </p:sp>
      <p:sp>
        <p:nvSpPr>
          <p:cNvPr id="138" name="Google Shape;138;p23"/>
          <p:cNvSpPr txBox="1"/>
          <p:nvPr/>
        </p:nvSpPr>
        <p:spPr>
          <a:xfrm>
            <a:off x="777975" y="3361175"/>
            <a:ext cx="563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</a:rPr>
              <a:t>Section 3 Assignment: SUBMIT Questions #5-7 from The Combined Note. FULL solutions must be clearly shown.</a:t>
            </a:r>
            <a:endParaRPr sz="21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6672650" y="3350225"/>
            <a:ext cx="21963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B3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3876550" y="954475"/>
            <a:ext cx="3619800" cy="42783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/>
          <p:nvPr/>
        </p:nvSpPr>
        <p:spPr>
          <a:xfrm>
            <a:off x="-20250" y="432600"/>
            <a:ext cx="3393300" cy="4278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 txBox="1"/>
          <p:nvPr/>
        </p:nvSpPr>
        <p:spPr>
          <a:xfrm rot="4502688">
            <a:off x="5681186" y="2088496"/>
            <a:ext cx="4981328" cy="821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uFill>
                  <a:noFill/>
                </a:uFill>
                <a:hlinkClick action="ppaction://hlinkshowjump?jump=firstslide"/>
              </a:rPr>
              <a:t>Introduction &amp; PV=nRT</a:t>
            </a:r>
            <a:endParaRPr sz="3200"/>
          </a:p>
        </p:txBody>
      </p:sp>
      <p:pic>
        <p:nvPicPr>
          <p:cNvPr descr="This podcast is an overview of the properties of gases, specifically related to the Kinetic Molecular Theory." id="147" name="Google Shape;147;p24" title="Gas Laws--Introduct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8700" y="2379125"/>
            <a:ext cx="3292900" cy="24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3824800" y="1352275"/>
            <a:ext cx="3496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Ideal Gas Law Note</a:t>
            </a:r>
            <a:endParaRPr sz="28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194600" y="570650"/>
            <a:ext cx="25086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Karla"/>
                <a:ea typeface="Karla"/>
                <a:cs typeface="Karla"/>
                <a:sym typeface="Karla"/>
              </a:rPr>
              <a:t>Avogadro’s Hypothesis</a:t>
            </a:r>
            <a:endParaRPr sz="1700">
              <a:solidFill>
                <a:srgbClr val="FF0000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</a:rPr>
              <a:t>Avogadro's law states that "equal volumes of all gases, at the same temperature and pressure, have the same number of molecules."</a:t>
            </a:r>
            <a:r>
              <a:rPr lang="en" sz="1350">
                <a:solidFill>
                  <a:srgbClr val="222222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>
              <a:solidFill>
                <a:schemeClr val="dk1"/>
              </a:solidFill>
              <a:uFill>
                <a:noFill/>
              </a:uFill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descr="To see all my Chemistry videos, check out&#10;http://socratic.org/chemistry&#10;&#10;Practice problems and examples, looking at the relationship between the volume and amount of gas (number of moles) in a gas sample." id="150" name="Google Shape;150;p24" title="Avogadro's Law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400" y="2423750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194600" y="4848800"/>
            <a:ext cx="33933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Karla"/>
                <a:ea typeface="Karla"/>
                <a:cs typeface="Karla"/>
                <a:sym typeface="Karla"/>
              </a:rPr>
              <a:t>Continue to next slide for examples </a:t>
            </a:r>
            <a:endParaRPr>
              <a:solidFill>
                <a:srgbClr val="FF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B3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/>
        </p:nvSpPr>
        <p:spPr>
          <a:xfrm rot="4502688">
            <a:off x="5681186" y="2088496"/>
            <a:ext cx="4981328" cy="821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uFill>
                  <a:noFill/>
                </a:uFill>
                <a:hlinkClick action="ppaction://hlinkshowjump?jump=firstslide"/>
              </a:rPr>
              <a:t>Introduction &amp; PV=nRT</a:t>
            </a:r>
            <a:endParaRPr sz="3200"/>
          </a:p>
        </p:txBody>
      </p:sp>
      <p:sp>
        <p:nvSpPr>
          <p:cNvPr id="157" name="Google Shape;157;p25"/>
          <p:cNvSpPr/>
          <p:nvPr/>
        </p:nvSpPr>
        <p:spPr>
          <a:xfrm>
            <a:off x="712100" y="466800"/>
            <a:ext cx="2704500" cy="189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PV=nRT</a:t>
            </a:r>
            <a:endParaRPr/>
          </a:p>
        </p:txBody>
      </p:sp>
      <p:pic>
        <p:nvPicPr>
          <p:cNvPr descr="This podcast explains what the Ideal Gas Law is and what the different factors are, with their units." id="158" name="Google Shape;158;p25" title="Gas Laws--Ideal Gas Law 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100" y="466788"/>
            <a:ext cx="2704500" cy="2028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goes through solving an example involving the Ideal Gas Law." id="159" name="Google Shape;159;p25" title="Gas Laws--Ideal Gas Law 2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2150" y="2891848"/>
            <a:ext cx="1951200" cy="1463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podcast demonstrates how to solve an example involving the Ideal Gas Law." id="160" name="Google Shape;160;p25" title="Gas Laws--Ideal Gas Law 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34950" y="2891850"/>
            <a:ext cx="1951200" cy="14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3892375" y="458750"/>
            <a:ext cx="3044400" cy="20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NOTE ON VALUE OF R: Most of our questions will use </a:t>
            </a:r>
            <a:r>
              <a:rPr b="1" lang="en" sz="1800">
                <a:solidFill>
                  <a:srgbClr val="F44336"/>
                </a:solidFill>
                <a:latin typeface="Karla"/>
                <a:ea typeface="Karla"/>
                <a:cs typeface="Karla"/>
                <a:sym typeface="Karla"/>
              </a:rPr>
              <a:t>8.31 L•kPa•mol-1</a:t>
            </a:r>
            <a:endParaRPr b="1" sz="1800">
              <a:solidFill>
                <a:srgbClr val="F4433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F44336"/>
                </a:solidFill>
                <a:latin typeface="Karla"/>
                <a:ea typeface="Karla"/>
                <a:cs typeface="Karla"/>
                <a:sym typeface="Karla"/>
              </a:rPr>
              <a:t>•K-1 . </a:t>
            </a:r>
            <a:r>
              <a:rPr b="1" lang="en" sz="18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The numerical value of R can be different if the units, especially for pressur ar different</a:t>
            </a:r>
            <a:endParaRPr b="1" sz="18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FC5E8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554550" y="1657350"/>
            <a:ext cx="6026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Ideal Gas Law Problems Video</a:t>
            </a:r>
            <a:endParaRPr sz="35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Converting between </a:t>
            </a:r>
            <a:r>
              <a:rPr b="1" lang="en" sz="23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mole &amp; volume at STP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avoid memorizing ALL the gas laws</a:t>
            </a:r>
            <a:endParaRPr sz="35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>
                <a:solidFill>
                  <a:srgbClr val="4A86E8"/>
                </a:solidFill>
              </a:rPr>
              <a:t>      Video</a:t>
            </a:r>
            <a:r>
              <a:rPr lang="en" sz="12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Choosing the RIGHT Gas Equation</a:t>
            </a:r>
            <a:endParaRPr sz="3500">
              <a:solidFill>
                <a:srgbClr val="4A86E8"/>
              </a:solidFill>
            </a:endParaRPr>
          </a:p>
        </p:txBody>
      </p:sp>
      <p:sp>
        <p:nvSpPr>
          <p:cNvPr id="167" name="Google Shape;167;p26"/>
          <p:cNvSpPr txBox="1"/>
          <p:nvPr/>
        </p:nvSpPr>
        <p:spPr>
          <a:xfrm rot="4502688">
            <a:off x="5719890" y="2118206"/>
            <a:ext cx="4981328" cy="7412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EXTRA HELPFUL ITEMS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virargu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