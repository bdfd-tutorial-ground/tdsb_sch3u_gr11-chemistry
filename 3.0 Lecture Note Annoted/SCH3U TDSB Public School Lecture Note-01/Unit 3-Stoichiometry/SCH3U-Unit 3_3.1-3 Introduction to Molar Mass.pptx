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9637e22c5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29637e22c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74be35805d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74be35805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9637e22c54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9637e22c5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964f18572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2964f18572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 txBox="1"/>
          <p:nvPr>
            <p:ph type="ctrTitle"/>
          </p:nvPr>
        </p:nvSpPr>
        <p:spPr>
          <a:xfrm>
            <a:off x="685800" y="160020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" type="subTitle"/>
          </p:nvPr>
        </p:nvSpPr>
        <p:spPr>
          <a:xfrm>
            <a:off x="1371600" y="37338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20"/>
              </a:spcBef>
              <a:spcAft>
                <a:spcPts val="0"/>
              </a:spcAft>
              <a:buSzPts val="2520"/>
              <a:buFont typeface="Noto Sans Symbols"/>
              <a:buNone/>
              <a:defRPr sz="3600"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100000">
              <a:srgbClr val="5D9E9E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4716462" y="5345112"/>
            <a:ext cx="4427537" cy="1512887"/>
            <a:chOff x="2971" y="3367"/>
            <a:chExt cx="2789" cy="953"/>
          </a:xfrm>
        </p:grpSpPr>
        <p:sp>
          <p:nvSpPr>
            <p:cNvPr id="7" name="Google Shape;7;p1"/>
            <p:cNvSpPr/>
            <p:nvPr/>
          </p:nvSpPr>
          <p:spPr>
            <a:xfrm>
              <a:off x="2971" y="3367"/>
              <a:ext cx="2789" cy="953"/>
            </a:xfrm>
            <a:custGeom>
              <a:rect b="b" l="l" r="r" t="t"/>
              <a:pathLst>
                <a:path extrusionOk="0" h="953" w="2780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4602" y="4014"/>
              <a:ext cx="12" cy="18"/>
            </a:xfrm>
            <a:custGeom>
              <a:rect b="b" l="l" r="r" t="t"/>
              <a:pathLst>
                <a:path extrusionOk="0" h="18" w="12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4596" y="3996"/>
              <a:ext cx="6" cy="18"/>
            </a:xfrm>
            <a:custGeom>
              <a:rect b="b" l="l" r="r" t="t"/>
              <a:pathLst>
                <a:path extrusionOk="0" h="18" w="6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5180" y="3577"/>
              <a:ext cx="304" cy="741"/>
            </a:xfrm>
            <a:custGeom>
              <a:rect b="b" l="l" r="r" t="t"/>
              <a:pathLst>
                <a:path extrusionOk="0" h="741" w="304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4918" y="3553"/>
              <a:ext cx="314" cy="767"/>
            </a:xfrm>
            <a:custGeom>
              <a:rect b="b" l="l" r="r" t="t"/>
              <a:pathLst>
                <a:path extrusionOk="0" h="767" w="314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4700" y="3697"/>
              <a:ext cx="275" cy="623"/>
            </a:xfrm>
            <a:custGeom>
              <a:rect b="b" l="l" r="r" t="t"/>
              <a:pathLst>
                <a:path extrusionOk="0" h="623" w="275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4522" y="3709"/>
              <a:ext cx="213" cy="611"/>
            </a:xfrm>
            <a:custGeom>
              <a:rect b="b" l="l" r="r" t="t"/>
              <a:pathLst>
                <a:path extrusionOk="0" h="611" w="213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4292" y="3936"/>
              <a:ext cx="167" cy="384"/>
            </a:xfrm>
            <a:custGeom>
              <a:rect b="b" l="l" r="r" t="t"/>
              <a:pathLst>
                <a:path extrusionOk="0" h="384" w="167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4100" y="4020"/>
              <a:ext cx="166" cy="300"/>
            </a:xfrm>
            <a:custGeom>
              <a:rect b="b" l="l" r="r" t="t"/>
              <a:pathLst>
                <a:path extrusionOk="0" h="300" w="166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3910" y="4038"/>
              <a:ext cx="237" cy="282"/>
            </a:xfrm>
            <a:custGeom>
              <a:rect b="b" l="l" r="r" t="t"/>
              <a:pathLst>
                <a:path extrusionOk="0" h="282" w="237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3674" y="4086"/>
              <a:ext cx="196" cy="234"/>
            </a:xfrm>
            <a:custGeom>
              <a:rect b="b" l="l" r="r" t="t"/>
              <a:pathLst>
                <a:path extrusionOk="0" h="234" w="196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476" y="4068"/>
              <a:ext cx="190" cy="252"/>
            </a:xfrm>
            <a:custGeom>
              <a:rect b="b" l="l" r="r" t="t"/>
              <a:pathLst>
                <a:path extrusionOk="0" h="252" w="190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3170" y="4188"/>
              <a:ext cx="230" cy="132"/>
            </a:xfrm>
            <a:custGeom>
              <a:rect b="b" l="l" r="r" t="t"/>
              <a:pathLst>
                <a:path extrusionOk="0" h="132" w="230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044" y="4218"/>
              <a:ext cx="89" cy="102"/>
            </a:xfrm>
            <a:custGeom>
              <a:rect b="b" l="l" r="r" t="t"/>
              <a:pathLst>
                <a:path extrusionOk="0" h="102" w="89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5482" y="3367"/>
              <a:ext cx="278" cy="953"/>
            </a:xfrm>
            <a:custGeom>
              <a:rect b="b" l="l" r="r" t="t"/>
              <a:pathLst>
                <a:path extrusionOk="0" h="953" w="278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2" name="Google Shape;22;p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Char char="–"/>
              <a:defRPr b="0" i="0" sz="2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  <a:defRPr b="0" i="0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–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 txBox="1"/>
          <p:nvPr>
            <p:ph type="ctrTitle"/>
          </p:nvPr>
        </p:nvSpPr>
        <p:spPr>
          <a:xfrm>
            <a:off x="685800" y="1600200"/>
            <a:ext cx="7772400" cy="1828800"/>
          </a:xfrm>
          <a:prstGeom prst="rect">
            <a:avLst/>
          </a:prstGeom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Have a small whiteboard/pen to use</a:t>
            </a:r>
            <a:endParaRPr/>
          </a:p>
        </p:txBody>
      </p:sp>
      <p:sp>
        <p:nvSpPr>
          <p:cNvPr id="38" name="Google Shape;38;p3"/>
          <p:cNvSpPr txBox="1"/>
          <p:nvPr>
            <p:ph idx="1" type="subTitle"/>
          </p:nvPr>
        </p:nvSpPr>
        <p:spPr>
          <a:xfrm>
            <a:off x="1371600" y="3733800"/>
            <a:ext cx="64008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ctrTitle"/>
          </p:nvPr>
        </p:nvSpPr>
        <p:spPr>
          <a:xfrm>
            <a:off x="533400" y="76200"/>
            <a:ext cx="8153400" cy="838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100"/>
              <a:buFont typeface="Arial"/>
              <a:buNone/>
            </a:pPr>
            <a:r>
              <a:rPr b="0" i="0" lang="en-US" sz="51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Molar Mass</a:t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609600" y="1371600"/>
            <a:ext cx="784860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Molar Mass (</a:t>
            </a: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or sometimes </a:t>
            </a: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MM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) is the mass in grams of one mole of a substance and has units of </a:t>
            </a: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g/mol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609600" y="2895600"/>
            <a:ext cx="7848600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periodic table may be used to calculate the Molar Mass of any compound as there is a direct conversion between the atomic mass unit (u) and the Molar Mass (M).</a:t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609600" y="4724400"/>
            <a:ext cx="784860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For example one atom of H has an atomic weight of </a:t>
            </a: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1.008 u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, while 1 mole of H has a Molar Mass of </a:t>
            </a: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1.008 g/mol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</p:txBody>
      </p:sp>
      <p:pic>
        <p:nvPicPr>
          <p:cNvPr id="47" name="Google Shape;4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8425" y="76200"/>
            <a:ext cx="830076" cy="11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ctrTitle"/>
          </p:nvPr>
        </p:nvSpPr>
        <p:spPr>
          <a:xfrm>
            <a:off x="533400" y="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100"/>
              <a:buFont typeface="Arial"/>
              <a:buNone/>
            </a:pPr>
            <a:r>
              <a:rPr b="0" i="0" lang="en-US" sz="51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Converting to Molar Mass</a:t>
            </a:r>
            <a:endParaRPr/>
          </a:p>
        </p:txBody>
      </p:sp>
      <p:sp>
        <p:nvSpPr>
          <p:cNvPr id="53" name="Google Shape;53;p5"/>
          <p:cNvSpPr txBox="1"/>
          <p:nvPr/>
        </p:nvSpPr>
        <p:spPr>
          <a:xfrm>
            <a:off x="228600" y="1066800"/>
            <a:ext cx="838200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Boron has an atomic weight of </a:t>
            </a:r>
            <a:r>
              <a:rPr b="0" i="0" lang="en-US" sz="2400" u="sng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u, 1 mole of B has a Molar Mass of </a:t>
            </a:r>
            <a:r>
              <a:rPr b="0" i="0" lang="en-US" sz="2400" u="sng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    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g/mol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228600" y="2306637"/>
            <a:ext cx="83820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Calcium has an atomic weight of </a:t>
            </a:r>
            <a:r>
              <a:rPr b="0" i="0" lang="en-US" sz="2400" u="sng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    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u, 1 mole of Calcium has a Molar Mass of </a:t>
            </a:r>
            <a:r>
              <a:rPr b="0" i="0" lang="en-US" sz="2400" u="sng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g/mol</a:t>
            </a:r>
            <a:endParaRPr/>
          </a:p>
        </p:txBody>
      </p:sp>
      <p:sp>
        <p:nvSpPr>
          <p:cNvPr id="55" name="Google Shape;55;p5"/>
          <p:cNvSpPr txBox="1"/>
          <p:nvPr/>
        </p:nvSpPr>
        <p:spPr>
          <a:xfrm>
            <a:off x="228600" y="3521075"/>
            <a:ext cx="83820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Hydrogen has an atomic weight of </a:t>
            </a:r>
            <a:r>
              <a:rPr b="0" i="0" lang="en-US" sz="2400" u="sng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   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u, 1 mole of Hydrogen has a Molar Mass of </a:t>
            </a:r>
            <a:r>
              <a:rPr b="0" i="0" lang="en-US" sz="2400" u="sng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    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g/mol</a:t>
            </a:r>
            <a:endParaRPr/>
          </a:p>
        </p:txBody>
      </p:sp>
      <p:sp>
        <p:nvSpPr>
          <p:cNvPr id="56" name="Google Shape;56;p5"/>
          <p:cNvSpPr txBox="1"/>
          <p:nvPr/>
        </p:nvSpPr>
        <p:spPr>
          <a:xfrm>
            <a:off x="228600" y="4664075"/>
            <a:ext cx="86868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Neodynium has an atomic weight of </a:t>
            </a:r>
            <a:r>
              <a:rPr b="0" i="0" lang="en-US" sz="2400" u="sng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    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u, 1 mole of Neodynium has a Molar Mass of </a:t>
            </a:r>
            <a:r>
              <a:rPr b="0" i="0" lang="en-US" sz="2400" u="sng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     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g/mol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>
            <p:ph type="ctrTitle"/>
          </p:nvPr>
        </p:nvSpPr>
        <p:spPr>
          <a:xfrm>
            <a:off x="533400" y="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100"/>
              <a:buFont typeface="Arial"/>
              <a:buNone/>
            </a:pPr>
            <a:r>
              <a:rPr b="0" i="0" lang="en-US" sz="51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Converting to Molar Mass</a:t>
            </a:r>
            <a:endParaRPr/>
          </a:p>
        </p:txBody>
      </p:sp>
      <p:sp>
        <p:nvSpPr>
          <p:cNvPr id="62" name="Google Shape;62;p6"/>
          <p:cNvSpPr txBox="1"/>
          <p:nvPr/>
        </p:nvSpPr>
        <p:spPr>
          <a:xfrm>
            <a:off x="228600" y="1066800"/>
            <a:ext cx="838200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Boron has an atomic weight of 10.81 u, 1 mole of B has a Molar Mass of 10.81 g/mol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228600" y="2306637"/>
            <a:ext cx="83820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Calcium has an atomic weight of 40.08 u, 1 mole of Calcium has a Molar Mass of 40.08 g/mol</a:t>
            </a:r>
            <a:endParaRPr/>
          </a:p>
        </p:txBody>
      </p:sp>
      <p:sp>
        <p:nvSpPr>
          <p:cNvPr id="64" name="Google Shape;64;p6"/>
          <p:cNvSpPr txBox="1"/>
          <p:nvPr/>
        </p:nvSpPr>
        <p:spPr>
          <a:xfrm>
            <a:off x="228600" y="3521075"/>
            <a:ext cx="83820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Hydrogen has an atomic weight of 1.008 u, 1 mole of Hydrogen has a Molar Mass of 1.008 g/mol</a:t>
            </a:r>
            <a:endParaRPr/>
          </a:p>
        </p:txBody>
      </p:sp>
      <p:sp>
        <p:nvSpPr>
          <p:cNvPr id="65" name="Google Shape;65;p6"/>
          <p:cNvSpPr txBox="1"/>
          <p:nvPr/>
        </p:nvSpPr>
        <p:spPr>
          <a:xfrm>
            <a:off x="228600" y="4664075"/>
            <a:ext cx="86868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Neodynium has an atomic weight of 144.24 u, 1 mole of Neodynium has a Molar Mass of 144.24 g/mol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/>
          <p:nvPr>
            <p:ph type="ctrTitle"/>
          </p:nvPr>
        </p:nvSpPr>
        <p:spPr>
          <a:xfrm>
            <a:off x="533400" y="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100"/>
              <a:buFont typeface="Arial"/>
              <a:buNone/>
            </a:pPr>
            <a:r>
              <a:rPr b="0" i="0" lang="en-US" sz="51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Converting to Molar Mass</a:t>
            </a:r>
            <a:endParaRPr/>
          </a:p>
        </p:txBody>
      </p:sp>
      <p:grpSp>
        <p:nvGrpSpPr>
          <p:cNvPr id="71" name="Google Shape;71;p7"/>
          <p:cNvGrpSpPr/>
          <p:nvPr/>
        </p:nvGrpSpPr>
        <p:grpSpPr>
          <a:xfrm>
            <a:off x="5105400" y="4724400"/>
            <a:ext cx="1447800" cy="914400"/>
            <a:chOff x="3216" y="2976"/>
            <a:chExt cx="912" cy="576"/>
          </a:xfrm>
        </p:grpSpPr>
        <p:sp>
          <p:nvSpPr>
            <p:cNvPr id="72" name="Google Shape;72;p7"/>
            <p:cNvSpPr txBox="1"/>
            <p:nvPr/>
          </p:nvSpPr>
          <p:spPr>
            <a:xfrm>
              <a:off x="3648" y="3264"/>
              <a:ext cx="48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Verdana"/>
                <a:buNone/>
              </a:pPr>
              <a:r>
                <a:rPr b="1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MM</a:t>
              </a:r>
              <a:endParaRPr/>
            </a:p>
          </p:txBody>
        </p:sp>
        <p:sp>
          <p:nvSpPr>
            <p:cNvPr id="73" name="Google Shape;73;p7"/>
            <p:cNvSpPr txBox="1"/>
            <p:nvPr/>
          </p:nvSpPr>
          <p:spPr>
            <a:xfrm>
              <a:off x="3216" y="2976"/>
              <a:ext cx="811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Verdana"/>
                <a:buNone/>
              </a:pPr>
              <a:r>
                <a:rPr b="1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n </a:t>
              </a:r>
              <a:r>
                <a:rPr b="0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=</a:t>
              </a:r>
              <a:r>
                <a:rPr b="1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  m</a:t>
              </a:r>
              <a:endParaRPr/>
            </a:p>
          </p:txBody>
        </p:sp>
        <p:cxnSp>
          <p:nvCxnSpPr>
            <p:cNvPr id="74" name="Google Shape;74;p7"/>
            <p:cNvCxnSpPr/>
            <p:nvPr/>
          </p:nvCxnSpPr>
          <p:spPr>
            <a:xfrm>
              <a:off x="3696" y="3264"/>
              <a:ext cx="384" cy="0"/>
            </a:xfrm>
            <a:prstGeom prst="straightConnector1">
              <a:avLst/>
            </a:prstGeom>
            <a:noFill/>
            <a:ln cap="flat" cmpd="sng" w="31750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75" name="Google Shape;75;p7"/>
          <p:cNvGrpSpPr/>
          <p:nvPr/>
        </p:nvGrpSpPr>
        <p:grpSpPr>
          <a:xfrm>
            <a:off x="838200" y="2590800"/>
            <a:ext cx="6934200" cy="990600"/>
            <a:chOff x="624" y="720"/>
            <a:chExt cx="4368" cy="624"/>
          </a:xfrm>
        </p:grpSpPr>
        <p:sp>
          <p:nvSpPr>
            <p:cNvPr id="76" name="Google Shape;76;p7"/>
            <p:cNvSpPr txBox="1"/>
            <p:nvPr/>
          </p:nvSpPr>
          <p:spPr>
            <a:xfrm>
              <a:off x="624" y="720"/>
              <a:ext cx="374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Verdana"/>
                <a:buNone/>
              </a:pPr>
              <a:r>
                <a:rPr b="1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Amount in moles</a:t>
              </a:r>
              <a:r>
                <a:rPr b="0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 =         </a:t>
              </a:r>
              <a:r>
                <a:rPr b="1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mass (g)</a:t>
              </a:r>
              <a:endParaRPr/>
            </a:p>
          </p:txBody>
        </p:sp>
        <p:cxnSp>
          <p:nvCxnSpPr>
            <p:cNvPr id="77" name="Google Shape;77;p7"/>
            <p:cNvCxnSpPr/>
            <p:nvPr/>
          </p:nvCxnSpPr>
          <p:spPr>
            <a:xfrm>
              <a:off x="2880" y="1008"/>
              <a:ext cx="1776" cy="0"/>
            </a:xfrm>
            <a:prstGeom prst="straightConnector1">
              <a:avLst/>
            </a:prstGeom>
            <a:noFill/>
            <a:ln cap="flat" cmpd="sng" w="31750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78" name="Google Shape;78;p7"/>
            <p:cNvSpPr txBox="1"/>
            <p:nvPr/>
          </p:nvSpPr>
          <p:spPr>
            <a:xfrm>
              <a:off x="2728" y="1056"/>
              <a:ext cx="226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Verdana"/>
                <a:buNone/>
              </a:pPr>
              <a:r>
                <a:rPr b="1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Molar Mass (g/mol)</a:t>
              </a:r>
              <a:endParaRPr/>
            </a:p>
          </p:txBody>
        </p:sp>
      </p:grpSp>
      <p:sp>
        <p:nvSpPr>
          <p:cNvPr id="79" name="Google Shape;79;p7"/>
          <p:cNvSpPr txBox="1"/>
          <p:nvPr/>
        </p:nvSpPr>
        <p:spPr>
          <a:xfrm>
            <a:off x="533400" y="1295400"/>
            <a:ext cx="80772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relationship between moles, Molar Mass and mass of a compound is:</a:t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533400" y="4724400"/>
            <a:ext cx="4251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This is often shortened to: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>
            <p:ph type="ctrTitle"/>
          </p:nvPr>
        </p:nvSpPr>
        <p:spPr>
          <a:xfrm>
            <a:off x="228600" y="0"/>
            <a:ext cx="8763000" cy="838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Re-Arranging the Molar Mass Equation</a:t>
            </a:r>
            <a:endParaRPr/>
          </a:p>
        </p:txBody>
      </p:sp>
      <p:grpSp>
        <p:nvGrpSpPr>
          <p:cNvPr id="86" name="Google Shape;86;p8"/>
          <p:cNvGrpSpPr/>
          <p:nvPr/>
        </p:nvGrpSpPr>
        <p:grpSpPr>
          <a:xfrm>
            <a:off x="7086600" y="1219200"/>
            <a:ext cx="1638300" cy="933450"/>
            <a:chOff x="720" y="1056"/>
            <a:chExt cx="1032" cy="588"/>
          </a:xfrm>
        </p:grpSpPr>
        <p:sp>
          <p:nvSpPr>
            <p:cNvPr id="87" name="Google Shape;87;p8"/>
            <p:cNvSpPr txBox="1"/>
            <p:nvPr/>
          </p:nvSpPr>
          <p:spPr>
            <a:xfrm>
              <a:off x="720" y="105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Verdana"/>
                <a:buNone/>
              </a:pPr>
              <a:r>
                <a:rPr b="1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n </a:t>
              </a:r>
              <a:r>
                <a:rPr b="0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=</a:t>
              </a:r>
              <a:r>
                <a:rPr b="1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  m</a:t>
              </a:r>
              <a:endParaRPr/>
            </a:p>
          </p:txBody>
        </p:sp>
        <p:cxnSp>
          <p:nvCxnSpPr>
            <p:cNvPr id="88" name="Google Shape;88;p8"/>
            <p:cNvCxnSpPr/>
            <p:nvPr/>
          </p:nvCxnSpPr>
          <p:spPr>
            <a:xfrm>
              <a:off x="1200" y="1344"/>
              <a:ext cx="300" cy="0"/>
            </a:xfrm>
            <a:prstGeom prst="straightConnector1">
              <a:avLst/>
            </a:prstGeom>
            <a:noFill/>
            <a:ln cap="flat" cmpd="sng" w="31750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89" name="Google Shape;89;p8"/>
            <p:cNvSpPr txBox="1"/>
            <p:nvPr/>
          </p:nvSpPr>
          <p:spPr>
            <a:xfrm>
              <a:off x="1152" y="134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Verdana"/>
                <a:buNone/>
              </a:pPr>
              <a:r>
                <a:rPr b="1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MM</a:t>
              </a:r>
              <a:endParaRPr/>
            </a:p>
          </p:txBody>
        </p:sp>
      </p:grpSp>
      <p:sp>
        <p:nvSpPr>
          <p:cNvPr id="90" name="Google Shape;90;p8"/>
          <p:cNvSpPr txBox="1"/>
          <p:nvPr/>
        </p:nvSpPr>
        <p:spPr>
          <a:xfrm>
            <a:off x="365125" y="1219200"/>
            <a:ext cx="661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Make sure you understand this basic equation, then you can rearrange for others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/>
          </a:p>
        </p:txBody>
      </p:sp>
      <p:grpSp>
        <p:nvGrpSpPr>
          <p:cNvPr id="91" name="Google Shape;91;p8"/>
          <p:cNvGrpSpPr/>
          <p:nvPr/>
        </p:nvGrpSpPr>
        <p:grpSpPr>
          <a:xfrm>
            <a:off x="6411611" y="2650825"/>
            <a:ext cx="1627485" cy="952500"/>
            <a:chOff x="684" y="1044"/>
            <a:chExt cx="1025" cy="600"/>
          </a:xfrm>
        </p:grpSpPr>
        <p:sp>
          <p:nvSpPr>
            <p:cNvPr id="92" name="Google Shape;92;p8"/>
            <p:cNvSpPr txBox="1"/>
            <p:nvPr/>
          </p:nvSpPr>
          <p:spPr>
            <a:xfrm>
              <a:off x="684" y="1044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Verdana"/>
                <a:buNone/>
              </a:pPr>
              <a:r>
                <a:rPr b="1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n </a:t>
              </a:r>
              <a:r>
                <a:rPr b="0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=</a:t>
              </a:r>
              <a:r>
                <a:rPr b="1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  m</a:t>
              </a:r>
              <a:endParaRPr/>
            </a:p>
          </p:txBody>
        </p:sp>
        <p:cxnSp>
          <p:nvCxnSpPr>
            <p:cNvPr id="93" name="Google Shape;93;p8"/>
            <p:cNvCxnSpPr/>
            <p:nvPr/>
          </p:nvCxnSpPr>
          <p:spPr>
            <a:xfrm>
              <a:off x="1200" y="1344"/>
              <a:ext cx="300" cy="0"/>
            </a:xfrm>
            <a:prstGeom prst="straightConnector1">
              <a:avLst/>
            </a:prstGeom>
            <a:noFill/>
            <a:ln cap="flat" cmpd="sng" w="31750">
              <a:solidFill>
                <a:schemeClr val="lt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94" name="Google Shape;94;p8"/>
            <p:cNvSpPr txBox="1"/>
            <p:nvPr/>
          </p:nvSpPr>
          <p:spPr>
            <a:xfrm>
              <a:off x="1109" y="1344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Verdana"/>
                <a:buNone/>
              </a:pPr>
              <a:r>
                <a:rPr b="1" i="0" lang="en-US" sz="2400" u="none">
                  <a:solidFill>
                    <a:schemeClr val="lt1"/>
                  </a:solidFill>
                  <a:latin typeface="Verdana"/>
                  <a:ea typeface="Verdana"/>
                  <a:cs typeface="Verdana"/>
                  <a:sym typeface="Verdana"/>
                </a:rPr>
                <a:t>MM</a:t>
              </a:r>
              <a:endParaRPr/>
            </a:p>
          </p:txBody>
        </p:sp>
      </p:grpSp>
      <p:sp>
        <p:nvSpPr>
          <p:cNvPr id="95" name="Google Shape;95;p8"/>
          <p:cNvSpPr txBox="1"/>
          <p:nvPr/>
        </p:nvSpPr>
        <p:spPr>
          <a:xfrm>
            <a:off x="392125" y="2660350"/>
            <a:ext cx="499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To solve for mass, multiply both sides by MM and cancel out on the right side:</a:t>
            </a:r>
            <a:endParaRPr sz="2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t/>
            </a:r>
            <a:endParaRPr sz="2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t/>
            </a:r>
            <a:endParaRPr sz="2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sp>
        <p:nvSpPr>
          <p:cNvPr id="96" name="Google Shape;96;p8"/>
          <p:cNvSpPr txBox="1"/>
          <p:nvPr/>
        </p:nvSpPr>
        <p:spPr>
          <a:xfrm>
            <a:off x="7686475" y="2761625"/>
            <a:ext cx="95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xMM</a:t>
            </a:r>
            <a:endParaRPr sz="240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7" name="Google Shape;97;p8"/>
          <p:cNvSpPr txBox="1"/>
          <p:nvPr/>
        </p:nvSpPr>
        <p:spPr>
          <a:xfrm>
            <a:off x="5598900" y="2660350"/>
            <a:ext cx="95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MMx</a:t>
            </a:r>
            <a:endParaRPr sz="240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98" name="Google Shape;98;p8"/>
          <p:cNvCxnSpPr/>
          <p:nvPr/>
        </p:nvCxnSpPr>
        <p:spPr>
          <a:xfrm>
            <a:off x="7924375" y="2875925"/>
            <a:ext cx="475500" cy="2286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8"/>
          <p:cNvCxnSpPr/>
          <p:nvPr/>
        </p:nvCxnSpPr>
        <p:spPr>
          <a:xfrm>
            <a:off x="7210975" y="3218825"/>
            <a:ext cx="475500" cy="2286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8"/>
          <p:cNvSpPr txBox="1"/>
          <p:nvPr/>
        </p:nvSpPr>
        <p:spPr>
          <a:xfrm>
            <a:off x="552325" y="4396525"/>
            <a:ext cx="8085300" cy="19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</a:t>
            </a: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eaving you with:     </a:t>
            </a:r>
            <a:r>
              <a:rPr b="1"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 </a:t>
            </a: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=</a:t>
            </a:r>
            <a:r>
              <a:rPr b="1"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n x MM</a:t>
            </a:r>
            <a:endParaRPr b="1" sz="2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lang="en-US" sz="24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NOTES: you do NOT have to show the rearranging on assessments and you can rearrange before or after putting in numbers although BEFORE IS RECOMMENDED</a:t>
            </a:r>
            <a:endParaRPr sz="240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/>
          <p:nvPr>
            <p:ph type="ctrTitle"/>
          </p:nvPr>
        </p:nvSpPr>
        <p:spPr>
          <a:xfrm>
            <a:off x="685800" y="3080425"/>
            <a:ext cx="7772400" cy="1828800"/>
          </a:xfrm>
          <a:prstGeom prst="rect">
            <a:avLst/>
          </a:prstGeom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Try showing the (detailed) steps to rearrange to solve for MM.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>
            <p:ph type="ctrTitle"/>
          </p:nvPr>
        </p:nvSpPr>
        <p:spPr>
          <a:xfrm>
            <a:off x="685800" y="3121175"/>
            <a:ext cx="7772400" cy="1828800"/>
          </a:xfrm>
          <a:prstGeom prst="rect">
            <a:avLst/>
          </a:prstGeom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use this equation for moles we need to calculate molar mass of compounds as well as elements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ctrTitle"/>
          </p:nvPr>
        </p:nvSpPr>
        <p:spPr>
          <a:xfrm>
            <a:off x="533400" y="76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Law of Definite Proportions</a:t>
            </a:r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457200" y="1905000"/>
            <a:ext cx="81692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 specific compound always contains the same elements in definite proportions by mass.</a:t>
            </a:r>
            <a:endParaRPr/>
          </a:p>
        </p:txBody>
      </p:sp>
      <p:sp>
        <p:nvSpPr>
          <p:cNvPr id="117" name="Google Shape;117;p11"/>
          <p:cNvSpPr txBox="1"/>
          <p:nvPr/>
        </p:nvSpPr>
        <p:spPr>
          <a:xfrm>
            <a:off x="2819400" y="1371600"/>
            <a:ext cx="193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-Definition-</a:t>
            </a:r>
            <a:endParaRPr/>
          </a:p>
        </p:txBody>
      </p:sp>
      <p:sp>
        <p:nvSpPr>
          <p:cNvPr id="118" name="Google Shape;118;p11"/>
          <p:cNvSpPr txBox="1"/>
          <p:nvPr/>
        </p:nvSpPr>
        <p:spPr>
          <a:xfrm>
            <a:off x="457200" y="4038600"/>
            <a:ext cx="8169275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Any molecule of one type of compound will always have the same subscripts.</a:t>
            </a:r>
            <a:endParaRPr/>
          </a:p>
        </p:txBody>
      </p:sp>
      <p:sp>
        <p:nvSpPr>
          <p:cNvPr id="119" name="Google Shape;119;p11"/>
          <p:cNvSpPr txBox="1"/>
          <p:nvPr/>
        </p:nvSpPr>
        <p:spPr>
          <a:xfrm>
            <a:off x="2592387" y="3505200"/>
            <a:ext cx="29702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-Layman’s Terms-</a:t>
            </a:r>
            <a:endParaRPr/>
          </a:p>
        </p:txBody>
      </p:sp>
      <p:sp>
        <p:nvSpPr>
          <p:cNvPr id="120" name="Google Shape;120;p11"/>
          <p:cNvSpPr txBox="1"/>
          <p:nvPr/>
        </p:nvSpPr>
        <p:spPr>
          <a:xfrm>
            <a:off x="457200" y="5349875"/>
            <a:ext cx="67818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Example:  All Carbon Dioxide molecules have the formula CO</a:t>
            </a:r>
            <a:r>
              <a:rPr b="0" baseline="-2500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>
            <p:ph type="ctrTitle"/>
          </p:nvPr>
        </p:nvSpPr>
        <p:spPr>
          <a:xfrm>
            <a:off x="533400" y="76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100"/>
              <a:buFont typeface="Arial"/>
              <a:buNone/>
            </a:pPr>
            <a:r>
              <a:rPr b="0" i="0" lang="en-US" sz="51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Calculating Molar Mass</a:t>
            </a:r>
            <a:endParaRPr/>
          </a:p>
        </p:txBody>
      </p:sp>
      <p:sp>
        <p:nvSpPr>
          <p:cNvPr id="126" name="Google Shape;126;p12"/>
          <p:cNvSpPr txBox="1"/>
          <p:nvPr/>
        </p:nvSpPr>
        <p:spPr>
          <a:xfrm>
            <a:off x="303425" y="1479925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What is the Molar Mass of Potassium bisul</a:t>
            </a: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fate,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KHSO</a:t>
            </a:r>
            <a:r>
              <a:rPr b="0" baseline="-2500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/>
          </a:p>
        </p:txBody>
      </p:sp>
      <p:sp>
        <p:nvSpPr>
          <p:cNvPr id="127" name="Google Shape;127;p12"/>
          <p:cNvSpPr txBox="1"/>
          <p:nvPr/>
        </p:nvSpPr>
        <p:spPr>
          <a:xfrm>
            <a:off x="365125" y="2165350"/>
            <a:ext cx="83978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Step 1)  Determine which atoms are present and how many of each there are</a:t>
            </a:r>
            <a:endParaRPr/>
          </a:p>
        </p:txBody>
      </p:sp>
      <p:sp>
        <p:nvSpPr>
          <p:cNvPr id="128" name="Google Shape;128;p12"/>
          <p:cNvSpPr txBox="1"/>
          <p:nvPr/>
        </p:nvSpPr>
        <p:spPr>
          <a:xfrm>
            <a:off x="533400" y="4419600"/>
            <a:ext cx="1122362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 X O</a:t>
            </a:r>
            <a:endParaRPr/>
          </a:p>
        </p:txBody>
      </p:sp>
      <p:sp>
        <p:nvSpPr>
          <p:cNvPr id="129" name="Google Shape;129;p12"/>
          <p:cNvSpPr txBox="1"/>
          <p:nvPr/>
        </p:nvSpPr>
        <p:spPr>
          <a:xfrm>
            <a:off x="5351100" y="3521250"/>
            <a:ext cx="3029100" cy="22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If you feel confident, complete the chart on your note </a:t>
            </a:r>
            <a:endParaRPr sz="19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3780900" y="6043050"/>
            <a:ext cx="49821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NOTE: can also be named potassium hydrogen sulfate</a:t>
            </a:r>
            <a:endParaRPr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>
            <p:ph type="ctrTitle"/>
          </p:nvPr>
        </p:nvSpPr>
        <p:spPr>
          <a:xfrm>
            <a:off x="533400" y="76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100"/>
              <a:buFont typeface="Arial"/>
              <a:buNone/>
            </a:pPr>
            <a:r>
              <a:rPr b="0" i="0" lang="en-US" sz="51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Calculating Molar Mass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473075" y="990600"/>
            <a:ext cx="5441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What is the Molar Mass of KHSO</a:t>
            </a:r>
            <a:r>
              <a:rPr b="0" baseline="-2500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381000" y="1676400"/>
            <a:ext cx="83978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Step 1)  Determine which atoms are present and how many of each there are.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533400" y="4389425"/>
            <a:ext cx="1503600" cy="16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K =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H =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S =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 X O =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381000" y="2590800"/>
            <a:ext cx="83978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Step 2)  Substitute the atomic weight from your periodic table in for each atom.</a:t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2036900" y="4389425"/>
            <a:ext cx="2606700" cy="16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9.1 g/mol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1.01 g/mol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32.1 g/mol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 X 16.0 g/mol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/>
        </p:nvSpPr>
        <p:spPr>
          <a:xfrm>
            <a:off x="533400" y="4397375"/>
            <a:ext cx="2606675" cy="169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39.1 g/mol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1.01 g/mol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32.1 g/mol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 X 16.0 g/mol</a:t>
            </a:r>
            <a:endParaRPr/>
          </a:p>
        </p:txBody>
      </p:sp>
      <p:sp>
        <p:nvSpPr>
          <p:cNvPr id="146" name="Google Shape;146;p14"/>
          <p:cNvSpPr txBox="1"/>
          <p:nvPr>
            <p:ph type="ctrTitle"/>
          </p:nvPr>
        </p:nvSpPr>
        <p:spPr>
          <a:xfrm>
            <a:off x="533400" y="76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100"/>
              <a:buFont typeface="Arial"/>
              <a:buNone/>
            </a:pPr>
            <a:r>
              <a:rPr b="0" i="0" lang="en-US" sz="51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Calculating Molar Mass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473075" y="990600"/>
            <a:ext cx="5441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What is the Molar Mass of KHSO</a:t>
            </a:r>
            <a:r>
              <a:rPr b="0" baseline="-2500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381000" y="1676400"/>
            <a:ext cx="83978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Step 1)  Determine which atoms are present and how many of each there are.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381000" y="2590800"/>
            <a:ext cx="83978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Step 2)  Substitute the atomic weight from your periodic table in for each atom.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381000" y="3505200"/>
            <a:ext cx="83978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Step 3)  Perform any required multiplication and add all of the MM’s up.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533400" y="4400550"/>
            <a:ext cx="4767262" cy="169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39.1 g/mol = 39.1 g/mol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1.01 g/mol = 1.01 g/mol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 X 32.1 g/mol = 32.1 g/mol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 X 16.0 g/mol = 64.0 g/mol</a:t>
            </a:r>
            <a:endParaRPr/>
          </a:p>
        </p:txBody>
      </p:sp>
      <p:cxnSp>
        <p:nvCxnSpPr>
          <p:cNvPr id="152" name="Google Shape;152;p14"/>
          <p:cNvCxnSpPr/>
          <p:nvPr/>
        </p:nvCxnSpPr>
        <p:spPr>
          <a:xfrm>
            <a:off x="3352800" y="6153150"/>
            <a:ext cx="18288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3" name="Google Shape;153;p14"/>
          <p:cNvSpPr txBox="1"/>
          <p:nvPr/>
        </p:nvSpPr>
        <p:spPr>
          <a:xfrm>
            <a:off x="3184525" y="6172200"/>
            <a:ext cx="20732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136.2 g/mol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type="ctrTitle"/>
          </p:nvPr>
        </p:nvSpPr>
        <p:spPr>
          <a:xfrm>
            <a:off x="533400" y="76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100"/>
              <a:buFont typeface="Arial"/>
              <a:buNone/>
            </a:pPr>
            <a:r>
              <a:rPr lang="en-US" sz="5100"/>
              <a:t>Using the equations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365125" y="1311275"/>
            <a:ext cx="76308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How many moles of </a:t>
            </a: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KHSO</a:t>
            </a:r>
            <a:r>
              <a:rPr baseline="-25000"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 </a:t>
            </a: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are in 250g?  Solve on your whiteboards. 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373050" y="4179675"/>
            <a:ext cx="83979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How many moles of H</a:t>
            </a:r>
            <a:r>
              <a:rPr baseline="-25000"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</a:t>
            </a:r>
            <a:r>
              <a:rPr baseline="-25000"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are in 18.02 g?  Solve on your whiteboards.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liff">
  <a:themeElements>
    <a:clrScheme name="Cliff 5">
      <a:dk1>
        <a:srgbClr val="009999"/>
      </a:dk1>
      <a:lt1>
        <a:srgbClr val="EAEAEA"/>
      </a:lt1>
      <a:dk2>
        <a:srgbClr val="006666"/>
      </a:dk2>
      <a:lt2>
        <a:srgbClr val="FFFFCC"/>
      </a:lt2>
      <a:accent1>
        <a:srgbClr val="339966"/>
      </a:accent1>
      <a:accent2>
        <a:srgbClr val="5E855B"/>
      </a:accent2>
      <a:accent3>
        <a:srgbClr val="AAB8B8"/>
      </a:accent3>
      <a:accent4>
        <a:srgbClr val="C8C8C8"/>
      </a:accent4>
      <a:accent5>
        <a:srgbClr val="ADCAB8"/>
      </a:accent5>
      <a:accent6>
        <a:srgbClr val="547852"/>
      </a:accent6>
      <a:hlink>
        <a:srgbClr val="EEC85E"/>
      </a:hlink>
      <a:folHlink>
        <a:srgbClr val="AA845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