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6858000" cx="8229600"/>
  <p:notesSz cx="6858000" cy="9144000"/>
  <p:embeddedFontLst>
    <p:embeddedFont>
      <p:font typeface="Nunito"/>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59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592"/>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Nunito-regular.fntdata"/><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Nunito-italic.fntdata"/><Relationship Id="rId47" Type="http://schemas.openxmlformats.org/officeDocument/2006/relationships/font" Target="fonts/Nunito-bold.fntdata"/><Relationship Id="rId49" Type="http://schemas.openxmlformats.org/officeDocument/2006/relationships/font" Target="fonts/Nuni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371909" y="685800"/>
            <a:ext cx="41148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1371909"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613ff4a986_0_68:notes"/>
          <p:cNvSpPr/>
          <p:nvPr>
            <p:ph idx="2" type="sldImg"/>
          </p:nvPr>
        </p:nvSpPr>
        <p:spPr>
          <a:xfrm>
            <a:off x="1371909"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613ff4a986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99c238c8ca_0_10: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99c238c8c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856b4c5f1b_0_15: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856b4c5f1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856b4c5f1b_0_307: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856b4c5f1b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856b4c5f1b_0_317: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856b4c5f1b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613ff4a986_0_0: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613ff4a98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856b4c5f1b_0_347: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856b4c5f1b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856b4c5f1b_0_337: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856b4c5f1b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856b4c5f1b_37_0: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856b4c5f1b_3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856b4c5f1b_0_342: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856b4c5f1b_0_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856b4c5f1b_0_352: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856b4c5f1b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781665ef2d_0_16: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781665ef2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613ff4a986_0_14:notes"/>
          <p:cNvSpPr/>
          <p:nvPr>
            <p:ph idx="2" type="sldImg"/>
          </p:nvPr>
        </p:nvSpPr>
        <p:spPr>
          <a:xfrm>
            <a:off x="1371909"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613ff4a98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856b4c5f1b_0_357: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856b4c5f1b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856b4c5f1b_37_5:notes"/>
          <p:cNvSpPr/>
          <p:nvPr>
            <p:ph idx="2" type="sldImg"/>
          </p:nvPr>
        </p:nvSpPr>
        <p:spPr>
          <a:xfrm>
            <a:off x="1371909"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856b4c5f1b_37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856b4c5f1b_0_362: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856b4c5f1b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856b4c5f1b_0_372: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856b4c5f1b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856b4c5f1b_0_387:notes"/>
          <p:cNvSpPr/>
          <p:nvPr>
            <p:ph idx="2" type="sldImg"/>
          </p:nvPr>
        </p:nvSpPr>
        <p:spPr>
          <a:xfrm>
            <a:off x="1371909"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856b4c5f1b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613ff4a986_0_40: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613ff4a98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856b4c5f1b_0_377: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856b4c5f1b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856b4c5f1b_0_397: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856b4c5f1b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856b4c5f1b_0_402:notes"/>
          <p:cNvSpPr/>
          <p:nvPr>
            <p:ph idx="2" type="sldImg"/>
          </p:nvPr>
        </p:nvSpPr>
        <p:spPr>
          <a:xfrm>
            <a:off x="1371909"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856b4c5f1b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613ff4a986_0_47: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613ff4a986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613ff4a986_0_53: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613ff4a986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613ff4a986_0_58: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613ff4a986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856b4c5f1b_0_392: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856b4c5f1b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856b4c5f1b_0_417:notes"/>
          <p:cNvSpPr/>
          <p:nvPr>
            <p:ph idx="2" type="sldImg"/>
          </p:nvPr>
        </p:nvSpPr>
        <p:spPr>
          <a:xfrm>
            <a:off x="1371909"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856b4c5f1b_0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856b4c5f1b_0_407:notes"/>
          <p:cNvSpPr/>
          <p:nvPr>
            <p:ph idx="2" type="sldImg"/>
          </p:nvPr>
        </p:nvSpPr>
        <p:spPr>
          <a:xfrm>
            <a:off x="1371909"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856b4c5f1b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856b4c5f1b_0_382: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856b4c5f1b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856b4c5f1b_0_412: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856b4c5f1b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856b4c5f1b_0_367:notes"/>
          <p:cNvSpPr/>
          <p:nvPr>
            <p:ph idx="2" type="sldImg"/>
          </p:nvPr>
        </p:nvSpPr>
        <p:spPr>
          <a:xfrm>
            <a:off x="1371909"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856b4c5f1b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781665ef2d_0_344: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781665ef2d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856b4c5f1b_0_327: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856b4c5f1b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781665ef2d_0_11: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781665ef2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856b4c5f1b_0_322: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856b4c5f1b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781665ef2d_0_0: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781665ef2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781665ef2d_0_274: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781665ef2d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8550ceae1c_0_0: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8550ceae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SLIDES_API741900781_0:notes"/>
          <p:cNvSpPr/>
          <p:nvPr>
            <p:ph idx="2" type="sldImg"/>
          </p:nvPr>
        </p:nvSpPr>
        <p:spPr>
          <a:xfrm>
            <a:off x="13719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SLIDES_API74190078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80538" y="992767"/>
            <a:ext cx="7668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80530" y="3778833"/>
            <a:ext cx="7668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7625212" y="6217622"/>
            <a:ext cx="4938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80530" y="2867800"/>
            <a:ext cx="7668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7625212" y="6217622"/>
            <a:ext cx="4938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80530" y="593367"/>
            <a:ext cx="7668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80530" y="1536633"/>
            <a:ext cx="7668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7625212" y="6217622"/>
            <a:ext cx="4938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80530" y="593367"/>
            <a:ext cx="7668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80530" y="1536633"/>
            <a:ext cx="36000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349160" y="1536633"/>
            <a:ext cx="36000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7625212" y="6217622"/>
            <a:ext cx="4938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80530" y="593367"/>
            <a:ext cx="7668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7625212" y="6217622"/>
            <a:ext cx="4938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80530" y="740800"/>
            <a:ext cx="25272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80530" y="1852800"/>
            <a:ext cx="25272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7625212" y="6217622"/>
            <a:ext cx="4938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41225" y="600200"/>
            <a:ext cx="57309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7625212" y="6217622"/>
            <a:ext cx="4938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114800" y="-167"/>
            <a:ext cx="41148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38950" y="1644233"/>
            <a:ext cx="36408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38950" y="3737433"/>
            <a:ext cx="36408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445550" y="965433"/>
            <a:ext cx="34533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7625212" y="6217622"/>
            <a:ext cx="4938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80530" y="5640767"/>
            <a:ext cx="53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7625212" y="6217622"/>
            <a:ext cx="4938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80530" y="1474833"/>
            <a:ext cx="7668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80530" y="4202967"/>
            <a:ext cx="7668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7625212" y="6217622"/>
            <a:ext cx="4938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7625212" y="6217622"/>
            <a:ext cx="4938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AUTOLAYOUT">
    <p:spTree>
      <p:nvGrpSpPr>
        <p:cNvPr id="50" name="Shape 50"/>
        <p:cNvGrpSpPr/>
        <p:nvPr/>
      </p:nvGrpSpPr>
      <p:grpSpPr>
        <a:xfrm>
          <a:off x="0" y="0"/>
          <a:ext cx="0" cy="0"/>
          <a:chOff x="0" y="0"/>
          <a:chExt cx="0" cy="0"/>
        </a:xfrm>
      </p:grpSpPr>
      <p:sp>
        <p:nvSpPr>
          <p:cNvPr id="51" name="Google Shape;51;p13"/>
          <p:cNvSpPr/>
          <p:nvPr/>
        </p:nvSpPr>
        <p:spPr>
          <a:xfrm>
            <a:off x="0" y="0"/>
            <a:ext cx="8229600" cy="68580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3"/>
          <p:cNvSpPr/>
          <p:nvPr/>
        </p:nvSpPr>
        <p:spPr>
          <a:xfrm>
            <a:off x="3007170" y="419833"/>
            <a:ext cx="4937700" cy="6017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3"/>
          <p:cNvSpPr/>
          <p:nvPr/>
        </p:nvSpPr>
        <p:spPr>
          <a:xfrm>
            <a:off x="0" y="0"/>
            <a:ext cx="274320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3"/>
          <p:cNvSpPr/>
          <p:nvPr/>
        </p:nvSpPr>
        <p:spPr>
          <a:xfrm>
            <a:off x="3007170" y="419833"/>
            <a:ext cx="4937700" cy="1512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3"/>
          <p:cNvSpPr txBox="1"/>
          <p:nvPr>
            <p:ph type="title"/>
          </p:nvPr>
        </p:nvSpPr>
        <p:spPr>
          <a:xfrm>
            <a:off x="313470" y="570933"/>
            <a:ext cx="2116200" cy="5866500"/>
          </a:xfrm>
          <a:prstGeom prst="rect">
            <a:avLst/>
          </a:prstGeom>
          <a:noFill/>
        </p:spPr>
        <p:txBody>
          <a:bodyPr anchorCtr="0" anchor="t" bIns="91425" lIns="91425" spcFirstLastPara="1" rIns="91425" wrap="square" tIns="91425">
            <a:noAutofit/>
          </a:bodyPr>
          <a:lstStyle>
            <a:lvl1pPr lvl="0" algn="l">
              <a:lnSpc>
                <a:spcPct val="100000"/>
              </a:lnSpc>
              <a:spcBef>
                <a:spcPts val="0"/>
              </a:spcBef>
              <a:spcAft>
                <a:spcPts val="0"/>
              </a:spcAft>
              <a:buClr>
                <a:srgbClr val="FFFFFF"/>
              </a:buClr>
              <a:buSzPts val="2800"/>
              <a:buNone/>
              <a:defRPr b="1" sz="2800">
                <a:solidFill>
                  <a:srgbClr val="FFFFFF"/>
                </a:solidFill>
              </a:defRPr>
            </a:lvl1pPr>
            <a:lvl2pPr lvl="1" algn="l">
              <a:lnSpc>
                <a:spcPct val="100000"/>
              </a:lnSpc>
              <a:spcBef>
                <a:spcPts val="0"/>
              </a:spcBef>
              <a:spcAft>
                <a:spcPts val="0"/>
              </a:spcAft>
              <a:buClr>
                <a:srgbClr val="FFFFFF"/>
              </a:buClr>
              <a:buSzPts val="2800"/>
              <a:buNone/>
              <a:defRPr b="1" sz="2800">
                <a:solidFill>
                  <a:srgbClr val="FFFFFF"/>
                </a:solidFill>
              </a:defRPr>
            </a:lvl2pPr>
            <a:lvl3pPr lvl="2" algn="l">
              <a:lnSpc>
                <a:spcPct val="100000"/>
              </a:lnSpc>
              <a:spcBef>
                <a:spcPts val="0"/>
              </a:spcBef>
              <a:spcAft>
                <a:spcPts val="0"/>
              </a:spcAft>
              <a:buClr>
                <a:srgbClr val="FFFFFF"/>
              </a:buClr>
              <a:buSzPts val="2800"/>
              <a:buNone/>
              <a:defRPr b="1" sz="2800">
                <a:solidFill>
                  <a:srgbClr val="FFFFFF"/>
                </a:solidFill>
              </a:defRPr>
            </a:lvl3pPr>
            <a:lvl4pPr lvl="3" algn="l">
              <a:lnSpc>
                <a:spcPct val="100000"/>
              </a:lnSpc>
              <a:spcBef>
                <a:spcPts val="0"/>
              </a:spcBef>
              <a:spcAft>
                <a:spcPts val="0"/>
              </a:spcAft>
              <a:buClr>
                <a:srgbClr val="FFFFFF"/>
              </a:buClr>
              <a:buSzPts val="2800"/>
              <a:buNone/>
              <a:defRPr b="1" sz="2800">
                <a:solidFill>
                  <a:srgbClr val="FFFFFF"/>
                </a:solidFill>
              </a:defRPr>
            </a:lvl4pPr>
            <a:lvl5pPr lvl="4" algn="l">
              <a:lnSpc>
                <a:spcPct val="100000"/>
              </a:lnSpc>
              <a:spcBef>
                <a:spcPts val="0"/>
              </a:spcBef>
              <a:spcAft>
                <a:spcPts val="0"/>
              </a:spcAft>
              <a:buClr>
                <a:srgbClr val="FFFFFF"/>
              </a:buClr>
              <a:buSzPts val="2800"/>
              <a:buNone/>
              <a:defRPr b="1" sz="2800">
                <a:solidFill>
                  <a:srgbClr val="FFFFFF"/>
                </a:solidFill>
              </a:defRPr>
            </a:lvl5pPr>
            <a:lvl6pPr lvl="5" algn="l">
              <a:lnSpc>
                <a:spcPct val="100000"/>
              </a:lnSpc>
              <a:spcBef>
                <a:spcPts val="0"/>
              </a:spcBef>
              <a:spcAft>
                <a:spcPts val="0"/>
              </a:spcAft>
              <a:buClr>
                <a:srgbClr val="FFFFFF"/>
              </a:buClr>
              <a:buSzPts val="2800"/>
              <a:buNone/>
              <a:defRPr b="1" sz="2800">
                <a:solidFill>
                  <a:srgbClr val="FFFFFF"/>
                </a:solidFill>
              </a:defRPr>
            </a:lvl6pPr>
            <a:lvl7pPr lvl="6" algn="l">
              <a:lnSpc>
                <a:spcPct val="100000"/>
              </a:lnSpc>
              <a:spcBef>
                <a:spcPts val="0"/>
              </a:spcBef>
              <a:spcAft>
                <a:spcPts val="0"/>
              </a:spcAft>
              <a:buClr>
                <a:srgbClr val="FFFFFF"/>
              </a:buClr>
              <a:buSzPts val="2800"/>
              <a:buNone/>
              <a:defRPr b="1" sz="2800">
                <a:solidFill>
                  <a:srgbClr val="FFFFFF"/>
                </a:solidFill>
              </a:defRPr>
            </a:lvl7pPr>
            <a:lvl8pPr lvl="7" algn="l">
              <a:lnSpc>
                <a:spcPct val="100000"/>
              </a:lnSpc>
              <a:spcBef>
                <a:spcPts val="0"/>
              </a:spcBef>
              <a:spcAft>
                <a:spcPts val="0"/>
              </a:spcAft>
              <a:buClr>
                <a:srgbClr val="FFFFFF"/>
              </a:buClr>
              <a:buSzPts val="2800"/>
              <a:buNone/>
              <a:defRPr b="1" sz="2800">
                <a:solidFill>
                  <a:srgbClr val="FFFFFF"/>
                </a:solidFill>
              </a:defRPr>
            </a:lvl8pPr>
            <a:lvl9pPr lvl="8" algn="l">
              <a:lnSpc>
                <a:spcPct val="100000"/>
              </a:lnSpc>
              <a:spcBef>
                <a:spcPts val="0"/>
              </a:spcBef>
              <a:spcAft>
                <a:spcPts val="0"/>
              </a:spcAft>
              <a:buClr>
                <a:srgbClr val="FFFFFF"/>
              </a:buClr>
              <a:buSzPts val="2800"/>
              <a:buNone/>
              <a:defRPr b="1" sz="2800">
                <a:solidFill>
                  <a:srgbClr val="FFFFFF"/>
                </a:solidFill>
              </a:defRPr>
            </a:lvl9pPr>
          </a:lstStyle>
          <a:p/>
        </p:txBody>
      </p:sp>
      <p:sp>
        <p:nvSpPr>
          <p:cNvPr id="56" name="Google Shape;56;p13"/>
          <p:cNvSpPr txBox="1"/>
          <p:nvPr>
            <p:ph idx="1" type="body"/>
          </p:nvPr>
        </p:nvSpPr>
        <p:spPr>
          <a:xfrm>
            <a:off x="3185393" y="791867"/>
            <a:ext cx="4581300" cy="5348700"/>
          </a:xfrm>
          <a:prstGeom prst="rect">
            <a:avLst/>
          </a:prstGeom>
          <a:noFill/>
        </p:spPr>
        <p:txBody>
          <a:bodyPr anchorCtr="0" anchor="t" bIns="91425" lIns="91425" spcFirstLastPara="1" rIns="91425" wrap="square" tIns="91425">
            <a:noAutofit/>
          </a:bodyPr>
          <a:lstStyle>
            <a:lvl1pPr indent="-317500" lvl="0" marL="457200" algn="l">
              <a:lnSpc>
                <a:spcPct val="115000"/>
              </a:lnSpc>
              <a:spcBef>
                <a:spcPts val="0"/>
              </a:spcBef>
              <a:spcAft>
                <a:spcPts val="0"/>
              </a:spcAft>
              <a:buClr>
                <a:srgbClr val="666666"/>
              </a:buClr>
              <a:buSzPts val="1400"/>
              <a:buChar char="●"/>
              <a:defRPr sz="1400">
                <a:solidFill>
                  <a:srgbClr val="666666"/>
                </a:solidFill>
              </a:defRPr>
            </a:lvl1pPr>
            <a:lvl2pPr indent="-304800" lvl="1" marL="914400" algn="l">
              <a:lnSpc>
                <a:spcPct val="115000"/>
              </a:lnSpc>
              <a:spcBef>
                <a:spcPts val="1600"/>
              </a:spcBef>
              <a:spcAft>
                <a:spcPts val="0"/>
              </a:spcAft>
              <a:buClr>
                <a:srgbClr val="666666"/>
              </a:buClr>
              <a:buSzPts val="1200"/>
              <a:buChar char="○"/>
              <a:defRPr sz="1200">
                <a:solidFill>
                  <a:srgbClr val="666666"/>
                </a:solidFill>
              </a:defRPr>
            </a:lvl2pPr>
            <a:lvl3pPr indent="-304800" lvl="2" marL="1371600" algn="l">
              <a:lnSpc>
                <a:spcPct val="115000"/>
              </a:lnSpc>
              <a:spcBef>
                <a:spcPts val="1600"/>
              </a:spcBef>
              <a:spcAft>
                <a:spcPts val="0"/>
              </a:spcAft>
              <a:buClr>
                <a:srgbClr val="666666"/>
              </a:buClr>
              <a:buSzPts val="1200"/>
              <a:buChar char="■"/>
              <a:defRPr sz="1200">
                <a:solidFill>
                  <a:srgbClr val="666666"/>
                </a:solidFill>
              </a:defRPr>
            </a:lvl3pPr>
            <a:lvl4pPr indent="-304800" lvl="3" marL="1828800" algn="l">
              <a:lnSpc>
                <a:spcPct val="115000"/>
              </a:lnSpc>
              <a:spcBef>
                <a:spcPts val="1600"/>
              </a:spcBef>
              <a:spcAft>
                <a:spcPts val="0"/>
              </a:spcAft>
              <a:buClr>
                <a:srgbClr val="666666"/>
              </a:buClr>
              <a:buSzPts val="1200"/>
              <a:buChar char="●"/>
              <a:defRPr sz="1200">
                <a:solidFill>
                  <a:srgbClr val="666666"/>
                </a:solidFill>
              </a:defRPr>
            </a:lvl4pPr>
            <a:lvl5pPr indent="-304800" lvl="4" marL="2286000" algn="l">
              <a:lnSpc>
                <a:spcPct val="115000"/>
              </a:lnSpc>
              <a:spcBef>
                <a:spcPts val="1600"/>
              </a:spcBef>
              <a:spcAft>
                <a:spcPts val="0"/>
              </a:spcAft>
              <a:buClr>
                <a:srgbClr val="666666"/>
              </a:buClr>
              <a:buSzPts val="1200"/>
              <a:buChar char="○"/>
              <a:defRPr sz="1200">
                <a:solidFill>
                  <a:srgbClr val="666666"/>
                </a:solidFill>
              </a:defRPr>
            </a:lvl5pPr>
            <a:lvl6pPr indent="-304800" lvl="5" marL="2743200" algn="l">
              <a:lnSpc>
                <a:spcPct val="115000"/>
              </a:lnSpc>
              <a:spcBef>
                <a:spcPts val="1600"/>
              </a:spcBef>
              <a:spcAft>
                <a:spcPts val="0"/>
              </a:spcAft>
              <a:buClr>
                <a:srgbClr val="666666"/>
              </a:buClr>
              <a:buSzPts val="1200"/>
              <a:buChar char="■"/>
              <a:defRPr sz="1200">
                <a:solidFill>
                  <a:srgbClr val="666666"/>
                </a:solidFill>
              </a:defRPr>
            </a:lvl6pPr>
            <a:lvl7pPr indent="-304800" lvl="6" marL="3200400" algn="l">
              <a:lnSpc>
                <a:spcPct val="115000"/>
              </a:lnSpc>
              <a:spcBef>
                <a:spcPts val="1600"/>
              </a:spcBef>
              <a:spcAft>
                <a:spcPts val="0"/>
              </a:spcAft>
              <a:buClr>
                <a:srgbClr val="666666"/>
              </a:buClr>
              <a:buSzPts val="1200"/>
              <a:buChar char="●"/>
              <a:defRPr sz="1200">
                <a:solidFill>
                  <a:srgbClr val="666666"/>
                </a:solidFill>
              </a:defRPr>
            </a:lvl7pPr>
            <a:lvl8pPr indent="-304800" lvl="7" marL="3657600" algn="l">
              <a:lnSpc>
                <a:spcPct val="115000"/>
              </a:lnSpc>
              <a:spcBef>
                <a:spcPts val="1600"/>
              </a:spcBef>
              <a:spcAft>
                <a:spcPts val="0"/>
              </a:spcAft>
              <a:buClr>
                <a:srgbClr val="666666"/>
              </a:buClr>
              <a:buSzPts val="1200"/>
              <a:buChar char="○"/>
              <a:defRPr sz="1200">
                <a:solidFill>
                  <a:srgbClr val="666666"/>
                </a:solidFill>
              </a:defRPr>
            </a:lvl8pPr>
            <a:lvl9pPr indent="-304800" lvl="8" marL="4114800" algn="l">
              <a:lnSpc>
                <a:spcPct val="115000"/>
              </a:lnSpc>
              <a:spcBef>
                <a:spcPts val="1600"/>
              </a:spcBef>
              <a:spcAft>
                <a:spcPts val="1600"/>
              </a:spcAft>
              <a:buClr>
                <a:srgbClr val="666666"/>
              </a:buClr>
              <a:buSzPts val="1200"/>
              <a:buChar char="■"/>
              <a:defRPr sz="1200">
                <a:solidFill>
                  <a:srgbClr val="666666"/>
                </a:solidFill>
              </a:defRPr>
            </a:lvl9pPr>
          </a:lstStyle>
          <a:p/>
        </p:txBody>
      </p:sp>
      <p:sp>
        <p:nvSpPr>
          <p:cNvPr id="57" name="Google Shape;57;p13"/>
          <p:cNvSpPr txBox="1"/>
          <p:nvPr>
            <p:ph idx="12" type="sldNum"/>
          </p:nvPr>
        </p:nvSpPr>
        <p:spPr>
          <a:xfrm>
            <a:off x="7625212" y="6217622"/>
            <a:ext cx="493800" cy="524700"/>
          </a:xfrm>
          <a:prstGeom prst="rect">
            <a:avLst/>
          </a:prstGeom>
          <a:noFill/>
        </p:spPr>
        <p:txBody>
          <a:bodyPr anchorCtr="0" anchor="ctr" bIns="91425" lIns="91425" spcFirstLastPara="1" rIns="91425" wrap="square" tIns="91425">
            <a:noAutofit/>
          </a:bodyPr>
          <a:lstStyle>
            <a:lvl1pPr lvl="0" algn="r">
              <a:lnSpc>
                <a:spcPct val="100000"/>
              </a:lnSpc>
              <a:spcAft>
                <a:spcPts val="0"/>
              </a:spcAft>
              <a:buNone/>
              <a:defRPr sz="1000">
                <a:solidFill>
                  <a:srgbClr val="666666"/>
                </a:solidFill>
              </a:defRPr>
            </a:lvl1pPr>
            <a:lvl2pPr lvl="1" algn="r">
              <a:lnSpc>
                <a:spcPct val="100000"/>
              </a:lnSpc>
              <a:spcAft>
                <a:spcPts val="0"/>
              </a:spcAft>
              <a:buNone/>
              <a:defRPr sz="1000">
                <a:solidFill>
                  <a:srgbClr val="666666"/>
                </a:solidFill>
              </a:defRPr>
            </a:lvl2pPr>
            <a:lvl3pPr lvl="2" algn="r">
              <a:lnSpc>
                <a:spcPct val="100000"/>
              </a:lnSpc>
              <a:spcAft>
                <a:spcPts val="0"/>
              </a:spcAft>
              <a:buNone/>
              <a:defRPr sz="1000">
                <a:solidFill>
                  <a:srgbClr val="666666"/>
                </a:solidFill>
              </a:defRPr>
            </a:lvl3pPr>
            <a:lvl4pPr lvl="3" algn="r">
              <a:lnSpc>
                <a:spcPct val="100000"/>
              </a:lnSpc>
              <a:spcAft>
                <a:spcPts val="0"/>
              </a:spcAft>
              <a:buNone/>
              <a:defRPr sz="1000">
                <a:solidFill>
                  <a:srgbClr val="666666"/>
                </a:solidFill>
              </a:defRPr>
            </a:lvl4pPr>
            <a:lvl5pPr lvl="4" algn="r">
              <a:lnSpc>
                <a:spcPct val="100000"/>
              </a:lnSpc>
              <a:spcAft>
                <a:spcPts val="0"/>
              </a:spcAft>
              <a:buNone/>
              <a:defRPr sz="1000">
                <a:solidFill>
                  <a:srgbClr val="666666"/>
                </a:solidFill>
              </a:defRPr>
            </a:lvl5pPr>
            <a:lvl6pPr lvl="5" algn="r">
              <a:lnSpc>
                <a:spcPct val="100000"/>
              </a:lnSpc>
              <a:spcAft>
                <a:spcPts val="0"/>
              </a:spcAft>
              <a:buNone/>
              <a:defRPr sz="1000">
                <a:solidFill>
                  <a:srgbClr val="666666"/>
                </a:solidFill>
              </a:defRPr>
            </a:lvl6pPr>
            <a:lvl7pPr lvl="6" algn="r">
              <a:lnSpc>
                <a:spcPct val="100000"/>
              </a:lnSpc>
              <a:spcAft>
                <a:spcPts val="0"/>
              </a:spcAft>
              <a:buNone/>
              <a:defRPr sz="1000">
                <a:solidFill>
                  <a:srgbClr val="666666"/>
                </a:solidFill>
              </a:defRPr>
            </a:lvl7pPr>
            <a:lvl8pPr lvl="7" algn="r">
              <a:lnSpc>
                <a:spcPct val="100000"/>
              </a:lnSpc>
              <a:spcAft>
                <a:spcPts val="0"/>
              </a:spcAft>
              <a:buNone/>
              <a:defRPr sz="1000">
                <a:solidFill>
                  <a:srgbClr val="666666"/>
                </a:solidFill>
              </a:defRPr>
            </a:lvl8pPr>
            <a:lvl9pPr lvl="8" algn="r">
              <a:lnSpc>
                <a:spcPct val="100000"/>
              </a:lnSpc>
              <a:spcAft>
                <a:spcPts val="0"/>
              </a:spcAft>
              <a:buNone/>
              <a:defRPr sz="1000">
                <a:solidFill>
                  <a:srgbClr val="666666"/>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80530" y="593367"/>
            <a:ext cx="7668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80530" y="1536633"/>
            <a:ext cx="7668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7625212" y="6217622"/>
            <a:ext cx="4938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docs.google.com/document/d/17UBQ5IykPk9Msw-5cyy9_xYNL1nuyejoFl04jVJaBa0/edit?pli=1"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hyperlink" Target="http://drive.google.com/file/d/15DiZrICmWg-PRJ47dna_qexSD9sWGgyQ/view" TargetMode="External"/><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hyperlink" Target="http://drive.google.com/file/d/10GFkoc4wiKoXy77pZLGhsVk4UY214wLb/view" TargetMode="External"/><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hyperlink" Target="http://drive.google.com/file/d/1aF9xyy9_zk47K958PgVC1JRg00nTgx85/view" TargetMode="External"/><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hyperlink" Target="http://www.youtube.com/watch?v=XBYJkQ5_j7w" TargetMode="External"/><Relationship Id="rId5"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hyperlink" Target="http://drive.google.com/file/d/1eDjuMFWvtHwzfGEO4c38pGjRKZsSLlFw/view" TargetMode="External"/><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hyperlink" Target="https://docs.google.com/document/d/17UBQ5IykPk9Msw-5cyy9_xYNL1nuyejoFl04jVJaBa0/edit?pli=1"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hyperlink" Target="http://drive.google.com/file/d/1FF_8zMFzPuD3EpvFZMxJ4P02omQckoFQ/view" TargetMode="External"/><Relationship Id="rId5"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hyperlink" Target="http://www.youtube.com/watch?v=GggwtUYo9UU" TargetMode="External"/><Relationship Id="rId5" Type="http://schemas.openxmlformats.org/officeDocument/2006/relationships/image" Target="../media/image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hyperlink" Target="http://www.youtube.com/watch?v=nZOVR8EMwRU" TargetMode="External"/><Relationship Id="rId4" Type="http://schemas.openxmlformats.org/officeDocument/2006/relationships/image" Target="../media/image14.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 Id="rId3" Type="http://schemas.openxmlformats.org/officeDocument/2006/relationships/image" Target="../media/image8.jp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1" name="Shape 61"/>
        <p:cNvGrpSpPr/>
        <p:nvPr/>
      </p:nvGrpSpPr>
      <p:grpSpPr>
        <a:xfrm>
          <a:off x="0" y="0"/>
          <a:ext cx="0" cy="0"/>
          <a:chOff x="0" y="0"/>
          <a:chExt cx="0" cy="0"/>
        </a:xfrm>
      </p:grpSpPr>
      <p:sp>
        <p:nvSpPr>
          <p:cNvPr id="62" name="Google Shape;62;p14"/>
          <p:cNvSpPr txBox="1"/>
          <p:nvPr>
            <p:ph type="ctrTitle"/>
          </p:nvPr>
        </p:nvSpPr>
        <p:spPr>
          <a:xfrm>
            <a:off x="569850" y="1507049"/>
            <a:ext cx="7089900" cy="3843900"/>
          </a:xfrm>
          <a:prstGeom prst="rect">
            <a:avLst/>
          </a:prstGeom>
          <a:solidFill>
            <a:schemeClr val="lt1"/>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t>Limiting Reactions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6" name="Shape 66"/>
        <p:cNvGrpSpPr/>
        <p:nvPr/>
      </p:nvGrpSpPr>
      <p:grpSpPr>
        <a:xfrm>
          <a:off x="0" y="0"/>
          <a:ext cx="0" cy="0"/>
          <a:chOff x="0" y="0"/>
          <a:chExt cx="0" cy="0"/>
        </a:xfrm>
      </p:grpSpPr>
      <p:sp>
        <p:nvSpPr>
          <p:cNvPr id="67" name="Google Shape;67;p15"/>
          <p:cNvSpPr txBox="1"/>
          <p:nvPr>
            <p:ph type="ctrTitle"/>
          </p:nvPr>
        </p:nvSpPr>
        <p:spPr>
          <a:xfrm>
            <a:off x="280538" y="992767"/>
            <a:ext cx="7668600" cy="2736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See origi al nearpod for quiz </a:t>
            </a:r>
            <a:r>
              <a:rPr lang="en"/>
              <a:t>questions to add in future</a:t>
            </a:r>
            <a:endParaRPr/>
          </a:p>
        </p:txBody>
      </p:sp>
      <p:sp>
        <p:nvSpPr>
          <p:cNvPr id="68" name="Google Shape;68;p15"/>
          <p:cNvSpPr txBox="1"/>
          <p:nvPr>
            <p:ph idx="1" type="subTitle"/>
          </p:nvPr>
        </p:nvSpPr>
        <p:spPr>
          <a:xfrm>
            <a:off x="280530" y="3778833"/>
            <a:ext cx="7668600" cy="10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solidFill>
                  <a:schemeClr val="hlink"/>
                </a:solidFill>
                <a:hlinkClick r:id="rId3"/>
              </a:rPr>
              <a:t>https://docs.google.com/document/d/17UBQ5IykPk9Msw-5cyy9_xYNL1nuyejoFl04jVJaBa0/edit?pli=1</a:t>
            </a:r>
            <a:endParaRPr/>
          </a:p>
          <a:p>
            <a:pPr indent="0" lvl="0" marL="0" rtl="0" algn="ct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2" name="Shape 72"/>
        <p:cNvGrpSpPr/>
        <p:nvPr/>
      </p:nvGrpSpPr>
      <p:grpSpPr>
        <a:xfrm>
          <a:off x="0" y="0"/>
          <a:ext cx="0" cy="0"/>
          <a:chOff x="0" y="0"/>
          <a:chExt cx="0" cy="0"/>
        </a:xfrm>
      </p:grpSpPr>
      <p:sp>
        <p:nvSpPr>
          <p:cNvPr id="73" name="Google Shape;73;p16"/>
          <p:cNvSpPr txBox="1"/>
          <p:nvPr>
            <p:ph type="title"/>
          </p:nvPr>
        </p:nvSpPr>
        <p:spPr>
          <a:xfrm>
            <a:off x="280530" y="593367"/>
            <a:ext cx="7668600" cy="763500"/>
          </a:xfrm>
          <a:prstGeom prst="rect">
            <a:avLst/>
          </a:prstGeom>
          <a:noFill/>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FFFF"/>
                </a:solidFill>
              </a:rPr>
              <a:t>Discuss briefly with your group</a:t>
            </a:r>
            <a:endParaRPr b="1">
              <a:solidFill>
                <a:srgbClr val="FFFFFF"/>
              </a:solidFill>
            </a:endParaRPr>
          </a:p>
        </p:txBody>
      </p:sp>
      <p:sp>
        <p:nvSpPr>
          <p:cNvPr id="74" name="Google Shape;74;p16"/>
          <p:cNvSpPr txBox="1"/>
          <p:nvPr>
            <p:ph idx="1" type="body"/>
          </p:nvPr>
        </p:nvSpPr>
        <p:spPr>
          <a:xfrm>
            <a:off x="502075" y="1302450"/>
            <a:ext cx="7225500" cy="4530600"/>
          </a:xfrm>
          <a:prstGeom prst="rect">
            <a:avLst/>
          </a:prstGeom>
          <a:solidFill>
            <a:srgbClr val="FFFFFF"/>
          </a:solidFill>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t/>
            </a:r>
            <a:endParaRPr sz="3000">
              <a:solidFill>
                <a:srgbClr val="5B6D79"/>
              </a:solidFill>
              <a:latin typeface="Nunito"/>
              <a:ea typeface="Nunito"/>
              <a:cs typeface="Nunito"/>
              <a:sym typeface="Nunito"/>
            </a:endParaRPr>
          </a:p>
          <a:p>
            <a:pPr indent="0" lvl="0" marL="0" rtl="0" algn="ctr">
              <a:lnSpc>
                <a:spcPct val="100000"/>
              </a:lnSpc>
              <a:spcBef>
                <a:spcPts val="0"/>
              </a:spcBef>
              <a:spcAft>
                <a:spcPts val="0"/>
              </a:spcAft>
              <a:buNone/>
            </a:pPr>
            <a:r>
              <a:t/>
            </a:r>
            <a:endParaRPr sz="3000">
              <a:solidFill>
                <a:srgbClr val="5B6D79"/>
              </a:solidFill>
              <a:latin typeface="Nunito"/>
              <a:ea typeface="Nunito"/>
              <a:cs typeface="Nunito"/>
              <a:sym typeface="Nunito"/>
            </a:endParaRPr>
          </a:p>
          <a:p>
            <a:pPr indent="0" lvl="0" marL="0" rtl="0" algn="ctr">
              <a:lnSpc>
                <a:spcPct val="100000"/>
              </a:lnSpc>
              <a:spcBef>
                <a:spcPts val="0"/>
              </a:spcBef>
              <a:spcAft>
                <a:spcPts val="0"/>
              </a:spcAft>
              <a:buClr>
                <a:schemeClr val="dk1"/>
              </a:buClr>
              <a:buSzPts val="1100"/>
              <a:buFont typeface="Arial"/>
              <a:buNone/>
            </a:pPr>
            <a:r>
              <a:rPr lang="en" sz="3000">
                <a:solidFill>
                  <a:srgbClr val="5B6D79"/>
                </a:solidFill>
                <a:latin typeface="Nunito"/>
                <a:ea typeface="Nunito"/>
                <a:cs typeface="Nunito"/>
                <a:sym typeface="Nunito"/>
              </a:rPr>
              <a:t>What does it mean (not in science-ese just in regular life) if something is LIMITING?</a:t>
            </a:r>
            <a:endParaRPr sz="3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8" name="Shape 78"/>
        <p:cNvGrpSpPr/>
        <p:nvPr/>
      </p:nvGrpSpPr>
      <p:grpSpPr>
        <a:xfrm>
          <a:off x="0" y="0"/>
          <a:ext cx="0" cy="0"/>
          <a:chOff x="0" y="0"/>
          <a:chExt cx="0" cy="0"/>
        </a:xfrm>
      </p:grpSpPr>
      <p:sp>
        <p:nvSpPr>
          <p:cNvPr id="79" name="Google Shape;79;p17"/>
          <p:cNvSpPr txBox="1"/>
          <p:nvPr>
            <p:ph type="title"/>
          </p:nvPr>
        </p:nvSpPr>
        <p:spPr>
          <a:xfrm>
            <a:off x="280530" y="593367"/>
            <a:ext cx="7668600" cy="763500"/>
          </a:xfrm>
          <a:prstGeom prst="rect">
            <a:avLst/>
          </a:prstGeom>
          <a:noFill/>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FFFF"/>
                </a:solidFill>
              </a:rPr>
              <a:t>Overview</a:t>
            </a:r>
            <a:endParaRPr b="1">
              <a:solidFill>
                <a:srgbClr val="FFFFFF"/>
              </a:solidFill>
            </a:endParaRPr>
          </a:p>
        </p:txBody>
      </p:sp>
      <p:sp>
        <p:nvSpPr>
          <p:cNvPr id="80" name="Google Shape;80;p17"/>
          <p:cNvSpPr txBox="1"/>
          <p:nvPr>
            <p:ph idx="1" type="body"/>
          </p:nvPr>
        </p:nvSpPr>
        <p:spPr>
          <a:xfrm>
            <a:off x="502075" y="1302450"/>
            <a:ext cx="7225500" cy="4530600"/>
          </a:xfrm>
          <a:prstGeom prst="rect">
            <a:avLst/>
          </a:prstGeom>
          <a:solidFill>
            <a:srgbClr val="FFFFFF"/>
          </a:solidFill>
        </p:spPr>
        <p:txBody>
          <a:bodyPr anchorCtr="0" anchor="t" bIns="91425" lIns="91425" spcFirstLastPara="1" rIns="91425" wrap="square" tIns="91425">
            <a:noAutofit/>
          </a:bodyPr>
          <a:lstStyle/>
          <a:p>
            <a:pPr indent="0" lvl="0" marL="0" rtl="0" algn="l">
              <a:spcBef>
                <a:spcPts val="0"/>
              </a:spcBef>
              <a:spcAft>
                <a:spcPts val="0"/>
              </a:spcAft>
              <a:buNone/>
            </a:pPr>
            <a:r>
              <a:rPr lang="en" sz="1900"/>
              <a:t>Limiting Problems sometimes seem complex but they really only require ONE extra step in which you decide which of two numbers is bigger. THAT’S EASY :)</a:t>
            </a:r>
            <a:endParaRPr sz="1900"/>
          </a:p>
          <a:p>
            <a:pPr indent="0" lvl="0" marL="0" rtl="0" algn="l">
              <a:spcBef>
                <a:spcPts val="1600"/>
              </a:spcBef>
              <a:spcAft>
                <a:spcPts val="0"/>
              </a:spcAft>
              <a:buNone/>
            </a:pPr>
            <a:r>
              <a:rPr lang="en" sz="1900"/>
              <a:t>Part of what makes limiting problems seem complex is that the problem typically has at least two parts and sometimes three or four. However, you simply need to recognize the different parts and divide them up to go through the problem solving map for each part. </a:t>
            </a:r>
            <a:endParaRPr sz="1900"/>
          </a:p>
          <a:p>
            <a:pPr indent="0" lvl="0" marL="0" rtl="0" algn="l">
              <a:spcBef>
                <a:spcPts val="1600"/>
              </a:spcBef>
              <a:spcAft>
                <a:spcPts val="0"/>
              </a:spcAft>
              <a:buNone/>
            </a:pPr>
            <a:r>
              <a:rPr lang="en" sz="1900"/>
              <a:t>If you can complete the map to solve problems, several times, and determine which of two numbers is bigger, then limiting is no problem!</a:t>
            </a:r>
            <a:endParaRPr sz="1900"/>
          </a:p>
          <a:p>
            <a:pPr indent="0" lvl="0" marL="0" rtl="0" algn="l">
              <a:spcBef>
                <a:spcPts val="1600"/>
              </a:spcBef>
              <a:spcAft>
                <a:spcPts val="1600"/>
              </a:spcAft>
              <a:buNone/>
            </a:pPr>
            <a:r>
              <a:t/>
            </a:r>
            <a:endParaRPr/>
          </a:p>
        </p:txBody>
      </p:sp>
      <p:pic>
        <p:nvPicPr>
          <p:cNvPr id="81" name="Google Shape;81;p17" title="Limiting intro slide audio.mp3">
            <a:hlinkClick r:id="rId4"/>
          </p:cNvPr>
          <p:cNvPicPr preferRelativeResize="0"/>
          <p:nvPr/>
        </p:nvPicPr>
        <p:blipFill>
          <a:blip r:embed="rId5">
            <a:alphaModFix/>
          </a:blip>
          <a:stretch>
            <a:fillRect/>
          </a:stretch>
        </p:blipFill>
        <p:spPr>
          <a:xfrm>
            <a:off x="152400" y="5985450"/>
            <a:ext cx="457200" cy="457200"/>
          </a:xfrm>
          <a:prstGeom prst="rect">
            <a:avLst/>
          </a:prstGeom>
          <a:noFill/>
          <a:ln>
            <a:noFill/>
          </a:ln>
        </p:spPr>
      </p:pic>
      <p:sp>
        <p:nvSpPr>
          <p:cNvPr id="82" name="Google Shape;82;p17"/>
          <p:cNvSpPr txBox="1"/>
          <p:nvPr/>
        </p:nvSpPr>
        <p:spPr>
          <a:xfrm>
            <a:off x="953350" y="5894975"/>
            <a:ext cx="6048900" cy="4572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Click for Audio. Watch for other Audio as you go</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6" name="Shape 86"/>
        <p:cNvGrpSpPr/>
        <p:nvPr/>
      </p:nvGrpSpPr>
      <p:grpSpPr>
        <a:xfrm>
          <a:off x="0" y="0"/>
          <a:ext cx="0" cy="0"/>
          <a:chOff x="0" y="0"/>
          <a:chExt cx="0" cy="0"/>
        </a:xfrm>
      </p:grpSpPr>
      <p:sp>
        <p:nvSpPr>
          <p:cNvPr id="87" name="Google Shape;87;p18"/>
          <p:cNvSpPr txBox="1"/>
          <p:nvPr>
            <p:ph type="title"/>
          </p:nvPr>
        </p:nvSpPr>
        <p:spPr>
          <a:xfrm>
            <a:off x="280530" y="593367"/>
            <a:ext cx="7668600" cy="763500"/>
          </a:xfrm>
          <a:prstGeom prst="rect">
            <a:avLst/>
          </a:prstGeom>
          <a:noFill/>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FFFF"/>
                </a:solidFill>
              </a:rPr>
              <a:t>THE LIMITING PROBLEM</a:t>
            </a:r>
            <a:endParaRPr b="1">
              <a:solidFill>
                <a:srgbClr val="FFFFFF"/>
              </a:solidFill>
            </a:endParaRPr>
          </a:p>
        </p:txBody>
      </p:sp>
      <p:sp>
        <p:nvSpPr>
          <p:cNvPr id="88" name="Google Shape;88;p18"/>
          <p:cNvSpPr txBox="1"/>
          <p:nvPr>
            <p:ph idx="1" type="body"/>
          </p:nvPr>
        </p:nvSpPr>
        <p:spPr>
          <a:xfrm>
            <a:off x="502075" y="1302450"/>
            <a:ext cx="7225500" cy="4530600"/>
          </a:xfrm>
          <a:prstGeom prst="rect">
            <a:avLst/>
          </a:prstGeom>
          <a:solidFill>
            <a:srgbClr val="FFFFFF"/>
          </a:solidFill>
        </p:spPr>
        <p:txBody>
          <a:bodyPr anchorCtr="0" anchor="t" bIns="91425" lIns="91425" spcFirstLastPara="1" rIns="91425" wrap="square" tIns="91425">
            <a:noAutofit/>
          </a:bodyPr>
          <a:lstStyle/>
          <a:p>
            <a:pPr indent="0" lvl="0" marL="0" rtl="0" algn="l">
              <a:spcBef>
                <a:spcPts val="0"/>
              </a:spcBef>
              <a:spcAft>
                <a:spcPts val="0"/>
              </a:spcAft>
              <a:buNone/>
            </a:pPr>
            <a:r>
              <a:rPr lang="en" sz="1700"/>
              <a:t>Anytime items need to be mixed in the correct proportion to each other, you may have the situation where you have too little of one ingredient to use up what is available of the other ingredients. </a:t>
            </a:r>
            <a:endParaRPr sz="1700"/>
          </a:p>
          <a:p>
            <a:pPr indent="0" lvl="0" marL="0" rtl="0" algn="l">
              <a:spcBef>
                <a:spcPts val="1600"/>
              </a:spcBef>
              <a:spcAft>
                <a:spcPts val="0"/>
              </a:spcAft>
              <a:buNone/>
            </a:pPr>
            <a:r>
              <a:rPr lang="en" sz="1700"/>
              <a:t>This means the amount available for this one ingredient LIMITS how much product you can produce. </a:t>
            </a:r>
            <a:endParaRPr sz="1700"/>
          </a:p>
          <a:p>
            <a:pPr indent="0" lvl="0" marL="0" rtl="0" algn="l">
              <a:spcBef>
                <a:spcPts val="1600"/>
              </a:spcBef>
              <a:spcAft>
                <a:spcPts val="0"/>
              </a:spcAft>
              <a:buNone/>
            </a:pPr>
            <a:r>
              <a:rPr lang="en" sz="1700"/>
              <a:t>Imagine you want to make as many sandwiches as possible. Each sandwich needs two slices of bread and one slice of meat. If you have 10 slices of bread and 8 slices of meat, you can only make FIVE sandwiches before you run out of bread. The bread amount LIMITS how many sandwiched you can make. </a:t>
            </a:r>
            <a:endParaRPr sz="1700"/>
          </a:p>
          <a:p>
            <a:pPr indent="0" lvl="0" marL="0" rtl="0" algn="l">
              <a:spcBef>
                <a:spcPts val="1600"/>
              </a:spcBef>
              <a:spcAft>
                <a:spcPts val="1600"/>
              </a:spcAft>
              <a:buNone/>
            </a:pPr>
            <a:r>
              <a:rPr lang="en" sz="1700"/>
              <a:t>You will have extra meat (8 is more than the 5 you can use). In chemistry terms, we say “the meat is in excess and the bread is limiting”.</a:t>
            </a:r>
            <a:endParaRPr sz="1700"/>
          </a:p>
        </p:txBody>
      </p:sp>
      <p:pic>
        <p:nvPicPr>
          <p:cNvPr id="89" name="Google Shape;89;p18" title="Limiting Problem audio.mp3">
            <a:hlinkClick r:id="rId4"/>
          </p:cNvPr>
          <p:cNvPicPr preferRelativeResize="0"/>
          <p:nvPr/>
        </p:nvPicPr>
        <p:blipFill>
          <a:blip r:embed="rId5">
            <a:alphaModFix/>
          </a:blip>
          <a:stretch>
            <a:fillRect/>
          </a:stretch>
        </p:blipFill>
        <p:spPr>
          <a:xfrm>
            <a:off x="6526850" y="440225"/>
            <a:ext cx="763500" cy="76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3" name="Shape 93"/>
        <p:cNvGrpSpPr/>
        <p:nvPr/>
      </p:nvGrpSpPr>
      <p:grpSpPr>
        <a:xfrm>
          <a:off x="0" y="0"/>
          <a:ext cx="0" cy="0"/>
          <a:chOff x="0" y="0"/>
          <a:chExt cx="0" cy="0"/>
        </a:xfrm>
      </p:grpSpPr>
      <p:sp>
        <p:nvSpPr>
          <p:cNvPr id="94" name="Google Shape;94;p19"/>
          <p:cNvSpPr txBox="1"/>
          <p:nvPr>
            <p:ph type="title"/>
          </p:nvPr>
        </p:nvSpPr>
        <p:spPr>
          <a:xfrm>
            <a:off x="280530" y="593367"/>
            <a:ext cx="7668600" cy="763500"/>
          </a:xfrm>
          <a:prstGeom prst="rect">
            <a:avLst/>
          </a:prstGeom>
          <a:noFill/>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FFFF"/>
                </a:solidFill>
              </a:rPr>
              <a:t>Let’s try it with a Chemical Reaction</a:t>
            </a:r>
            <a:endParaRPr b="1">
              <a:solidFill>
                <a:srgbClr val="FFFFFF"/>
              </a:solidFill>
            </a:endParaRPr>
          </a:p>
        </p:txBody>
      </p:sp>
      <p:sp>
        <p:nvSpPr>
          <p:cNvPr id="95" name="Google Shape;95;p19"/>
          <p:cNvSpPr txBox="1"/>
          <p:nvPr>
            <p:ph idx="1" type="body"/>
          </p:nvPr>
        </p:nvSpPr>
        <p:spPr>
          <a:xfrm>
            <a:off x="502075" y="1302450"/>
            <a:ext cx="7225500" cy="4530600"/>
          </a:xfrm>
          <a:prstGeom prst="rect">
            <a:avLst/>
          </a:prstGeom>
          <a:solidFill>
            <a:srgbClr val="FFFFFF"/>
          </a:solidFill>
        </p:spPr>
        <p:txBody>
          <a:bodyPr anchorCtr="0" anchor="t" bIns="91425" lIns="91425" spcFirstLastPara="1" rIns="91425" wrap="square" tIns="91425">
            <a:noAutofit/>
          </a:bodyPr>
          <a:lstStyle/>
          <a:p>
            <a:pPr indent="0" lvl="0" marL="0" rtl="0" algn="l">
              <a:spcBef>
                <a:spcPts val="0"/>
              </a:spcBef>
              <a:spcAft>
                <a:spcPts val="0"/>
              </a:spcAft>
              <a:buNone/>
            </a:pPr>
            <a:r>
              <a:rPr lang="en" sz="2000"/>
              <a:t>If you watched the extended video for full map stoichiometry problems, you will have already seen this example worked through but we are going to modify it to a limiting problem. </a:t>
            </a:r>
            <a:endParaRPr sz="2000"/>
          </a:p>
          <a:p>
            <a:pPr indent="0" lvl="0" marL="0" rtl="0" algn="l">
              <a:spcBef>
                <a:spcPts val="1600"/>
              </a:spcBef>
              <a:spcAft>
                <a:spcPts val="0"/>
              </a:spcAft>
              <a:buNone/>
            </a:pPr>
            <a:r>
              <a:rPr b="1" lang="en" sz="2000">
                <a:solidFill>
                  <a:srgbClr val="FF0000"/>
                </a:solidFill>
              </a:rPr>
              <a:t>ORIGINAL</a:t>
            </a:r>
            <a:r>
              <a:rPr b="1" lang="en" sz="2000">
                <a:solidFill>
                  <a:srgbClr val="FF0000"/>
                </a:solidFill>
              </a:rPr>
              <a:t> mass to mass problem:</a:t>
            </a:r>
            <a:r>
              <a:rPr lang="en" sz="2000"/>
              <a:t> </a:t>
            </a:r>
            <a:r>
              <a:rPr lang="en" sz="2000">
                <a:latin typeface="Calibri"/>
                <a:ea typeface="Calibri"/>
                <a:cs typeface="Calibri"/>
                <a:sym typeface="Calibri"/>
              </a:rPr>
              <a:t>How many grams of hydrogen </a:t>
            </a:r>
            <a:r>
              <a:rPr lang="en" sz="2000">
                <a:highlight>
                  <a:srgbClr val="FFFF00"/>
                </a:highlight>
                <a:latin typeface="Calibri"/>
                <a:ea typeface="Calibri"/>
                <a:cs typeface="Calibri"/>
                <a:sym typeface="Calibri"/>
              </a:rPr>
              <a:t>are needed to react completely </a:t>
            </a:r>
            <a:r>
              <a:rPr lang="en" sz="2000">
                <a:latin typeface="Calibri"/>
                <a:ea typeface="Calibri"/>
                <a:cs typeface="Calibri"/>
                <a:sym typeface="Calibri"/>
              </a:rPr>
              <a:t>with 50g of nitrogen?</a:t>
            </a:r>
            <a:endParaRPr sz="2000">
              <a:latin typeface="Calibri"/>
              <a:ea typeface="Calibri"/>
              <a:cs typeface="Calibri"/>
              <a:sym typeface="Calibri"/>
            </a:endParaRPr>
          </a:p>
          <a:p>
            <a:pPr indent="0" lvl="0" marL="0" rtl="0" algn="ctr">
              <a:spcBef>
                <a:spcPts val="1600"/>
              </a:spcBef>
              <a:spcAft>
                <a:spcPts val="0"/>
              </a:spcAft>
              <a:buNone/>
            </a:pPr>
            <a:r>
              <a:rPr b="1" lang="en" sz="2200">
                <a:latin typeface="Calibri"/>
                <a:ea typeface="Calibri"/>
                <a:cs typeface="Calibri"/>
                <a:sym typeface="Calibri"/>
              </a:rPr>
              <a:t>N</a:t>
            </a:r>
            <a:r>
              <a:rPr b="1" baseline="-25000" lang="en" sz="2200">
                <a:latin typeface="Calibri"/>
                <a:ea typeface="Calibri"/>
                <a:cs typeface="Calibri"/>
                <a:sym typeface="Calibri"/>
              </a:rPr>
              <a:t>2</a:t>
            </a:r>
            <a:r>
              <a:rPr b="1" lang="en" sz="2200">
                <a:latin typeface="Calibri"/>
                <a:ea typeface="Calibri"/>
                <a:cs typeface="Calibri"/>
                <a:sym typeface="Calibri"/>
              </a:rPr>
              <a:t> + 3H</a:t>
            </a:r>
            <a:r>
              <a:rPr b="1" baseline="-25000" lang="en" sz="2200">
                <a:latin typeface="Calibri"/>
                <a:ea typeface="Calibri"/>
                <a:cs typeface="Calibri"/>
                <a:sym typeface="Calibri"/>
              </a:rPr>
              <a:t>2</a:t>
            </a:r>
            <a:r>
              <a:rPr b="1" lang="en" sz="2200">
                <a:latin typeface="Calibri"/>
                <a:ea typeface="Calibri"/>
                <a:cs typeface="Calibri"/>
                <a:sym typeface="Calibri"/>
              </a:rPr>
              <a:t> -&gt; 2NH</a:t>
            </a:r>
            <a:r>
              <a:rPr b="1" baseline="-25000" lang="en" sz="2200">
                <a:latin typeface="Calibri"/>
                <a:ea typeface="Calibri"/>
                <a:cs typeface="Calibri"/>
                <a:sym typeface="Calibri"/>
              </a:rPr>
              <a:t>3</a:t>
            </a:r>
            <a:endParaRPr b="1" baseline="-25000" sz="2200">
              <a:latin typeface="Calibri"/>
              <a:ea typeface="Calibri"/>
              <a:cs typeface="Calibri"/>
              <a:sym typeface="Calibri"/>
            </a:endParaRPr>
          </a:p>
          <a:p>
            <a:pPr indent="0" lvl="0" marL="0" rtl="0" algn="ctr">
              <a:spcBef>
                <a:spcPts val="1600"/>
              </a:spcBef>
              <a:spcAft>
                <a:spcPts val="0"/>
              </a:spcAft>
              <a:buNone/>
            </a:pPr>
            <a:r>
              <a:rPr b="1" lang="en" sz="2200">
                <a:latin typeface="Calibri"/>
                <a:ea typeface="Calibri"/>
                <a:cs typeface="Calibri"/>
                <a:sym typeface="Calibri"/>
              </a:rPr>
              <a:t>Changing ONE thing creates a limiting problem:</a:t>
            </a:r>
            <a:endParaRPr b="1" sz="2200">
              <a:latin typeface="Calibri"/>
              <a:ea typeface="Calibri"/>
              <a:cs typeface="Calibri"/>
              <a:sym typeface="Calibri"/>
            </a:endParaRPr>
          </a:p>
          <a:p>
            <a:pPr indent="0" lvl="0" marL="0" rtl="0" algn="l">
              <a:spcBef>
                <a:spcPts val="1600"/>
              </a:spcBef>
              <a:spcAft>
                <a:spcPts val="0"/>
              </a:spcAft>
              <a:buClr>
                <a:schemeClr val="dk1"/>
              </a:buClr>
              <a:buSzPts val="1100"/>
              <a:buFont typeface="Arial"/>
              <a:buNone/>
            </a:pPr>
            <a:r>
              <a:rPr b="1" lang="en" sz="2000">
                <a:solidFill>
                  <a:srgbClr val="FF0000"/>
                </a:solidFill>
                <a:latin typeface="Calibri"/>
                <a:ea typeface="Calibri"/>
                <a:cs typeface="Calibri"/>
                <a:sym typeface="Calibri"/>
              </a:rPr>
              <a:t>NOW A LIMITING: </a:t>
            </a:r>
            <a:r>
              <a:rPr lang="en" sz="2000">
                <a:latin typeface="Calibri"/>
                <a:ea typeface="Calibri"/>
                <a:cs typeface="Calibri"/>
                <a:sym typeface="Calibri"/>
              </a:rPr>
              <a:t>If you have 12 grams of hydrogen, how much </a:t>
            </a:r>
            <a:r>
              <a:rPr lang="en" sz="2000">
                <a:highlight>
                  <a:srgbClr val="FFFF00"/>
                </a:highlight>
                <a:latin typeface="Calibri"/>
                <a:ea typeface="Calibri"/>
                <a:cs typeface="Calibri"/>
                <a:sym typeface="Calibri"/>
              </a:rPr>
              <a:t>will be left over </a:t>
            </a:r>
            <a:r>
              <a:rPr lang="en" sz="2000">
                <a:latin typeface="Calibri"/>
                <a:ea typeface="Calibri"/>
                <a:cs typeface="Calibri"/>
                <a:sym typeface="Calibri"/>
              </a:rPr>
              <a:t>after reacting with 50g of nitrogen?</a:t>
            </a:r>
            <a:endParaRPr b="1" sz="2200">
              <a:latin typeface="Calibri"/>
              <a:ea typeface="Calibri"/>
              <a:cs typeface="Calibri"/>
              <a:sym typeface="Calibri"/>
            </a:endParaRPr>
          </a:p>
          <a:p>
            <a:pPr indent="0" lvl="0" marL="0" rtl="0" algn="ctr">
              <a:spcBef>
                <a:spcPts val="1600"/>
              </a:spcBef>
              <a:spcAft>
                <a:spcPts val="0"/>
              </a:spcAft>
              <a:buNone/>
            </a:pPr>
            <a:r>
              <a:t/>
            </a:r>
            <a:endParaRPr b="1" sz="2200">
              <a:latin typeface="Calibri"/>
              <a:ea typeface="Calibri"/>
              <a:cs typeface="Calibri"/>
              <a:sym typeface="Calibri"/>
            </a:endParaRPr>
          </a:p>
          <a:p>
            <a:pPr indent="0" lvl="0" marL="0" rtl="0" algn="l">
              <a:spcBef>
                <a:spcPts val="1600"/>
              </a:spcBef>
              <a:spcAft>
                <a:spcPts val="0"/>
              </a:spcAft>
              <a:buNone/>
            </a:pPr>
            <a:r>
              <a:t/>
            </a:r>
            <a:endParaRPr b="1" sz="2200">
              <a:latin typeface="Calibri"/>
              <a:ea typeface="Calibri"/>
              <a:cs typeface="Calibri"/>
              <a:sym typeface="Calibri"/>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9" name="Shape 99"/>
        <p:cNvGrpSpPr/>
        <p:nvPr/>
      </p:nvGrpSpPr>
      <p:grpSpPr>
        <a:xfrm>
          <a:off x="0" y="0"/>
          <a:ext cx="0" cy="0"/>
          <a:chOff x="0" y="0"/>
          <a:chExt cx="0" cy="0"/>
        </a:xfrm>
      </p:grpSpPr>
      <p:sp>
        <p:nvSpPr>
          <p:cNvPr id="100" name="Google Shape;100;p20"/>
          <p:cNvSpPr txBox="1"/>
          <p:nvPr>
            <p:ph type="title"/>
          </p:nvPr>
        </p:nvSpPr>
        <p:spPr>
          <a:xfrm>
            <a:off x="280530" y="593367"/>
            <a:ext cx="7668600" cy="763500"/>
          </a:xfrm>
          <a:prstGeom prst="rect">
            <a:avLst/>
          </a:prstGeom>
          <a:noFill/>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FFFF"/>
                </a:solidFill>
              </a:rPr>
              <a:t>Discuss</a:t>
            </a:r>
            <a:endParaRPr b="1">
              <a:solidFill>
                <a:srgbClr val="FFFFFF"/>
              </a:solidFill>
            </a:endParaRPr>
          </a:p>
        </p:txBody>
      </p:sp>
      <p:sp>
        <p:nvSpPr>
          <p:cNvPr id="101" name="Google Shape;101;p20"/>
          <p:cNvSpPr txBox="1"/>
          <p:nvPr>
            <p:ph idx="1" type="body"/>
          </p:nvPr>
        </p:nvSpPr>
        <p:spPr>
          <a:xfrm>
            <a:off x="502075" y="1302450"/>
            <a:ext cx="7225500" cy="4530600"/>
          </a:xfrm>
          <a:prstGeom prst="rect">
            <a:avLst/>
          </a:prstGeom>
          <a:solidFill>
            <a:srgbClr val="FFFFFF"/>
          </a:solidFill>
        </p:spPr>
        <p:txBody>
          <a:bodyPr anchorCtr="0" anchor="t" bIns="91425" lIns="91425" spcFirstLastPara="1" rIns="91425" wrap="square" tIns="91425">
            <a:noAutofit/>
          </a:bodyPr>
          <a:lstStyle/>
          <a:p>
            <a:pPr indent="0" lvl="0" marL="0" rtl="0" algn="l">
              <a:spcBef>
                <a:spcPts val="0"/>
              </a:spcBef>
              <a:spcAft>
                <a:spcPts val="0"/>
              </a:spcAft>
              <a:buNone/>
            </a:pPr>
            <a:r>
              <a:rPr b="1" lang="en" sz="2000"/>
              <a:t>1. Describe in your own words what was different about the original compared to the "limiting" version of the ammonia problem? </a:t>
            </a:r>
            <a:endParaRPr b="1" sz="2000"/>
          </a:p>
          <a:p>
            <a:pPr indent="0" lvl="0" marL="0" rtl="0" algn="l">
              <a:spcBef>
                <a:spcPts val="1600"/>
              </a:spcBef>
              <a:spcAft>
                <a:spcPts val="0"/>
              </a:spcAft>
              <a:buNone/>
            </a:pPr>
            <a:r>
              <a:t/>
            </a:r>
            <a:endParaRPr b="1" sz="2000"/>
          </a:p>
          <a:p>
            <a:pPr indent="0" lvl="0" marL="0" rtl="0" algn="l">
              <a:spcBef>
                <a:spcPts val="1600"/>
              </a:spcBef>
              <a:spcAft>
                <a:spcPts val="1600"/>
              </a:spcAft>
              <a:buClr>
                <a:srgbClr val="000000"/>
              </a:buClr>
              <a:buSzPts val="1100"/>
              <a:buFont typeface="Arial"/>
              <a:buNone/>
            </a:pPr>
            <a:r>
              <a:rPr b="1" lang="en" sz="2000"/>
              <a:t>2. Describe a possible strategy (NO calculations, just 'Step 1' etc) for answering the limiting problem. Identify the differences from solving a regular mass to mass problem.</a:t>
            </a:r>
            <a:endParaRPr b="1" sz="2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5" name="Shape 105"/>
        <p:cNvGrpSpPr/>
        <p:nvPr/>
      </p:nvGrpSpPr>
      <p:grpSpPr>
        <a:xfrm>
          <a:off x="0" y="0"/>
          <a:ext cx="0" cy="0"/>
          <a:chOff x="0" y="0"/>
          <a:chExt cx="0" cy="0"/>
        </a:xfrm>
      </p:grpSpPr>
      <p:sp>
        <p:nvSpPr>
          <p:cNvPr id="106" name="Google Shape;106;p21"/>
          <p:cNvSpPr txBox="1"/>
          <p:nvPr>
            <p:ph type="title"/>
          </p:nvPr>
        </p:nvSpPr>
        <p:spPr>
          <a:xfrm>
            <a:off x="280530" y="593367"/>
            <a:ext cx="7668600" cy="763500"/>
          </a:xfrm>
          <a:prstGeom prst="rect">
            <a:avLst/>
          </a:prstGeom>
          <a:noFill/>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FFFF"/>
                </a:solidFill>
              </a:rPr>
              <a:t>NEW FIRST STEP</a:t>
            </a:r>
            <a:endParaRPr b="1">
              <a:solidFill>
                <a:srgbClr val="FFFFFF"/>
              </a:solidFill>
            </a:endParaRPr>
          </a:p>
        </p:txBody>
      </p:sp>
      <p:sp>
        <p:nvSpPr>
          <p:cNvPr id="107" name="Google Shape;107;p21"/>
          <p:cNvSpPr txBox="1"/>
          <p:nvPr>
            <p:ph idx="1" type="body"/>
          </p:nvPr>
        </p:nvSpPr>
        <p:spPr>
          <a:xfrm>
            <a:off x="502075" y="1302450"/>
            <a:ext cx="7225500" cy="4530600"/>
          </a:xfrm>
          <a:prstGeom prst="rect">
            <a:avLst/>
          </a:prstGeom>
          <a:solidFill>
            <a:srgbClr val="FFFFFF"/>
          </a:solidFill>
        </p:spPr>
        <p:txBody>
          <a:bodyPr anchorCtr="0" anchor="t" bIns="91425" lIns="91425" spcFirstLastPara="1" rIns="91425" wrap="square" tIns="91425">
            <a:noAutofit/>
          </a:bodyPr>
          <a:lstStyle/>
          <a:p>
            <a:pPr indent="0" lvl="0" marL="0" rtl="0" algn="l">
              <a:spcBef>
                <a:spcPts val="0"/>
              </a:spcBef>
              <a:spcAft>
                <a:spcPts val="0"/>
              </a:spcAft>
              <a:buNone/>
            </a:pPr>
            <a:r>
              <a:rPr lang="en"/>
              <a:t>This is really THE SAME first step as always except instead of the given being clearly given, you have two quantities as possible givens and you need t</a:t>
            </a:r>
            <a:r>
              <a:rPr b="1" lang="en"/>
              <a:t>o choose</a:t>
            </a:r>
            <a:r>
              <a:rPr lang="en"/>
              <a:t> or use whichever the question indicates. </a:t>
            </a:r>
            <a:endParaRPr/>
          </a:p>
          <a:p>
            <a:pPr indent="0" lvl="0" marL="0" rtl="0" algn="l">
              <a:spcBef>
                <a:spcPts val="1600"/>
              </a:spcBef>
              <a:spcAft>
                <a:spcPts val="0"/>
              </a:spcAft>
              <a:buNone/>
            </a:pPr>
            <a:r>
              <a:rPr lang="en"/>
              <a:t>IMPORTANT: You set aside (IGNORE) the other quantities given in the question until you have completed the map. </a:t>
            </a:r>
            <a:endParaRPr/>
          </a:p>
          <a:p>
            <a:pPr indent="0" lvl="0" marL="0" rtl="0" algn="l">
              <a:spcBef>
                <a:spcPts val="1600"/>
              </a:spcBef>
              <a:spcAft>
                <a:spcPts val="0"/>
              </a:spcAft>
              <a:buNone/>
            </a:pPr>
            <a:r>
              <a:rPr lang="en"/>
              <a:t>You will compare to these “set aside” quantities after solving the first problem. </a:t>
            </a:r>
            <a:endParaRPr/>
          </a:p>
          <a:p>
            <a:pPr indent="0" lvl="0" marL="0" rtl="0" algn="l">
              <a:spcBef>
                <a:spcPts val="1600"/>
              </a:spcBef>
              <a:spcAft>
                <a:spcPts val="0"/>
              </a:spcAft>
              <a:buNone/>
            </a:pPr>
            <a:r>
              <a:rPr lang="en"/>
              <a:t>If the question does not indicate which is the limiting or which is the excess reactant, JUST CHOOSE ONE RANDOMLY. Remember you cannot compare masses to determine which is limiting. You can only compare at the Heart (the mole to mole comparison)</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1" name="Shape 111"/>
        <p:cNvGrpSpPr/>
        <p:nvPr/>
      </p:nvGrpSpPr>
      <p:grpSpPr>
        <a:xfrm>
          <a:off x="0" y="0"/>
          <a:ext cx="0" cy="0"/>
          <a:chOff x="0" y="0"/>
          <a:chExt cx="0" cy="0"/>
        </a:xfrm>
      </p:grpSpPr>
      <p:sp>
        <p:nvSpPr>
          <p:cNvPr id="112" name="Google Shape;112;p22"/>
          <p:cNvSpPr txBox="1"/>
          <p:nvPr>
            <p:ph type="title"/>
          </p:nvPr>
        </p:nvSpPr>
        <p:spPr>
          <a:xfrm>
            <a:off x="280530" y="593367"/>
            <a:ext cx="7668600" cy="763500"/>
          </a:xfrm>
          <a:prstGeom prst="rect">
            <a:avLst/>
          </a:prstGeom>
          <a:noFill/>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FFFF"/>
                </a:solidFill>
              </a:rPr>
              <a:t>NEW FIRST STEP</a:t>
            </a:r>
            <a:endParaRPr b="1">
              <a:solidFill>
                <a:srgbClr val="FFFFFF"/>
              </a:solidFill>
            </a:endParaRPr>
          </a:p>
        </p:txBody>
      </p:sp>
      <p:sp>
        <p:nvSpPr>
          <p:cNvPr id="113" name="Google Shape;113;p22"/>
          <p:cNvSpPr txBox="1"/>
          <p:nvPr>
            <p:ph idx="1" type="body"/>
          </p:nvPr>
        </p:nvSpPr>
        <p:spPr>
          <a:xfrm>
            <a:off x="502075" y="1302450"/>
            <a:ext cx="7225500" cy="4530600"/>
          </a:xfrm>
          <a:prstGeom prst="rect">
            <a:avLst/>
          </a:prstGeom>
          <a:solidFill>
            <a:srgbClr val="FFFFFF"/>
          </a:solidFill>
        </p:spPr>
        <p:txBody>
          <a:bodyPr anchorCtr="0" anchor="t" bIns="91425" lIns="91425" spcFirstLastPara="1" rIns="91425" wrap="square" tIns="91425">
            <a:noAutofit/>
          </a:bodyPr>
          <a:lstStyle/>
          <a:p>
            <a:pPr indent="0" lvl="0" marL="0" rtl="0" algn="l">
              <a:spcBef>
                <a:spcPts val="0"/>
              </a:spcBef>
              <a:spcAft>
                <a:spcPts val="0"/>
              </a:spcAft>
              <a:buNone/>
            </a:pPr>
            <a:r>
              <a:rPr b="1" lang="en" sz="2000">
                <a:latin typeface="Calibri"/>
                <a:ea typeface="Calibri"/>
                <a:cs typeface="Calibri"/>
                <a:sym typeface="Calibri"/>
              </a:rPr>
              <a:t>OUR PROBLEM: </a:t>
            </a:r>
            <a:r>
              <a:rPr lang="en" sz="2000">
                <a:latin typeface="Calibri"/>
                <a:ea typeface="Calibri"/>
                <a:cs typeface="Calibri"/>
                <a:sym typeface="Calibri"/>
              </a:rPr>
              <a:t>If you have 12 grams of hydrogen, how much </a:t>
            </a:r>
            <a:r>
              <a:rPr lang="en" sz="2000">
                <a:highlight>
                  <a:srgbClr val="FFFF00"/>
                </a:highlight>
                <a:latin typeface="Calibri"/>
                <a:ea typeface="Calibri"/>
                <a:cs typeface="Calibri"/>
                <a:sym typeface="Calibri"/>
              </a:rPr>
              <a:t>will be left over </a:t>
            </a:r>
            <a:r>
              <a:rPr lang="en" sz="2000">
                <a:latin typeface="Calibri"/>
                <a:ea typeface="Calibri"/>
                <a:cs typeface="Calibri"/>
                <a:sym typeface="Calibri"/>
              </a:rPr>
              <a:t>after reacting with 50g of nitrogen?</a:t>
            </a:r>
            <a:endParaRPr sz="2000">
              <a:latin typeface="Calibri"/>
              <a:ea typeface="Calibri"/>
              <a:cs typeface="Calibri"/>
              <a:sym typeface="Calibri"/>
            </a:endParaRPr>
          </a:p>
          <a:p>
            <a:pPr indent="0" lvl="0" marL="0" rtl="0" algn="l">
              <a:spcBef>
                <a:spcPts val="1600"/>
              </a:spcBef>
              <a:spcAft>
                <a:spcPts val="0"/>
              </a:spcAft>
              <a:buNone/>
            </a:pPr>
            <a:r>
              <a:rPr lang="en" sz="2000">
                <a:latin typeface="Calibri"/>
                <a:ea typeface="Calibri"/>
                <a:cs typeface="Calibri"/>
                <a:sym typeface="Calibri"/>
              </a:rPr>
              <a:t>This clearly indicates the hydrogen is in excess. Therefore</a:t>
            </a:r>
            <a:endParaRPr sz="2000">
              <a:latin typeface="Calibri"/>
              <a:ea typeface="Calibri"/>
              <a:cs typeface="Calibri"/>
              <a:sym typeface="Calibri"/>
            </a:endParaRPr>
          </a:p>
          <a:p>
            <a:pPr indent="-355600" lvl="0" marL="457200" rtl="0" algn="l">
              <a:spcBef>
                <a:spcPts val="1600"/>
              </a:spcBef>
              <a:spcAft>
                <a:spcPts val="0"/>
              </a:spcAft>
              <a:buSzPts val="2000"/>
              <a:buFont typeface="Calibri"/>
              <a:buChar char="●"/>
            </a:pPr>
            <a:r>
              <a:rPr lang="en" sz="2000">
                <a:latin typeface="Calibri"/>
                <a:ea typeface="Calibri"/>
                <a:cs typeface="Calibri"/>
                <a:sym typeface="Calibri"/>
              </a:rPr>
              <a:t>Set aside (IGNORE) the 12 g of hydrogen information. </a:t>
            </a:r>
            <a:endParaRPr sz="2000">
              <a:latin typeface="Calibri"/>
              <a:ea typeface="Calibri"/>
              <a:cs typeface="Calibri"/>
              <a:sym typeface="Calibri"/>
            </a:endParaRPr>
          </a:p>
          <a:p>
            <a:pPr indent="-355600" lvl="0" marL="457200" rtl="0" algn="l">
              <a:spcBef>
                <a:spcPts val="0"/>
              </a:spcBef>
              <a:spcAft>
                <a:spcPts val="0"/>
              </a:spcAft>
              <a:buSzPts val="2000"/>
              <a:buFont typeface="Calibri"/>
              <a:buChar char="●"/>
            </a:pPr>
            <a:r>
              <a:rPr lang="en" sz="2000">
                <a:latin typeface="Calibri"/>
                <a:ea typeface="Calibri"/>
                <a:cs typeface="Calibri"/>
                <a:sym typeface="Calibri"/>
              </a:rPr>
              <a:t>start the map using 50 g of  nitrogen as the given</a:t>
            </a:r>
            <a:endParaRPr sz="2000">
              <a:latin typeface="Calibri"/>
              <a:ea typeface="Calibri"/>
              <a:cs typeface="Calibri"/>
              <a:sym typeface="Calibri"/>
            </a:endParaRPr>
          </a:p>
          <a:p>
            <a:pPr indent="-355600" lvl="0" marL="457200" rtl="0" algn="l">
              <a:spcBef>
                <a:spcPts val="0"/>
              </a:spcBef>
              <a:spcAft>
                <a:spcPts val="0"/>
              </a:spcAft>
              <a:buSzPts val="2000"/>
              <a:buFont typeface="Calibri"/>
              <a:buChar char="●"/>
            </a:pPr>
            <a:r>
              <a:rPr lang="en" sz="2000">
                <a:latin typeface="Calibri"/>
                <a:ea typeface="Calibri"/>
                <a:cs typeface="Calibri"/>
                <a:sym typeface="Calibri"/>
              </a:rPr>
              <a:t>solve with hydrogen in the required position. </a:t>
            </a:r>
            <a:endParaRPr sz="2000">
              <a:latin typeface="Calibri"/>
              <a:ea typeface="Calibri"/>
              <a:cs typeface="Calibri"/>
              <a:sym typeface="Calibri"/>
            </a:endParaRPr>
          </a:p>
          <a:p>
            <a:pPr indent="0" lvl="0" marL="0" rtl="0" algn="l">
              <a:spcBef>
                <a:spcPts val="1600"/>
              </a:spcBef>
              <a:spcAft>
                <a:spcPts val="0"/>
              </a:spcAft>
              <a:buNone/>
            </a:pPr>
            <a:r>
              <a:rPr lang="en" sz="2000">
                <a:latin typeface="Calibri"/>
                <a:ea typeface="Calibri"/>
                <a:cs typeface="Calibri"/>
                <a:sym typeface="Calibri"/>
              </a:rPr>
              <a:t>You can review the full map solution on the next slide and {optionally} review the video of solving this part of the problem. </a:t>
            </a:r>
            <a:endParaRPr sz="2000">
              <a:latin typeface="Calibri"/>
              <a:ea typeface="Calibri"/>
              <a:cs typeface="Calibri"/>
              <a:sym typeface="Calibri"/>
            </a:endParaRPr>
          </a:p>
          <a:p>
            <a:pPr indent="0" lvl="0" marL="0" rtl="0" algn="l">
              <a:spcBef>
                <a:spcPts val="1600"/>
              </a:spcBef>
              <a:spcAft>
                <a:spcPts val="1600"/>
              </a:spcAft>
              <a:buNone/>
            </a:pPr>
            <a:r>
              <a:t/>
            </a:r>
            <a:endParaRPr/>
          </a:p>
        </p:txBody>
      </p:sp>
      <p:pic>
        <p:nvPicPr>
          <p:cNvPr id="114" name="Google Shape;114;p22" title="New First step audio.mp3">
            <a:hlinkClick r:id="rId4"/>
          </p:cNvPr>
          <p:cNvPicPr preferRelativeResize="0"/>
          <p:nvPr/>
        </p:nvPicPr>
        <p:blipFill>
          <a:blip r:embed="rId5">
            <a:alphaModFix/>
          </a:blip>
          <a:stretch>
            <a:fillRect/>
          </a:stretch>
        </p:blipFill>
        <p:spPr>
          <a:xfrm>
            <a:off x="6248925" y="337350"/>
            <a:ext cx="850850" cy="850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8" name="Shape 118"/>
        <p:cNvGrpSpPr/>
        <p:nvPr/>
      </p:nvGrpSpPr>
      <p:grpSpPr>
        <a:xfrm>
          <a:off x="0" y="0"/>
          <a:ext cx="0" cy="0"/>
          <a:chOff x="0" y="0"/>
          <a:chExt cx="0" cy="0"/>
        </a:xfrm>
      </p:grpSpPr>
      <p:sp>
        <p:nvSpPr>
          <p:cNvPr id="119" name="Google Shape;119;p23"/>
          <p:cNvSpPr txBox="1"/>
          <p:nvPr>
            <p:ph type="title"/>
          </p:nvPr>
        </p:nvSpPr>
        <p:spPr>
          <a:xfrm>
            <a:off x="280530" y="593367"/>
            <a:ext cx="7668600" cy="763500"/>
          </a:xfrm>
          <a:prstGeom prst="rect">
            <a:avLst/>
          </a:prstGeom>
          <a:noFill/>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FFFF"/>
                </a:solidFill>
              </a:rPr>
              <a:t>Insert PDF &amp; Video</a:t>
            </a:r>
            <a:endParaRPr b="1">
              <a:solidFill>
                <a:srgbClr val="FFFFFF"/>
              </a:solidFill>
            </a:endParaRPr>
          </a:p>
        </p:txBody>
      </p:sp>
      <p:sp>
        <p:nvSpPr>
          <p:cNvPr id="120" name="Google Shape;120;p23"/>
          <p:cNvSpPr txBox="1"/>
          <p:nvPr>
            <p:ph idx="1" type="body"/>
          </p:nvPr>
        </p:nvSpPr>
        <p:spPr>
          <a:xfrm>
            <a:off x="502075" y="1302450"/>
            <a:ext cx="7225500" cy="4530600"/>
          </a:xfrm>
          <a:prstGeom prst="rect">
            <a:avLst/>
          </a:prstGeom>
          <a:solidFill>
            <a:srgbClr val="FFFFFF"/>
          </a:solidFill>
        </p:spPr>
        <p:txBody>
          <a:bodyPr anchorCtr="0" anchor="t" bIns="91425" lIns="91425" spcFirstLastPara="1" rIns="91425" wrap="square" tIns="91425">
            <a:noAutofit/>
          </a:bodyPr>
          <a:lstStyle/>
          <a:p>
            <a:pPr indent="0" lvl="0" marL="0" rtl="0" algn="l">
              <a:spcBef>
                <a:spcPts val="0"/>
              </a:spcBef>
              <a:spcAft>
                <a:spcPts val="1600"/>
              </a:spcAft>
              <a:buNone/>
            </a:pPr>
            <a:r>
              <a:rPr lang="en"/>
              <a:t>UPload PDF of ammonia mass to mass to nearpod </a:t>
            </a:r>
            <a:endParaRPr/>
          </a:p>
        </p:txBody>
      </p:sp>
      <p:pic>
        <p:nvPicPr>
          <p:cNvPr id="121" name="Google Shape;121;p23"/>
          <p:cNvPicPr preferRelativeResize="0"/>
          <p:nvPr/>
        </p:nvPicPr>
        <p:blipFill>
          <a:blip r:embed="rId4">
            <a:alphaModFix/>
          </a:blip>
          <a:stretch>
            <a:fillRect/>
          </a:stretch>
        </p:blipFill>
        <p:spPr>
          <a:xfrm>
            <a:off x="0" y="231859"/>
            <a:ext cx="8229599" cy="639428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5" name="Shape 125"/>
        <p:cNvGrpSpPr/>
        <p:nvPr/>
      </p:nvGrpSpPr>
      <p:grpSpPr>
        <a:xfrm>
          <a:off x="0" y="0"/>
          <a:ext cx="0" cy="0"/>
          <a:chOff x="0" y="0"/>
          <a:chExt cx="0" cy="0"/>
        </a:xfrm>
      </p:grpSpPr>
      <p:sp>
        <p:nvSpPr>
          <p:cNvPr id="126" name="Google Shape;126;p24"/>
          <p:cNvSpPr txBox="1"/>
          <p:nvPr>
            <p:ph type="title"/>
          </p:nvPr>
        </p:nvSpPr>
        <p:spPr>
          <a:xfrm>
            <a:off x="280525" y="199929"/>
            <a:ext cx="7668600" cy="1157100"/>
          </a:xfrm>
          <a:prstGeom prst="rect">
            <a:avLst/>
          </a:prstGeom>
          <a:noFill/>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FFFF"/>
                </a:solidFill>
              </a:rPr>
              <a:t>Reactant 1 to Reactant 2: Determine the limiting reactant</a:t>
            </a:r>
            <a:endParaRPr b="1">
              <a:solidFill>
                <a:srgbClr val="FFFFFF"/>
              </a:solidFill>
            </a:endParaRPr>
          </a:p>
        </p:txBody>
      </p:sp>
      <p:sp>
        <p:nvSpPr>
          <p:cNvPr id="127" name="Google Shape;127;p24"/>
          <p:cNvSpPr txBox="1"/>
          <p:nvPr>
            <p:ph idx="1" type="body"/>
          </p:nvPr>
        </p:nvSpPr>
        <p:spPr>
          <a:xfrm>
            <a:off x="502075" y="1302450"/>
            <a:ext cx="7225500" cy="4530600"/>
          </a:xfrm>
          <a:prstGeom prst="rect">
            <a:avLst/>
          </a:prstGeom>
          <a:solidFill>
            <a:srgbClr val="FFFFFF"/>
          </a:solidFill>
        </p:spPr>
        <p:txBody>
          <a:bodyPr anchorCtr="0" anchor="t" bIns="91425" lIns="91425" spcFirstLastPara="1" rIns="91425" wrap="square" tIns="91425">
            <a:noAutofit/>
          </a:bodyPr>
          <a:lstStyle/>
          <a:p>
            <a:pPr indent="0" lvl="0" marL="0" rtl="0" algn="l">
              <a:spcBef>
                <a:spcPts val="0"/>
              </a:spcBef>
              <a:spcAft>
                <a:spcPts val="1600"/>
              </a:spcAft>
              <a:buNone/>
            </a:pPr>
            <a:r>
              <a:rPr lang="en"/>
              <a:t>UPload PDF of ammonia mass to mass to from nitrogen to quantitiy of ammonia nearpod </a:t>
            </a:r>
            <a:endParaRPr/>
          </a:p>
        </p:txBody>
      </p:sp>
      <p:pic>
        <p:nvPicPr>
          <p:cNvPr id="128" name="Google Shape;128;p24" title="Limiting p1:Reactant 1 to 2">
            <a:hlinkClick r:id="rId4"/>
          </p:cNvPr>
          <p:cNvPicPr preferRelativeResize="0"/>
          <p:nvPr/>
        </p:nvPicPr>
        <p:blipFill>
          <a:blip r:embed="rId5">
            <a:alphaModFix/>
          </a:blip>
          <a:stretch>
            <a:fillRect/>
          </a:stretch>
        </p:blipFill>
        <p:spPr>
          <a:xfrm>
            <a:off x="75925" y="1274525"/>
            <a:ext cx="8153675" cy="4586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1000"/>
                                        <p:tgtEl>
                                          <p:spTgt spid="1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132" name="Shape 132"/>
        <p:cNvGrpSpPr/>
        <p:nvPr/>
      </p:nvGrpSpPr>
      <p:grpSpPr>
        <a:xfrm>
          <a:off x="0" y="0"/>
          <a:ext cx="0" cy="0"/>
          <a:chOff x="0" y="0"/>
          <a:chExt cx="0" cy="0"/>
        </a:xfrm>
      </p:grpSpPr>
      <p:sp>
        <p:nvSpPr>
          <p:cNvPr id="133" name="Google Shape;133;p25"/>
          <p:cNvSpPr txBox="1"/>
          <p:nvPr>
            <p:ph type="title"/>
          </p:nvPr>
        </p:nvSpPr>
        <p:spPr>
          <a:xfrm>
            <a:off x="280530" y="593367"/>
            <a:ext cx="7668600" cy="763500"/>
          </a:xfrm>
          <a:prstGeom prst="rect">
            <a:avLst/>
          </a:prstGeom>
          <a:noFill/>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FFFF"/>
                </a:solidFill>
              </a:rPr>
              <a:t>At end</a:t>
            </a:r>
            <a:endParaRPr b="1">
              <a:solidFill>
                <a:srgbClr val="FFFFFF"/>
              </a:solidFill>
            </a:endParaRPr>
          </a:p>
        </p:txBody>
      </p:sp>
      <p:sp>
        <p:nvSpPr>
          <p:cNvPr id="134" name="Google Shape;134;p25"/>
          <p:cNvSpPr txBox="1"/>
          <p:nvPr>
            <p:ph idx="1" type="body"/>
          </p:nvPr>
        </p:nvSpPr>
        <p:spPr>
          <a:xfrm>
            <a:off x="502075" y="1302450"/>
            <a:ext cx="7225500" cy="4530600"/>
          </a:xfrm>
          <a:prstGeom prst="rect">
            <a:avLst/>
          </a:prstGeom>
          <a:solidFill>
            <a:srgbClr val="FFFFFF"/>
          </a:solidFill>
        </p:spPr>
        <p:txBody>
          <a:bodyPr anchorCtr="0" anchor="t" bIns="91425" lIns="91425" spcFirstLastPara="1" rIns="91425" wrap="square" tIns="91425">
            <a:noAutofit/>
          </a:bodyPr>
          <a:lstStyle/>
          <a:p>
            <a:pPr indent="0" lvl="0" marL="0" rtl="0" algn="l">
              <a:spcBef>
                <a:spcPts val="0"/>
              </a:spcBef>
              <a:spcAft>
                <a:spcPts val="0"/>
              </a:spcAft>
              <a:buNone/>
            </a:pPr>
            <a:r>
              <a:rPr lang="en"/>
              <a:t>Do a WHAT IF which was in excess or limiting is NOT indicated.</a:t>
            </a:r>
            <a:endParaRPr/>
          </a:p>
          <a:p>
            <a:pPr indent="0" lvl="0" marL="0" rtl="0" algn="l">
              <a:spcBef>
                <a:spcPts val="1600"/>
              </a:spcBef>
              <a:spcAft>
                <a:spcPts val="0"/>
              </a:spcAft>
              <a:buNone/>
            </a:pPr>
            <a:r>
              <a:rPr lang="en"/>
              <a:t>Do EXACT same problem but without indication (how much ammonia can be made from…)</a:t>
            </a:r>
            <a:endParaRPr/>
          </a:p>
          <a:p>
            <a:pPr indent="0" lvl="0" marL="0" rtl="0" algn="l">
              <a:spcBef>
                <a:spcPts val="1600"/>
              </a:spcBef>
              <a:spcAft>
                <a:spcPts val="0"/>
              </a:spcAft>
              <a:buNone/>
            </a:pPr>
            <a:r>
              <a:rPr lang="en"/>
              <a:t>YOu use H  and solve (insert map image). And compare (big &gt;) label limiting and excess and put on map correctly. </a:t>
            </a:r>
            <a:endParaRPr/>
          </a:p>
          <a:p>
            <a:pPr indent="0" lvl="0" marL="0" rtl="0" algn="l">
              <a:spcBef>
                <a:spcPts val="1600"/>
              </a:spcBef>
              <a:spcAft>
                <a:spcPts val="0"/>
              </a:spcAft>
              <a:buNone/>
            </a:pPr>
            <a:r>
              <a:rPr lang="en"/>
              <a:t>To solve for amounts of product(s) that is produced, you MUST have the limitint reagent in the “given” position.</a:t>
            </a:r>
            <a:endParaRPr/>
          </a:p>
          <a:p>
            <a:pPr indent="0" lvl="0" marL="0" rtl="0" algn="l">
              <a:spcBef>
                <a:spcPts val="1600"/>
              </a:spcBef>
              <a:spcAft>
                <a:spcPts val="16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8" name="Shape 138"/>
        <p:cNvGrpSpPr/>
        <p:nvPr/>
      </p:nvGrpSpPr>
      <p:grpSpPr>
        <a:xfrm>
          <a:off x="0" y="0"/>
          <a:ext cx="0" cy="0"/>
          <a:chOff x="0" y="0"/>
          <a:chExt cx="0" cy="0"/>
        </a:xfrm>
      </p:grpSpPr>
      <p:sp>
        <p:nvSpPr>
          <p:cNvPr id="139" name="Google Shape;139;p26"/>
          <p:cNvSpPr txBox="1"/>
          <p:nvPr>
            <p:ph type="title"/>
          </p:nvPr>
        </p:nvSpPr>
        <p:spPr>
          <a:xfrm>
            <a:off x="313470" y="570933"/>
            <a:ext cx="2116200" cy="586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Compare to “set aside” quantity and answer the</a:t>
            </a:r>
            <a:endParaRPr/>
          </a:p>
          <a:p>
            <a:pPr indent="0" lvl="0" marL="0" rtl="0" algn="l">
              <a:spcBef>
                <a:spcPts val="0"/>
              </a:spcBef>
              <a:spcAft>
                <a:spcPts val="0"/>
              </a:spcAft>
              <a:buNone/>
            </a:pPr>
            <a:r>
              <a:rPr lang="en"/>
              <a:t>question</a:t>
            </a:r>
            <a:endParaRPr/>
          </a:p>
        </p:txBody>
      </p:sp>
      <p:sp>
        <p:nvSpPr>
          <p:cNvPr id="140" name="Google Shape;140;p26"/>
          <p:cNvSpPr txBox="1"/>
          <p:nvPr>
            <p:ph idx="1" type="body"/>
          </p:nvPr>
        </p:nvSpPr>
        <p:spPr>
          <a:xfrm>
            <a:off x="3185393" y="791867"/>
            <a:ext cx="4581300" cy="534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2000">
                <a:solidFill>
                  <a:schemeClr val="dk2"/>
                </a:solidFill>
              </a:rPr>
              <a:t>Now you know:</a:t>
            </a:r>
            <a:endParaRPr b="1" sz="2000">
              <a:solidFill>
                <a:schemeClr val="dk2"/>
              </a:solidFill>
            </a:endParaRPr>
          </a:p>
          <a:p>
            <a:pPr indent="0" lvl="0" marL="0" rtl="0" algn="ctr">
              <a:spcBef>
                <a:spcPts val="1600"/>
              </a:spcBef>
              <a:spcAft>
                <a:spcPts val="0"/>
              </a:spcAft>
              <a:buClr>
                <a:schemeClr val="dk1"/>
              </a:buClr>
              <a:buSzPts val="1100"/>
              <a:buFont typeface="Arial"/>
              <a:buNone/>
            </a:pPr>
            <a:r>
              <a:rPr lang="en" sz="1800">
                <a:solidFill>
                  <a:schemeClr val="dk2"/>
                </a:solidFill>
              </a:rPr>
              <a:t>50 g of N</a:t>
            </a:r>
            <a:r>
              <a:rPr baseline="-25000" lang="en" sz="1800">
                <a:solidFill>
                  <a:schemeClr val="dk2"/>
                </a:solidFill>
              </a:rPr>
              <a:t>2</a:t>
            </a:r>
            <a:r>
              <a:rPr lang="en" sz="1800">
                <a:solidFill>
                  <a:schemeClr val="dk2"/>
                </a:solidFill>
              </a:rPr>
              <a:t> will require 10.8g of H</a:t>
            </a:r>
            <a:r>
              <a:rPr baseline="-25000" lang="en" sz="1800">
                <a:solidFill>
                  <a:schemeClr val="dk2"/>
                </a:solidFill>
              </a:rPr>
              <a:t>2 </a:t>
            </a:r>
            <a:r>
              <a:rPr lang="en" sz="1800">
                <a:solidFill>
                  <a:schemeClr val="dk2"/>
                </a:solidFill>
              </a:rPr>
              <a:t>to fully react.</a:t>
            </a:r>
            <a:endParaRPr sz="1800">
              <a:solidFill>
                <a:schemeClr val="dk2"/>
              </a:solidFill>
            </a:endParaRPr>
          </a:p>
          <a:p>
            <a:pPr indent="0" lvl="0" marL="0" rtl="0" algn="ctr">
              <a:spcBef>
                <a:spcPts val="1600"/>
              </a:spcBef>
              <a:spcAft>
                <a:spcPts val="0"/>
              </a:spcAft>
              <a:buNone/>
            </a:pPr>
            <a:r>
              <a:rPr b="1" lang="en" sz="1900">
                <a:solidFill>
                  <a:srgbClr val="9900FF"/>
                </a:solidFill>
              </a:rPr>
              <a:t>NEW STEP FOR LIMITING!!   WHICH NUMBER IS BIGGER:</a:t>
            </a:r>
            <a:endParaRPr b="1" sz="1900">
              <a:solidFill>
                <a:srgbClr val="9900FF"/>
              </a:solidFill>
            </a:endParaRPr>
          </a:p>
          <a:p>
            <a:pPr indent="0" lvl="0" marL="0" rtl="0" algn="l">
              <a:spcBef>
                <a:spcPts val="1600"/>
              </a:spcBef>
              <a:spcAft>
                <a:spcPts val="0"/>
              </a:spcAft>
              <a:buNone/>
            </a:pPr>
            <a:r>
              <a:rPr lang="en" sz="2000">
                <a:solidFill>
                  <a:schemeClr val="dk2"/>
                </a:solidFill>
                <a:latin typeface="Calibri"/>
                <a:ea typeface="Calibri"/>
                <a:cs typeface="Calibri"/>
                <a:sym typeface="Calibri"/>
              </a:rPr>
              <a:t>The question: If you have 12 grams of hydrogen, how much </a:t>
            </a:r>
            <a:r>
              <a:rPr lang="en" sz="2000">
                <a:solidFill>
                  <a:schemeClr val="dk2"/>
                </a:solidFill>
                <a:highlight>
                  <a:srgbClr val="FFFF00"/>
                </a:highlight>
                <a:latin typeface="Calibri"/>
                <a:ea typeface="Calibri"/>
                <a:cs typeface="Calibri"/>
                <a:sym typeface="Calibri"/>
              </a:rPr>
              <a:t>will be left over </a:t>
            </a:r>
            <a:r>
              <a:rPr lang="en" sz="2000">
                <a:solidFill>
                  <a:schemeClr val="dk2"/>
                </a:solidFill>
                <a:latin typeface="Calibri"/>
                <a:ea typeface="Calibri"/>
                <a:cs typeface="Calibri"/>
                <a:sym typeface="Calibri"/>
              </a:rPr>
              <a:t>after reacting with 50g of nitrogen?</a:t>
            </a:r>
            <a:endParaRPr sz="2000">
              <a:solidFill>
                <a:schemeClr val="dk2"/>
              </a:solidFill>
              <a:latin typeface="Calibri"/>
              <a:ea typeface="Calibri"/>
              <a:cs typeface="Calibri"/>
              <a:sym typeface="Calibri"/>
            </a:endParaRPr>
          </a:p>
          <a:p>
            <a:pPr indent="0" lvl="0" marL="0" rtl="0" algn="l">
              <a:spcBef>
                <a:spcPts val="1600"/>
              </a:spcBef>
              <a:spcAft>
                <a:spcPts val="0"/>
              </a:spcAft>
              <a:buNone/>
            </a:pPr>
            <a:r>
              <a:rPr lang="en" sz="2000">
                <a:solidFill>
                  <a:schemeClr val="dk2"/>
                </a:solidFill>
                <a:latin typeface="Calibri"/>
                <a:ea typeface="Calibri"/>
                <a:cs typeface="Calibri"/>
                <a:sym typeface="Calibri"/>
              </a:rPr>
              <a:t>12 g &gt; than 10.8g.</a:t>
            </a:r>
            <a:endParaRPr sz="2000">
              <a:solidFill>
                <a:schemeClr val="dk2"/>
              </a:solidFill>
              <a:latin typeface="Calibri"/>
              <a:ea typeface="Calibri"/>
              <a:cs typeface="Calibri"/>
              <a:sym typeface="Calibri"/>
            </a:endParaRPr>
          </a:p>
          <a:p>
            <a:pPr indent="0" lvl="0" marL="0" rtl="0" algn="l">
              <a:spcBef>
                <a:spcPts val="1600"/>
              </a:spcBef>
              <a:spcAft>
                <a:spcPts val="0"/>
              </a:spcAft>
              <a:buNone/>
            </a:pPr>
            <a:r>
              <a:rPr lang="en" sz="2000">
                <a:solidFill>
                  <a:schemeClr val="dk2"/>
                </a:solidFill>
                <a:latin typeface="Calibri"/>
                <a:ea typeface="Calibri"/>
                <a:cs typeface="Calibri"/>
                <a:sym typeface="Calibri"/>
              </a:rPr>
              <a:t>So, the hydrogen is clearly in excess and the 50g of nitrogen will be fully reacted.</a:t>
            </a:r>
            <a:endParaRPr sz="2000">
              <a:solidFill>
                <a:schemeClr val="dk2"/>
              </a:solidFill>
              <a:latin typeface="Calibri"/>
              <a:ea typeface="Calibri"/>
              <a:cs typeface="Calibri"/>
              <a:sym typeface="Calibri"/>
            </a:endParaRPr>
          </a:p>
          <a:p>
            <a:pPr indent="0" lvl="0" marL="0" rtl="0" algn="l">
              <a:spcBef>
                <a:spcPts val="1600"/>
              </a:spcBef>
              <a:spcAft>
                <a:spcPts val="1600"/>
              </a:spcAft>
              <a:buClr>
                <a:schemeClr val="dk1"/>
              </a:buClr>
              <a:buSzPts val="1100"/>
              <a:buFont typeface="Arial"/>
              <a:buNone/>
            </a:pPr>
            <a:r>
              <a:t/>
            </a:r>
            <a:endParaRPr/>
          </a:p>
        </p:txBody>
      </p:sp>
      <p:pic>
        <p:nvPicPr>
          <p:cNvPr id="141" name="Google Shape;141;p26" title="now you know audio.mp3">
            <a:hlinkClick r:id="rId4"/>
          </p:cNvPr>
          <p:cNvPicPr preferRelativeResize="0"/>
          <p:nvPr/>
        </p:nvPicPr>
        <p:blipFill>
          <a:blip r:embed="rId5">
            <a:alphaModFix/>
          </a:blip>
          <a:stretch>
            <a:fillRect/>
          </a:stretch>
        </p:blipFill>
        <p:spPr>
          <a:xfrm>
            <a:off x="6713030" y="570927"/>
            <a:ext cx="671875" cy="6718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txBox="1"/>
          <p:nvPr>
            <p:ph type="title"/>
          </p:nvPr>
        </p:nvSpPr>
        <p:spPr>
          <a:xfrm>
            <a:off x="313470" y="570933"/>
            <a:ext cx="2116200" cy="586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QUIZ </a:t>
            </a:r>
            <a:endParaRPr/>
          </a:p>
        </p:txBody>
      </p:sp>
      <p:sp>
        <p:nvSpPr>
          <p:cNvPr id="147" name="Google Shape;147;p27"/>
          <p:cNvSpPr txBox="1"/>
          <p:nvPr>
            <p:ph idx="1" type="body"/>
          </p:nvPr>
        </p:nvSpPr>
        <p:spPr>
          <a:xfrm>
            <a:off x="3118243" y="754642"/>
            <a:ext cx="4581300" cy="53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1. What is the final step and answer to the problem? </a:t>
            </a:r>
            <a:endParaRPr sz="2100"/>
          </a:p>
          <a:p>
            <a:pPr indent="0" lvl="0" marL="0" rtl="0" algn="l">
              <a:lnSpc>
                <a:spcPct val="100000"/>
              </a:lnSpc>
              <a:spcBef>
                <a:spcPts val="1600"/>
              </a:spcBef>
              <a:spcAft>
                <a:spcPts val="0"/>
              </a:spcAft>
              <a:buNone/>
            </a:pPr>
            <a:r>
              <a:rPr lang="en" sz="1900">
                <a:solidFill>
                  <a:srgbClr val="5B6D79"/>
                </a:solidFill>
                <a:latin typeface="Nunito"/>
                <a:ea typeface="Nunito"/>
                <a:cs typeface="Nunito"/>
                <a:sym typeface="Nunito"/>
              </a:rPr>
              <a:t>A. LEFTOVER H</a:t>
            </a:r>
            <a:r>
              <a:rPr baseline="-25000" lang="en" sz="1900">
                <a:solidFill>
                  <a:srgbClr val="5B6D79"/>
                </a:solidFill>
                <a:latin typeface="Nunito"/>
                <a:ea typeface="Nunito"/>
                <a:cs typeface="Nunito"/>
                <a:sym typeface="Nunito"/>
              </a:rPr>
              <a:t>2</a:t>
            </a:r>
            <a:r>
              <a:rPr lang="en" sz="1900">
                <a:solidFill>
                  <a:srgbClr val="5B6D79"/>
                </a:solidFill>
                <a:latin typeface="Nunito"/>
                <a:ea typeface="Nunito"/>
                <a:cs typeface="Nunito"/>
                <a:sym typeface="Nunito"/>
              </a:rPr>
              <a:t> = 12g - 10.8g = 1.2 g</a:t>
            </a:r>
            <a:endParaRPr sz="1900">
              <a:solidFill>
                <a:srgbClr val="5B6D79"/>
              </a:solidFill>
              <a:latin typeface="Nunito"/>
              <a:ea typeface="Nunito"/>
              <a:cs typeface="Nunito"/>
              <a:sym typeface="Nunito"/>
            </a:endParaRPr>
          </a:p>
          <a:p>
            <a:pPr indent="0" lvl="0" marL="0" rtl="0" algn="l">
              <a:lnSpc>
                <a:spcPct val="100000"/>
              </a:lnSpc>
              <a:spcBef>
                <a:spcPts val="0"/>
              </a:spcBef>
              <a:spcAft>
                <a:spcPts val="0"/>
              </a:spcAft>
              <a:buNone/>
            </a:pPr>
            <a:r>
              <a:rPr lang="en" sz="1900">
                <a:solidFill>
                  <a:srgbClr val="5B6D79"/>
                </a:solidFill>
                <a:latin typeface="Nunito"/>
                <a:ea typeface="Nunito"/>
                <a:cs typeface="Nunito"/>
                <a:sym typeface="Nunito"/>
              </a:rPr>
              <a:t>B. LEFTOVER H</a:t>
            </a:r>
            <a:r>
              <a:rPr baseline="-25000" lang="en" sz="1900">
                <a:solidFill>
                  <a:srgbClr val="5B6D79"/>
                </a:solidFill>
                <a:latin typeface="Nunito"/>
                <a:ea typeface="Nunito"/>
                <a:cs typeface="Nunito"/>
                <a:sym typeface="Nunito"/>
              </a:rPr>
              <a:t>2</a:t>
            </a:r>
            <a:r>
              <a:rPr lang="en" sz="1900">
                <a:solidFill>
                  <a:srgbClr val="5B6D79"/>
                </a:solidFill>
                <a:latin typeface="Nunito"/>
                <a:ea typeface="Nunito"/>
                <a:cs typeface="Nunito"/>
                <a:sym typeface="Nunito"/>
              </a:rPr>
              <a:t> = 10.8g - 12g = -1.2 g</a:t>
            </a:r>
            <a:endParaRPr sz="1900">
              <a:solidFill>
                <a:srgbClr val="5B6D79"/>
              </a:solidFill>
              <a:latin typeface="Nunito"/>
              <a:ea typeface="Nunito"/>
              <a:cs typeface="Nunito"/>
              <a:sym typeface="Nunito"/>
            </a:endParaRPr>
          </a:p>
          <a:p>
            <a:pPr indent="0" lvl="0" marL="0" rtl="0" algn="l">
              <a:lnSpc>
                <a:spcPct val="100000"/>
              </a:lnSpc>
              <a:spcBef>
                <a:spcPts val="0"/>
              </a:spcBef>
              <a:spcAft>
                <a:spcPts val="0"/>
              </a:spcAft>
              <a:buNone/>
            </a:pPr>
            <a:r>
              <a:rPr lang="en" sz="1900">
                <a:solidFill>
                  <a:srgbClr val="5B6D79"/>
                </a:solidFill>
                <a:latin typeface="Nunito"/>
                <a:ea typeface="Nunito"/>
                <a:cs typeface="Nunito"/>
                <a:sym typeface="Nunito"/>
              </a:rPr>
              <a:t>C. LEFTOVER H</a:t>
            </a:r>
            <a:r>
              <a:rPr baseline="-25000" lang="en" sz="1900">
                <a:solidFill>
                  <a:srgbClr val="5B6D79"/>
                </a:solidFill>
                <a:latin typeface="Nunito"/>
                <a:ea typeface="Nunito"/>
                <a:cs typeface="Nunito"/>
                <a:sym typeface="Nunito"/>
              </a:rPr>
              <a:t>2 </a:t>
            </a:r>
            <a:r>
              <a:rPr lang="en" sz="1900">
                <a:solidFill>
                  <a:srgbClr val="5B6D79"/>
                </a:solidFill>
                <a:latin typeface="Nunito"/>
                <a:ea typeface="Nunito"/>
                <a:cs typeface="Nunito"/>
                <a:sym typeface="Nunito"/>
              </a:rPr>
              <a:t>= 50g - 10.8g = 40.2 g</a:t>
            </a:r>
            <a:endParaRPr sz="1900">
              <a:solidFill>
                <a:srgbClr val="5B6D79"/>
              </a:solidFill>
              <a:latin typeface="Nunito"/>
              <a:ea typeface="Nunito"/>
              <a:cs typeface="Nunito"/>
              <a:sym typeface="Nunito"/>
            </a:endParaRPr>
          </a:p>
          <a:p>
            <a:pPr indent="0" lvl="0" marL="0" rtl="0" algn="l">
              <a:lnSpc>
                <a:spcPct val="100000"/>
              </a:lnSpc>
              <a:spcBef>
                <a:spcPts val="0"/>
              </a:spcBef>
              <a:spcAft>
                <a:spcPts val="0"/>
              </a:spcAft>
              <a:buClr>
                <a:schemeClr val="dk1"/>
              </a:buClr>
              <a:buSzPts val="1100"/>
              <a:buFont typeface="Arial"/>
              <a:buNone/>
            </a:pPr>
            <a:r>
              <a:rPr lang="en" sz="1900">
                <a:solidFill>
                  <a:srgbClr val="5B6D79"/>
                </a:solidFill>
                <a:latin typeface="Nunito"/>
                <a:ea typeface="Nunito"/>
                <a:cs typeface="Nunito"/>
                <a:sym typeface="Nunito"/>
              </a:rPr>
              <a:t>D. There is no leftove H</a:t>
            </a:r>
            <a:r>
              <a:rPr baseline="-25000" lang="en" sz="1900">
                <a:solidFill>
                  <a:srgbClr val="5B6D79"/>
                </a:solidFill>
                <a:latin typeface="Nunito"/>
                <a:ea typeface="Nunito"/>
                <a:cs typeface="Nunito"/>
                <a:sym typeface="Nunito"/>
              </a:rPr>
              <a:t>2</a:t>
            </a:r>
            <a:endParaRPr baseline="-25000" sz="1900">
              <a:solidFill>
                <a:srgbClr val="5B6D79"/>
              </a:solidFill>
              <a:latin typeface="Nunito"/>
              <a:ea typeface="Nunito"/>
              <a:cs typeface="Nunito"/>
              <a:sym typeface="Nunito"/>
            </a:endParaRPr>
          </a:p>
        </p:txBody>
      </p:sp>
      <p:sp>
        <p:nvSpPr>
          <p:cNvPr id="148" name="Google Shape;148;p27"/>
          <p:cNvSpPr txBox="1"/>
          <p:nvPr/>
        </p:nvSpPr>
        <p:spPr>
          <a:xfrm>
            <a:off x="502150" y="3045425"/>
            <a:ext cx="2116200" cy="6138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rPr>
              <a:t>Answer:  A</a:t>
            </a:r>
            <a:endParaRPr sz="1800">
              <a:solidFill>
                <a:schemeClr val="lt1"/>
              </a:solidFill>
            </a:endParaRPr>
          </a:p>
        </p:txBody>
      </p:sp>
      <p:sp>
        <p:nvSpPr>
          <p:cNvPr id="149" name="Google Shape;149;p27"/>
          <p:cNvSpPr txBox="1"/>
          <p:nvPr/>
        </p:nvSpPr>
        <p:spPr>
          <a:xfrm>
            <a:off x="376600" y="2864075"/>
            <a:ext cx="2510700" cy="11718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Click for the answer</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4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3" name="Shape 153"/>
        <p:cNvGrpSpPr/>
        <p:nvPr/>
      </p:nvGrpSpPr>
      <p:grpSpPr>
        <a:xfrm>
          <a:off x="0" y="0"/>
          <a:ext cx="0" cy="0"/>
          <a:chOff x="0" y="0"/>
          <a:chExt cx="0" cy="0"/>
        </a:xfrm>
      </p:grpSpPr>
      <p:sp>
        <p:nvSpPr>
          <p:cNvPr id="154" name="Google Shape;154;p28"/>
          <p:cNvSpPr txBox="1"/>
          <p:nvPr>
            <p:ph type="title"/>
          </p:nvPr>
        </p:nvSpPr>
        <p:spPr>
          <a:xfrm>
            <a:off x="313470" y="570933"/>
            <a:ext cx="2116200" cy="586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Compare to “set aside” quantity and answer the</a:t>
            </a:r>
            <a:endParaRPr/>
          </a:p>
          <a:p>
            <a:pPr indent="0" lvl="0" marL="0" rtl="0" algn="l">
              <a:spcBef>
                <a:spcPts val="0"/>
              </a:spcBef>
              <a:spcAft>
                <a:spcPts val="0"/>
              </a:spcAft>
              <a:buNone/>
            </a:pPr>
            <a:r>
              <a:rPr lang="en"/>
              <a:t>question</a:t>
            </a:r>
            <a:endParaRPr/>
          </a:p>
        </p:txBody>
      </p:sp>
      <p:sp>
        <p:nvSpPr>
          <p:cNvPr id="155" name="Google Shape;155;p28"/>
          <p:cNvSpPr txBox="1"/>
          <p:nvPr>
            <p:ph idx="1" type="body"/>
          </p:nvPr>
        </p:nvSpPr>
        <p:spPr>
          <a:xfrm>
            <a:off x="3185393" y="791867"/>
            <a:ext cx="4581300" cy="534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600">
                <a:solidFill>
                  <a:srgbClr val="9900FF"/>
                </a:solidFill>
                <a:latin typeface="Calibri"/>
                <a:ea typeface="Calibri"/>
                <a:cs typeface="Calibri"/>
                <a:sym typeface="Calibri"/>
              </a:rPr>
              <a:t>What does it mean?</a:t>
            </a:r>
            <a:endParaRPr b="1" sz="2600">
              <a:solidFill>
                <a:srgbClr val="9900FF"/>
              </a:solidFill>
              <a:latin typeface="Calibri"/>
              <a:ea typeface="Calibri"/>
              <a:cs typeface="Calibri"/>
              <a:sym typeface="Calibri"/>
            </a:endParaRPr>
          </a:p>
          <a:p>
            <a:pPr indent="0" lvl="0" marL="0" rtl="0" algn="l">
              <a:spcBef>
                <a:spcPts val="1600"/>
              </a:spcBef>
              <a:spcAft>
                <a:spcPts val="0"/>
              </a:spcAft>
              <a:buNone/>
            </a:pPr>
            <a:r>
              <a:rPr lang="en" sz="2000">
                <a:solidFill>
                  <a:schemeClr val="dk2"/>
                </a:solidFill>
                <a:latin typeface="Calibri"/>
                <a:ea typeface="Calibri"/>
                <a:cs typeface="Calibri"/>
                <a:sym typeface="Calibri"/>
              </a:rPr>
              <a:t>12 g &gt; than 10.8g</a:t>
            </a:r>
            <a:endParaRPr sz="1800">
              <a:solidFill>
                <a:schemeClr val="dk2"/>
              </a:solidFill>
            </a:endParaRPr>
          </a:p>
          <a:p>
            <a:pPr indent="0" lvl="0" marL="0" rtl="0" algn="l">
              <a:spcBef>
                <a:spcPts val="1600"/>
              </a:spcBef>
              <a:spcAft>
                <a:spcPts val="0"/>
              </a:spcAft>
              <a:buNone/>
            </a:pPr>
            <a:r>
              <a:rPr lang="en" sz="1800">
                <a:solidFill>
                  <a:schemeClr val="dk2"/>
                </a:solidFill>
              </a:rPr>
              <a:t>T</a:t>
            </a:r>
            <a:r>
              <a:rPr lang="en" sz="1800">
                <a:solidFill>
                  <a:schemeClr val="dk2"/>
                </a:solidFill>
              </a:rPr>
              <a:t>his means the quantity of nitrogen available LIMITS the amount of ammonia you can make. If you had MORE than 50g of ammonia it would be able to react and form ammonia with the 1.2 g of hydrogen that is currently in excess. </a:t>
            </a:r>
            <a:endParaRPr sz="1800">
              <a:solidFill>
                <a:schemeClr val="dk2"/>
              </a:solidFill>
            </a:endParaRPr>
          </a:p>
          <a:p>
            <a:pPr indent="0" lvl="0" marL="0" rtl="0" algn="l">
              <a:spcBef>
                <a:spcPts val="1600"/>
              </a:spcBef>
              <a:spcAft>
                <a:spcPts val="16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9" name="Shape 159"/>
        <p:cNvGrpSpPr/>
        <p:nvPr/>
      </p:nvGrpSpPr>
      <p:grpSpPr>
        <a:xfrm>
          <a:off x="0" y="0"/>
          <a:ext cx="0" cy="0"/>
          <a:chOff x="0" y="0"/>
          <a:chExt cx="0" cy="0"/>
        </a:xfrm>
      </p:grpSpPr>
      <p:sp>
        <p:nvSpPr>
          <p:cNvPr id="160" name="Google Shape;160;p29"/>
          <p:cNvSpPr txBox="1"/>
          <p:nvPr>
            <p:ph type="title"/>
          </p:nvPr>
        </p:nvSpPr>
        <p:spPr>
          <a:xfrm>
            <a:off x="313470" y="570933"/>
            <a:ext cx="2116200" cy="586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9"/>
          <p:cNvSpPr txBox="1"/>
          <p:nvPr>
            <p:ph idx="1" type="body"/>
          </p:nvPr>
        </p:nvSpPr>
        <p:spPr>
          <a:xfrm>
            <a:off x="3185393" y="791867"/>
            <a:ext cx="4581300" cy="53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Limiting and excess quiz - get off quizzizz, easy to copy</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See questions on </a:t>
            </a:r>
            <a:r>
              <a:rPr lang="en" u="sng">
                <a:solidFill>
                  <a:schemeClr val="hlink"/>
                </a:solidFill>
                <a:hlinkClick r:id="rId3"/>
              </a:rPr>
              <a:t>https://docs.google.com/document/d/17UBQ5IykPk9Msw-5cyy9_xYNL1nuyejoFl04jVJaBa0/edit?pli=1</a:t>
            </a:r>
            <a:endParaRPr/>
          </a:p>
          <a:p>
            <a:pPr indent="0" lvl="0" marL="0" rtl="0" algn="l">
              <a:spcBef>
                <a:spcPts val="1600"/>
              </a:spcBef>
              <a:spcAft>
                <a:spcPts val="16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5" name="Shape 165"/>
        <p:cNvGrpSpPr/>
        <p:nvPr/>
      </p:nvGrpSpPr>
      <p:grpSpPr>
        <a:xfrm>
          <a:off x="0" y="0"/>
          <a:ext cx="0" cy="0"/>
          <a:chOff x="0" y="0"/>
          <a:chExt cx="0" cy="0"/>
        </a:xfrm>
      </p:grpSpPr>
      <p:sp>
        <p:nvSpPr>
          <p:cNvPr id="166" name="Google Shape;166;p30"/>
          <p:cNvSpPr txBox="1"/>
          <p:nvPr>
            <p:ph type="title"/>
          </p:nvPr>
        </p:nvSpPr>
        <p:spPr>
          <a:xfrm>
            <a:off x="313470" y="570933"/>
            <a:ext cx="2116200" cy="586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MUCH PRODUCT IS MADE</a:t>
            </a:r>
            <a:endParaRPr/>
          </a:p>
        </p:txBody>
      </p:sp>
      <p:sp>
        <p:nvSpPr>
          <p:cNvPr id="167" name="Google Shape;167;p30"/>
          <p:cNvSpPr txBox="1"/>
          <p:nvPr>
            <p:ph idx="1" type="body"/>
          </p:nvPr>
        </p:nvSpPr>
        <p:spPr>
          <a:xfrm>
            <a:off x="3185393" y="791867"/>
            <a:ext cx="4581300" cy="53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MORE ROUNDS OF MASS TO MASS PROBLEM SOLVING:</a:t>
            </a:r>
            <a:endParaRPr sz="1800">
              <a:solidFill>
                <a:schemeClr val="dk2"/>
              </a:solidFill>
            </a:endParaRPr>
          </a:p>
          <a:p>
            <a:pPr indent="0" lvl="0" marL="0" rtl="0" algn="l">
              <a:spcBef>
                <a:spcPts val="1600"/>
              </a:spcBef>
              <a:spcAft>
                <a:spcPts val="0"/>
              </a:spcAft>
              <a:buNone/>
            </a:pPr>
            <a:r>
              <a:rPr lang="en" sz="1800">
                <a:solidFill>
                  <a:schemeClr val="dk2"/>
                </a:solidFill>
              </a:rPr>
              <a:t>The second “complication” of limiting problems is they require multiple rounds of problem solving. </a:t>
            </a:r>
            <a:endParaRPr sz="1800">
              <a:solidFill>
                <a:schemeClr val="dk2"/>
              </a:solidFill>
            </a:endParaRPr>
          </a:p>
          <a:p>
            <a:pPr indent="0" lvl="0" marL="0" rtl="0" algn="l">
              <a:spcBef>
                <a:spcPts val="1600"/>
              </a:spcBef>
              <a:spcAft>
                <a:spcPts val="0"/>
              </a:spcAft>
              <a:buNone/>
            </a:pPr>
            <a:r>
              <a:rPr lang="en" sz="1800">
                <a:solidFill>
                  <a:schemeClr val="dk2"/>
                </a:solidFill>
              </a:rPr>
              <a:t>This is NO MORE DIFFICULT than doing multiple problems. You simply have to reuse the data from one step to the next.</a:t>
            </a:r>
            <a:endParaRPr sz="1800">
              <a:solidFill>
                <a:schemeClr val="dk2"/>
              </a:solidFill>
            </a:endParaRPr>
          </a:p>
          <a:p>
            <a:pPr indent="0" lvl="0" marL="0" rtl="0" algn="l">
              <a:spcBef>
                <a:spcPts val="1600"/>
              </a:spcBef>
              <a:spcAft>
                <a:spcPts val="1600"/>
              </a:spcAft>
              <a:buNone/>
            </a:pPr>
            <a:r>
              <a:rPr lang="en" sz="1800">
                <a:solidFill>
                  <a:schemeClr val="dk2"/>
                </a:solidFill>
              </a:rPr>
              <a:t>Many problems will require you to determine how much product is made. For this, the LIMITING reactant must be in the Given position, with the desired Product in the Required position. See image on next page and following video if desired. </a:t>
            </a:r>
            <a:endParaRPr/>
          </a:p>
        </p:txBody>
      </p:sp>
      <p:pic>
        <p:nvPicPr>
          <p:cNvPr id="168" name="Google Shape;168;p30" title="More rounds audio.mp3">
            <a:hlinkClick r:id="rId4"/>
          </p:cNvPr>
          <p:cNvPicPr preferRelativeResize="0"/>
          <p:nvPr/>
        </p:nvPicPr>
        <p:blipFill>
          <a:blip r:embed="rId5">
            <a:alphaModFix/>
          </a:blip>
          <a:stretch>
            <a:fillRect/>
          </a:stretch>
        </p:blipFill>
        <p:spPr>
          <a:xfrm>
            <a:off x="7315778" y="958801"/>
            <a:ext cx="676700" cy="676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2" name="Shape 172"/>
        <p:cNvGrpSpPr/>
        <p:nvPr/>
      </p:nvGrpSpPr>
      <p:grpSpPr>
        <a:xfrm>
          <a:off x="0" y="0"/>
          <a:ext cx="0" cy="0"/>
          <a:chOff x="0" y="0"/>
          <a:chExt cx="0" cy="0"/>
        </a:xfrm>
      </p:grpSpPr>
      <p:sp>
        <p:nvSpPr>
          <p:cNvPr id="173" name="Google Shape;173;p31"/>
          <p:cNvSpPr txBox="1"/>
          <p:nvPr>
            <p:ph type="title"/>
          </p:nvPr>
        </p:nvSpPr>
        <p:spPr>
          <a:xfrm>
            <a:off x="280530" y="593367"/>
            <a:ext cx="7668600" cy="763500"/>
          </a:xfrm>
          <a:prstGeom prst="rect">
            <a:avLst/>
          </a:prstGeom>
          <a:noFill/>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FFFF"/>
                </a:solidFill>
              </a:rPr>
              <a:t>Solving for the product</a:t>
            </a:r>
            <a:endParaRPr b="1">
              <a:solidFill>
                <a:srgbClr val="FFFFFF"/>
              </a:solidFill>
            </a:endParaRPr>
          </a:p>
        </p:txBody>
      </p:sp>
      <p:sp>
        <p:nvSpPr>
          <p:cNvPr id="174" name="Google Shape;174;p31"/>
          <p:cNvSpPr txBox="1"/>
          <p:nvPr>
            <p:ph idx="1" type="body"/>
          </p:nvPr>
        </p:nvSpPr>
        <p:spPr>
          <a:xfrm>
            <a:off x="502075" y="1302450"/>
            <a:ext cx="7225500" cy="4530600"/>
          </a:xfrm>
          <a:prstGeom prst="rect">
            <a:avLst/>
          </a:prstGeom>
          <a:solidFill>
            <a:srgbClr val="FFFFFF"/>
          </a:solidFill>
        </p:spPr>
        <p:txBody>
          <a:bodyPr anchorCtr="0" anchor="t" bIns="91425" lIns="91425" spcFirstLastPara="1" rIns="91425" wrap="square" tIns="91425">
            <a:noAutofit/>
          </a:bodyPr>
          <a:lstStyle/>
          <a:p>
            <a:pPr indent="0" lvl="0" marL="0" rtl="0" algn="l">
              <a:spcBef>
                <a:spcPts val="0"/>
              </a:spcBef>
              <a:spcAft>
                <a:spcPts val="0"/>
              </a:spcAft>
              <a:buNone/>
            </a:pPr>
            <a:r>
              <a:rPr lang="en"/>
              <a:t>You can solve for the amount of multiple products. You simply have to repeat the following steps for EACH product. Note that you can REUSE your calculations of the Given substance (which is your limiting reactant) each time. </a:t>
            </a:r>
            <a:endParaRPr/>
          </a:p>
          <a:p>
            <a:pPr indent="0" lvl="0" marL="0" rtl="0" algn="l">
              <a:spcBef>
                <a:spcPts val="1600"/>
              </a:spcBef>
              <a:spcAft>
                <a:spcPts val="0"/>
              </a:spcAft>
              <a:buNone/>
            </a:pPr>
            <a:r>
              <a:rPr lang="en"/>
              <a:t>1: Use your limiting reactant as the Given</a:t>
            </a:r>
            <a:endParaRPr/>
          </a:p>
          <a:p>
            <a:pPr indent="0" lvl="0" marL="0" rtl="0" algn="l">
              <a:spcBef>
                <a:spcPts val="1600"/>
              </a:spcBef>
              <a:spcAft>
                <a:spcPts val="0"/>
              </a:spcAft>
              <a:buNone/>
            </a:pPr>
            <a:r>
              <a:rPr lang="en"/>
              <a:t>2. Use one product the question asks you to solve for as the Required.</a:t>
            </a:r>
            <a:endParaRPr/>
          </a:p>
          <a:p>
            <a:pPr indent="0" lvl="0" marL="0" rtl="0" algn="l">
              <a:spcBef>
                <a:spcPts val="1600"/>
              </a:spcBef>
              <a:spcAft>
                <a:spcPts val="0"/>
              </a:spcAft>
              <a:buNone/>
            </a:pPr>
            <a:r>
              <a:rPr lang="en"/>
              <a:t>3. Solve the problem, following the Map steps.</a:t>
            </a:r>
            <a:endParaRPr/>
          </a:p>
          <a:p>
            <a:pPr indent="0" lvl="0" marL="0" rtl="0" algn="l">
              <a:spcBef>
                <a:spcPts val="1600"/>
              </a:spcBef>
              <a:spcAft>
                <a:spcPts val="0"/>
              </a:spcAft>
              <a:buNone/>
            </a:pPr>
            <a:r>
              <a:rPr lang="en"/>
              <a:t>NOTE: the majority of limiting problems are Mass to Mass but they can follow any route on the map. </a:t>
            </a:r>
            <a:endParaRPr/>
          </a:p>
          <a:p>
            <a:pPr indent="0" lvl="0" marL="0" rtl="0" algn="l">
              <a:spcBef>
                <a:spcPts val="1600"/>
              </a:spcBef>
              <a:spcAft>
                <a:spcPts val="1600"/>
              </a:spcAft>
              <a:buNone/>
            </a:pPr>
            <a:r>
              <a:rPr lang="en"/>
              <a:t>See the next two slides for the Map image &amp; video from our problem.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2"/>
          <p:cNvSpPr txBox="1"/>
          <p:nvPr>
            <p:ph type="title"/>
          </p:nvPr>
        </p:nvSpPr>
        <p:spPr>
          <a:xfrm>
            <a:off x="280530" y="593367"/>
            <a:ext cx="7668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Put in map image &amp; video</a:t>
            </a:r>
            <a:endParaRPr/>
          </a:p>
        </p:txBody>
      </p:sp>
      <p:sp>
        <p:nvSpPr>
          <p:cNvPr id="180" name="Google Shape;180;p32"/>
          <p:cNvSpPr txBox="1"/>
          <p:nvPr>
            <p:ph idx="1" type="body"/>
          </p:nvPr>
        </p:nvSpPr>
        <p:spPr>
          <a:xfrm>
            <a:off x="280530" y="1536633"/>
            <a:ext cx="7668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81" name="Google Shape;181;p32"/>
          <p:cNvPicPr preferRelativeResize="0"/>
          <p:nvPr/>
        </p:nvPicPr>
        <p:blipFill>
          <a:blip r:embed="rId3">
            <a:alphaModFix/>
          </a:blip>
          <a:stretch>
            <a:fillRect/>
          </a:stretch>
        </p:blipFill>
        <p:spPr>
          <a:xfrm>
            <a:off x="204788" y="361950"/>
            <a:ext cx="7820025" cy="61341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5" name="Shape 185"/>
        <p:cNvGrpSpPr/>
        <p:nvPr/>
      </p:nvGrpSpPr>
      <p:grpSpPr>
        <a:xfrm>
          <a:off x="0" y="0"/>
          <a:ext cx="0" cy="0"/>
          <a:chOff x="0" y="0"/>
          <a:chExt cx="0" cy="0"/>
        </a:xfrm>
      </p:grpSpPr>
      <p:sp>
        <p:nvSpPr>
          <p:cNvPr id="186" name="Google Shape;186;p33"/>
          <p:cNvSpPr txBox="1"/>
          <p:nvPr>
            <p:ph type="title"/>
          </p:nvPr>
        </p:nvSpPr>
        <p:spPr>
          <a:xfrm>
            <a:off x="280530" y="350917"/>
            <a:ext cx="7668600" cy="763500"/>
          </a:xfrm>
          <a:prstGeom prst="rect">
            <a:avLst/>
          </a:prstGeom>
          <a:noFill/>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FFFF"/>
                </a:solidFill>
              </a:rPr>
              <a:t>Solve for Ammonia Produced</a:t>
            </a:r>
            <a:endParaRPr b="1">
              <a:solidFill>
                <a:srgbClr val="FFFFFF"/>
              </a:solidFill>
            </a:endParaRPr>
          </a:p>
        </p:txBody>
      </p:sp>
      <p:sp>
        <p:nvSpPr>
          <p:cNvPr id="187" name="Google Shape;187;p33"/>
          <p:cNvSpPr txBox="1"/>
          <p:nvPr>
            <p:ph idx="1" type="body"/>
          </p:nvPr>
        </p:nvSpPr>
        <p:spPr>
          <a:xfrm>
            <a:off x="502075" y="1302450"/>
            <a:ext cx="7225500" cy="4530600"/>
          </a:xfrm>
          <a:prstGeom prst="rect">
            <a:avLst/>
          </a:prstGeom>
          <a:solidFill>
            <a:srgbClr val="FFFFFF"/>
          </a:solidFill>
        </p:spPr>
        <p:txBody>
          <a:bodyPr anchorCtr="0" anchor="t" bIns="91425" lIns="91425" spcFirstLastPara="1" rIns="91425" wrap="square" tIns="91425">
            <a:noAutofit/>
          </a:bodyPr>
          <a:lstStyle/>
          <a:p>
            <a:pPr indent="0" lvl="0" marL="0" rtl="0" algn="ctr">
              <a:spcBef>
                <a:spcPts val="0"/>
              </a:spcBef>
              <a:spcAft>
                <a:spcPts val="0"/>
              </a:spcAft>
              <a:buNone/>
            </a:pPr>
            <a:r>
              <a:t/>
            </a:r>
            <a:endParaRPr sz="2000"/>
          </a:p>
          <a:p>
            <a:pPr indent="0" lvl="0" marL="0" rtl="0" algn="ctr">
              <a:spcBef>
                <a:spcPts val="1600"/>
              </a:spcBef>
              <a:spcAft>
                <a:spcPts val="0"/>
              </a:spcAft>
              <a:buNone/>
            </a:pPr>
            <a:r>
              <a:t/>
            </a:r>
            <a:endParaRPr sz="2000"/>
          </a:p>
          <a:p>
            <a:pPr indent="0" lvl="0" marL="0" rtl="0" algn="ctr">
              <a:spcBef>
                <a:spcPts val="1600"/>
              </a:spcBef>
              <a:spcAft>
                <a:spcPts val="0"/>
              </a:spcAft>
              <a:buNone/>
            </a:pPr>
            <a:r>
              <a:t/>
            </a:r>
            <a:endParaRPr sz="2000"/>
          </a:p>
          <a:p>
            <a:pPr indent="0" lvl="0" marL="0" rtl="0" algn="ctr">
              <a:spcBef>
                <a:spcPts val="1600"/>
              </a:spcBef>
              <a:spcAft>
                <a:spcPts val="1600"/>
              </a:spcAft>
              <a:buNone/>
            </a:pPr>
            <a:r>
              <a:rPr lang="en" sz="2000"/>
              <a:t>text</a:t>
            </a:r>
            <a:endParaRPr sz="2000"/>
          </a:p>
        </p:txBody>
      </p:sp>
      <p:pic>
        <p:nvPicPr>
          <p:cNvPr id="188" name="Google Shape;188;p33" title="May 17, 2020">
            <a:hlinkClick r:id="rId4"/>
          </p:cNvPr>
          <p:cNvPicPr preferRelativeResize="0"/>
          <p:nvPr/>
        </p:nvPicPr>
        <p:blipFill>
          <a:blip r:embed="rId5">
            <a:alphaModFix/>
          </a:blip>
          <a:stretch>
            <a:fillRect/>
          </a:stretch>
        </p:blipFill>
        <p:spPr>
          <a:xfrm>
            <a:off x="0" y="1114416"/>
            <a:ext cx="8229600" cy="462915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1000"/>
                                        <p:tgtEl>
                                          <p:spTgt spid="1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2" name="Shape 192"/>
        <p:cNvGrpSpPr/>
        <p:nvPr/>
      </p:nvGrpSpPr>
      <p:grpSpPr>
        <a:xfrm>
          <a:off x="0" y="0"/>
          <a:ext cx="0" cy="0"/>
          <a:chOff x="0" y="0"/>
          <a:chExt cx="0" cy="0"/>
        </a:xfrm>
      </p:grpSpPr>
      <p:sp>
        <p:nvSpPr>
          <p:cNvPr id="193" name="Google Shape;193;p34"/>
          <p:cNvSpPr txBox="1"/>
          <p:nvPr>
            <p:ph type="title"/>
          </p:nvPr>
        </p:nvSpPr>
        <p:spPr>
          <a:xfrm>
            <a:off x="280530" y="593367"/>
            <a:ext cx="7668600" cy="763500"/>
          </a:xfrm>
          <a:prstGeom prst="rect">
            <a:avLst/>
          </a:prstGeom>
          <a:noFill/>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FFFF"/>
                </a:solidFill>
              </a:rPr>
              <a:t>Our Example</a:t>
            </a:r>
            <a:endParaRPr b="1">
              <a:solidFill>
                <a:srgbClr val="FFFFFF"/>
              </a:solidFill>
            </a:endParaRPr>
          </a:p>
        </p:txBody>
      </p:sp>
      <p:sp>
        <p:nvSpPr>
          <p:cNvPr id="194" name="Google Shape;194;p34"/>
          <p:cNvSpPr txBox="1"/>
          <p:nvPr>
            <p:ph idx="1" type="body"/>
          </p:nvPr>
        </p:nvSpPr>
        <p:spPr>
          <a:xfrm>
            <a:off x="502075" y="1302450"/>
            <a:ext cx="7225500" cy="4847100"/>
          </a:xfrm>
          <a:prstGeom prst="rect">
            <a:avLst/>
          </a:prstGeom>
          <a:solidFill>
            <a:srgbClr val="FFFFFF"/>
          </a:solidFill>
        </p:spPr>
        <p:txBody>
          <a:bodyPr anchorCtr="0" anchor="t" bIns="91425" lIns="91425" spcFirstLastPara="1" rIns="91425" wrap="square" tIns="91425">
            <a:noAutofit/>
          </a:bodyPr>
          <a:lstStyle/>
          <a:p>
            <a:pPr indent="0" lvl="0" marL="0" rtl="0" algn="l">
              <a:spcBef>
                <a:spcPts val="0"/>
              </a:spcBef>
              <a:spcAft>
                <a:spcPts val="0"/>
              </a:spcAft>
              <a:buNone/>
            </a:pPr>
            <a:r>
              <a:rPr b="1" lang="en" sz="2200">
                <a:latin typeface="Calibri"/>
                <a:ea typeface="Calibri"/>
                <a:cs typeface="Calibri"/>
                <a:sym typeface="Calibri"/>
              </a:rPr>
              <a:t>Reminder of question: </a:t>
            </a:r>
            <a:r>
              <a:rPr lang="en" sz="2000">
                <a:latin typeface="Calibri"/>
                <a:ea typeface="Calibri"/>
                <a:cs typeface="Calibri"/>
                <a:sym typeface="Calibri"/>
              </a:rPr>
              <a:t>If you have 12 grams of hydrogen, reacting with 50g of nitrogen, how much ammonia will be produced?</a:t>
            </a:r>
            <a:endParaRPr sz="2000">
              <a:latin typeface="Calibri"/>
              <a:ea typeface="Calibri"/>
              <a:cs typeface="Calibri"/>
              <a:sym typeface="Calibri"/>
            </a:endParaRPr>
          </a:p>
          <a:p>
            <a:pPr indent="0" lvl="0" marL="0" rtl="0" algn="ctr">
              <a:spcBef>
                <a:spcPts val="1600"/>
              </a:spcBef>
              <a:spcAft>
                <a:spcPts val="0"/>
              </a:spcAft>
              <a:buNone/>
            </a:pPr>
            <a:r>
              <a:rPr b="1" lang="en" sz="2200">
                <a:latin typeface="Calibri"/>
                <a:ea typeface="Calibri"/>
                <a:cs typeface="Calibri"/>
                <a:sym typeface="Calibri"/>
              </a:rPr>
              <a:t>N</a:t>
            </a:r>
            <a:r>
              <a:rPr b="1" baseline="-25000" lang="en" sz="2200">
                <a:latin typeface="Calibri"/>
                <a:ea typeface="Calibri"/>
                <a:cs typeface="Calibri"/>
                <a:sym typeface="Calibri"/>
              </a:rPr>
              <a:t>2</a:t>
            </a:r>
            <a:r>
              <a:rPr b="1" lang="en" sz="2200">
                <a:latin typeface="Calibri"/>
                <a:ea typeface="Calibri"/>
                <a:cs typeface="Calibri"/>
                <a:sym typeface="Calibri"/>
              </a:rPr>
              <a:t> + 3H</a:t>
            </a:r>
            <a:r>
              <a:rPr b="1" baseline="-25000" lang="en" sz="2200">
                <a:latin typeface="Calibri"/>
                <a:ea typeface="Calibri"/>
                <a:cs typeface="Calibri"/>
                <a:sym typeface="Calibri"/>
              </a:rPr>
              <a:t>2</a:t>
            </a:r>
            <a:r>
              <a:rPr b="1" lang="en" sz="2200">
                <a:latin typeface="Calibri"/>
                <a:ea typeface="Calibri"/>
                <a:cs typeface="Calibri"/>
                <a:sym typeface="Calibri"/>
              </a:rPr>
              <a:t> -&gt; 2NH</a:t>
            </a:r>
            <a:r>
              <a:rPr b="1" baseline="-25000" lang="en" sz="2200">
                <a:latin typeface="Calibri"/>
                <a:ea typeface="Calibri"/>
                <a:cs typeface="Calibri"/>
                <a:sym typeface="Calibri"/>
              </a:rPr>
              <a:t>3</a:t>
            </a:r>
            <a:endParaRPr/>
          </a:p>
          <a:p>
            <a:pPr indent="0" lvl="0" marL="0" rtl="0" algn="l">
              <a:spcBef>
                <a:spcPts val="1600"/>
              </a:spcBef>
              <a:spcAft>
                <a:spcPts val="0"/>
              </a:spcAft>
              <a:buNone/>
            </a:pPr>
            <a:r>
              <a:rPr lang="en"/>
              <a:t>Use the 50 g of nitrogen as given because it is the limiting reactant, and use ammonia as the required on the stoichiometry map.</a:t>
            </a:r>
            <a:r>
              <a:rPr lang="en"/>
              <a:t>See the next two slides for the Map image of the solution &amp; video walk through {optional}. </a:t>
            </a:r>
            <a:endParaRPr/>
          </a:p>
          <a:p>
            <a:pPr indent="0" lvl="0" marL="0" rtl="0" algn="l">
              <a:spcBef>
                <a:spcPts val="1600"/>
              </a:spcBef>
              <a:spcAft>
                <a:spcPts val="0"/>
              </a:spcAft>
              <a:buNone/>
            </a:pPr>
            <a:r>
              <a:rPr b="1" lang="en"/>
              <a:t>Final answer: The 50 g of nitrogen is the limiting reactant and it will produce 61.2g of ammonia.</a:t>
            </a:r>
            <a:endParaRPr b="1"/>
          </a:p>
          <a:p>
            <a:pPr indent="0" lvl="0" marL="0" rtl="0" algn="l">
              <a:spcBef>
                <a:spcPts val="1600"/>
              </a:spcBef>
              <a:spcAft>
                <a:spcPts val="1600"/>
              </a:spcAft>
              <a:buClr>
                <a:schemeClr val="dk1"/>
              </a:buClr>
              <a:buSzPts val="1100"/>
              <a:buFont typeface="Arial"/>
              <a:buNone/>
            </a:pPr>
            <a:r>
              <a:rPr lang="en" u="sng"/>
              <a:t>NOTE:</a:t>
            </a:r>
            <a:r>
              <a:rPr lang="en"/>
              <a:t> this makes sense as the ammonia should weigh ~ 50g + 10.8g for the nitrogen plus hydrogen. It is not exact due to rounding required in calculations.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8" name="Shape 198"/>
        <p:cNvGrpSpPr/>
        <p:nvPr/>
      </p:nvGrpSpPr>
      <p:grpSpPr>
        <a:xfrm>
          <a:off x="0" y="0"/>
          <a:ext cx="0" cy="0"/>
          <a:chOff x="0" y="0"/>
          <a:chExt cx="0" cy="0"/>
        </a:xfrm>
      </p:grpSpPr>
      <p:sp>
        <p:nvSpPr>
          <p:cNvPr id="199" name="Google Shape;199;p35"/>
          <p:cNvSpPr txBox="1"/>
          <p:nvPr>
            <p:ph type="title"/>
          </p:nvPr>
        </p:nvSpPr>
        <p:spPr>
          <a:xfrm>
            <a:off x="280530" y="593367"/>
            <a:ext cx="7668600" cy="763500"/>
          </a:xfrm>
          <a:prstGeom prst="rect">
            <a:avLst/>
          </a:prstGeom>
          <a:noFill/>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FFFF"/>
                </a:solidFill>
              </a:rPr>
              <a:t>BOTTOM LINES</a:t>
            </a:r>
            <a:endParaRPr b="1">
              <a:solidFill>
                <a:srgbClr val="FFFFFF"/>
              </a:solidFill>
            </a:endParaRPr>
          </a:p>
        </p:txBody>
      </p:sp>
      <p:sp>
        <p:nvSpPr>
          <p:cNvPr id="200" name="Google Shape;200;p35"/>
          <p:cNvSpPr txBox="1"/>
          <p:nvPr>
            <p:ph idx="1" type="body"/>
          </p:nvPr>
        </p:nvSpPr>
        <p:spPr>
          <a:xfrm>
            <a:off x="502075" y="1302450"/>
            <a:ext cx="7225500" cy="4530600"/>
          </a:xfrm>
          <a:prstGeom prst="rect">
            <a:avLst/>
          </a:prstGeom>
          <a:solidFill>
            <a:srgbClr val="FFFFFF"/>
          </a:solidFill>
        </p:spPr>
        <p:txBody>
          <a:bodyPr anchorCtr="0" anchor="t" bIns="91425" lIns="91425" spcFirstLastPara="1" rIns="91425" wrap="square" tIns="91425">
            <a:noAutofit/>
          </a:bodyPr>
          <a:lstStyle/>
          <a:p>
            <a:pPr indent="0" lvl="0" marL="0" rtl="0" algn="l">
              <a:spcBef>
                <a:spcPts val="0"/>
              </a:spcBef>
              <a:spcAft>
                <a:spcPts val="0"/>
              </a:spcAft>
              <a:buNone/>
            </a:pPr>
            <a:r>
              <a:rPr lang="en"/>
              <a:t>1. Choose either of the reactant quantities as your first “Given”. If the question indicates which is limiting and which is excess, use the limiting as the Given.</a:t>
            </a:r>
            <a:endParaRPr/>
          </a:p>
          <a:p>
            <a:pPr indent="0" lvl="0" marL="0" rtl="0" algn="l">
              <a:spcBef>
                <a:spcPts val="1600"/>
              </a:spcBef>
              <a:spcAft>
                <a:spcPts val="0"/>
              </a:spcAft>
              <a:buNone/>
            </a:pPr>
            <a:r>
              <a:rPr lang="en"/>
              <a:t>2. Solve and, if you didn’t already know, Determine the limiting reactant by comparing the quantity of the calculated reactant to what was provided in the question. See next few images for help on this.</a:t>
            </a:r>
            <a:endParaRPr/>
          </a:p>
          <a:p>
            <a:pPr indent="0" lvl="0" marL="0" rtl="0" algn="l">
              <a:spcBef>
                <a:spcPts val="1600"/>
              </a:spcBef>
              <a:spcAft>
                <a:spcPts val="0"/>
              </a:spcAft>
              <a:buNone/>
            </a:pPr>
            <a:r>
              <a:rPr lang="en"/>
              <a:t>3. To determine the quantity of products, make sure the limiting reactant is your GIVEN and put one product at a time as the Required and solve using the Stoichiometry map. </a:t>
            </a:r>
            <a:endParaRPr/>
          </a:p>
          <a:p>
            <a:pPr indent="0" lvl="0" marL="0" rtl="0" algn="l">
              <a:spcBef>
                <a:spcPts val="1600"/>
              </a:spcBef>
              <a:spcAft>
                <a:spcPts val="1600"/>
              </a:spcAft>
              <a:buNone/>
            </a:pPr>
            <a:r>
              <a:rPr lang="en"/>
              <a:t>4. Remember to clearly track and label your work so you know what all your numbers are!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6"/>
          <p:cNvSpPr txBox="1"/>
          <p:nvPr>
            <p:ph type="title"/>
          </p:nvPr>
        </p:nvSpPr>
        <p:spPr>
          <a:xfrm>
            <a:off x="280530" y="593367"/>
            <a:ext cx="7668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Put in images of A+B-&gt; C+D</a:t>
            </a:r>
            <a:endParaRPr/>
          </a:p>
        </p:txBody>
      </p:sp>
      <p:sp>
        <p:nvSpPr>
          <p:cNvPr id="206" name="Google Shape;206;p36"/>
          <p:cNvSpPr txBox="1"/>
          <p:nvPr>
            <p:ph idx="1" type="body"/>
          </p:nvPr>
        </p:nvSpPr>
        <p:spPr>
          <a:xfrm>
            <a:off x="280530" y="1536633"/>
            <a:ext cx="7668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07" name="Google Shape;207;p36"/>
          <p:cNvPicPr preferRelativeResize="0"/>
          <p:nvPr/>
        </p:nvPicPr>
        <p:blipFill>
          <a:blip r:embed="rId3">
            <a:alphaModFix/>
          </a:blip>
          <a:stretch>
            <a:fillRect/>
          </a:stretch>
        </p:blipFill>
        <p:spPr>
          <a:xfrm>
            <a:off x="56725" y="466725"/>
            <a:ext cx="8020476" cy="59960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1" name="Shape 211"/>
        <p:cNvGrpSpPr/>
        <p:nvPr/>
      </p:nvGrpSpPr>
      <p:grpSpPr>
        <a:xfrm>
          <a:off x="0" y="0"/>
          <a:ext cx="0" cy="0"/>
          <a:chOff x="0" y="0"/>
          <a:chExt cx="0" cy="0"/>
        </a:xfrm>
      </p:grpSpPr>
      <p:sp>
        <p:nvSpPr>
          <p:cNvPr id="212" name="Google Shape;212;p37"/>
          <p:cNvSpPr txBox="1"/>
          <p:nvPr>
            <p:ph type="title"/>
          </p:nvPr>
        </p:nvSpPr>
        <p:spPr>
          <a:xfrm>
            <a:off x="280530" y="593367"/>
            <a:ext cx="7668600" cy="763500"/>
          </a:xfrm>
          <a:prstGeom prst="rect">
            <a:avLst/>
          </a:prstGeom>
          <a:noFill/>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FFFF"/>
                </a:solidFill>
              </a:rPr>
              <a:t>Blank Slide</a:t>
            </a:r>
            <a:endParaRPr b="1">
              <a:solidFill>
                <a:srgbClr val="FFFFFF"/>
              </a:solidFill>
            </a:endParaRPr>
          </a:p>
        </p:txBody>
      </p:sp>
      <p:sp>
        <p:nvSpPr>
          <p:cNvPr id="213" name="Google Shape;213;p37"/>
          <p:cNvSpPr txBox="1"/>
          <p:nvPr>
            <p:ph idx="1" type="body"/>
          </p:nvPr>
        </p:nvSpPr>
        <p:spPr>
          <a:xfrm>
            <a:off x="502075" y="1302450"/>
            <a:ext cx="7225500" cy="4530600"/>
          </a:xfrm>
          <a:prstGeom prst="rect">
            <a:avLst/>
          </a:prstGeom>
          <a:solidFill>
            <a:srgbClr val="FFFFFF"/>
          </a:solidFill>
        </p:spPr>
        <p:txBody>
          <a:bodyPr anchorCtr="0" anchor="t" bIns="91425" lIns="91425" spcFirstLastPara="1" rIns="91425" wrap="square" tIns="91425">
            <a:noAutofit/>
          </a:bodyPr>
          <a:lstStyle/>
          <a:p>
            <a:pPr indent="0" lvl="0" marL="0" rtl="0" algn="ctr">
              <a:spcBef>
                <a:spcPts val="0"/>
              </a:spcBef>
              <a:spcAft>
                <a:spcPts val="0"/>
              </a:spcAft>
              <a:buNone/>
            </a:pPr>
            <a:r>
              <a:t/>
            </a:r>
            <a:endParaRPr sz="2000"/>
          </a:p>
          <a:p>
            <a:pPr indent="0" lvl="0" marL="0" rtl="0" algn="ctr">
              <a:spcBef>
                <a:spcPts val="1600"/>
              </a:spcBef>
              <a:spcAft>
                <a:spcPts val="0"/>
              </a:spcAft>
              <a:buNone/>
            </a:pPr>
            <a:r>
              <a:t/>
            </a:r>
            <a:endParaRPr sz="2000"/>
          </a:p>
          <a:p>
            <a:pPr indent="0" lvl="0" marL="0" rtl="0" algn="ctr">
              <a:spcBef>
                <a:spcPts val="1600"/>
              </a:spcBef>
              <a:spcAft>
                <a:spcPts val="0"/>
              </a:spcAft>
              <a:buNone/>
            </a:pPr>
            <a:r>
              <a:t/>
            </a:r>
            <a:endParaRPr sz="2000"/>
          </a:p>
          <a:p>
            <a:pPr indent="0" lvl="0" marL="0" rtl="0" algn="ctr">
              <a:spcBef>
                <a:spcPts val="1600"/>
              </a:spcBef>
              <a:spcAft>
                <a:spcPts val="1600"/>
              </a:spcAft>
              <a:buNone/>
            </a:pPr>
            <a:r>
              <a:rPr lang="en" sz="2000"/>
              <a:t>text</a:t>
            </a:r>
            <a:endParaRPr sz="2000"/>
          </a:p>
        </p:txBody>
      </p:sp>
      <p:pic>
        <p:nvPicPr>
          <p:cNvPr id="214" name="Google Shape;214;p37"/>
          <p:cNvPicPr preferRelativeResize="0"/>
          <p:nvPr/>
        </p:nvPicPr>
        <p:blipFill>
          <a:blip r:embed="rId4">
            <a:alphaModFix/>
          </a:blip>
          <a:stretch>
            <a:fillRect/>
          </a:stretch>
        </p:blipFill>
        <p:spPr>
          <a:xfrm>
            <a:off x="84325" y="325475"/>
            <a:ext cx="8145275" cy="627196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8" name="Shape 218"/>
        <p:cNvGrpSpPr/>
        <p:nvPr/>
      </p:nvGrpSpPr>
      <p:grpSpPr>
        <a:xfrm>
          <a:off x="0" y="0"/>
          <a:ext cx="0" cy="0"/>
          <a:chOff x="0" y="0"/>
          <a:chExt cx="0" cy="0"/>
        </a:xfrm>
      </p:grpSpPr>
      <p:sp>
        <p:nvSpPr>
          <p:cNvPr id="219" name="Google Shape;219;p38"/>
          <p:cNvSpPr txBox="1"/>
          <p:nvPr>
            <p:ph type="title"/>
          </p:nvPr>
        </p:nvSpPr>
        <p:spPr>
          <a:xfrm>
            <a:off x="280530" y="593367"/>
            <a:ext cx="7668600" cy="763500"/>
          </a:xfrm>
          <a:prstGeom prst="rect">
            <a:avLst/>
          </a:prstGeom>
          <a:noFill/>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FFFF"/>
                </a:solidFill>
              </a:rPr>
              <a:t>Blank Slide</a:t>
            </a:r>
            <a:endParaRPr b="1">
              <a:solidFill>
                <a:srgbClr val="FFFFFF"/>
              </a:solidFill>
            </a:endParaRPr>
          </a:p>
        </p:txBody>
      </p:sp>
      <p:sp>
        <p:nvSpPr>
          <p:cNvPr id="220" name="Google Shape;220;p38"/>
          <p:cNvSpPr txBox="1"/>
          <p:nvPr>
            <p:ph idx="1" type="body"/>
          </p:nvPr>
        </p:nvSpPr>
        <p:spPr>
          <a:xfrm>
            <a:off x="502075" y="1302450"/>
            <a:ext cx="7225500" cy="4530600"/>
          </a:xfrm>
          <a:prstGeom prst="rect">
            <a:avLst/>
          </a:prstGeom>
          <a:solidFill>
            <a:srgbClr val="FFFFFF"/>
          </a:solidFill>
        </p:spPr>
        <p:txBody>
          <a:bodyPr anchorCtr="0" anchor="t" bIns="91425" lIns="91425" spcFirstLastPara="1" rIns="91425" wrap="square" tIns="91425">
            <a:noAutofit/>
          </a:bodyPr>
          <a:lstStyle/>
          <a:p>
            <a:pPr indent="0" lvl="0" marL="0" rtl="0" algn="ctr">
              <a:spcBef>
                <a:spcPts val="0"/>
              </a:spcBef>
              <a:spcAft>
                <a:spcPts val="0"/>
              </a:spcAft>
              <a:buNone/>
            </a:pPr>
            <a:r>
              <a:t/>
            </a:r>
            <a:endParaRPr sz="2000"/>
          </a:p>
          <a:p>
            <a:pPr indent="0" lvl="0" marL="0" rtl="0" algn="ctr">
              <a:spcBef>
                <a:spcPts val="1600"/>
              </a:spcBef>
              <a:spcAft>
                <a:spcPts val="0"/>
              </a:spcAft>
              <a:buNone/>
            </a:pPr>
            <a:r>
              <a:t/>
            </a:r>
            <a:endParaRPr sz="2000"/>
          </a:p>
          <a:p>
            <a:pPr indent="0" lvl="0" marL="0" rtl="0" algn="ctr">
              <a:spcBef>
                <a:spcPts val="1600"/>
              </a:spcBef>
              <a:spcAft>
                <a:spcPts val="0"/>
              </a:spcAft>
              <a:buNone/>
            </a:pPr>
            <a:r>
              <a:t/>
            </a:r>
            <a:endParaRPr sz="2000"/>
          </a:p>
          <a:p>
            <a:pPr indent="0" lvl="0" marL="0" rtl="0" algn="ctr">
              <a:spcBef>
                <a:spcPts val="1600"/>
              </a:spcBef>
              <a:spcAft>
                <a:spcPts val="1600"/>
              </a:spcAft>
              <a:buNone/>
            </a:pPr>
            <a:r>
              <a:rPr lang="en" sz="2000"/>
              <a:t>text</a:t>
            </a:r>
            <a:endParaRPr sz="2000"/>
          </a:p>
        </p:txBody>
      </p:sp>
      <p:pic>
        <p:nvPicPr>
          <p:cNvPr id="221" name="Google Shape;221;p38"/>
          <p:cNvPicPr preferRelativeResize="0"/>
          <p:nvPr/>
        </p:nvPicPr>
        <p:blipFill>
          <a:blip r:embed="rId4">
            <a:alphaModFix/>
          </a:blip>
          <a:stretch>
            <a:fillRect/>
          </a:stretch>
        </p:blipFill>
        <p:spPr>
          <a:xfrm>
            <a:off x="342900" y="528638"/>
            <a:ext cx="7543800" cy="58007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5" name="Shape 225"/>
        <p:cNvGrpSpPr/>
        <p:nvPr/>
      </p:nvGrpSpPr>
      <p:grpSpPr>
        <a:xfrm>
          <a:off x="0" y="0"/>
          <a:ext cx="0" cy="0"/>
          <a:chOff x="0" y="0"/>
          <a:chExt cx="0" cy="0"/>
        </a:xfrm>
      </p:grpSpPr>
      <p:sp>
        <p:nvSpPr>
          <p:cNvPr id="226" name="Google Shape;226;p39"/>
          <p:cNvSpPr txBox="1"/>
          <p:nvPr>
            <p:ph type="title"/>
          </p:nvPr>
        </p:nvSpPr>
        <p:spPr>
          <a:xfrm>
            <a:off x="280530" y="593367"/>
            <a:ext cx="7668600" cy="763500"/>
          </a:xfrm>
          <a:prstGeom prst="rect">
            <a:avLst/>
          </a:prstGeom>
          <a:noFill/>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FFFF"/>
                </a:solidFill>
              </a:rPr>
              <a:t>Blank Slide</a:t>
            </a:r>
            <a:endParaRPr b="1">
              <a:solidFill>
                <a:srgbClr val="FFFFFF"/>
              </a:solidFill>
            </a:endParaRPr>
          </a:p>
        </p:txBody>
      </p:sp>
      <p:sp>
        <p:nvSpPr>
          <p:cNvPr id="227" name="Google Shape;227;p39"/>
          <p:cNvSpPr txBox="1"/>
          <p:nvPr>
            <p:ph idx="1" type="body"/>
          </p:nvPr>
        </p:nvSpPr>
        <p:spPr>
          <a:xfrm>
            <a:off x="502075" y="1302450"/>
            <a:ext cx="7225500" cy="4530600"/>
          </a:xfrm>
          <a:prstGeom prst="rect">
            <a:avLst/>
          </a:prstGeom>
          <a:solidFill>
            <a:srgbClr val="FFFFFF"/>
          </a:solidFill>
        </p:spPr>
        <p:txBody>
          <a:bodyPr anchorCtr="0" anchor="t" bIns="91425" lIns="91425" spcFirstLastPara="1" rIns="91425" wrap="square" tIns="91425">
            <a:noAutofit/>
          </a:bodyPr>
          <a:lstStyle/>
          <a:p>
            <a:pPr indent="0" lvl="0" marL="0" rtl="0" algn="ctr">
              <a:spcBef>
                <a:spcPts val="0"/>
              </a:spcBef>
              <a:spcAft>
                <a:spcPts val="0"/>
              </a:spcAft>
              <a:buNone/>
            </a:pPr>
            <a:r>
              <a:t/>
            </a:r>
            <a:endParaRPr sz="2000"/>
          </a:p>
          <a:p>
            <a:pPr indent="0" lvl="0" marL="0" rtl="0" algn="ctr">
              <a:spcBef>
                <a:spcPts val="1600"/>
              </a:spcBef>
              <a:spcAft>
                <a:spcPts val="0"/>
              </a:spcAft>
              <a:buNone/>
            </a:pPr>
            <a:r>
              <a:t/>
            </a:r>
            <a:endParaRPr sz="2000"/>
          </a:p>
          <a:p>
            <a:pPr indent="0" lvl="0" marL="0" rtl="0" algn="ctr">
              <a:spcBef>
                <a:spcPts val="1600"/>
              </a:spcBef>
              <a:spcAft>
                <a:spcPts val="0"/>
              </a:spcAft>
              <a:buNone/>
            </a:pPr>
            <a:r>
              <a:t/>
            </a:r>
            <a:endParaRPr sz="2000"/>
          </a:p>
          <a:p>
            <a:pPr indent="0" lvl="0" marL="0" rtl="0" algn="ctr">
              <a:spcBef>
                <a:spcPts val="1600"/>
              </a:spcBef>
              <a:spcAft>
                <a:spcPts val="1600"/>
              </a:spcAft>
              <a:buNone/>
            </a:pPr>
            <a:r>
              <a:rPr lang="en" sz="2000"/>
              <a:t>text</a:t>
            </a:r>
            <a:endParaRPr sz="2000"/>
          </a:p>
        </p:txBody>
      </p:sp>
      <p:pic>
        <p:nvPicPr>
          <p:cNvPr id="228" name="Google Shape;228;p39"/>
          <p:cNvPicPr preferRelativeResize="0"/>
          <p:nvPr/>
        </p:nvPicPr>
        <p:blipFill>
          <a:blip r:embed="rId4">
            <a:alphaModFix/>
          </a:blip>
          <a:stretch>
            <a:fillRect/>
          </a:stretch>
        </p:blipFill>
        <p:spPr>
          <a:xfrm>
            <a:off x="280988" y="638175"/>
            <a:ext cx="7667625" cy="55816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232" name="Shape 232"/>
        <p:cNvGrpSpPr/>
        <p:nvPr/>
      </p:nvGrpSpPr>
      <p:grpSpPr>
        <a:xfrm>
          <a:off x="0" y="0"/>
          <a:ext cx="0" cy="0"/>
          <a:chOff x="0" y="0"/>
          <a:chExt cx="0" cy="0"/>
        </a:xfrm>
      </p:grpSpPr>
      <p:sp>
        <p:nvSpPr>
          <p:cNvPr id="233" name="Google Shape;233;p40"/>
          <p:cNvSpPr txBox="1"/>
          <p:nvPr>
            <p:ph type="title"/>
          </p:nvPr>
        </p:nvSpPr>
        <p:spPr>
          <a:xfrm>
            <a:off x="280530" y="593367"/>
            <a:ext cx="7668600" cy="763500"/>
          </a:xfrm>
          <a:prstGeom prst="rect">
            <a:avLst/>
          </a:prstGeom>
          <a:noFill/>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FFFF"/>
                </a:solidFill>
              </a:rPr>
              <a:t>Variations on Limiting problems</a:t>
            </a:r>
            <a:endParaRPr b="1">
              <a:solidFill>
                <a:srgbClr val="FFFFFF"/>
              </a:solidFill>
            </a:endParaRPr>
          </a:p>
        </p:txBody>
      </p:sp>
      <p:sp>
        <p:nvSpPr>
          <p:cNvPr id="234" name="Google Shape;234;p40"/>
          <p:cNvSpPr txBox="1"/>
          <p:nvPr>
            <p:ph idx="1" type="body"/>
          </p:nvPr>
        </p:nvSpPr>
        <p:spPr>
          <a:xfrm>
            <a:off x="502075" y="1302450"/>
            <a:ext cx="7225500" cy="4530600"/>
          </a:xfrm>
          <a:prstGeom prst="rect">
            <a:avLst/>
          </a:prstGeom>
          <a:solidFill>
            <a:srgbClr val="FFFFFF"/>
          </a:solidFill>
        </p:spPr>
        <p:txBody>
          <a:bodyPr anchorCtr="0" anchor="t" bIns="91425" lIns="91425" spcFirstLastPara="1" rIns="91425" wrap="square" tIns="91425">
            <a:noAutofit/>
          </a:bodyPr>
          <a:lstStyle/>
          <a:p>
            <a:pPr indent="0" lvl="0" marL="0" rtl="0" algn="ctr">
              <a:spcBef>
                <a:spcPts val="0"/>
              </a:spcBef>
              <a:spcAft>
                <a:spcPts val="0"/>
              </a:spcAft>
              <a:buNone/>
            </a:pPr>
            <a:r>
              <a:rPr lang="en"/>
              <a:t>Listen to the audio for tips on solving these!!</a:t>
            </a:r>
            <a:endParaRPr/>
          </a:p>
          <a:p>
            <a:pPr indent="0" lvl="0" marL="0" rtl="0" algn="ctr">
              <a:spcBef>
                <a:spcPts val="1600"/>
              </a:spcBef>
              <a:spcAft>
                <a:spcPts val="0"/>
              </a:spcAft>
              <a:buNone/>
            </a:pPr>
            <a:r>
              <a:rPr lang="en">
                <a:highlight>
                  <a:srgbClr val="FFFF00"/>
                </a:highlight>
              </a:rPr>
              <a:t>Leave this for future (eg ones with one reactant with a mass and one with number of molecules)</a:t>
            </a:r>
            <a:endParaRPr>
              <a:highlight>
                <a:srgbClr val="FFFF00"/>
              </a:highlight>
            </a:endParaRPr>
          </a:p>
          <a:p>
            <a:pPr indent="0" lvl="0" marL="0" rtl="0" algn="ctr">
              <a:spcBef>
                <a:spcPts val="1600"/>
              </a:spcBef>
              <a:spcAft>
                <a:spcPts val="0"/>
              </a:spcAft>
              <a:buNone/>
            </a:pPr>
            <a:r>
              <a:t/>
            </a:r>
            <a:endParaRPr>
              <a:highlight>
                <a:srgbClr val="FFFF00"/>
              </a:highlight>
            </a:endParaRPr>
          </a:p>
          <a:p>
            <a:pPr indent="0" lvl="0" marL="0" rtl="0" algn="ctr">
              <a:spcBef>
                <a:spcPts val="1600"/>
              </a:spcBef>
              <a:spcAft>
                <a:spcPts val="1600"/>
              </a:spcAft>
              <a:buNone/>
            </a:pPr>
            <a:r>
              <a:rPr lang="en">
                <a:highlight>
                  <a:srgbClr val="FFFF00"/>
                </a:highlight>
              </a:rPr>
              <a:t>Also there was a quiz on nearpod I can do on Quia and put here. </a:t>
            </a:r>
            <a:endParaRPr>
              <a:highlight>
                <a:srgbClr val="FFFF00"/>
              </a:high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8" name="Shape 238"/>
        <p:cNvGrpSpPr/>
        <p:nvPr/>
      </p:nvGrpSpPr>
      <p:grpSpPr>
        <a:xfrm>
          <a:off x="0" y="0"/>
          <a:ext cx="0" cy="0"/>
          <a:chOff x="0" y="0"/>
          <a:chExt cx="0" cy="0"/>
        </a:xfrm>
      </p:grpSpPr>
      <p:sp>
        <p:nvSpPr>
          <p:cNvPr id="239" name="Google Shape;239;p41"/>
          <p:cNvSpPr txBox="1"/>
          <p:nvPr>
            <p:ph type="ctrTitle"/>
          </p:nvPr>
        </p:nvSpPr>
        <p:spPr>
          <a:xfrm>
            <a:off x="569850" y="1507049"/>
            <a:ext cx="7089900" cy="3843900"/>
          </a:xfrm>
          <a:prstGeom prst="rect">
            <a:avLst/>
          </a:prstGeom>
          <a:solidFill>
            <a:schemeClr val="lt1"/>
          </a:solidFill>
        </p:spPr>
        <p:txBody>
          <a:bodyPr anchorCtr="0" anchor="ctr" bIns="91425" lIns="91425" spcFirstLastPara="1" rIns="91425" wrap="square" tIns="91425">
            <a:noAutofit/>
          </a:bodyPr>
          <a:lstStyle/>
          <a:p>
            <a:pPr indent="0" lvl="0" marL="0" rtl="0" algn="ctr">
              <a:spcBef>
                <a:spcPts val="0"/>
              </a:spcBef>
              <a:spcAft>
                <a:spcPts val="0"/>
              </a:spcAft>
              <a:buNone/>
            </a:pPr>
            <a:r>
              <a:rPr lang="en" sz="5400">
                <a:solidFill>
                  <a:srgbClr val="666666"/>
                </a:solidFill>
              </a:rPr>
              <a:t>THANK</a:t>
            </a:r>
            <a:endParaRPr sz="5400">
              <a:solidFill>
                <a:srgbClr val="666666"/>
              </a:solidFill>
            </a:endParaRPr>
          </a:p>
          <a:p>
            <a:pPr indent="0" lvl="0" marL="0" rtl="0" algn="ctr">
              <a:spcBef>
                <a:spcPts val="0"/>
              </a:spcBef>
              <a:spcAft>
                <a:spcPts val="0"/>
              </a:spcAft>
              <a:buNone/>
            </a:pPr>
            <a:r>
              <a:rPr lang="en" sz="5400">
                <a:solidFill>
                  <a:srgbClr val="666666"/>
                </a:solidFill>
              </a:rPr>
              <a:t>YOU!!</a:t>
            </a:r>
            <a:endParaRPr sz="5400">
              <a:solidFill>
                <a:srgbClr val="666666"/>
              </a:solidFill>
            </a:endParaRPr>
          </a:p>
          <a:p>
            <a:pPr indent="0" lvl="0" marL="0" rtl="0" algn="ctr">
              <a:spcBef>
                <a:spcPts val="0"/>
              </a:spcBef>
              <a:spcAft>
                <a:spcPts val="0"/>
              </a:spcAft>
              <a:buNone/>
            </a:pPr>
            <a:r>
              <a:rPr lang="en" sz="1800"/>
              <a:t>All slides beyond this are optional or not in use currently. </a:t>
            </a:r>
            <a:endParaRPr sz="18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3" name="Shape 243"/>
        <p:cNvGrpSpPr/>
        <p:nvPr/>
      </p:nvGrpSpPr>
      <p:grpSpPr>
        <a:xfrm>
          <a:off x="0" y="0"/>
          <a:ext cx="0" cy="0"/>
          <a:chOff x="0" y="0"/>
          <a:chExt cx="0" cy="0"/>
        </a:xfrm>
      </p:grpSpPr>
      <p:sp>
        <p:nvSpPr>
          <p:cNvPr id="244" name="Google Shape;244;p42"/>
          <p:cNvSpPr txBox="1"/>
          <p:nvPr>
            <p:ph type="title"/>
          </p:nvPr>
        </p:nvSpPr>
        <p:spPr>
          <a:xfrm>
            <a:off x="280530" y="593367"/>
            <a:ext cx="7668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Phet simulation to practice? And as evaluation</a:t>
            </a:r>
            <a:endParaRPr/>
          </a:p>
        </p:txBody>
      </p:sp>
      <p:sp>
        <p:nvSpPr>
          <p:cNvPr id="245" name="Google Shape;245;p42"/>
          <p:cNvSpPr txBox="1"/>
          <p:nvPr>
            <p:ph idx="1" type="body"/>
          </p:nvPr>
        </p:nvSpPr>
        <p:spPr>
          <a:xfrm>
            <a:off x="280530" y="1536633"/>
            <a:ext cx="7668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249" name="Shape 249"/>
        <p:cNvGrpSpPr/>
        <p:nvPr/>
      </p:nvGrpSpPr>
      <p:grpSpPr>
        <a:xfrm>
          <a:off x="0" y="0"/>
          <a:ext cx="0" cy="0"/>
          <a:chOff x="0" y="0"/>
          <a:chExt cx="0" cy="0"/>
        </a:xfrm>
      </p:grpSpPr>
      <p:sp>
        <p:nvSpPr>
          <p:cNvPr id="250" name="Google Shape;250;p43"/>
          <p:cNvSpPr txBox="1"/>
          <p:nvPr>
            <p:ph type="title"/>
          </p:nvPr>
        </p:nvSpPr>
        <p:spPr>
          <a:xfrm>
            <a:off x="280530" y="593367"/>
            <a:ext cx="7668600" cy="763500"/>
          </a:xfrm>
          <a:prstGeom prst="rect">
            <a:avLst/>
          </a:prstGeom>
          <a:noFill/>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FFFF"/>
                </a:solidFill>
              </a:rPr>
              <a:t>TEMPLATE to NEARPD</a:t>
            </a:r>
            <a:endParaRPr b="1">
              <a:solidFill>
                <a:srgbClr val="FFFFFF"/>
              </a:solidFill>
            </a:endParaRPr>
          </a:p>
        </p:txBody>
      </p:sp>
      <p:sp>
        <p:nvSpPr>
          <p:cNvPr id="251" name="Google Shape;251;p43"/>
          <p:cNvSpPr txBox="1"/>
          <p:nvPr>
            <p:ph idx="1" type="body"/>
          </p:nvPr>
        </p:nvSpPr>
        <p:spPr>
          <a:xfrm>
            <a:off x="502075" y="1302450"/>
            <a:ext cx="7225500" cy="4530600"/>
          </a:xfrm>
          <a:prstGeom prst="rect">
            <a:avLst/>
          </a:prstGeom>
          <a:solidFill>
            <a:srgbClr val="FFFFFF"/>
          </a:solidFill>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255" name="Shape 255"/>
        <p:cNvGrpSpPr/>
        <p:nvPr/>
      </p:nvGrpSpPr>
      <p:grpSpPr>
        <a:xfrm>
          <a:off x="0" y="0"/>
          <a:ext cx="0" cy="0"/>
          <a:chOff x="0" y="0"/>
          <a:chExt cx="0" cy="0"/>
        </a:xfrm>
      </p:grpSpPr>
      <p:sp>
        <p:nvSpPr>
          <p:cNvPr id="256" name="Google Shape;256;p44"/>
          <p:cNvSpPr txBox="1"/>
          <p:nvPr>
            <p:ph type="title"/>
          </p:nvPr>
        </p:nvSpPr>
        <p:spPr>
          <a:xfrm>
            <a:off x="280530" y="593367"/>
            <a:ext cx="7668600" cy="763500"/>
          </a:xfrm>
          <a:prstGeom prst="rect">
            <a:avLst/>
          </a:prstGeom>
          <a:noFill/>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FFFF"/>
                </a:solidFill>
              </a:rPr>
              <a:t>TEMPLATE to NEARPD</a:t>
            </a:r>
            <a:endParaRPr b="1">
              <a:solidFill>
                <a:srgbClr val="FFFFFF"/>
              </a:solidFill>
            </a:endParaRPr>
          </a:p>
        </p:txBody>
      </p:sp>
      <p:sp>
        <p:nvSpPr>
          <p:cNvPr id="257" name="Google Shape;257;p44"/>
          <p:cNvSpPr txBox="1"/>
          <p:nvPr>
            <p:ph idx="1" type="body"/>
          </p:nvPr>
        </p:nvSpPr>
        <p:spPr>
          <a:xfrm>
            <a:off x="502075" y="1302450"/>
            <a:ext cx="7225500" cy="4530600"/>
          </a:xfrm>
          <a:prstGeom prst="rect">
            <a:avLst/>
          </a:prstGeom>
          <a:solidFill>
            <a:srgbClr val="FFFFFF"/>
          </a:solidFill>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1" name="Shape 261"/>
        <p:cNvGrpSpPr/>
        <p:nvPr/>
      </p:nvGrpSpPr>
      <p:grpSpPr>
        <a:xfrm>
          <a:off x="0" y="0"/>
          <a:ext cx="0" cy="0"/>
          <a:chOff x="0" y="0"/>
          <a:chExt cx="0" cy="0"/>
        </a:xfrm>
      </p:grpSpPr>
      <p:sp>
        <p:nvSpPr>
          <p:cNvPr id="262" name="Google Shape;262;p45"/>
          <p:cNvSpPr txBox="1"/>
          <p:nvPr>
            <p:ph idx="1" type="body"/>
          </p:nvPr>
        </p:nvSpPr>
        <p:spPr>
          <a:xfrm>
            <a:off x="280530" y="1536633"/>
            <a:ext cx="7668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Image wit ONLY Limiting reactant and Desired Product written on it.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4A86E8"/>
        </a:solidFill>
      </p:bgPr>
    </p:bg>
    <p:spTree>
      <p:nvGrpSpPr>
        <p:cNvPr id="266" name="Shape 266"/>
        <p:cNvGrpSpPr/>
        <p:nvPr/>
      </p:nvGrpSpPr>
      <p:grpSpPr>
        <a:xfrm>
          <a:off x="0" y="0"/>
          <a:ext cx="0" cy="0"/>
          <a:chOff x="0" y="0"/>
          <a:chExt cx="0" cy="0"/>
        </a:xfrm>
      </p:grpSpPr>
      <p:sp>
        <p:nvSpPr>
          <p:cNvPr id="267" name="Google Shape;267;p46"/>
          <p:cNvSpPr txBox="1"/>
          <p:nvPr>
            <p:ph type="title"/>
          </p:nvPr>
        </p:nvSpPr>
        <p:spPr>
          <a:xfrm>
            <a:off x="313470" y="570933"/>
            <a:ext cx="2116200" cy="586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0" lang="en" sz="2400">
                <a:solidFill>
                  <a:schemeClr val="dk1"/>
                </a:solidFill>
              </a:rPr>
              <a:t>COMPARE TO FIND LIMITING</a:t>
            </a:r>
            <a:endParaRPr/>
          </a:p>
        </p:txBody>
      </p:sp>
      <p:sp>
        <p:nvSpPr>
          <p:cNvPr id="268" name="Google Shape;268;p46"/>
          <p:cNvSpPr txBox="1"/>
          <p:nvPr>
            <p:ph idx="1" type="body"/>
          </p:nvPr>
        </p:nvSpPr>
        <p:spPr>
          <a:xfrm>
            <a:off x="3185393" y="791867"/>
            <a:ext cx="4581300" cy="5348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 insert a picture of map solved for reference -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272" name="Shape 272"/>
        <p:cNvGrpSpPr/>
        <p:nvPr/>
      </p:nvGrpSpPr>
      <p:grpSpPr>
        <a:xfrm>
          <a:off x="0" y="0"/>
          <a:ext cx="0" cy="0"/>
          <a:chOff x="0" y="0"/>
          <a:chExt cx="0" cy="0"/>
        </a:xfrm>
      </p:grpSpPr>
      <p:sp>
        <p:nvSpPr>
          <p:cNvPr id="273" name="Google Shape;273;p47"/>
          <p:cNvSpPr txBox="1"/>
          <p:nvPr>
            <p:ph type="title"/>
          </p:nvPr>
        </p:nvSpPr>
        <p:spPr>
          <a:xfrm>
            <a:off x="280530" y="593367"/>
            <a:ext cx="7668600" cy="763500"/>
          </a:xfrm>
          <a:prstGeom prst="rect">
            <a:avLst/>
          </a:prstGeom>
          <a:noFill/>
        </p:spPr>
        <p:txBody>
          <a:bodyPr anchorCtr="0" anchor="t" bIns="91425" lIns="91425" spcFirstLastPara="1" rIns="91425" wrap="square" tIns="91425">
            <a:noAutofit/>
          </a:bodyPr>
          <a:lstStyle/>
          <a:p>
            <a:pPr indent="0" lvl="0" marL="0" rtl="0" algn="ctr">
              <a:spcBef>
                <a:spcPts val="0"/>
              </a:spcBef>
              <a:spcAft>
                <a:spcPts val="0"/>
              </a:spcAft>
              <a:buNone/>
            </a:pPr>
            <a:r>
              <a:rPr b="1" lang="en" sz="2500">
                <a:solidFill>
                  <a:srgbClr val="FFFFFF"/>
                </a:solidFill>
              </a:rPr>
              <a:t>Details in questions</a:t>
            </a:r>
            <a:r>
              <a:rPr b="1" lang="en" sz="2400">
                <a:solidFill>
                  <a:srgbClr val="FFFFFF"/>
                </a:solidFill>
              </a:rPr>
              <a:t> </a:t>
            </a:r>
            <a:r>
              <a:rPr b="1" lang="en" sz="2500">
                <a:solidFill>
                  <a:srgbClr val="FFFFFF"/>
                </a:solidFill>
              </a:rPr>
              <a:t>you can ignore (for now)</a:t>
            </a:r>
            <a:endParaRPr b="1" sz="2500">
              <a:solidFill>
                <a:srgbClr val="FFFFFF"/>
              </a:solidFill>
            </a:endParaRPr>
          </a:p>
        </p:txBody>
      </p:sp>
      <p:sp>
        <p:nvSpPr>
          <p:cNvPr id="274" name="Google Shape;274;p47"/>
          <p:cNvSpPr txBox="1"/>
          <p:nvPr>
            <p:ph idx="1" type="body"/>
          </p:nvPr>
        </p:nvSpPr>
        <p:spPr>
          <a:xfrm>
            <a:off x="502075" y="1302450"/>
            <a:ext cx="7225500" cy="4530600"/>
          </a:xfrm>
          <a:prstGeom prst="rect">
            <a:avLst/>
          </a:prstGeom>
          <a:solidFill>
            <a:srgbClr val="FFFFFF"/>
          </a:solidFill>
        </p:spPr>
        <p:txBody>
          <a:bodyPr anchorCtr="0" anchor="t" bIns="91425" lIns="91425" spcFirstLastPara="1" rIns="91425" wrap="square" tIns="91425">
            <a:noAutofit/>
          </a:bodyPr>
          <a:lstStyle/>
          <a:p>
            <a:pPr indent="0" lvl="0" marL="0" rtl="0" algn="l">
              <a:spcBef>
                <a:spcPts val="0"/>
              </a:spcBef>
              <a:spcAft>
                <a:spcPts val="0"/>
              </a:spcAft>
              <a:buNone/>
            </a:pPr>
            <a:r>
              <a:rPr lang="en"/>
              <a:t>During this unit, you can ignore the state subscripts, for example indicating gas </a:t>
            </a:r>
            <a:r>
              <a:rPr baseline="-25000" lang="en"/>
              <a:t>(g)</a:t>
            </a:r>
            <a:r>
              <a:rPr baseline="30000" lang="en"/>
              <a:t> </a:t>
            </a:r>
            <a:r>
              <a:rPr lang="en"/>
              <a:t>  or aqueous</a:t>
            </a:r>
            <a:r>
              <a:rPr baseline="-25000" lang="en"/>
              <a:t>(aq)</a:t>
            </a:r>
            <a:r>
              <a:rPr lang="en"/>
              <a:t>,</a:t>
            </a:r>
            <a:r>
              <a:rPr lang="en"/>
              <a:t> in the equation and focus the other information you need to solve the problem. </a:t>
            </a:r>
            <a:endParaRPr/>
          </a:p>
          <a:p>
            <a:pPr indent="0" lvl="0" marL="0" rtl="0" algn="l">
              <a:spcBef>
                <a:spcPts val="1600"/>
              </a:spcBef>
              <a:spcAft>
                <a:spcPts val="0"/>
              </a:spcAft>
              <a:buNone/>
            </a:pPr>
            <a:r>
              <a:rPr lang="en"/>
              <a:t>Ignore extraneous information that may be written in the problem and look for the information you are given. There should be at least two given quantities and a required product amount. Then, its your job to pick ONE of the given quantities to work with originally, using the other given quantity for the “which number is bigger” comparison. </a:t>
            </a:r>
            <a:endParaRPr/>
          </a:p>
          <a:p>
            <a:pPr indent="0" lvl="0" marL="0" rtl="0" algn="l">
              <a:spcBef>
                <a:spcPts val="1600"/>
              </a:spcBef>
              <a:spcAft>
                <a:spcPts val="1600"/>
              </a:spcAft>
              <a:buNone/>
            </a:pPr>
            <a:r>
              <a:rPr lang="en"/>
              <a:t>Have fun solving the puzzle of limiting reactants </a:t>
            </a:r>
            <a:r>
              <a:rPr lang="en"/>
              <a: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278" name="Shape 278"/>
        <p:cNvGrpSpPr/>
        <p:nvPr/>
      </p:nvGrpSpPr>
      <p:grpSpPr>
        <a:xfrm>
          <a:off x="0" y="0"/>
          <a:ext cx="0" cy="0"/>
          <a:chOff x="0" y="0"/>
          <a:chExt cx="0" cy="0"/>
        </a:xfrm>
      </p:grpSpPr>
      <p:sp>
        <p:nvSpPr>
          <p:cNvPr id="279" name="Google Shape;279;p48"/>
          <p:cNvSpPr txBox="1"/>
          <p:nvPr>
            <p:ph type="title"/>
          </p:nvPr>
        </p:nvSpPr>
        <p:spPr>
          <a:xfrm>
            <a:off x="280530" y="593367"/>
            <a:ext cx="7668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{OPTIONAL} - Review the Mass to Mass Solving Video</a:t>
            </a:r>
            <a:endParaRPr/>
          </a:p>
        </p:txBody>
      </p:sp>
      <p:sp>
        <p:nvSpPr>
          <p:cNvPr id="280" name="Google Shape;280;p48"/>
          <p:cNvSpPr txBox="1"/>
          <p:nvPr>
            <p:ph idx="1" type="body"/>
          </p:nvPr>
        </p:nvSpPr>
        <p:spPr>
          <a:xfrm>
            <a:off x="280530" y="1536633"/>
            <a:ext cx="7668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284" name="Shape 284"/>
        <p:cNvGrpSpPr/>
        <p:nvPr/>
      </p:nvGrpSpPr>
      <p:grpSpPr>
        <a:xfrm>
          <a:off x="0" y="0"/>
          <a:ext cx="0" cy="0"/>
          <a:chOff x="0" y="0"/>
          <a:chExt cx="0" cy="0"/>
        </a:xfrm>
      </p:grpSpPr>
      <p:sp>
        <p:nvSpPr>
          <p:cNvPr id="285" name="Google Shape;285;p49"/>
          <p:cNvSpPr txBox="1"/>
          <p:nvPr>
            <p:ph type="title"/>
          </p:nvPr>
        </p:nvSpPr>
        <p:spPr>
          <a:xfrm>
            <a:off x="280530" y="593367"/>
            <a:ext cx="7668600" cy="763500"/>
          </a:xfrm>
          <a:prstGeom prst="rect">
            <a:avLst/>
          </a:prstGeom>
          <a:noFill/>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FFFF"/>
                </a:solidFill>
              </a:rPr>
              <a:t>OPTIONAL</a:t>
            </a:r>
            <a:endParaRPr b="1">
              <a:solidFill>
                <a:srgbClr val="FFFFFF"/>
              </a:solidFill>
            </a:endParaRPr>
          </a:p>
        </p:txBody>
      </p:sp>
      <p:sp>
        <p:nvSpPr>
          <p:cNvPr id="286" name="Google Shape;286;p49"/>
          <p:cNvSpPr txBox="1"/>
          <p:nvPr>
            <p:ph idx="1" type="body"/>
          </p:nvPr>
        </p:nvSpPr>
        <p:spPr>
          <a:xfrm>
            <a:off x="502075" y="1302450"/>
            <a:ext cx="7225500" cy="4530600"/>
          </a:xfrm>
          <a:prstGeom prst="rect">
            <a:avLst/>
          </a:prstGeom>
          <a:solidFill>
            <a:srgbClr val="FFFFFF"/>
          </a:solidFill>
        </p:spPr>
        <p:txBody>
          <a:bodyPr anchorCtr="0" anchor="t"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1600"/>
              </a:spcBef>
              <a:spcAft>
                <a:spcPts val="0"/>
              </a:spcAft>
              <a:buNone/>
            </a:pPr>
            <a:r>
              <a:t/>
            </a:r>
            <a:endParaRPr/>
          </a:p>
          <a:p>
            <a:pPr indent="0" lvl="0" marL="0" rtl="0" algn="ctr">
              <a:spcBef>
                <a:spcPts val="1600"/>
              </a:spcBef>
              <a:spcAft>
                <a:spcPts val="0"/>
              </a:spcAft>
              <a:buNone/>
            </a:pPr>
            <a:r>
              <a:rPr lang="en"/>
              <a:t>IF the concept of how one reactant limits the amount of product you can make, leaving excess of the other reactants is still not quite making sense, you can try the simulation on the next slide.</a:t>
            </a:r>
            <a:endParaRPr/>
          </a:p>
          <a:p>
            <a:pPr indent="0" lvl="0" marL="0" rtl="0" algn="ctr">
              <a:spcBef>
                <a:spcPts val="1600"/>
              </a:spcBef>
              <a:spcAft>
                <a:spcPts val="1600"/>
              </a:spcAft>
              <a:buNone/>
            </a:pPr>
            <a:r>
              <a:rPr lang="en"/>
              <a:t>EXPLORING THIS SIMULATION WITH SANDWICH MAKING IS OPTIONAL</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0" name="Shape 290"/>
        <p:cNvGrpSpPr/>
        <p:nvPr/>
      </p:nvGrpSpPr>
      <p:grpSpPr>
        <a:xfrm>
          <a:off x="0" y="0"/>
          <a:ext cx="0" cy="0"/>
          <a:chOff x="0" y="0"/>
          <a:chExt cx="0" cy="0"/>
        </a:xfrm>
      </p:grpSpPr>
      <p:sp>
        <p:nvSpPr>
          <p:cNvPr id="291" name="Google Shape;291;p50"/>
          <p:cNvSpPr txBox="1"/>
          <p:nvPr>
            <p:ph type="title"/>
          </p:nvPr>
        </p:nvSpPr>
        <p:spPr>
          <a:xfrm>
            <a:off x="280530" y="593367"/>
            <a:ext cx="7668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May not do yield in this presentation but don’t forget it!</a:t>
            </a:r>
            <a:endParaRPr/>
          </a:p>
        </p:txBody>
      </p:sp>
      <p:sp>
        <p:nvSpPr>
          <p:cNvPr id="292" name="Google Shape;292;p50"/>
          <p:cNvSpPr txBox="1"/>
          <p:nvPr>
            <p:ph idx="1" type="body"/>
          </p:nvPr>
        </p:nvSpPr>
        <p:spPr>
          <a:xfrm>
            <a:off x="280530" y="1906033"/>
            <a:ext cx="3600000" cy="4185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Just use preexisting edpuzzle &amp; notes I have prob. </a:t>
            </a:r>
            <a:endParaRPr/>
          </a:p>
        </p:txBody>
      </p:sp>
      <p:sp>
        <p:nvSpPr>
          <p:cNvPr id="293" name="Google Shape;293;p50"/>
          <p:cNvSpPr txBox="1"/>
          <p:nvPr>
            <p:ph idx="2" type="body"/>
          </p:nvPr>
        </p:nvSpPr>
        <p:spPr>
          <a:xfrm>
            <a:off x="4349160" y="1536633"/>
            <a:ext cx="36000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7" name="Shape 297"/>
        <p:cNvGrpSpPr/>
        <p:nvPr/>
      </p:nvGrpSpPr>
      <p:grpSpPr>
        <a:xfrm>
          <a:off x="0" y="0"/>
          <a:ext cx="0" cy="0"/>
          <a:chOff x="0" y="0"/>
          <a:chExt cx="0" cy="0"/>
        </a:xfrm>
      </p:grpSpPr>
      <p:sp>
        <p:nvSpPr>
          <p:cNvPr id="298" name="Google Shape;298;p51"/>
          <p:cNvSpPr txBox="1"/>
          <p:nvPr>
            <p:ph type="title"/>
          </p:nvPr>
        </p:nvSpPr>
        <p:spPr>
          <a:xfrm>
            <a:off x="280530" y="593367"/>
            <a:ext cx="7668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Can insert Phet in Nearpod by inserting the Webpage</a:t>
            </a:r>
            <a:endParaRPr/>
          </a:p>
        </p:txBody>
      </p:sp>
      <p:sp>
        <p:nvSpPr>
          <p:cNvPr id="299" name="Google Shape;299;p51"/>
          <p:cNvSpPr txBox="1"/>
          <p:nvPr>
            <p:ph idx="1" type="body"/>
          </p:nvPr>
        </p:nvSpPr>
        <p:spPr>
          <a:xfrm>
            <a:off x="280530" y="1536633"/>
            <a:ext cx="7668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3" name="Shape 303"/>
        <p:cNvGrpSpPr/>
        <p:nvPr/>
      </p:nvGrpSpPr>
      <p:grpSpPr>
        <a:xfrm>
          <a:off x="0" y="0"/>
          <a:ext cx="0" cy="0"/>
          <a:chOff x="0" y="0"/>
          <a:chExt cx="0" cy="0"/>
        </a:xfrm>
      </p:grpSpPr>
      <p:sp>
        <p:nvSpPr>
          <p:cNvPr id="304" name="Google Shape;304;p52"/>
          <p:cNvSpPr txBox="1"/>
          <p:nvPr>
            <p:ph type="title"/>
          </p:nvPr>
        </p:nvSpPr>
        <p:spPr>
          <a:xfrm>
            <a:off x="280530" y="593367"/>
            <a:ext cx="7668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 in optional as it makes sense to some minds. </a:t>
            </a:r>
            <a:endParaRPr/>
          </a:p>
        </p:txBody>
      </p:sp>
      <p:sp>
        <p:nvSpPr>
          <p:cNvPr id="305" name="Google Shape;305;p52"/>
          <p:cNvSpPr txBox="1"/>
          <p:nvPr>
            <p:ph idx="1" type="body"/>
          </p:nvPr>
        </p:nvSpPr>
        <p:spPr>
          <a:xfrm>
            <a:off x="280530" y="1536633"/>
            <a:ext cx="7668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descr="Limiting reactant is also called limiting reagent. The limiting reactant or limiting reagent is the first reactant to get used up in a chemical reaction. Once the limiting reactant or limiting reagent gets used up, the reaction has to stop and cannot continue. After the limiting reactant or limiting reagent is used up and the reaction stops, there is extra of the other reactants left over. Those are called the excess reactants. In this video, we'll first learn about limiting reactant and limiting reagent by comparing chemical reactions to cooking recipes. We'll look at how to calculate limiting reactant and limiting reagent using cooking ingredients, and then looking at an actual stoichiometry problem," id="306" name="Google Shape;306;p52" title="Introduction to Limiting Reactant and Excess Reactant">
            <a:hlinkClick r:id="rId3"/>
          </p:cNvPr>
          <p:cNvPicPr preferRelativeResize="0"/>
          <p:nvPr/>
        </p:nvPicPr>
        <p:blipFill>
          <a:blip r:embed="rId4">
            <a:alphaModFix/>
          </a:blip>
          <a:stretch>
            <a:fillRect/>
          </a:stretch>
        </p:blipFill>
        <p:spPr>
          <a:xfrm>
            <a:off x="2057400" y="1528233"/>
            <a:ext cx="4114800" cy="30861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0" name="Shape 310"/>
        <p:cNvGrpSpPr/>
        <p:nvPr/>
      </p:nvGrpSpPr>
      <p:grpSpPr>
        <a:xfrm>
          <a:off x="0" y="0"/>
          <a:ext cx="0" cy="0"/>
          <a:chOff x="0" y="0"/>
          <a:chExt cx="0" cy="0"/>
        </a:xfrm>
      </p:grpSpPr>
      <p:pic>
        <p:nvPicPr>
          <p:cNvPr id="311" name="Google Shape;311;p53"/>
          <p:cNvPicPr preferRelativeResize="0"/>
          <p:nvPr/>
        </p:nvPicPr>
        <p:blipFill>
          <a:blip r:embed="rId3">
            <a:alphaModFix/>
          </a:blip>
          <a:stretch>
            <a:fillRect/>
          </a:stretch>
        </p:blipFill>
        <p:spPr>
          <a:xfrm>
            <a:off x="1028700" y="0"/>
            <a:ext cx="6172198" cy="4629149"/>
          </a:xfrm>
          <a:prstGeom prst="rect">
            <a:avLst/>
          </a:prstGeom>
          <a:noFill/>
          <a:ln>
            <a:noFill/>
          </a:ln>
        </p:spPr>
      </p:pic>
      <p:pic>
        <p:nvPicPr>
          <p:cNvPr id="312" name="Google Shape;312;p53"/>
          <p:cNvPicPr preferRelativeResize="0"/>
          <p:nvPr/>
        </p:nvPicPr>
        <p:blipFill>
          <a:blip r:embed="rId4">
            <a:alphaModFix/>
          </a:blip>
          <a:stretch>
            <a:fillRect/>
          </a:stretch>
        </p:blipFill>
        <p:spPr>
          <a:xfrm>
            <a:off x="1028700" y="0"/>
            <a:ext cx="6172201" cy="46291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