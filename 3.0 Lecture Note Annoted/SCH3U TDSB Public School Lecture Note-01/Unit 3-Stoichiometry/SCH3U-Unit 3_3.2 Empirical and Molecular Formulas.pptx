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6858000" cy="9144000"/>
  <p:embeddedFontLst>
    <p:embeddedFont>
      <p:font typeface="Cabin"/>
      <p:regular r:id="rId40"/>
      <p:bold r:id="rId41"/>
      <p:italic r:id="rId42"/>
      <p:boldItalic r:id="rId43"/>
    </p:embeddedFont>
    <p:embeddedFont>
      <p:font typeface="Corbel"/>
      <p:regular r:id="rId44"/>
      <p:bold r:id="rId45"/>
      <p:italic r:id="rId46"/>
      <p:boldItalic r:id="rId47"/>
    </p:embeddedFont>
    <p:embeddedFont>
      <p:font typeface="Lora"/>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DA909B6-01E4-48B9-A608-4EE2E6230F72}">
  <a:tblStyle styleId="{7DA909B6-01E4-48B9-A608-4EE2E6230F72}" styleName="Table_0">
    <a:wholeTbl>
      <a:tcTxStyle>
        <a:font>
          <a:latin typeface="Arial"/>
          <a:ea typeface="Arial"/>
          <a:cs typeface="Arial"/>
        </a:font>
        <a:srgbClr val="000000"/>
      </a:tcTxStyle>
      <a:tcStyle>
        <a:tcBdr>
          <a:left>
            <a:ln cap="flat" cmpd="sng" w="6350">
              <a:solidFill>
                <a:srgbClr val="000000"/>
              </a:solidFill>
              <a:prstDash val="solid"/>
              <a:round/>
              <a:headEnd len="sm" w="sm" type="none"/>
              <a:tailEnd len="sm" w="sm" type="none"/>
            </a:ln>
          </a:left>
          <a:right>
            <a:ln cap="flat" cmpd="sng" w="6350">
              <a:solidFill>
                <a:srgbClr val="000000"/>
              </a:solidFill>
              <a:prstDash val="solid"/>
              <a:round/>
              <a:headEnd len="sm" w="sm" type="none"/>
              <a:tailEnd len="sm" w="sm" type="none"/>
            </a:ln>
          </a:right>
          <a:top>
            <a:ln cap="flat" cmpd="sng" w="6350">
              <a:solidFill>
                <a:srgbClr val="000000"/>
              </a:solidFill>
              <a:prstDash val="solid"/>
              <a:round/>
              <a:headEnd len="sm" w="sm" type="none"/>
              <a:tailEnd len="sm" w="sm" type="none"/>
            </a:ln>
          </a:top>
          <a:bottom>
            <a:ln cap="flat" cmpd="sng" w="6350">
              <a:solidFill>
                <a:srgbClr val="000000"/>
              </a:solidFill>
              <a:prstDash val="solid"/>
              <a:round/>
              <a:headEnd len="sm" w="sm" type="none"/>
              <a:tailEnd len="sm" w="sm" type="none"/>
            </a:ln>
          </a:bottom>
          <a:insideH>
            <a:ln cap="flat" cmpd="sng" w="6350">
              <a:solidFill>
                <a:srgbClr val="000000"/>
              </a:solidFill>
              <a:prstDash val="solid"/>
              <a:round/>
              <a:headEnd len="sm" w="sm" type="none"/>
              <a:tailEnd len="sm" w="sm" type="none"/>
            </a:ln>
          </a:insideH>
          <a:insideV>
            <a:ln cap="flat" cmpd="sng" w="635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Cabin-regular.fntdata"/><Relationship Id="rId42" Type="http://schemas.openxmlformats.org/officeDocument/2006/relationships/font" Target="fonts/Cabin-italic.fntdata"/><Relationship Id="rId41" Type="http://schemas.openxmlformats.org/officeDocument/2006/relationships/font" Target="fonts/Cabin-bold.fntdata"/><Relationship Id="rId44" Type="http://schemas.openxmlformats.org/officeDocument/2006/relationships/font" Target="fonts/Corbel-regular.fntdata"/><Relationship Id="rId43" Type="http://schemas.openxmlformats.org/officeDocument/2006/relationships/font" Target="fonts/Cabin-boldItalic.fntdata"/><Relationship Id="rId46" Type="http://schemas.openxmlformats.org/officeDocument/2006/relationships/font" Target="fonts/Corbel-italic.fntdata"/><Relationship Id="rId45" Type="http://schemas.openxmlformats.org/officeDocument/2006/relationships/font" Target="fonts/Corbel-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Lora-regular.fntdata"/><Relationship Id="rId47" Type="http://schemas.openxmlformats.org/officeDocument/2006/relationships/font" Target="fonts/Corbel-boldItalic.fntdata"/><Relationship Id="rId49" Type="http://schemas.openxmlformats.org/officeDocument/2006/relationships/font" Target="fonts/Lora-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ora-boldItalic.fntdata"/><Relationship Id="rId50" Type="http://schemas.openxmlformats.org/officeDocument/2006/relationships/font" Target="fonts/Lora-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9b640c64ce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9b640c64ce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5b669d86f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5b669d86f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5b669d86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5b669d86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5b669d86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5b669d86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45b669d86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45b669d86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45b669d86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45b669d86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45b669d86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45b669d86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45b669d86f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45b669d86f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45b669d86f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45b669d86f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79093d091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79093d09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79093d091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79093d091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9b640c64ce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9b640c64ce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9b640c64ce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9b640c64ce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79093d0913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79093d0913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9b640c64ce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9b640c64ce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79093d091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79093d091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9b640c64ce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9b640c64ce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9b640c64ce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9b640c64ce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9b640c64ce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9b640c64ce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9b640c64ce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9b640c64ce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9b640c64ce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9b640c64ce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9b640c64ce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9b640c64ce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79093d0913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79093d0913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790e4ef7f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790e4ef7f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8bc9f21c1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8bc9f21c1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9b640c64ce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9b640c64ce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45b669d86f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45b669d86f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45b669d86f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45b669d86f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45b669d86f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45b669d86f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45b669d86f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45b669d86f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45b669d86f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45b669d86f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45b669d86f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45b669d86f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45b669d86f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45b669d86f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45b669d86f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45b669d86f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slide" Target="/ppt/slides/slide8.xml"/><Relationship Id="rId4" Type="http://schemas.openxmlformats.org/officeDocument/2006/relationships/slide" Target="/ppt/slides/slide9.xml"/><Relationship Id="rId5" Type="http://schemas.openxmlformats.org/officeDocument/2006/relationships/slide" Target="/ppt/slides/slide27.xml"/><Relationship Id="rId6" Type="http://schemas.openxmlformats.org/officeDocument/2006/relationships/slide" Target="/ppt/slides/slide3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www.zmescience.com/science/chemistry/mit-handheld-mass-spectrometer-543564/#:~:text=To%20make%20their%20handheld%20spectrometer,a%20chip%2Dscale%20vacuum%20pum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FF"/>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a:solidFill>
            <a:srgbClr val="FFFFFF"/>
          </a:solidFill>
        </p:spPr>
        <p:txBody>
          <a:bodyPr anchorCtr="0" anchor="b" bIns="91425" lIns="91425" spcFirstLastPara="1" rIns="91425" wrap="square" tIns="91425">
            <a:noAutofit/>
          </a:bodyPr>
          <a:lstStyle/>
          <a:p>
            <a:pPr indent="0" lvl="0" marL="0" rtl="0" algn="ctr">
              <a:spcBef>
                <a:spcPts val="0"/>
              </a:spcBef>
              <a:spcAft>
                <a:spcPts val="0"/>
              </a:spcAft>
              <a:buNone/>
            </a:pPr>
            <a:r>
              <a:rPr lang="en"/>
              <a:t>Empirical and Molecular Formulas</a:t>
            </a:r>
            <a:endParaRPr/>
          </a:p>
        </p:txBody>
      </p:sp>
      <p:sp>
        <p:nvSpPr>
          <p:cNvPr id="55" name="Google Shape;55;p13"/>
          <p:cNvSpPr txBox="1"/>
          <p:nvPr/>
        </p:nvSpPr>
        <p:spPr>
          <a:xfrm>
            <a:off x="1302900" y="3652375"/>
            <a:ext cx="6538200" cy="985200"/>
          </a:xfrm>
          <a:prstGeom prst="rect">
            <a:avLst/>
          </a:prstGeom>
          <a:solidFill>
            <a:srgbClr val="FFFFFF"/>
          </a:solid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sz="2600">
                <a:solidFill>
                  <a:srgbClr val="4A86E8"/>
                </a:solidFill>
                <a:latin typeface="Corbel"/>
                <a:ea typeface="Corbel"/>
                <a:cs typeface="Corbel"/>
                <a:sym typeface="Corbel"/>
              </a:rPr>
              <a:t>Share one copy of this with your group. </a:t>
            </a:r>
            <a:endParaRPr sz="2600">
              <a:solidFill>
                <a:srgbClr val="4A86E8"/>
              </a:solidFill>
              <a:latin typeface="Corbel"/>
              <a:ea typeface="Corbel"/>
              <a:cs typeface="Corbel"/>
              <a:sym typeface="Corbel"/>
            </a:endParaRPr>
          </a:p>
          <a:p>
            <a:pPr indent="0" lvl="0" marL="0" rtl="0" algn="ctr">
              <a:spcBef>
                <a:spcPts val="0"/>
              </a:spcBef>
              <a:spcAft>
                <a:spcPts val="0"/>
              </a:spcAft>
              <a:buNone/>
            </a:pPr>
            <a:r>
              <a:rPr lang="en" sz="2600">
                <a:solidFill>
                  <a:srgbClr val="4A86E8"/>
                </a:solidFill>
                <a:latin typeface="Corbel"/>
                <a:ea typeface="Corbel"/>
                <a:cs typeface="Corbel"/>
                <a:sym typeface="Corbel"/>
              </a:rPr>
              <a:t>Make your own copy at the end of the lesson.</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ora"/>
                <a:ea typeface="Lora"/>
                <a:cs typeface="Lora"/>
                <a:sym typeface="Lora"/>
              </a:rPr>
              <a:t>Recall: </a:t>
            </a:r>
            <a:r>
              <a:rPr lang="en" sz="2600">
                <a:latin typeface="Lora"/>
                <a:ea typeface="Lora"/>
                <a:cs typeface="Lora"/>
                <a:sym typeface="Lora"/>
              </a:rPr>
              <a:t>Breaking Down Compounds into Elements </a:t>
            </a:r>
            <a:endParaRPr>
              <a:latin typeface="Lora"/>
              <a:ea typeface="Lora"/>
              <a:cs typeface="Lora"/>
              <a:sym typeface="Lora"/>
            </a:endParaRPr>
          </a:p>
        </p:txBody>
      </p:sp>
      <p:sp>
        <p:nvSpPr>
          <p:cNvPr id="61" name="Google Shape;61;p14"/>
          <p:cNvSpPr txBox="1"/>
          <p:nvPr>
            <p:ph idx="1" type="body"/>
          </p:nvPr>
        </p:nvSpPr>
        <p:spPr>
          <a:xfrm>
            <a:off x="311700" y="1152475"/>
            <a:ext cx="8520600" cy="3731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900">
                <a:solidFill>
                  <a:schemeClr val="dk1"/>
                </a:solidFill>
                <a:latin typeface="Lora"/>
                <a:ea typeface="Lora"/>
                <a:cs typeface="Lora"/>
                <a:sym typeface="Lora"/>
              </a:rPr>
              <a:t>Each person in the group should work on one of the following compounds: </a:t>
            </a:r>
            <a:endParaRPr sz="19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9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 sz="1900">
                <a:solidFill>
                  <a:schemeClr val="dk1"/>
                </a:solidFill>
                <a:latin typeface="Lora"/>
                <a:ea typeface="Lora"/>
                <a:cs typeface="Lora"/>
                <a:sym typeface="Lora"/>
              </a:rPr>
              <a:t>		H</a:t>
            </a:r>
            <a:r>
              <a:rPr baseline="-25000" lang="en" sz="1900">
                <a:solidFill>
                  <a:schemeClr val="dk1"/>
                </a:solidFill>
                <a:latin typeface="Lora"/>
                <a:ea typeface="Lora"/>
                <a:cs typeface="Lora"/>
                <a:sym typeface="Lora"/>
              </a:rPr>
              <a:t>2</a:t>
            </a:r>
            <a:r>
              <a:rPr lang="en" sz="1900">
                <a:solidFill>
                  <a:schemeClr val="dk1"/>
                </a:solidFill>
                <a:latin typeface="Lora"/>
                <a:ea typeface="Lora"/>
                <a:cs typeface="Lora"/>
                <a:sym typeface="Lora"/>
              </a:rPr>
              <a:t>O                 CH</a:t>
            </a:r>
            <a:r>
              <a:rPr baseline="-25000" lang="en" sz="1900">
                <a:solidFill>
                  <a:schemeClr val="dk1"/>
                </a:solidFill>
                <a:latin typeface="Lora"/>
                <a:ea typeface="Lora"/>
                <a:cs typeface="Lora"/>
                <a:sym typeface="Lora"/>
              </a:rPr>
              <a:t>4</a:t>
            </a:r>
            <a:r>
              <a:rPr lang="en" sz="1900">
                <a:solidFill>
                  <a:schemeClr val="dk1"/>
                </a:solidFill>
                <a:latin typeface="Lora"/>
                <a:ea typeface="Lora"/>
                <a:cs typeface="Lora"/>
                <a:sym typeface="Lora"/>
              </a:rPr>
              <a:t>                Ca</a:t>
            </a:r>
            <a:r>
              <a:rPr baseline="-25000" lang="en" sz="1900">
                <a:solidFill>
                  <a:schemeClr val="dk1"/>
                </a:solidFill>
                <a:latin typeface="Lora"/>
                <a:ea typeface="Lora"/>
                <a:cs typeface="Lora"/>
                <a:sym typeface="Lora"/>
              </a:rPr>
              <a:t>3</a:t>
            </a:r>
            <a:r>
              <a:rPr lang="en" sz="1900">
                <a:solidFill>
                  <a:schemeClr val="dk1"/>
                </a:solidFill>
                <a:latin typeface="Lora"/>
                <a:ea typeface="Lora"/>
                <a:cs typeface="Lora"/>
                <a:sym typeface="Lora"/>
              </a:rPr>
              <a:t>(PO</a:t>
            </a:r>
            <a:r>
              <a:rPr baseline="-25000" lang="en" sz="1900">
                <a:solidFill>
                  <a:schemeClr val="dk1"/>
                </a:solidFill>
                <a:latin typeface="Lora"/>
                <a:ea typeface="Lora"/>
                <a:cs typeface="Lora"/>
                <a:sym typeface="Lora"/>
              </a:rPr>
              <a:t>4</a:t>
            </a:r>
            <a:r>
              <a:rPr lang="en" sz="1900">
                <a:solidFill>
                  <a:schemeClr val="dk1"/>
                </a:solidFill>
                <a:latin typeface="Lora"/>
                <a:ea typeface="Lora"/>
                <a:cs typeface="Lora"/>
                <a:sym typeface="Lora"/>
              </a:rPr>
              <a:t>)</a:t>
            </a:r>
            <a:r>
              <a:rPr baseline="-25000" lang="en" sz="1900">
                <a:solidFill>
                  <a:schemeClr val="dk1"/>
                </a:solidFill>
                <a:latin typeface="Lora"/>
                <a:ea typeface="Lora"/>
                <a:cs typeface="Lora"/>
                <a:sym typeface="Lora"/>
              </a:rPr>
              <a:t>2</a:t>
            </a:r>
            <a:endParaRPr baseline="-25000" sz="19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9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 sz="1900">
                <a:solidFill>
                  <a:schemeClr val="dk1"/>
                </a:solidFill>
                <a:latin typeface="Lora"/>
                <a:ea typeface="Lora"/>
                <a:cs typeface="Lora"/>
                <a:sym typeface="Lora"/>
              </a:rPr>
              <a:t>Guiding Questions:  </a:t>
            </a:r>
            <a:endParaRPr sz="19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 sz="1900">
                <a:solidFill>
                  <a:schemeClr val="dk1"/>
                </a:solidFill>
                <a:latin typeface="Lora"/>
                <a:ea typeface="Lora"/>
                <a:cs typeface="Lora"/>
                <a:sym typeface="Lora"/>
              </a:rPr>
              <a:t>1. How many atoms of each element are in your compound?  </a:t>
            </a:r>
            <a:endParaRPr sz="19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 sz="1900">
                <a:solidFill>
                  <a:schemeClr val="dk1"/>
                </a:solidFill>
                <a:latin typeface="Lora"/>
                <a:ea typeface="Lora"/>
                <a:cs typeface="Lora"/>
                <a:sym typeface="Lora"/>
              </a:rPr>
              <a:t>2. What is the molar mass of each element in your compound? (Use the periodic table.)  </a:t>
            </a:r>
            <a:endParaRPr sz="19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1900">
                <a:solidFill>
                  <a:schemeClr val="dk1"/>
                </a:solidFill>
                <a:latin typeface="Lora"/>
                <a:ea typeface="Lora"/>
                <a:cs typeface="Lora"/>
                <a:sym typeface="Lora"/>
              </a:rPr>
              <a:t>3. How do you calculate the total molar mass of the compound?</a:t>
            </a:r>
            <a:endParaRPr sz="19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9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1900">
                <a:solidFill>
                  <a:schemeClr val="dk1"/>
                </a:solidFill>
                <a:latin typeface="Lora"/>
                <a:ea typeface="Lora"/>
                <a:cs typeface="Lora"/>
                <a:sym typeface="Lora"/>
              </a:rPr>
              <a:t>If unsure of your answers, check with another group &amp;/or instructor.</a:t>
            </a:r>
            <a:endParaRPr sz="19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ora"/>
                <a:ea typeface="Lora"/>
                <a:cs typeface="Lora"/>
                <a:sym typeface="Lora"/>
              </a:rPr>
              <a:t>ESSENTIAL QUESTIONS</a:t>
            </a:r>
            <a:endParaRPr>
              <a:latin typeface="Lora"/>
              <a:ea typeface="Lora"/>
              <a:cs typeface="Lora"/>
              <a:sym typeface="Lora"/>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81000" lvl="0" marL="457200" rtl="0" algn="l">
              <a:lnSpc>
                <a:spcPct val="100000"/>
              </a:lnSpc>
              <a:spcBef>
                <a:spcPts val="0"/>
              </a:spcBef>
              <a:spcAft>
                <a:spcPts val="0"/>
              </a:spcAft>
              <a:buClr>
                <a:schemeClr val="dk1"/>
              </a:buClr>
              <a:buSzPts val="2400"/>
              <a:buFont typeface="Lora"/>
              <a:buChar char="▪"/>
            </a:pPr>
            <a:r>
              <a:rPr lang="en" sz="2400">
                <a:solidFill>
                  <a:schemeClr val="dk1"/>
                </a:solidFill>
                <a:latin typeface="Lora"/>
                <a:ea typeface="Lora"/>
                <a:cs typeface="Lora"/>
                <a:sym typeface="Lora"/>
              </a:rPr>
              <a:t>How can we determine what fraction of a compound’s mass comes from each of its elements? </a:t>
            </a:r>
            <a:endParaRPr sz="2400">
              <a:solidFill>
                <a:schemeClr val="dk1"/>
              </a:solidFill>
              <a:latin typeface="Lora"/>
              <a:ea typeface="Lora"/>
              <a:cs typeface="Lora"/>
              <a:sym typeface="Lora"/>
            </a:endParaRPr>
          </a:p>
          <a:p>
            <a:pPr indent="-381000" lvl="0" marL="457200" rtl="0" algn="l">
              <a:lnSpc>
                <a:spcPct val="100000"/>
              </a:lnSpc>
              <a:spcBef>
                <a:spcPts val="0"/>
              </a:spcBef>
              <a:spcAft>
                <a:spcPts val="0"/>
              </a:spcAft>
              <a:buClr>
                <a:schemeClr val="dk1"/>
              </a:buClr>
              <a:buSzPts val="2400"/>
              <a:buFont typeface="Lora"/>
              <a:buChar char="▪"/>
            </a:pPr>
            <a:r>
              <a:rPr lang="en" sz="2400">
                <a:solidFill>
                  <a:schemeClr val="dk1"/>
                </a:solidFill>
                <a:latin typeface="Lora"/>
                <a:ea typeface="Lora"/>
                <a:cs typeface="Lora"/>
                <a:sym typeface="Lora"/>
              </a:rPr>
              <a:t>Why is knowing the percentage composition of a compound useful in real-world applications? </a:t>
            </a:r>
            <a:endParaRPr sz="2400">
              <a:solidFill>
                <a:schemeClr val="dk1"/>
              </a:solidFill>
              <a:latin typeface="Lora"/>
              <a:ea typeface="Lora"/>
              <a:cs typeface="Lora"/>
              <a:sym typeface="Lora"/>
            </a:endParaRPr>
          </a:p>
          <a:p>
            <a:pPr indent="-381000" lvl="0" marL="457200" rtl="0" algn="l">
              <a:lnSpc>
                <a:spcPct val="100000"/>
              </a:lnSpc>
              <a:spcBef>
                <a:spcPts val="0"/>
              </a:spcBef>
              <a:spcAft>
                <a:spcPts val="0"/>
              </a:spcAft>
              <a:buClr>
                <a:schemeClr val="dk1"/>
              </a:buClr>
              <a:buSzPts val="2400"/>
              <a:buFont typeface="Lora"/>
              <a:buChar char="▪"/>
            </a:pPr>
            <a:r>
              <a:rPr lang="en" sz="2400">
                <a:solidFill>
                  <a:schemeClr val="dk1"/>
                </a:solidFill>
                <a:latin typeface="Lora"/>
                <a:ea typeface="Lora"/>
                <a:cs typeface="Lora"/>
                <a:sym typeface="Lora"/>
              </a:rPr>
              <a:t>How does percentage composition help us predict the simplest (empirical) formula of a compound?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b="1" sz="2400">
              <a:solidFill>
                <a:schemeClr val="dk1"/>
              </a:solidFill>
              <a:latin typeface="Comic Sans MS"/>
              <a:ea typeface="Comic Sans MS"/>
              <a:cs typeface="Comic Sans MS"/>
              <a:sym typeface="Comic Sans MS"/>
            </a:endParaRPr>
          </a:p>
          <a:p>
            <a:pPr indent="0" lvl="0" marL="0" rtl="0" algn="l">
              <a:lnSpc>
                <a:spcPct val="100000"/>
              </a:lnSpc>
              <a:spcBef>
                <a:spcPts val="0"/>
              </a:spcBef>
              <a:spcAft>
                <a:spcPts val="0"/>
              </a:spcAft>
              <a:buClr>
                <a:schemeClr val="dk1"/>
              </a:buClr>
              <a:buSzPts val="1100"/>
              <a:buFont typeface="Arial"/>
              <a:buNone/>
            </a:pPr>
            <a:r>
              <a:rPr b="1" lang="en" sz="2400">
                <a:solidFill>
                  <a:srgbClr val="9900FF"/>
                </a:solidFill>
                <a:latin typeface="Cabin"/>
                <a:ea typeface="Cabin"/>
                <a:cs typeface="Cabin"/>
                <a:sym typeface="Cabin"/>
              </a:rPr>
              <a:t>Remember, you should be able to thoroughly answer these </a:t>
            </a:r>
            <a:r>
              <a:rPr b="1" lang="en" sz="2400" u="sng">
                <a:solidFill>
                  <a:srgbClr val="9900FF"/>
                </a:solidFill>
                <a:latin typeface="Cabin"/>
                <a:ea typeface="Cabin"/>
                <a:cs typeface="Cabin"/>
                <a:sym typeface="Cabin"/>
              </a:rPr>
              <a:t>AFTER</a:t>
            </a:r>
            <a:r>
              <a:rPr b="1" lang="en" sz="2400">
                <a:solidFill>
                  <a:srgbClr val="9900FF"/>
                </a:solidFill>
                <a:latin typeface="Cabin"/>
                <a:ea typeface="Cabin"/>
                <a:cs typeface="Cabin"/>
                <a:sym typeface="Cabin"/>
              </a:rPr>
              <a:t> learning through following resources.</a:t>
            </a:r>
            <a:endParaRPr b="1" sz="2400">
              <a:solidFill>
                <a:schemeClr val="dk1"/>
              </a:solidFill>
              <a:latin typeface="Comic Sans MS"/>
              <a:ea typeface="Comic Sans MS"/>
              <a:cs typeface="Comic Sans MS"/>
              <a:sym typeface="Comic Sans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ora"/>
                <a:ea typeface="Lora"/>
                <a:cs typeface="Lora"/>
                <a:sym typeface="Lora"/>
              </a:rPr>
              <a:t>Instructions</a:t>
            </a:r>
            <a:endParaRPr>
              <a:latin typeface="Lora"/>
              <a:ea typeface="Lora"/>
              <a:cs typeface="Lora"/>
              <a:sym typeface="Lora"/>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Clr>
                <a:schemeClr val="dk1"/>
              </a:buClr>
              <a:buSzPts val="1700"/>
              <a:buFont typeface="Lora"/>
              <a:buChar char="▪"/>
            </a:pPr>
            <a:r>
              <a:rPr lang="en" sz="1700">
                <a:solidFill>
                  <a:schemeClr val="dk1"/>
                </a:solidFill>
                <a:latin typeface="Lora"/>
                <a:ea typeface="Lora"/>
                <a:cs typeface="Lora"/>
                <a:sym typeface="Lora"/>
              </a:rPr>
              <a:t>Follow through the Engage to Apply resources in order . </a:t>
            </a:r>
            <a:endParaRPr sz="1700">
              <a:solidFill>
                <a:schemeClr val="dk1"/>
              </a:solidFill>
              <a:latin typeface="Lora"/>
              <a:ea typeface="Lora"/>
              <a:cs typeface="Lora"/>
              <a:sym typeface="Lora"/>
            </a:endParaRPr>
          </a:p>
          <a:p>
            <a:pPr indent="-336550" lvl="0" marL="457200" rtl="0" algn="l">
              <a:lnSpc>
                <a:spcPct val="100000"/>
              </a:lnSpc>
              <a:spcBef>
                <a:spcPts val="0"/>
              </a:spcBef>
              <a:spcAft>
                <a:spcPts val="0"/>
              </a:spcAft>
              <a:buClr>
                <a:schemeClr val="dk1"/>
              </a:buClr>
              <a:buSzPts val="1700"/>
              <a:buFont typeface="Lora"/>
              <a:buChar char="▪"/>
            </a:pPr>
            <a:r>
              <a:rPr lang="en" sz="1700">
                <a:solidFill>
                  <a:schemeClr val="dk1"/>
                </a:solidFill>
                <a:latin typeface="Lora"/>
                <a:ea typeface="Lora"/>
                <a:cs typeface="Lora"/>
                <a:sym typeface="Lora"/>
              </a:rPr>
              <a:t>Once confident, attempt Taking it Further work if available. This is Level 4 for course. </a:t>
            </a:r>
            <a:endParaRPr sz="1700">
              <a:solidFill>
                <a:schemeClr val="dk1"/>
              </a:solidFill>
              <a:latin typeface="Lora"/>
              <a:ea typeface="Lora"/>
              <a:cs typeface="Lora"/>
              <a:sym typeface="Lora"/>
            </a:endParaRPr>
          </a:p>
          <a:p>
            <a:pPr indent="-336550" lvl="0" marL="457200" rtl="0" algn="l">
              <a:lnSpc>
                <a:spcPct val="100000"/>
              </a:lnSpc>
              <a:spcBef>
                <a:spcPts val="0"/>
              </a:spcBef>
              <a:spcAft>
                <a:spcPts val="0"/>
              </a:spcAft>
              <a:buClr>
                <a:schemeClr val="dk1"/>
              </a:buClr>
              <a:buSzPts val="1700"/>
              <a:buFont typeface="Lora"/>
              <a:buChar char="▪"/>
            </a:pPr>
            <a:r>
              <a:rPr lang="en" sz="1700">
                <a:solidFill>
                  <a:schemeClr val="dk1"/>
                </a:solidFill>
                <a:latin typeface="Lora"/>
                <a:ea typeface="Lora"/>
                <a:cs typeface="Lora"/>
                <a:sym typeface="Lora"/>
              </a:rPr>
              <a:t>Record your learning in  these slides. Remember to keep track of where to find these slides for studying!</a:t>
            </a:r>
            <a:endParaRPr sz="1700">
              <a:solidFill>
                <a:schemeClr val="dk1"/>
              </a:solidFill>
              <a:latin typeface="Lora"/>
              <a:ea typeface="Lora"/>
              <a:cs typeface="Lora"/>
              <a:sym typeface="Lora"/>
            </a:endParaRPr>
          </a:p>
          <a:p>
            <a:pPr indent="-336550" lvl="0" marL="457200" rtl="0" algn="l">
              <a:lnSpc>
                <a:spcPct val="100000"/>
              </a:lnSpc>
              <a:spcBef>
                <a:spcPts val="0"/>
              </a:spcBef>
              <a:spcAft>
                <a:spcPts val="0"/>
              </a:spcAft>
              <a:buClr>
                <a:schemeClr val="dk1"/>
              </a:buClr>
              <a:buSzPts val="1700"/>
              <a:buFont typeface="Lora"/>
              <a:buChar char="▪"/>
            </a:pPr>
            <a:r>
              <a:rPr lang="en" sz="1700">
                <a:solidFill>
                  <a:schemeClr val="dk1"/>
                </a:solidFill>
                <a:latin typeface="Lora"/>
                <a:ea typeface="Lora"/>
                <a:cs typeface="Lora"/>
                <a:sym typeface="Lora"/>
              </a:rPr>
              <a:t>Submit work from the Apply Section, IF INDICATED. Otherwise, it is regular practice work.</a:t>
            </a:r>
            <a:endParaRPr sz="1700">
              <a:solidFill>
                <a:schemeClr val="dk1"/>
              </a:solidFill>
              <a:latin typeface="Lora"/>
              <a:ea typeface="Lora"/>
              <a:cs typeface="Lora"/>
              <a:sym typeface="Lora"/>
            </a:endParaRPr>
          </a:p>
          <a:p>
            <a:pPr indent="-336550" lvl="0" marL="457200" rtl="0" algn="l">
              <a:lnSpc>
                <a:spcPct val="100000"/>
              </a:lnSpc>
              <a:spcBef>
                <a:spcPts val="0"/>
              </a:spcBef>
              <a:spcAft>
                <a:spcPts val="0"/>
              </a:spcAft>
              <a:buClr>
                <a:schemeClr val="dk1"/>
              </a:buClr>
              <a:buSzPts val="1700"/>
              <a:buFont typeface="Lora"/>
              <a:buChar char="▪"/>
            </a:pPr>
            <a:r>
              <a:rPr lang="en" sz="1700">
                <a:solidFill>
                  <a:schemeClr val="dk1"/>
                </a:solidFill>
                <a:latin typeface="Lora"/>
                <a:ea typeface="Lora"/>
                <a:cs typeface="Lora"/>
                <a:sym typeface="Lora"/>
              </a:rPr>
              <a:t>Try the Extend section as desired to deepen your understanding</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ora"/>
                <a:ea typeface="Lora"/>
                <a:cs typeface="Lora"/>
                <a:sym typeface="Lora"/>
              </a:rPr>
              <a:t>Links To sections</a:t>
            </a:r>
            <a:endParaRPr>
              <a:latin typeface="Lora"/>
              <a:ea typeface="Lora"/>
              <a:cs typeface="Lora"/>
              <a:sym typeface="Lora"/>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rPr lang="en" sz="2400">
                <a:solidFill>
                  <a:schemeClr val="dk1"/>
                </a:solidFill>
                <a:latin typeface="Lora"/>
                <a:ea typeface="Lora"/>
                <a:cs typeface="Lora"/>
                <a:sym typeface="Lora"/>
              </a:rPr>
              <a:t>Click for quick access to:</a:t>
            </a:r>
            <a:endParaRPr sz="2400">
              <a:solidFill>
                <a:schemeClr val="dk1"/>
              </a:solidFill>
              <a:latin typeface="Lora"/>
              <a:ea typeface="Lora"/>
              <a:cs typeface="Lora"/>
              <a:sym typeface="Lora"/>
            </a:endParaRPr>
          </a:p>
          <a:p>
            <a:pPr indent="-381000" lvl="0" marL="457200" rtl="0" algn="l">
              <a:lnSpc>
                <a:spcPct val="100000"/>
              </a:lnSpc>
              <a:spcBef>
                <a:spcPts val="0"/>
              </a:spcBef>
              <a:spcAft>
                <a:spcPts val="0"/>
              </a:spcAft>
              <a:buClr>
                <a:schemeClr val="dk1"/>
              </a:buClr>
              <a:buSzPts val="2400"/>
              <a:buFont typeface="Lora"/>
              <a:buChar char="●"/>
            </a:pPr>
            <a:r>
              <a:rPr lang="en" sz="2400" u="sng">
                <a:solidFill>
                  <a:schemeClr val="hlink"/>
                </a:solidFill>
                <a:latin typeface="Lora"/>
                <a:ea typeface="Lora"/>
                <a:cs typeface="Lora"/>
                <a:sym typeface="Lora"/>
                <a:hlinkClick action="ppaction://hlinksldjump" r:id="rId3"/>
              </a:rPr>
              <a:t>Engage</a:t>
            </a:r>
            <a:endParaRPr sz="2400">
              <a:solidFill>
                <a:schemeClr val="dk1"/>
              </a:solidFill>
              <a:latin typeface="Lora"/>
              <a:ea typeface="Lora"/>
              <a:cs typeface="Lora"/>
              <a:sym typeface="Lora"/>
            </a:endParaRPr>
          </a:p>
          <a:p>
            <a:pPr indent="-381000" lvl="0" marL="457200" rtl="0" algn="l">
              <a:lnSpc>
                <a:spcPct val="100000"/>
              </a:lnSpc>
              <a:spcBef>
                <a:spcPts val="0"/>
              </a:spcBef>
              <a:spcAft>
                <a:spcPts val="0"/>
              </a:spcAft>
              <a:buClr>
                <a:schemeClr val="dk1"/>
              </a:buClr>
              <a:buSzPts val="2400"/>
              <a:buFont typeface="Lora"/>
              <a:buChar char="●"/>
            </a:pPr>
            <a:r>
              <a:rPr lang="en" sz="2400" u="sng">
                <a:solidFill>
                  <a:schemeClr val="hlink"/>
                </a:solidFill>
                <a:latin typeface="Lora"/>
                <a:ea typeface="Lora"/>
                <a:cs typeface="Lora"/>
                <a:sym typeface="Lora"/>
                <a:hlinkClick action="ppaction://hlinksldjump" r:id="rId4"/>
              </a:rPr>
              <a:t>Explore</a:t>
            </a:r>
            <a:endParaRPr sz="2400">
              <a:solidFill>
                <a:schemeClr val="dk1"/>
              </a:solidFill>
              <a:latin typeface="Lora"/>
              <a:ea typeface="Lora"/>
              <a:cs typeface="Lora"/>
              <a:sym typeface="Lora"/>
            </a:endParaRPr>
          </a:p>
          <a:p>
            <a:pPr indent="-381000" lvl="0" marL="457200" rtl="0" algn="l">
              <a:lnSpc>
                <a:spcPct val="100000"/>
              </a:lnSpc>
              <a:spcBef>
                <a:spcPts val="0"/>
              </a:spcBef>
              <a:spcAft>
                <a:spcPts val="0"/>
              </a:spcAft>
              <a:buClr>
                <a:schemeClr val="dk1"/>
              </a:buClr>
              <a:buSzPts val="2400"/>
              <a:buFont typeface="Lora"/>
              <a:buChar char="●"/>
            </a:pPr>
            <a:r>
              <a:rPr lang="en" sz="2400" u="sng">
                <a:solidFill>
                  <a:schemeClr val="hlink"/>
                </a:solidFill>
                <a:latin typeface="Lora"/>
                <a:ea typeface="Lora"/>
                <a:cs typeface="Lora"/>
                <a:sym typeface="Lora"/>
                <a:hlinkClick action="ppaction://hlinksldjump" r:id="rId5"/>
              </a:rPr>
              <a:t>Apply</a:t>
            </a:r>
            <a:endParaRPr sz="2400">
              <a:solidFill>
                <a:schemeClr val="dk1"/>
              </a:solidFill>
              <a:latin typeface="Lora"/>
              <a:ea typeface="Lora"/>
              <a:cs typeface="Lora"/>
              <a:sym typeface="Lora"/>
            </a:endParaRPr>
          </a:p>
          <a:p>
            <a:pPr indent="-381000" lvl="0" marL="457200" rtl="0" algn="l">
              <a:lnSpc>
                <a:spcPct val="100000"/>
              </a:lnSpc>
              <a:spcBef>
                <a:spcPts val="0"/>
              </a:spcBef>
              <a:spcAft>
                <a:spcPts val="0"/>
              </a:spcAft>
              <a:buClr>
                <a:schemeClr val="dk1"/>
              </a:buClr>
              <a:buSzPts val="2400"/>
              <a:buFont typeface="Lora"/>
              <a:buChar char="●"/>
            </a:pPr>
            <a:r>
              <a:rPr lang="en" sz="2400" u="sng">
                <a:solidFill>
                  <a:schemeClr val="hlink"/>
                </a:solidFill>
                <a:latin typeface="Lora"/>
                <a:ea typeface="Lora"/>
                <a:cs typeface="Lora"/>
                <a:sym typeface="Lora"/>
                <a:hlinkClick action="ppaction://hlinksldjump" r:id="rId6"/>
              </a:rPr>
              <a:t>Extend</a:t>
            </a:r>
            <a:endParaRPr sz="2400">
              <a:solidFill>
                <a:schemeClr val="dk1"/>
              </a:solidFill>
              <a:latin typeface="Lora"/>
              <a:ea typeface="Lora"/>
              <a:cs typeface="Lora"/>
              <a:sym typeface="Lora"/>
            </a:endParaRPr>
          </a:p>
          <a:p>
            <a:pPr indent="0" lvl="0" marL="914400" rtl="0" algn="l">
              <a:lnSpc>
                <a:spcPct val="100000"/>
              </a:lnSpc>
              <a:spcBef>
                <a:spcPts val="0"/>
              </a:spcBef>
              <a:spcAft>
                <a:spcPts val="0"/>
              </a:spcAft>
              <a:buNone/>
            </a:pPr>
            <a:r>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22350" y="1924450"/>
            <a:ext cx="8499300" cy="8766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ora"/>
                <a:ea typeface="Lora"/>
                <a:cs typeface="Lora"/>
                <a:sym typeface="Lora"/>
              </a:rPr>
              <a:t>Part 1: ENGAGE   (5 minutes)</a:t>
            </a:r>
            <a:endParaRPr>
              <a:latin typeface="Lora"/>
              <a:ea typeface="Lora"/>
              <a:cs typeface="Lora"/>
              <a:sym typeface="Lora"/>
            </a:endParaRPr>
          </a:p>
        </p:txBody>
      </p:sp>
      <p:sp>
        <p:nvSpPr>
          <p:cNvPr id="85" name="Google Shape;85;p18"/>
          <p:cNvSpPr/>
          <p:nvPr/>
        </p:nvSpPr>
        <p:spPr>
          <a:xfrm>
            <a:off x="0" y="-15100"/>
            <a:ext cx="9144000" cy="16392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8"/>
          <p:cNvSpPr/>
          <p:nvPr/>
        </p:nvSpPr>
        <p:spPr>
          <a:xfrm>
            <a:off x="-18100" y="2988300"/>
            <a:ext cx="9162000" cy="2209500"/>
          </a:xfrm>
          <a:prstGeom prst="rect">
            <a:avLst/>
          </a:prstGeom>
          <a:solidFill>
            <a:srgbClr val="80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ora"/>
                <a:ea typeface="Lora"/>
                <a:cs typeface="Lora"/>
                <a:sym typeface="Lora"/>
              </a:rPr>
              <a:t>Engage: Using percents!</a:t>
            </a:r>
            <a:endParaRPr>
              <a:latin typeface="Lora"/>
              <a:ea typeface="Lora"/>
              <a:cs typeface="Lora"/>
              <a:sym typeface="Lora"/>
            </a:endParaRPr>
          </a:p>
        </p:txBody>
      </p:sp>
      <p:sp>
        <p:nvSpPr>
          <p:cNvPr id="92" name="Google Shape;92;p19"/>
          <p:cNvSpPr txBox="1"/>
          <p:nvPr>
            <p:ph idx="1" type="body"/>
          </p:nvPr>
        </p:nvSpPr>
        <p:spPr>
          <a:xfrm>
            <a:off x="311700" y="1152475"/>
            <a:ext cx="5610600" cy="3416400"/>
          </a:xfrm>
          <a:prstGeom prst="rect">
            <a:avLst/>
          </a:prstGeom>
        </p:spPr>
        <p:txBody>
          <a:bodyPr anchorCtr="0" anchor="t" bIns="91425" lIns="91425" spcFirstLastPara="1" rIns="91425" wrap="square" tIns="91425">
            <a:noAutofit/>
          </a:bodyPr>
          <a:lstStyle/>
          <a:p>
            <a:pPr indent="-368300" lvl="0" marL="457200" rtl="0" algn="l">
              <a:lnSpc>
                <a:spcPct val="100000"/>
              </a:lnSpc>
              <a:spcBef>
                <a:spcPts val="0"/>
              </a:spcBef>
              <a:spcAft>
                <a:spcPts val="0"/>
              </a:spcAft>
              <a:buClr>
                <a:schemeClr val="dk1"/>
              </a:buClr>
              <a:buSzPts val="2200"/>
              <a:buFont typeface="Lora"/>
              <a:buChar char="▪"/>
            </a:pPr>
            <a:r>
              <a:rPr lang="en" sz="2200">
                <a:solidFill>
                  <a:schemeClr val="dk1"/>
                </a:solidFill>
                <a:latin typeface="Lora"/>
                <a:ea typeface="Lora"/>
                <a:cs typeface="Lora"/>
                <a:sym typeface="Lora"/>
              </a:rPr>
              <a:t>In your group, answer the following:</a:t>
            </a:r>
            <a:endParaRPr sz="2200">
              <a:solidFill>
                <a:schemeClr val="dk1"/>
              </a:solidFill>
              <a:latin typeface="Lora"/>
              <a:ea typeface="Lora"/>
              <a:cs typeface="Lora"/>
              <a:sym typeface="Lora"/>
            </a:endParaRPr>
          </a:p>
          <a:p>
            <a:pPr indent="-368300" lvl="0" marL="457200" rtl="0" algn="l">
              <a:lnSpc>
                <a:spcPct val="100000"/>
              </a:lnSpc>
              <a:spcBef>
                <a:spcPts val="0"/>
              </a:spcBef>
              <a:spcAft>
                <a:spcPts val="0"/>
              </a:spcAft>
              <a:buClr>
                <a:schemeClr val="dk1"/>
              </a:buClr>
              <a:buSzPts val="2200"/>
              <a:buFont typeface="Lora"/>
              <a:buChar char="▪"/>
            </a:pPr>
            <a:r>
              <a:rPr lang="en" sz="2200">
                <a:solidFill>
                  <a:schemeClr val="dk1"/>
                </a:solidFill>
                <a:latin typeface="Lora"/>
                <a:ea typeface="Lora"/>
                <a:cs typeface="Lora"/>
                <a:sym typeface="Lora"/>
              </a:rPr>
              <a:t>What does percent mean?</a:t>
            </a:r>
            <a:endParaRPr sz="2200">
              <a:solidFill>
                <a:schemeClr val="dk1"/>
              </a:solidFill>
              <a:latin typeface="Lora"/>
              <a:ea typeface="Lora"/>
              <a:cs typeface="Lora"/>
              <a:sym typeface="Lora"/>
            </a:endParaRPr>
          </a:p>
          <a:p>
            <a:pPr indent="-368300" lvl="0" marL="457200" rtl="0" algn="l">
              <a:lnSpc>
                <a:spcPct val="100000"/>
              </a:lnSpc>
              <a:spcBef>
                <a:spcPts val="0"/>
              </a:spcBef>
              <a:spcAft>
                <a:spcPts val="0"/>
              </a:spcAft>
              <a:buClr>
                <a:schemeClr val="dk1"/>
              </a:buClr>
              <a:buSzPts val="2200"/>
              <a:buFont typeface="Lora"/>
              <a:buChar char="▪"/>
            </a:pPr>
            <a:r>
              <a:rPr lang="en" sz="2200">
                <a:solidFill>
                  <a:schemeClr val="dk1"/>
                </a:solidFill>
                <a:latin typeface="Lora"/>
                <a:ea typeface="Lora"/>
                <a:cs typeface="Lora"/>
                <a:sym typeface="Lora"/>
              </a:rPr>
              <a:t>Using the pie graph, if you had 100L of air , how much would be nitrogen?</a:t>
            </a:r>
            <a:endParaRPr sz="2200">
              <a:solidFill>
                <a:schemeClr val="dk1"/>
              </a:solidFill>
              <a:latin typeface="Lora"/>
              <a:ea typeface="Lora"/>
              <a:cs typeface="Lora"/>
              <a:sym typeface="Lora"/>
            </a:endParaRPr>
          </a:p>
          <a:p>
            <a:pPr indent="-368300" lvl="0" marL="457200" rtl="0" algn="l">
              <a:lnSpc>
                <a:spcPct val="100000"/>
              </a:lnSpc>
              <a:spcBef>
                <a:spcPts val="0"/>
              </a:spcBef>
              <a:spcAft>
                <a:spcPts val="0"/>
              </a:spcAft>
              <a:buClr>
                <a:schemeClr val="dk1"/>
              </a:buClr>
              <a:buSzPts val="2200"/>
              <a:buFont typeface="Lora"/>
              <a:buChar char="▪"/>
            </a:pPr>
            <a:r>
              <a:rPr lang="en" sz="2200">
                <a:solidFill>
                  <a:schemeClr val="dk1"/>
                </a:solidFill>
                <a:latin typeface="Lora"/>
                <a:ea typeface="Lora"/>
                <a:cs typeface="Lora"/>
                <a:sym typeface="Lora"/>
              </a:rPr>
              <a:t>If you had 50L of air, how much would be oxygen?</a:t>
            </a:r>
            <a:endParaRPr sz="2200">
              <a:solidFill>
                <a:schemeClr val="dk1"/>
              </a:solidFill>
              <a:latin typeface="Lora"/>
              <a:ea typeface="Lora"/>
              <a:cs typeface="Lora"/>
              <a:sym typeface="Lora"/>
            </a:endParaRPr>
          </a:p>
          <a:p>
            <a:pPr indent="-368300" lvl="0" marL="457200" rtl="0" algn="l">
              <a:lnSpc>
                <a:spcPct val="100000"/>
              </a:lnSpc>
              <a:spcBef>
                <a:spcPts val="0"/>
              </a:spcBef>
              <a:spcAft>
                <a:spcPts val="0"/>
              </a:spcAft>
              <a:buClr>
                <a:schemeClr val="dk1"/>
              </a:buClr>
              <a:buSzPts val="2200"/>
              <a:buFont typeface="Lora"/>
              <a:buChar char="▪"/>
            </a:pPr>
            <a:r>
              <a:rPr lang="en" sz="2200">
                <a:solidFill>
                  <a:schemeClr val="dk1"/>
                </a:solidFill>
                <a:latin typeface="Lora"/>
                <a:ea typeface="Lora"/>
                <a:cs typeface="Lora"/>
                <a:sym typeface="Lora"/>
              </a:rPr>
              <a:t>If you had 34.6L of air, what equation could you set up to solve for the </a:t>
            </a:r>
            <a:r>
              <a:rPr lang="en" sz="2200">
                <a:solidFill>
                  <a:schemeClr val="dk1"/>
                </a:solidFill>
                <a:latin typeface="Lora"/>
                <a:ea typeface="Lora"/>
                <a:cs typeface="Lora"/>
                <a:sym typeface="Lora"/>
              </a:rPr>
              <a:t>among</a:t>
            </a:r>
            <a:r>
              <a:rPr lang="en" sz="2200">
                <a:solidFill>
                  <a:schemeClr val="dk1"/>
                </a:solidFill>
                <a:latin typeface="Lora"/>
                <a:ea typeface="Lora"/>
                <a:cs typeface="Lora"/>
                <a:sym typeface="Lora"/>
              </a:rPr>
              <a:t> of nitrogen? </a:t>
            </a:r>
            <a:endParaRPr sz="2200">
              <a:solidFill>
                <a:schemeClr val="dk1"/>
              </a:solidFill>
              <a:latin typeface="Lora"/>
              <a:ea typeface="Lora"/>
              <a:cs typeface="Lora"/>
              <a:sym typeface="Lora"/>
            </a:endParaRPr>
          </a:p>
        </p:txBody>
      </p:sp>
      <p:pic>
        <p:nvPicPr>
          <p:cNvPr descr="File:Air composition pie chart.JPG - Wikimedia Commons" id="93" name="Google Shape;93;p19"/>
          <p:cNvPicPr preferRelativeResize="0"/>
          <p:nvPr/>
        </p:nvPicPr>
        <p:blipFill>
          <a:blip r:embed="rId3">
            <a:alphaModFix/>
          </a:blip>
          <a:stretch>
            <a:fillRect/>
          </a:stretch>
        </p:blipFill>
        <p:spPr>
          <a:xfrm>
            <a:off x="6067225" y="1388471"/>
            <a:ext cx="2907875" cy="2261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Lora"/>
                <a:ea typeface="Lora"/>
                <a:cs typeface="Lora"/>
                <a:sym typeface="Lora"/>
              </a:rPr>
              <a:t>Engage:</a:t>
            </a:r>
            <a:r>
              <a:rPr lang="en" sz="2600">
                <a:latin typeface="Lora"/>
                <a:ea typeface="Lora"/>
                <a:cs typeface="Lora"/>
                <a:sym typeface="Lora"/>
              </a:rPr>
              <a:t> Scenarios</a:t>
            </a:r>
            <a:endParaRPr sz="2600">
              <a:latin typeface="Lora"/>
              <a:ea typeface="Lora"/>
              <a:cs typeface="Lora"/>
              <a:sym typeface="Lora"/>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400">
                <a:solidFill>
                  <a:schemeClr val="dk1"/>
                </a:solidFill>
                <a:latin typeface="Lora"/>
                <a:ea typeface="Lora"/>
                <a:cs typeface="Lora"/>
                <a:sym typeface="Lora"/>
              </a:rPr>
              <a:t>Discuss how knowing the percentage composition of a substance would be important in at least 2 of the following:</a:t>
            </a:r>
            <a:endParaRPr sz="2400">
              <a:solidFill>
                <a:schemeClr val="dk1"/>
              </a:solidFill>
              <a:latin typeface="Lora"/>
              <a:ea typeface="Lora"/>
              <a:cs typeface="Lora"/>
              <a:sym typeface="Lora"/>
            </a:endParaRPr>
          </a:p>
          <a:p>
            <a:pPr indent="-349250" lvl="0" marL="457200" rtl="0" algn="l">
              <a:lnSpc>
                <a:spcPct val="100000"/>
              </a:lnSpc>
              <a:spcBef>
                <a:spcPts val="0"/>
              </a:spcBef>
              <a:spcAft>
                <a:spcPts val="0"/>
              </a:spcAft>
              <a:buClr>
                <a:schemeClr val="dk1"/>
              </a:buClr>
              <a:buSzPts val="1900"/>
              <a:buFont typeface="Lora"/>
              <a:buChar char="●"/>
            </a:pPr>
            <a:r>
              <a:rPr lang="en" sz="1900">
                <a:solidFill>
                  <a:schemeClr val="dk1"/>
                </a:solidFill>
                <a:latin typeface="Lora"/>
                <a:ea typeface="Lora"/>
                <a:cs typeface="Lora"/>
                <a:sym typeface="Lora"/>
              </a:rPr>
              <a:t>Pharmaceuticals/Medicines</a:t>
            </a:r>
            <a:endParaRPr sz="1900">
              <a:solidFill>
                <a:schemeClr val="dk1"/>
              </a:solidFill>
              <a:latin typeface="Lora"/>
              <a:ea typeface="Lora"/>
              <a:cs typeface="Lora"/>
              <a:sym typeface="Lora"/>
            </a:endParaRPr>
          </a:p>
          <a:p>
            <a:pPr indent="-349250" lvl="0" marL="457200" rtl="0" algn="l">
              <a:lnSpc>
                <a:spcPct val="100000"/>
              </a:lnSpc>
              <a:spcBef>
                <a:spcPts val="0"/>
              </a:spcBef>
              <a:spcAft>
                <a:spcPts val="0"/>
              </a:spcAft>
              <a:buClr>
                <a:schemeClr val="dk1"/>
              </a:buClr>
              <a:buSzPts val="1900"/>
              <a:buFont typeface="Lora"/>
              <a:buChar char="●"/>
            </a:pPr>
            <a:r>
              <a:rPr lang="en" sz="1900">
                <a:solidFill>
                  <a:schemeClr val="dk1"/>
                </a:solidFill>
                <a:latin typeface="Lora"/>
                <a:ea typeface="Lora"/>
                <a:cs typeface="Lora"/>
                <a:sym typeface="Lora"/>
              </a:rPr>
              <a:t>Crime Scene situations</a:t>
            </a:r>
            <a:endParaRPr sz="1900">
              <a:solidFill>
                <a:schemeClr val="dk1"/>
              </a:solidFill>
              <a:latin typeface="Lora"/>
              <a:ea typeface="Lora"/>
              <a:cs typeface="Lora"/>
              <a:sym typeface="Lora"/>
            </a:endParaRPr>
          </a:p>
          <a:p>
            <a:pPr indent="-349250" lvl="0" marL="457200" rtl="0" algn="l">
              <a:lnSpc>
                <a:spcPct val="100000"/>
              </a:lnSpc>
              <a:spcBef>
                <a:spcPts val="0"/>
              </a:spcBef>
              <a:spcAft>
                <a:spcPts val="0"/>
              </a:spcAft>
              <a:buClr>
                <a:schemeClr val="dk1"/>
              </a:buClr>
              <a:buSzPts val="1900"/>
              <a:buFont typeface="Lora"/>
              <a:buChar char="●"/>
            </a:pPr>
            <a:r>
              <a:rPr lang="en" sz="1900">
                <a:solidFill>
                  <a:schemeClr val="dk1"/>
                </a:solidFill>
                <a:latin typeface="Lora"/>
                <a:ea typeface="Lora"/>
                <a:cs typeface="Lora"/>
                <a:sym typeface="Lora"/>
              </a:rPr>
              <a:t>Chemical spills </a:t>
            </a:r>
            <a:endParaRPr sz="1900">
              <a:solidFill>
                <a:schemeClr val="dk1"/>
              </a:solidFill>
              <a:latin typeface="Lora"/>
              <a:ea typeface="Lora"/>
              <a:cs typeface="Lora"/>
              <a:sym typeface="Lora"/>
            </a:endParaRPr>
          </a:p>
          <a:p>
            <a:pPr indent="-349250" lvl="0" marL="457200" rtl="0" algn="l">
              <a:lnSpc>
                <a:spcPct val="100000"/>
              </a:lnSpc>
              <a:spcBef>
                <a:spcPts val="0"/>
              </a:spcBef>
              <a:spcAft>
                <a:spcPts val="0"/>
              </a:spcAft>
              <a:buClr>
                <a:schemeClr val="dk1"/>
              </a:buClr>
              <a:buSzPts val="1900"/>
              <a:buFont typeface="Lora"/>
              <a:buChar char="●"/>
            </a:pPr>
            <a:r>
              <a:rPr lang="en" sz="1900">
                <a:solidFill>
                  <a:schemeClr val="dk1"/>
                </a:solidFill>
                <a:latin typeface="Lora"/>
                <a:ea typeface="Lora"/>
                <a:cs typeface="Lora"/>
                <a:sym typeface="Lora"/>
              </a:rPr>
              <a:t>Agricultural fertilizers</a:t>
            </a:r>
            <a:endParaRPr sz="1900">
              <a:solidFill>
                <a:schemeClr val="dk1"/>
              </a:solidFill>
              <a:latin typeface="Lora"/>
              <a:ea typeface="Lora"/>
              <a:cs typeface="Lora"/>
              <a:sym typeface="Lora"/>
            </a:endParaRPr>
          </a:p>
          <a:p>
            <a:pPr indent="-349250" lvl="0" marL="457200" rtl="0" algn="l">
              <a:lnSpc>
                <a:spcPct val="100000"/>
              </a:lnSpc>
              <a:spcBef>
                <a:spcPts val="0"/>
              </a:spcBef>
              <a:spcAft>
                <a:spcPts val="0"/>
              </a:spcAft>
              <a:buClr>
                <a:schemeClr val="dk1"/>
              </a:buClr>
              <a:buSzPts val="1900"/>
              <a:buFont typeface="Lora"/>
              <a:buChar char="●"/>
            </a:pPr>
            <a:r>
              <a:rPr lang="en" sz="1900">
                <a:solidFill>
                  <a:schemeClr val="dk1"/>
                </a:solidFill>
                <a:latin typeface="Lora"/>
                <a:ea typeface="Lora"/>
                <a:cs typeface="Lora"/>
                <a:sym typeface="Lora"/>
              </a:rPr>
              <a:t>Water pollution science</a:t>
            </a:r>
            <a:endParaRPr sz="1900">
              <a:solidFill>
                <a:schemeClr val="dk1"/>
              </a:solidFill>
              <a:latin typeface="Lora"/>
              <a:ea typeface="Lora"/>
              <a:cs typeface="Lora"/>
              <a:sym typeface="Lor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22350" y="1924450"/>
            <a:ext cx="8499300" cy="8766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ora"/>
                <a:ea typeface="Lora"/>
                <a:cs typeface="Lora"/>
                <a:sym typeface="Lora"/>
              </a:rPr>
              <a:t>Part 2: EXPLORE (20 - 30 minutes)</a:t>
            </a:r>
            <a:endParaRPr>
              <a:latin typeface="Lora"/>
              <a:ea typeface="Lora"/>
              <a:cs typeface="Lora"/>
              <a:sym typeface="Lora"/>
            </a:endParaRPr>
          </a:p>
        </p:txBody>
      </p:sp>
      <p:sp>
        <p:nvSpPr>
          <p:cNvPr id="105" name="Google Shape;105;p21"/>
          <p:cNvSpPr/>
          <p:nvPr/>
        </p:nvSpPr>
        <p:spPr>
          <a:xfrm>
            <a:off x="0" y="-15100"/>
            <a:ext cx="9144000" cy="16392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21"/>
          <p:cNvSpPr/>
          <p:nvPr/>
        </p:nvSpPr>
        <p:spPr>
          <a:xfrm>
            <a:off x="-18100" y="2988300"/>
            <a:ext cx="9162000" cy="2209500"/>
          </a:xfrm>
          <a:prstGeom prst="rect">
            <a:avLst/>
          </a:prstGeom>
          <a:solidFill>
            <a:srgbClr val="80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213325" y="889025"/>
            <a:ext cx="5917800" cy="70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Lora"/>
                <a:ea typeface="Lora"/>
                <a:cs typeface="Lora"/>
                <a:sym typeface="Lora"/>
              </a:rPr>
              <a:t>RECALL: </a:t>
            </a:r>
            <a:r>
              <a:rPr lang="en" sz="1400">
                <a:latin typeface="Lora"/>
                <a:ea typeface="Lora"/>
                <a:cs typeface="Lora"/>
                <a:sym typeface="Lora"/>
              </a:rPr>
              <a:t>Law of </a:t>
            </a:r>
            <a:r>
              <a:rPr lang="en" sz="1400">
                <a:latin typeface="Lora"/>
                <a:ea typeface="Lora"/>
                <a:cs typeface="Lora"/>
                <a:sym typeface="Lora"/>
              </a:rPr>
              <a:t>Constant Composition</a:t>
            </a:r>
            <a:r>
              <a:rPr lang="en" sz="1400">
                <a:latin typeface="Lora"/>
                <a:ea typeface="Lora"/>
                <a:cs typeface="Lora"/>
                <a:sym typeface="Lora"/>
              </a:rPr>
              <a:t> means</a:t>
            </a:r>
            <a:r>
              <a:rPr lang="en" sz="1400">
                <a:latin typeface="Lora"/>
                <a:ea typeface="Lora"/>
                <a:cs typeface="Lora"/>
                <a:sym typeface="Lora"/>
              </a:rPr>
              <a:t> </a:t>
            </a:r>
            <a:r>
              <a:rPr lang="en" sz="1400">
                <a:latin typeface="Lora"/>
                <a:ea typeface="Lora"/>
                <a:cs typeface="Lora"/>
                <a:sym typeface="Lora"/>
              </a:rPr>
              <a:t>compounds contain elements in fixed proportions that are Always the SAME for the same compound!</a:t>
            </a:r>
            <a:endParaRPr sz="1400">
              <a:latin typeface="Lora"/>
              <a:ea typeface="Lora"/>
              <a:cs typeface="Lora"/>
              <a:sym typeface="Lora"/>
            </a:endParaRPr>
          </a:p>
        </p:txBody>
      </p:sp>
      <p:pic>
        <p:nvPicPr>
          <p:cNvPr id="112" name="Google Shape;112;p22"/>
          <p:cNvPicPr preferRelativeResize="0"/>
          <p:nvPr/>
        </p:nvPicPr>
        <p:blipFill>
          <a:blip r:embed="rId3">
            <a:alphaModFix/>
          </a:blip>
          <a:stretch>
            <a:fillRect/>
          </a:stretch>
        </p:blipFill>
        <p:spPr>
          <a:xfrm>
            <a:off x="6419947" y="2540925"/>
            <a:ext cx="2493353" cy="2119350"/>
          </a:xfrm>
          <a:prstGeom prst="rect">
            <a:avLst/>
          </a:prstGeom>
          <a:noFill/>
          <a:ln>
            <a:noFill/>
          </a:ln>
        </p:spPr>
      </p:pic>
      <p:sp>
        <p:nvSpPr>
          <p:cNvPr id="113" name="Google Shape;113;p22"/>
          <p:cNvSpPr txBox="1"/>
          <p:nvPr/>
        </p:nvSpPr>
        <p:spPr>
          <a:xfrm>
            <a:off x="84325" y="1675500"/>
            <a:ext cx="6046800" cy="342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latin typeface="Lora"/>
                <a:ea typeface="Lora"/>
                <a:cs typeface="Lora"/>
                <a:sym typeface="Lora"/>
              </a:rPr>
              <a:t>Equipment for determining the formula (proportions):</a:t>
            </a:r>
            <a:endParaRPr sz="1600">
              <a:latin typeface="Lora"/>
              <a:ea typeface="Lora"/>
              <a:cs typeface="Lora"/>
              <a:sym typeface="Lora"/>
            </a:endParaRPr>
          </a:p>
          <a:p>
            <a:pPr indent="-330200" lvl="0" marL="457200" rtl="0" algn="l">
              <a:spcBef>
                <a:spcPts val="0"/>
              </a:spcBef>
              <a:spcAft>
                <a:spcPts val="0"/>
              </a:spcAft>
              <a:buSzPts val="1600"/>
              <a:buFont typeface="Lora"/>
              <a:buAutoNum type="arabicPeriod"/>
            </a:pPr>
            <a:r>
              <a:rPr lang="en" sz="1600">
                <a:latin typeface="Lora"/>
                <a:ea typeface="Lora"/>
                <a:cs typeface="Lora"/>
                <a:sym typeface="Lora"/>
              </a:rPr>
              <a:t>Mass Spectrometer (as seen on CSI shows): can determine the molar mass of many compounds by vapourizing a small sample, ionizing it (giving it a charge) and deflecting the charged gas in a magnetic field. The amount of deflection gives the mass. </a:t>
            </a:r>
            <a:endParaRPr sz="1600">
              <a:latin typeface="Lora"/>
              <a:ea typeface="Lora"/>
              <a:cs typeface="Lora"/>
              <a:sym typeface="Lora"/>
            </a:endParaRPr>
          </a:p>
          <a:p>
            <a:pPr indent="-330200" lvl="0" marL="457200" rtl="0" algn="l">
              <a:spcBef>
                <a:spcPts val="0"/>
              </a:spcBef>
              <a:spcAft>
                <a:spcPts val="0"/>
              </a:spcAft>
              <a:buSzPts val="1600"/>
              <a:buFont typeface="Lora"/>
              <a:buAutoNum type="arabicPeriod"/>
            </a:pPr>
            <a:r>
              <a:rPr lang="en" sz="1600">
                <a:latin typeface="Lora"/>
                <a:ea typeface="Lora"/>
                <a:cs typeface="Lora"/>
                <a:sym typeface="Lora"/>
              </a:rPr>
              <a:t>Combustion Analyzer: Determines amount of C, H, O and N by burning the substance in pure oxygen and analyzing the products.</a:t>
            </a:r>
            <a:endParaRPr sz="1600">
              <a:latin typeface="Lora"/>
              <a:ea typeface="Lora"/>
              <a:cs typeface="Lora"/>
              <a:sym typeface="Lora"/>
            </a:endParaRPr>
          </a:p>
          <a:p>
            <a:pPr indent="0" lvl="0" marL="0" rtl="0" algn="l">
              <a:spcBef>
                <a:spcPts val="0"/>
              </a:spcBef>
              <a:spcAft>
                <a:spcPts val="0"/>
              </a:spcAft>
              <a:buNone/>
            </a:pPr>
            <a:r>
              <a:t/>
            </a:r>
            <a:endParaRPr sz="1600">
              <a:latin typeface="Lora"/>
              <a:ea typeface="Lora"/>
              <a:cs typeface="Lora"/>
              <a:sym typeface="Lora"/>
            </a:endParaRPr>
          </a:p>
          <a:p>
            <a:pPr indent="0" lvl="0" marL="0" rtl="0" algn="l">
              <a:spcBef>
                <a:spcPts val="0"/>
              </a:spcBef>
              <a:spcAft>
                <a:spcPts val="0"/>
              </a:spcAft>
              <a:buNone/>
            </a:pPr>
            <a:r>
              <a:rPr lang="en" sz="1600">
                <a:latin typeface="Lora"/>
                <a:ea typeface="Lora"/>
                <a:cs typeface="Lora"/>
                <a:sym typeface="Lora"/>
              </a:rPr>
              <a:t>** Be able to recognize these two methods for multiple choice questions. </a:t>
            </a:r>
            <a:endParaRPr sz="1600">
              <a:latin typeface="Lora"/>
              <a:ea typeface="Lora"/>
              <a:cs typeface="Lora"/>
              <a:sym typeface="Lora"/>
            </a:endParaRPr>
          </a:p>
        </p:txBody>
      </p:sp>
      <p:sp>
        <p:nvSpPr>
          <p:cNvPr id="114" name="Google Shape;114;p22"/>
          <p:cNvSpPr txBox="1"/>
          <p:nvPr>
            <p:ph type="title"/>
          </p:nvPr>
        </p:nvSpPr>
        <p:spPr>
          <a:xfrm>
            <a:off x="257350" y="102550"/>
            <a:ext cx="6226500" cy="5727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Lora"/>
                <a:ea typeface="Lora"/>
                <a:cs typeface="Lora"/>
                <a:sym typeface="Lora"/>
              </a:rPr>
              <a:t>Explore: How we determine composition</a:t>
            </a:r>
            <a:endParaRPr sz="2400">
              <a:latin typeface="Lora"/>
              <a:ea typeface="Lora"/>
              <a:cs typeface="Lora"/>
              <a:sym typeface="Lora"/>
            </a:endParaRPr>
          </a:p>
        </p:txBody>
      </p:sp>
      <p:pic>
        <p:nvPicPr>
          <p:cNvPr descr="This is actually considered a small-scaled mass spectrometer. MIT researchers hope they make mass spectrometers that are small enough to hold in your hand. Making these sort of devices portable could have important consequences for field work.  " id="115" name="Google Shape;115;p22"/>
          <p:cNvPicPr preferRelativeResize="0"/>
          <p:nvPr/>
        </p:nvPicPr>
        <p:blipFill>
          <a:blip r:embed="rId4">
            <a:alphaModFix/>
          </a:blip>
          <a:stretch>
            <a:fillRect/>
          </a:stretch>
        </p:blipFill>
        <p:spPr>
          <a:xfrm>
            <a:off x="6318200" y="0"/>
            <a:ext cx="2825800" cy="2119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ora"/>
                <a:ea typeface="Lora"/>
                <a:cs typeface="Lora"/>
                <a:sym typeface="Lora"/>
              </a:rPr>
              <a:t>Explore: </a:t>
            </a:r>
            <a:r>
              <a:rPr lang="en">
                <a:latin typeface="Lora"/>
                <a:ea typeface="Lora"/>
                <a:cs typeface="Lora"/>
                <a:sym typeface="Lora"/>
              </a:rPr>
              <a:t>Definitions to Know</a:t>
            </a:r>
            <a:endParaRPr>
              <a:latin typeface="Lora"/>
              <a:ea typeface="Lora"/>
              <a:cs typeface="Lora"/>
              <a:sym typeface="Lora"/>
            </a:endParaRPr>
          </a:p>
        </p:txBody>
      </p:sp>
      <p:sp>
        <p:nvSpPr>
          <p:cNvPr id="121" name="Google Shape;121;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2000">
                <a:solidFill>
                  <a:schemeClr val="dk1"/>
                </a:solidFill>
                <a:latin typeface="Lora"/>
                <a:ea typeface="Lora"/>
                <a:cs typeface="Lora"/>
                <a:sym typeface="Lora"/>
              </a:rPr>
              <a:t>Empirical Formula</a:t>
            </a:r>
            <a:endParaRPr sz="2000">
              <a:solidFill>
                <a:schemeClr val="dk1"/>
              </a:solidFill>
              <a:latin typeface="Lora"/>
              <a:ea typeface="Lora"/>
              <a:cs typeface="Lora"/>
              <a:sym typeface="Lora"/>
            </a:endParaRPr>
          </a:p>
          <a:p>
            <a:pPr indent="-355600" lvl="0" marL="457200" rtl="0" algn="l">
              <a:lnSpc>
                <a:spcPct val="100000"/>
              </a:lnSpc>
              <a:spcBef>
                <a:spcPts val="0"/>
              </a:spcBef>
              <a:spcAft>
                <a:spcPts val="0"/>
              </a:spcAft>
              <a:buClr>
                <a:schemeClr val="dk1"/>
              </a:buClr>
              <a:buSzPts val="2000"/>
              <a:buFont typeface="Lora"/>
              <a:buChar char="▪"/>
            </a:pPr>
            <a:r>
              <a:rPr lang="en" sz="2000">
                <a:solidFill>
                  <a:schemeClr val="dk1"/>
                </a:solidFill>
                <a:latin typeface="Lora"/>
                <a:ea typeface="Lora"/>
                <a:cs typeface="Lora"/>
                <a:sym typeface="Lora"/>
              </a:rPr>
              <a:t>Gives the lowest ratio of atoms in a compound, b</a:t>
            </a:r>
            <a:r>
              <a:rPr lang="en" sz="2000">
                <a:solidFill>
                  <a:schemeClr val="dk1"/>
                </a:solidFill>
                <a:latin typeface="Lora"/>
                <a:ea typeface="Lora"/>
                <a:cs typeface="Lora"/>
                <a:sym typeface="Lora"/>
              </a:rPr>
              <a:t>ut may </a:t>
            </a:r>
            <a:r>
              <a:rPr lang="en" sz="2000">
                <a:solidFill>
                  <a:schemeClr val="dk1"/>
                </a:solidFill>
                <a:latin typeface="Lora"/>
                <a:ea typeface="Lora"/>
                <a:cs typeface="Lora"/>
                <a:sym typeface="Lora"/>
              </a:rPr>
              <a:t>not tell the exact number of each type of atom</a:t>
            </a:r>
            <a:endParaRPr sz="2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2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2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b="1" lang="en" sz="2000">
                <a:solidFill>
                  <a:schemeClr val="dk1"/>
                </a:solidFill>
                <a:latin typeface="Lora"/>
                <a:ea typeface="Lora"/>
                <a:cs typeface="Lora"/>
                <a:sym typeface="Lora"/>
              </a:rPr>
              <a:t>Molecular Formula</a:t>
            </a:r>
            <a:endParaRPr sz="2000">
              <a:solidFill>
                <a:schemeClr val="dk1"/>
              </a:solidFill>
              <a:latin typeface="Lora"/>
              <a:ea typeface="Lora"/>
              <a:cs typeface="Lora"/>
              <a:sym typeface="Lora"/>
            </a:endParaRPr>
          </a:p>
          <a:p>
            <a:pPr indent="-355600" lvl="0" marL="457200" rtl="0" algn="l">
              <a:lnSpc>
                <a:spcPct val="100000"/>
              </a:lnSpc>
              <a:spcBef>
                <a:spcPts val="0"/>
              </a:spcBef>
              <a:spcAft>
                <a:spcPts val="0"/>
              </a:spcAft>
              <a:buClr>
                <a:schemeClr val="dk1"/>
              </a:buClr>
              <a:buSzPts val="2000"/>
              <a:buFont typeface="Lora"/>
              <a:buChar char="▪"/>
            </a:pPr>
            <a:r>
              <a:rPr lang="en" sz="2000">
                <a:solidFill>
                  <a:schemeClr val="dk1"/>
                </a:solidFill>
                <a:latin typeface="Lora"/>
                <a:ea typeface="Lora"/>
                <a:cs typeface="Lora"/>
                <a:sym typeface="Lora"/>
              </a:rPr>
              <a:t>Indicates the actual numbers of atoms in one molecule of a compound</a:t>
            </a:r>
            <a:endParaRPr sz="2000">
              <a:latin typeface="Lora"/>
              <a:ea typeface="Lora"/>
              <a:cs typeface="Lora"/>
              <a:sym typeface="Lo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graphicFrame>
        <p:nvGraphicFramePr>
          <p:cNvPr id="126" name="Google Shape;126;p24"/>
          <p:cNvGraphicFramePr/>
          <p:nvPr/>
        </p:nvGraphicFramePr>
        <p:xfrm>
          <a:off x="356450" y="1177915"/>
          <a:ext cx="3000000" cy="3000000"/>
        </p:xfrm>
        <a:graphic>
          <a:graphicData uri="http://schemas.openxmlformats.org/drawingml/2006/table">
            <a:tbl>
              <a:tblPr bandCol="1" bandRow="1">
                <a:noFill/>
                <a:tableStyleId>{7DA909B6-01E4-48B9-A608-4EE2E6230F72}</a:tableStyleId>
              </a:tblPr>
              <a:tblGrid>
                <a:gridCol w="3856500"/>
                <a:gridCol w="2160850"/>
                <a:gridCol w="2133750"/>
              </a:tblGrid>
              <a:tr h="804600">
                <a:tc>
                  <a:txBody>
                    <a:bodyPr/>
                    <a:lstStyle/>
                    <a:p>
                      <a:pPr indent="0" lvl="0" marL="0" rtl="0" algn="l">
                        <a:spcBef>
                          <a:spcPts val="0"/>
                        </a:spcBef>
                        <a:spcAft>
                          <a:spcPts val="0"/>
                        </a:spcAft>
                        <a:buNone/>
                      </a:pPr>
                      <a:r>
                        <a:t/>
                      </a:r>
                      <a:endParaRPr sz="2400">
                        <a:latin typeface="Lora"/>
                        <a:ea typeface="Lora"/>
                        <a:cs typeface="Lora"/>
                        <a:sym typeface="Lora"/>
                      </a:endParaRPr>
                    </a:p>
                  </a:txBody>
                  <a:tcPr marT="0" marB="0" marR="68575" marL="68575"/>
                </a:tc>
                <a:tc>
                  <a:txBody>
                    <a:bodyPr/>
                    <a:lstStyle/>
                    <a:p>
                      <a:pPr indent="0" lvl="0" marL="0" rtl="0" algn="l">
                        <a:spcBef>
                          <a:spcPts val="0"/>
                        </a:spcBef>
                        <a:spcAft>
                          <a:spcPts val="0"/>
                        </a:spcAft>
                        <a:buNone/>
                      </a:pPr>
                      <a:r>
                        <a:rPr lang="en" sz="2400">
                          <a:latin typeface="Lora"/>
                          <a:ea typeface="Lora"/>
                          <a:cs typeface="Lora"/>
                          <a:sym typeface="Lora"/>
                        </a:rPr>
                        <a:t>Molecular </a:t>
                      </a:r>
                      <a:endParaRPr sz="2400">
                        <a:latin typeface="Lora"/>
                        <a:ea typeface="Lora"/>
                        <a:cs typeface="Lora"/>
                        <a:sym typeface="Lora"/>
                      </a:endParaRPr>
                    </a:p>
                  </a:txBody>
                  <a:tcPr marT="0" marB="0" marR="68575" marL="68575"/>
                </a:tc>
                <a:tc>
                  <a:txBody>
                    <a:bodyPr/>
                    <a:lstStyle/>
                    <a:p>
                      <a:pPr indent="0" lvl="0" marL="0" rtl="0" algn="l">
                        <a:spcBef>
                          <a:spcPts val="0"/>
                        </a:spcBef>
                        <a:spcAft>
                          <a:spcPts val="0"/>
                        </a:spcAft>
                        <a:buNone/>
                      </a:pPr>
                      <a:r>
                        <a:rPr lang="en" sz="2400">
                          <a:latin typeface="Lora"/>
                          <a:ea typeface="Lora"/>
                          <a:cs typeface="Lora"/>
                          <a:sym typeface="Lora"/>
                        </a:rPr>
                        <a:t>Empirical</a:t>
                      </a:r>
                      <a:endParaRPr sz="2400">
                        <a:latin typeface="Lora"/>
                        <a:ea typeface="Lora"/>
                        <a:cs typeface="Lora"/>
                        <a:sym typeface="Lora"/>
                      </a:endParaRPr>
                    </a:p>
                  </a:txBody>
                  <a:tcPr marT="0" marB="0" marR="68575" marL="68575"/>
                </a:tc>
              </a:tr>
              <a:tr h="804600">
                <a:tc>
                  <a:txBody>
                    <a:bodyPr/>
                    <a:lstStyle/>
                    <a:p>
                      <a:pPr indent="0" lvl="0" marL="0" rtl="0" algn="l">
                        <a:spcBef>
                          <a:spcPts val="0"/>
                        </a:spcBef>
                        <a:spcAft>
                          <a:spcPts val="0"/>
                        </a:spcAft>
                        <a:buNone/>
                      </a:pPr>
                      <a:r>
                        <a:rPr lang="en" sz="2400">
                          <a:latin typeface="Lora"/>
                          <a:ea typeface="Lora"/>
                          <a:cs typeface="Lora"/>
                          <a:sym typeface="Lora"/>
                        </a:rPr>
                        <a:t>Hydrogen peroxide</a:t>
                      </a:r>
                      <a:endParaRPr sz="2400">
                        <a:latin typeface="Lora"/>
                        <a:ea typeface="Lora"/>
                        <a:cs typeface="Lora"/>
                        <a:sym typeface="Lora"/>
                      </a:endParaRPr>
                    </a:p>
                  </a:txBody>
                  <a:tcPr marT="0" marB="0" marR="68575" marL="68575"/>
                </a:tc>
                <a:tc>
                  <a:txBody>
                    <a:bodyPr/>
                    <a:lstStyle/>
                    <a:p>
                      <a:pPr indent="0" lvl="0" marL="0" rtl="0" algn="l">
                        <a:spcBef>
                          <a:spcPts val="0"/>
                        </a:spcBef>
                        <a:spcAft>
                          <a:spcPts val="0"/>
                        </a:spcAft>
                        <a:buNone/>
                      </a:pPr>
                      <a:r>
                        <a:rPr lang="en" sz="2400">
                          <a:latin typeface="Lora"/>
                          <a:ea typeface="Lora"/>
                          <a:cs typeface="Lora"/>
                          <a:sym typeface="Lora"/>
                        </a:rPr>
                        <a:t>H</a:t>
                      </a:r>
                      <a:r>
                        <a:rPr baseline="-25000" lang="en" sz="2400">
                          <a:latin typeface="Lora"/>
                          <a:ea typeface="Lora"/>
                          <a:cs typeface="Lora"/>
                          <a:sym typeface="Lora"/>
                        </a:rPr>
                        <a:t>2</a:t>
                      </a:r>
                      <a:r>
                        <a:rPr lang="en" sz="2400">
                          <a:latin typeface="Lora"/>
                          <a:ea typeface="Lora"/>
                          <a:cs typeface="Lora"/>
                          <a:sym typeface="Lora"/>
                        </a:rPr>
                        <a:t>0</a:t>
                      </a:r>
                      <a:r>
                        <a:rPr baseline="-25000" lang="en" sz="2400">
                          <a:latin typeface="Lora"/>
                          <a:ea typeface="Lora"/>
                          <a:cs typeface="Lora"/>
                          <a:sym typeface="Lora"/>
                        </a:rPr>
                        <a:t>2</a:t>
                      </a:r>
                      <a:endParaRPr baseline="-25000" sz="2400">
                        <a:latin typeface="Lora"/>
                        <a:ea typeface="Lora"/>
                        <a:cs typeface="Lora"/>
                        <a:sym typeface="Lora"/>
                      </a:endParaRPr>
                    </a:p>
                  </a:txBody>
                  <a:tcPr marT="0" marB="0" marR="68575" marL="68575"/>
                </a:tc>
                <a:tc>
                  <a:txBody>
                    <a:bodyPr/>
                    <a:lstStyle/>
                    <a:p>
                      <a:pPr indent="0" lvl="0" marL="0" rtl="0" algn="l">
                        <a:spcBef>
                          <a:spcPts val="0"/>
                        </a:spcBef>
                        <a:spcAft>
                          <a:spcPts val="0"/>
                        </a:spcAft>
                        <a:buNone/>
                      </a:pPr>
                      <a:r>
                        <a:rPr lang="en" sz="2400">
                          <a:latin typeface="Lora"/>
                          <a:ea typeface="Lora"/>
                          <a:cs typeface="Lora"/>
                          <a:sym typeface="Lora"/>
                        </a:rPr>
                        <a:t> </a:t>
                      </a:r>
                      <a:r>
                        <a:rPr lang="en" sz="2400">
                          <a:solidFill>
                            <a:srgbClr val="9900FF"/>
                          </a:solidFill>
                          <a:latin typeface="Lora"/>
                          <a:ea typeface="Lora"/>
                          <a:cs typeface="Lora"/>
                          <a:sym typeface="Lora"/>
                        </a:rPr>
                        <a:t>Fill in!</a:t>
                      </a:r>
                      <a:endParaRPr sz="2400">
                        <a:solidFill>
                          <a:srgbClr val="9900FF"/>
                        </a:solidFill>
                        <a:latin typeface="Lora"/>
                        <a:ea typeface="Lora"/>
                        <a:cs typeface="Lora"/>
                        <a:sym typeface="Lora"/>
                      </a:endParaRPr>
                    </a:p>
                  </a:txBody>
                  <a:tcPr marT="0" marB="0" marR="68575" marL="68575"/>
                </a:tc>
              </a:tr>
              <a:tr h="804600">
                <a:tc>
                  <a:txBody>
                    <a:bodyPr/>
                    <a:lstStyle/>
                    <a:p>
                      <a:pPr indent="0" lvl="0" marL="0" rtl="0" algn="l">
                        <a:spcBef>
                          <a:spcPts val="0"/>
                        </a:spcBef>
                        <a:spcAft>
                          <a:spcPts val="0"/>
                        </a:spcAft>
                        <a:buNone/>
                      </a:pPr>
                      <a:r>
                        <a:rPr lang="en" sz="2400">
                          <a:latin typeface="Lora"/>
                          <a:ea typeface="Lora"/>
                          <a:cs typeface="Lora"/>
                          <a:sym typeface="Lora"/>
                        </a:rPr>
                        <a:t>Sugar</a:t>
                      </a:r>
                      <a:endParaRPr sz="2400">
                        <a:latin typeface="Lora"/>
                        <a:ea typeface="Lora"/>
                        <a:cs typeface="Lora"/>
                        <a:sym typeface="Lora"/>
                      </a:endParaRPr>
                    </a:p>
                  </a:txBody>
                  <a:tcPr marT="0" marB="0" marR="68575" marL="68575"/>
                </a:tc>
                <a:tc>
                  <a:txBody>
                    <a:bodyPr/>
                    <a:lstStyle/>
                    <a:p>
                      <a:pPr indent="0" lvl="0" marL="0" rtl="0" algn="l">
                        <a:spcBef>
                          <a:spcPts val="0"/>
                        </a:spcBef>
                        <a:spcAft>
                          <a:spcPts val="0"/>
                        </a:spcAft>
                        <a:buNone/>
                      </a:pPr>
                      <a:r>
                        <a:rPr lang="en" sz="2400">
                          <a:latin typeface="Lora"/>
                          <a:ea typeface="Lora"/>
                          <a:cs typeface="Lora"/>
                          <a:sym typeface="Lora"/>
                        </a:rPr>
                        <a:t>C</a:t>
                      </a:r>
                      <a:r>
                        <a:rPr baseline="-25000" lang="en" sz="2400">
                          <a:latin typeface="Lora"/>
                          <a:ea typeface="Lora"/>
                          <a:cs typeface="Lora"/>
                          <a:sym typeface="Lora"/>
                        </a:rPr>
                        <a:t>6</a:t>
                      </a:r>
                      <a:r>
                        <a:rPr lang="en" sz="2400">
                          <a:latin typeface="Lora"/>
                          <a:ea typeface="Lora"/>
                          <a:cs typeface="Lora"/>
                          <a:sym typeface="Lora"/>
                        </a:rPr>
                        <a:t>H</a:t>
                      </a:r>
                      <a:r>
                        <a:rPr baseline="-25000" lang="en" sz="2400">
                          <a:latin typeface="Lora"/>
                          <a:ea typeface="Lora"/>
                          <a:cs typeface="Lora"/>
                          <a:sym typeface="Lora"/>
                        </a:rPr>
                        <a:t>12</a:t>
                      </a:r>
                      <a:r>
                        <a:rPr lang="en" sz="2400">
                          <a:latin typeface="Lora"/>
                          <a:ea typeface="Lora"/>
                          <a:cs typeface="Lora"/>
                          <a:sym typeface="Lora"/>
                        </a:rPr>
                        <a:t>O</a:t>
                      </a:r>
                      <a:r>
                        <a:rPr baseline="-25000" lang="en" sz="2400">
                          <a:latin typeface="Lora"/>
                          <a:ea typeface="Lora"/>
                          <a:cs typeface="Lora"/>
                          <a:sym typeface="Lora"/>
                        </a:rPr>
                        <a:t>6</a:t>
                      </a:r>
                      <a:endParaRPr baseline="-25000" sz="2400">
                        <a:latin typeface="Lora"/>
                        <a:ea typeface="Lora"/>
                        <a:cs typeface="Lora"/>
                        <a:sym typeface="Lora"/>
                      </a:endParaRPr>
                    </a:p>
                  </a:txBody>
                  <a:tcPr marT="0" marB="0" marR="68575" marL="68575"/>
                </a:tc>
                <a:tc>
                  <a:txBody>
                    <a:bodyPr/>
                    <a:lstStyle/>
                    <a:p>
                      <a:pPr indent="0" lvl="0" marL="0" rtl="0" algn="l">
                        <a:spcBef>
                          <a:spcPts val="0"/>
                        </a:spcBef>
                        <a:spcAft>
                          <a:spcPts val="0"/>
                        </a:spcAft>
                        <a:buNone/>
                      </a:pPr>
                      <a:r>
                        <a:rPr lang="en" sz="2400">
                          <a:latin typeface="Lora"/>
                          <a:ea typeface="Lora"/>
                          <a:cs typeface="Lora"/>
                          <a:sym typeface="Lora"/>
                        </a:rPr>
                        <a:t> </a:t>
                      </a:r>
                      <a:r>
                        <a:rPr lang="en" sz="2400">
                          <a:solidFill>
                            <a:srgbClr val="9900FF"/>
                          </a:solidFill>
                          <a:latin typeface="Lora"/>
                          <a:ea typeface="Lora"/>
                          <a:cs typeface="Lora"/>
                          <a:sym typeface="Lora"/>
                        </a:rPr>
                        <a:t>Fill in!</a:t>
                      </a:r>
                      <a:endParaRPr sz="2400">
                        <a:latin typeface="Lora"/>
                        <a:ea typeface="Lora"/>
                        <a:cs typeface="Lora"/>
                        <a:sym typeface="Lora"/>
                      </a:endParaRPr>
                    </a:p>
                  </a:txBody>
                  <a:tcPr marT="0" marB="0" marR="68575" marL="68575"/>
                </a:tc>
              </a:tr>
            </a:tbl>
          </a:graphicData>
        </a:graphic>
      </p:graphicFrame>
      <p:sp>
        <p:nvSpPr>
          <p:cNvPr id="127" name="Google Shape;127;p24"/>
          <p:cNvSpPr txBox="1"/>
          <p:nvPr>
            <p:ph type="title"/>
          </p:nvPr>
        </p:nvSpPr>
        <p:spPr>
          <a:xfrm>
            <a:off x="311700" y="445025"/>
            <a:ext cx="8520600" cy="5727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Lora"/>
                <a:ea typeface="Lora"/>
                <a:cs typeface="Lora"/>
                <a:sym typeface="Lora"/>
              </a:rPr>
              <a:t>Explore:</a:t>
            </a:r>
            <a:r>
              <a:rPr lang="en">
                <a:latin typeface="Lora"/>
                <a:ea typeface="Lora"/>
                <a:cs typeface="Lora"/>
                <a:sym typeface="Lora"/>
              </a:rPr>
              <a:t> What is the matching empirical formula?</a:t>
            </a:r>
            <a:endParaRPr>
              <a:latin typeface="Lora"/>
              <a:ea typeface="Lora"/>
              <a:cs typeface="Lora"/>
              <a:sym typeface="Lora"/>
            </a:endParaRPr>
          </a:p>
        </p:txBody>
      </p:sp>
      <p:sp>
        <p:nvSpPr>
          <p:cNvPr id="128" name="Google Shape;128;p24"/>
          <p:cNvSpPr txBox="1"/>
          <p:nvPr/>
        </p:nvSpPr>
        <p:spPr>
          <a:xfrm>
            <a:off x="1023275" y="3905925"/>
            <a:ext cx="6221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Check your work on the next slide.</a:t>
            </a:r>
            <a:endParaRPr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EF2F2"/>
        </a:solidFill>
      </p:bgPr>
    </p:bg>
    <p:spTree>
      <p:nvGrpSpPr>
        <p:cNvPr id="132" name="Shape 132"/>
        <p:cNvGrpSpPr/>
        <p:nvPr/>
      </p:nvGrpSpPr>
      <p:grpSpPr>
        <a:xfrm>
          <a:off x="0" y="0"/>
          <a:ext cx="0" cy="0"/>
          <a:chOff x="0" y="0"/>
          <a:chExt cx="0" cy="0"/>
        </a:xfrm>
      </p:grpSpPr>
      <p:graphicFrame>
        <p:nvGraphicFramePr>
          <p:cNvPr id="133" name="Google Shape;133;p25"/>
          <p:cNvGraphicFramePr/>
          <p:nvPr/>
        </p:nvGraphicFramePr>
        <p:xfrm>
          <a:off x="356450" y="1177915"/>
          <a:ext cx="3000000" cy="3000000"/>
        </p:xfrm>
        <a:graphic>
          <a:graphicData uri="http://schemas.openxmlformats.org/drawingml/2006/table">
            <a:tbl>
              <a:tblPr bandCol="1" bandRow="1">
                <a:noFill/>
                <a:tableStyleId>{7DA909B6-01E4-48B9-A608-4EE2E6230F72}</a:tableStyleId>
              </a:tblPr>
              <a:tblGrid>
                <a:gridCol w="3856500"/>
                <a:gridCol w="2160850"/>
                <a:gridCol w="2133750"/>
              </a:tblGrid>
              <a:tr h="804600">
                <a:tc>
                  <a:txBody>
                    <a:bodyPr/>
                    <a:lstStyle/>
                    <a:p>
                      <a:pPr indent="0" lvl="0" marL="0" rtl="0" algn="l">
                        <a:spcBef>
                          <a:spcPts val="0"/>
                        </a:spcBef>
                        <a:spcAft>
                          <a:spcPts val="0"/>
                        </a:spcAft>
                        <a:buNone/>
                      </a:pPr>
                      <a:r>
                        <a:t/>
                      </a:r>
                      <a:endParaRPr sz="2400">
                        <a:latin typeface="Lora"/>
                        <a:ea typeface="Lora"/>
                        <a:cs typeface="Lora"/>
                        <a:sym typeface="Lora"/>
                      </a:endParaRPr>
                    </a:p>
                  </a:txBody>
                  <a:tcPr marT="0" marB="0" marR="68575" marL="68575"/>
                </a:tc>
                <a:tc>
                  <a:txBody>
                    <a:bodyPr/>
                    <a:lstStyle/>
                    <a:p>
                      <a:pPr indent="0" lvl="0" marL="0" rtl="0" algn="l">
                        <a:spcBef>
                          <a:spcPts val="0"/>
                        </a:spcBef>
                        <a:spcAft>
                          <a:spcPts val="0"/>
                        </a:spcAft>
                        <a:buNone/>
                      </a:pPr>
                      <a:r>
                        <a:rPr lang="en" sz="2400">
                          <a:latin typeface="Lora"/>
                          <a:ea typeface="Lora"/>
                          <a:cs typeface="Lora"/>
                          <a:sym typeface="Lora"/>
                        </a:rPr>
                        <a:t>Molecular </a:t>
                      </a:r>
                      <a:endParaRPr sz="2400">
                        <a:latin typeface="Lora"/>
                        <a:ea typeface="Lora"/>
                        <a:cs typeface="Lora"/>
                        <a:sym typeface="Lora"/>
                      </a:endParaRPr>
                    </a:p>
                  </a:txBody>
                  <a:tcPr marT="0" marB="0" marR="68575" marL="68575"/>
                </a:tc>
                <a:tc>
                  <a:txBody>
                    <a:bodyPr/>
                    <a:lstStyle/>
                    <a:p>
                      <a:pPr indent="0" lvl="0" marL="0" rtl="0" algn="l">
                        <a:spcBef>
                          <a:spcPts val="0"/>
                        </a:spcBef>
                        <a:spcAft>
                          <a:spcPts val="0"/>
                        </a:spcAft>
                        <a:buNone/>
                      </a:pPr>
                      <a:r>
                        <a:rPr lang="en" sz="2400">
                          <a:latin typeface="Lora"/>
                          <a:ea typeface="Lora"/>
                          <a:cs typeface="Lora"/>
                          <a:sym typeface="Lora"/>
                        </a:rPr>
                        <a:t>Empirical</a:t>
                      </a:r>
                      <a:endParaRPr sz="2400">
                        <a:latin typeface="Lora"/>
                        <a:ea typeface="Lora"/>
                        <a:cs typeface="Lora"/>
                        <a:sym typeface="Lora"/>
                      </a:endParaRPr>
                    </a:p>
                  </a:txBody>
                  <a:tcPr marT="0" marB="0" marR="68575" marL="68575"/>
                </a:tc>
              </a:tr>
              <a:tr h="804600">
                <a:tc>
                  <a:txBody>
                    <a:bodyPr/>
                    <a:lstStyle/>
                    <a:p>
                      <a:pPr indent="0" lvl="0" marL="0" rtl="0" algn="l">
                        <a:spcBef>
                          <a:spcPts val="0"/>
                        </a:spcBef>
                        <a:spcAft>
                          <a:spcPts val="0"/>
                        </a:spcAft>
                        <a:buNone/>
                      </a:pPr>
                      <a:r>
                        <a:rPr lang="en" sz="2400">
                          <a:latin typeface="Lora"/>
                          <a:ea typeface="Lora"/>
                          <a:cs typeface="Lora"/>
                          <a:sym typeface="Lora"/>
                        </a:rPr>
                        <a:t>Hydrogen peroxide</a:t>
                      </a:r>
                      <a:endParaRPr sz="2400">
                        <a:latin typeface="Lora"/>
                        <a:ea typeface="Lora"/>
                        <a:cs typeface="Lora"/>
                        <a:sym typeface="Lora"/>
                      </a:endParaRPr>
                    </a:p>
                  </a:txBody>
                  <a:tcPr marT="0" marB="0" marR="68575" marL="68575"/>
                </a:tc>
                <a:tc>
                  <a:txBody>
                    <a:bodyPr/>
                    <a:lstStyle/>
                    <a:p>
                      <a:pPr indent="0" lvl="0" marL="0" rtl="0" algn="l">
                        <a:spcBef>
                          <a:spcPts val="0"/>
                        </a:spcBef>
                        <a:spcAft>
                          <a:spcPts val="0"/>
                        </a:spcAft>
                        <a:buNone/>
                      </a:pPr>
                      <a:r>
                        <a:rPr lang="en" sz="2400">
                          <a:latin typeface="Lora"/>
                          <a:ea typeface="Lora"/>
                          <a:cs typeface="Lora"/>
                          <a:sym typeface="Lora"/>
                        </a:rPr>
                        <a:t>H</a:t>
                      </a:r>
                      <a:r>
                        <a:rPr baseline="-25000" lang="en" sz="2400">
                          <a:latin typeface="Lora"/>
                          <a:ea typeface="Lora"/>
                          <a:cs typeface="Lora"/>
                          <a:sym typeface="Lora"/>
                        </a:rPr>
                        <a:t>2</a:t>
                      </a:r>
                      <a:r>
                        <a:rPr lang="en" sz="2400">
                          <a:latin typeface="Lora"/>
                          <a:ea typeface="Lora"/>
                          <a:cs typeface="Lora"/>
                          <a:sym typeface="Lora"/>
                        </a:rPr>
                        <a:t>0</a:t>
                      </a:r>
                      <a:r>
                        <a:rPr baseline="-25000" lang="en" sz="2400">
                          <a:latin typeface="Lora"/>
                          <a:ea typeface="Lora"/>
                          <a:cs typeface="Lora"/>
                          <a:sym typeface="Lora"/>
                        </a:rPr>
                        <a:t>2</a:t>
                      </a:r>
                      <a:endParaRPr baseline="-25000" sz="2400">
                        <a:latin typeface="Lora"/>
                        <a:ea typeface="Lora"/>
                        <a:cs typeface="Lora"/>
                        <a:sym typeface="Lora"/>
                      </a:endParaRPr>
                    </a:p>
                  </a:txBody>
                  <a:tcPr marT="0" marB="0" marR="68575" marL="68575"/>
                </a:tc>
                <a:tc>
                  <a:txBody>
                    <a:bodyPr/>
                    <a:lstStyle/>
                    <a:p>
                      <a:pPr indent="0" lvl="0" marL="0" rtl="0" algn="l">
                        <a:spcBef>
                          <a:spcPts val="0"/>
                        </a:spcBef>
                        <a:spcAft>
                          <a:spcPts val="0"/>
                        </a:spcAft>
                        <a:buNone/>
                      </a:pPr>
                      <a:r>
                        <a:rPr lang="en" sz="2400">
                          <a:latin typeface="Lora"/>
                          <a:ea typeface="Lora"/>
                          <a:cs typeface="Lora"/>
                          <a:sym typeface="Lora"/>
                        </a:rPr>
                        <a:t>HO</a:t>
                      </a:r>
                      <a:endParaRPr sz="2400">
                        <a:latin typeface="Lora"/>
                        <a:ea typeface="Lora"/>
                        <a:cs typeface="Lora"/>
                        <a:sym typeface="Lora"/>
                      </a:endParaRPr>
                    </a:p>
                  </a:txBody>
                  <a:tcPr marT="0" marB="0" marR="68575" marL="68575"/>
                </a:tc>
              </a:tr>
              <a:tr h="804600">
                <a:tc>
                  <a:txBody>
                    <a:bodyPr/>
                    <a:lstStyle/>
                    <a:p>
                      <a:pPr indent="0" lvl="0" marL="0" rtl="0" algn="l">
                        <a:spcBef>
                          <a:spcPts val="0"/>
                        </a:spcBef>
                        <a:spcAft>
                          <a:spcPts val="0"/>
                        </a:spcAft>
                        <a:buNone/>
                      </a:pPr>
                      <a:r>
                        <a:rPr lang="en" sz="2400">
                          <a:latin typeface="Lora"/>
                          <a:ea typeface="Lora"/>
                          <a:cs typeface="Lora"/>
                          <a:sym typeface="Lora"/>
                        </a:rPr>
                        <a:t>Sugar</a:t>
                      </a:r>
                      <a:endParaRPr sz="2400">
                        <a:latin typeface="Lora"/>
                        <a:ea typeface="Lora"/>
                        <a:cs typeface="Lora"/>
                        <a:sym typeface="Lora"/>
                      </a:endParaRPr>
                    </a:p>
                  </a:txBody>
                  <a:tcPr marT="0" marB="0" marR="68575" marL="68575"/>
                </a:tc>
                <a:tc>
                  <a:txBody>
                    <a:bodyPr/>
                    <a:lstStyle/>
                    <a:p>
                      <a:pPr indent="0" lvl="0" marL="0" rtl="0" algn="l">
                        <a:spcBef>
                          <a:spcPts val="0"/>
                        </a:spcBef>
                        <a:spcAft>
                          <a:spcPts val="0"/>
                        </a:spcAft>
                        <a:buNone/>
                      </a:pPr>
                      <a:r>
                        <a:rPr lang="en" sz="2400">
                          <a:latin typeface="Lora"/>
                          <a:ea typeface="Lora"/>
                          <a:cs typeface="Lora"/>
                          <a:sym typeface="Lora"/>
                        </a:rPr>
                        <a:t>C</a:t>
                      </a:r>
                      <a:r>
                        <a:rPr baseline="-25000" lang="en" sz="2400">
                          <a:latin typeface="Lora"/>
                          <a:ea typeface="Lora"/>
                          <a:cs typeface="Lora"/>
                          <a:sym typeface="Lora"/>
                        </a:rPr>
                        <a:t>6</a:t>
                      </a:r>
                      <a:r>
                        <a:rPr lang="en" sz="2400">
                          <a:latin typeface="Lora"/>
                          <a:ea typeface="Lora"/>
                          <a:cs typeface="Lora"/>
                          <a:sym typeface="Lora"/>
                        </a:rPr>
                        <a:t>H</a:t>
                      </a:r>
                      <a:r>
                        <a:rPr baseline="-25000" lang="en" sz="2400">
                          <a:latin typeface="Lora"/>
                          <a:ea typeface="Lora"/>
                          <a:cs typeface="Lora"/>
                          <a:sym typeface="Lora"/>
                        </a:rPr>
                        <a:t>12</a:t>
                      </a:r>
                      <a:r>
                        <a:rPr lang="en" sz="2400">
                          <a:latin typeface="Lora"/>
                          <a:ea typeface="Lora"/>
                          <a:cs typeface="Lora"/>
                          <a:sym typeface="Lora"/>
                        </a:rPr>
                        <a:t>O</a:t>
                      </a:r>
                      <a:r>
                        <a:rPr baseline="-25000" lang="en" sz="2400">
                          <a:latin typeface="Lora"/>
                          <a:ea typeface="Lora"/>
                          <a:cs typeface="Lora"/>
                          <a:sym typeface="Lora"/>
                        </a:rPr>
                        <a:t>6</a:t>
                      </a:r>
                      <a:endParaRPr baseline="-25000" sz="2400">
                        <a:latin typeface="Lora"/>
                        <a:ea typeface="Lora"/>
                        <a:cs typeface="Lora"/>
                        <a:sym typeface="Lora"/>
                      </a:endParaRPr>
                    </a:p>
                  </a:txBody>
                  <a:tcPr marT="0" marB="0" marR="68575" marL="68575"/>
                </a:tc>
                <a:tc>
                  <a:txBody>
                    <a:bodyPr/>
                    <a:lstStyle/>
                    <a:p>
                      <a:pPr indent="0" lvl="0" marL="0" rtl="0" algn="l">
                        <a:spcBef>
                          <a:spcPts val="0"/>
                        </a:spcBef>
                        <a:spcAft>
                          <a:spcPts val="0"/>
                        </a:spcAft>
                        <a:buNone/>
                      </a:pPr>
                      <a:r>
                        <a:rPr lang="en" sz="2400">
                          <a:latin typeface="Lora"/>
                          <a:ea typeface="Lora"/>
                          <a:cs typeface="Lora"/>
                          <a:sym typeface="Lora"/>
                        </a:rPr>
                        <a:t>CH</a:t>
                      </a:r>
                      <a:r>
                        <a:rPr baseline="-25000" lang="en" sz="2400">
                          <a:latin typeface="Lora"/>
                          <a:ea typeface="Lora"/>
                          <a:cs typeface="Lora"/>
                          <a:sym typeface="Lora"/>
                        </a:rPr>
                        <a:t>2</a:t>
                      </a:r>
                      <a:r>
                        <a:rPr lang="en" sz="2400">
                          <a:latin typeface="Lora"/>
                          <a:ea typeface="Lora"/>
                          <a:cs typeface="Lora"/>
                          <a:sym typeface="Lora"/>
                        </a:rPr>
                        <a:t>O</a:t>
                      </a:r>
                      <a:endParaRPr sz="2400">
                        <a:latin typeface="Lora"/>
                        <a:ea typeface="Lora"/>
                        <a:cs typeface="Lora"/>
                        <a:sym typeface="Lora"/>
                      </a:endParaRPr>
                    </a:p>
                  </a:txBody>
                  <a:tcPr marT="0" marB="0" marR="68575" marL="68575"/>
                </a:tc>
              </a:tr>
            </a:tbl>
          </a:graphicData>
        </a:graphic>
      </p:graphicFrame>
      <p:sp>
        <p:nvSpPr>
          <p:cNvPr id="134" name="Google Shape;134;p25"/>
          <p:cNvSpPr txBox="1"/>
          <p:nvPr>
            <p:ph type="title"/>
          </p:nvPr>
        </p:nvSpPr>
        <p:spPr>
          <a:xfrm>
            <a:off x="311700" y="445025"/>
            <a:ext cx="8520600" cy="572700"/>
          </a:xfrm>
          <a:prstGeom prst="rect">
            <a:avLst/>
          </a:prstGeom>
          <a:solidFill>
            <a:srgbClr val="9EF2F2"/>
          </a:solidFill>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Lora"/>
                <a:ea typeface="Lora"/>
                <a:cs typeface="Lora"/>
                <a:sym typeface="Lora"/>
              </a:rPr>
              <a:t>Explore:</a:t>
            </a:r>
            <a:r>
              <a:rPr lang="en">
                <a:latin typeface="Lora"/>
                <a:ea typeface="Lora"/>
                <a:cs typeface="Lora"/>
                <a:sym typeface="Lora"/>
              </a:rPr>
              <a:t> </a:t>
            </a:r>
            <a:r>
              <a:rPr lang="en">
                <a:latin typeface="Lora"/>
                <a:ea typeface="Lora"/>
                <a:cs typeface="Lora"/>
                <a:sym typeface="Lora"/>
              </a:rPr>
              <a:t>Check your understanding!</a:t>
            </a:r>
            <a:endParaRPr>
              <a:latin typeface="Lora"/>
              <a:ea typeface="Lora"/>
              <a:cs typeface="Lora"/>
              <a:sym typeface="Lor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311700" y="445025"/>
            <a:ext cx="8520600" cy="5727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Lora"/>
                <a:ea typeface="Lora"/>
                <a:cs typeface="Lora"/>
                <a:sym typeface="Lora"/>
              </a:rPr>
              <a:t>Explore:</a:t>
            </a:r>
            <a:r>
              <a:rPr lang="en">
                <a:latin typeface="Lora"/>
                <a:ea typeface="Lora"/>
                <a:cs typeface="Lora"/>
                <a:sym typeface="Lora"/>
              </a:rPr>
              <a:t> </a:t>
            </a:r>
            <a:r>
              <a:rPr lang="en">
                <a:latin typeface="Lora"/>
                <a:ea typeface="Lora"/>
                <a:cs typeface="Lora"/>
                <a:sym typeface="Lora"/>
              </a:rPr>
              <a:t>A good problem solving strategy!</a:t>
            </a:r>
            <a:endParaRPr>
              <a:latin typeface="Lora"/>
              <a:ea typeface="Lora"/>
              <a:cs typeface="Lora"/>
              <a:sym typeface="Lora"/>
            </a:endParaRPr>
          </a:p>
        </p:txBody>
      </p:sp>
      <p:sp>
        <p:nvSpPr>
          <p:cNvPr id="140" name="Google Shape;140;p26"/>
          <p:cNvSpPr txBox="1"/>
          <p:nvPr>
            <p:ph idx="1" type="body"/>
          </p:nvPr>
        </p:nvSpPr>
        <p:spPr>
          <a:xfrm>
            <a:off x="311700" y="1152475"/>
            <a:ext cx="8520600" cy="3416400"/>
          </a:xfrm>
          <a:prstGeom prst="rect">
            <a:avLst/>
          </a:prstGeom>
          <a:ln cap="flat" cmpd="sng" w="38100">
            <a:solidFill>
              <a:srgbClr val="00FF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If you aren’t already, please </a:t>
            </a:r>
            <a:r>
              <a:rPr b="1" lang="en"/>
              <a:t>USE GRASP in Chemistry:</a:t>
            </a:r>
            <a:r>
              <a:rPr lang="en"/>
              <a:t> </a:t>
            </a:r>
            <a:endParaRPr/>
          </a:p>
          <a:p>
            <a:pPr indent="0" lvl="0" marL="0" rtl="0" algn="l">
              <a:spcBef>
                <a:spcPts val="1600"/>
              </a:spcBef>
              <a:spcAft>
                <a:spcPts val="0"/>
              </a:spcAft>
              <a:buNone/>
            </a:pPr>
            <a:r>
              <a:rPr b="1" lang="en">
                <a:solidFill>
                  <a:srgbClr val="222222"/>
                </a:solidFill>
                <a:highlight>
                  <a:srgbClr val="FFFFFF"/>
                </a:highlight>
              </a:rPr>
              <a:t>Given:</a:t>
            </a:r>
            <a:r>
              <a:rPr lang="en">
                <a:solidFill>
                  <a:srgbClr val="222222"/>
                </a:solidFill>
                <a:highlight>
                  <a:srgbClr val="FFFFFF"/>
                </a:highlight>
              </a:rPr>
              <a:t> List all information with units given in problem. </a:t>
            </a:r>
            <a:endParaRPr>
              <a:solidFill>
                <a:srgbClr val="222222"/>
              </a:solidFill>
              <a:highlight>
                <a:srgbClr val="FFFFFF"/>
              </a:highlight>
            </a:endParaRPr>
          </a:p>
          <a:p>
            <a:pPr indent="0" lvl="0" marL="0" rtl="0" algn="l">
              <a:spcBef>
                <a:spcPts val="1600"/>
              </a:spcBef>
              <a:spcAft>
                <a:spcPts val="0"/>
              </a:spcAft>
              <a:buNone/>
            </a:pPr>
            <a:r>
              <a:rPr b="1" lang="en">
                <a:solidFill>
                  <a:srgbClr val="222222"/>
                </a:solidFill>
                <a:highlight>
                  <a:srgbClr val="FFFFFF"/>
                </a:highlight>
              </a:rPr>
              <a:t>Required:</a:t>
            </a:r>
            <a:r>
              <a:rPr lang="en">
                <a:solidFill>
                  <a:srgbClr val="222222"/>
                </a:solidFill>
                <a:highlight>
                  <a:srgbClr val="FFFFFF"/>
                </a:highlight>
              </a:rPr>
              <a:t> Include what you need to determine in your data list</a:t>
            </a:r>
            <a:endParaRPr>
              <a:solidFill>
                <a:srgbClr val="222222"/>
              </a:solidFill>
              <a:highlight>
                <a:srgbClr val="FFFFFF"/>
              </a:highlight>
            </a:endParaRPr>
          </a:p>
          <a:p>
            <a:pPr indent="0" lvl="0" marL="0" rtl="0" algn="l">
              <a:spcBef>
                <a:spcPts val="1600"/>
              </a:spcBef>
              <a:spcAft>
                <a:spcPts val="0"/>
              </a:spcAft>
              <a:buNone/>
            </a:pPr>
            <a:r>
              <a:rPr b="1" lang="en">
                <a:solidFill>
                  <a:srgbClr val="222222"/>
                </a:solidFill>
                <a:highlight>
                  <a:srgbClr val="FFFFFF"/>
                </a:highlight>
              </a:rPr>
              <a:t>Analysis:</a:t>
            </a:r>
            <a:r>
              <a:rPr lang="en">
                <a:solidFill>
                  <a:srgbClr val="222222"/>
                </a:solidFill>
                <a:highlight>
                  <a:srgbClr val="FFFFFF"/>
                </a:highlight>
              </a:rPr>
              <a:t> List formulas first, then enter given data</a:t>
            </a:r>
            <a:endParaRPr>
              <a:solidFill>
                <a:srgbClr val="222222"/>
              </a:solidFill>
              <a:highlight>
                <a:srgbClr val="FFFFFF"/>
              </a:highlight>
            </a:endParaRPr>
          </a:p>
          <a:p>
            <a:pPr indent="0" lvl="0" marL="0" rtl="0" algn="l">
              <a:spcBef>
                <a:spcPts val="1600"/>
              </a:spcBef>
              <a:spcAft>
                <a:spcPts val="0"/>
              </a:spcAft>
              <a:buNone/>
            </a:pPr>
            <a:r>
              <a:rPr b="1" lang="en">
                <a:solidFill>
                  <a:srgbClr val="222222"/>
                </a:solidFill>
                <a:highlight>
                  <a:srgbClr val="FFFFFF"/>
                </a:highlight>
              </a:rPr>
              <a:t>Solution:</a:t>
            </a:r>
            <a:r>
              <a:rPr lang="en">
                <a:solidFill>
                  <a:srgbClr val="222222"/>
                </a:solidFill>
                <a:highlight>
                  <a:srgbClr val="FFFFFF"/>
                </a:highlight>
              </a:rPr>
              <a:t> solve for Required. There may be more than one. Remember UNITS. </a:t>
            </a:r>
            <a:endParaRPr>
              <a:solidFill>
                <a:srgbClr val="222222"/>
              </a:solidFill>
              <a:highlight>
                <a:srgbClr val="FFFFFF"/>
              </a:highlight>
            </a:endParaRPr>
          </a:p>
          <a:p>
            <a:pPr indent="0" lvl="0" marL="0" rtl="0" algn="l">
              <a:spcBef>
                <a:spcPts val="1600"/>
              </a:spcBef>
              <a:spcAft>
                <a:spcPts val="1600"/>
              </a:spcAft>
              <a:buNone/>
            </a:pPr>
            <a:r>
              <a:rPr b="1" lang="en">
                <a:solidFill>
                  <a:srgbClr val="222222"/>
                </a:solidFill>
                <a:highlight>
                  <a:srgbClr val="FFFFFF"/>
                </a:highlight>
              </a:rPr>
              <a:t>Paraphrase</a:t>
            </a:r>
            <a:r>
              <a:rPr lang="en">
                <a:solidFill>
                  <a:srgbClr val="222222"/>
                </a:solidFill>
                <a:highlight>
                  <a:srgbClr val="FFFFFF"/>
                </a:highlight>
              </a:rPr>
              <a:t>: A therefore statement indicating your understanding of the solution.</a:t>
            </a:r>
            <a:r>
              <a:rPr lang="en" sz="2300">
                <a:solidFill>
                  <a:srgbClr val="222222"/>
                </a:solidFill>
                <a:highlight>
                  <a:srgbClr val="FFFFFF"/>
                </a:highlight>
              </a:rPr>
              <a:t> </a:t>
            </a:r>
            <a:endParaRPr sz="29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7"/>
          <p:cNvSpPr txBox="1"/>
          <p:nvPr>
            <p:ph type="title"/>
          </p:nvPr>
        </p:nvSpPr>
        <p:spPr>
          <a:xfrm>
            <a:off x="311700" y="264150"/>
            <a:ext cx="8520600" cy="5727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Lora"/>
                <a:ea typeface="Lora"/>
                <a:cs typeface="Lora"/>
                <a:sym typeface="Lora"/>
              </a:rPr>
              <a:t>Explore: </a:t>
            </a:r>
            <a:r>
              <a:rPr lang="en" sz="2400">
                <a:latin typeface="Lora"/>
                <a:ea typeface="Lora"/>
                <a:cs typeface="Lora"/>
                <a:sym typeface="Lora"/>
              </a:rPr>
              <a:t>Percentage Composition</a:t>
            </a:r>
            <a:endParaRPr sz="2400">
              <a:latin typeface="Lora"/>
              <a:ea typeface="Lora"/>
              <a:cs typeface="Lora"/>
              <a:sym typeface="Lora"/>
            </a:endParaRPr>
          </a:p>
        </p:txBody>
      </p:sp>
      <p:sp>
        <p:nvSpPr>
          <p:cNvPr id="146" name="Google Shape;146;p27"/>
          <p:cNvSpPr txBox="1"/>
          <p:nvPr>
            <p:ph idx="1" type="body"/>
          </p:nvPr>
        </p:nvSpPr>
        <p:spPr>
          <a:xfrm>
            <a:off x="311700" y="926950"/>
            <a:ext cx="8520600" cy="36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000000"/>
                </a:solidFill>
                <a:latin typeface="Lora"/>
                <a:ea typeface="Lora"/>
                <a:cs typeface="Lora"/>
                <a:sym typeface="Lora"/>
              </a:rPr>
              <a:t>The next few slides will ask you to think through calculating the percentage composition of compounds. First, from mass data such as that generated by mass spectrometers. Then from atomic mass of the elements in a compounds.</a:t>
            </a:r>
            <a:endParaRPr sz="2000">
              <a:solidFill>
                <a:srgbClr val="000000"/>
              </a:solidFill>
              <a:latin typeface="Lora"/>
              <a:ea typeface="Lora"/>
              <a:cs typeface="Lora"/>
              <a:sym typeface="Lora"/>
            </a:endParaRPr>
          </a:p>
          <a:p>
            <a:pPr indent="0" lvl="0" marL="0" rtl="0" algn="l">
              <a:spcBef>
                <a:spcPts val="1600"/>
              </a:spcBef>
              <a:spcAft>
                <a:spcPts val="0"/>
              </a:spcAft>
              <a:buNone/>
            </a:pPr>
            <a:r>
              <a:rPr lang="en" sz="2000">
                <a:solidFill>
                  <a:srgbClr val="000000"/>
                </a:solidFill>
                <a:latin typeface="Lora"/>
                <a:ea typeface="Lora"/>
                <a:cs typeface="Lora"/>
                <a:sym typeface="Lora"/>
              </a:rPr>
              <a:t>REMEMBER: Percent is just percent! How much of one element out of the total mass of the compound?</a:t>
            </a:r>
            <a:endParaRPr sz="2000">
              <a:solidFill>
                <a:srgbClr val="000000"/>
              </a:solidFill>
              <a:latin typeface="Lora"/>
              <a:ea typeface="Lora"/>
              <a:cs typeface="Lora"/>
              <a:sym typeface="Lora"/>
            </a:endParaRPr>
          </a:p>
          <a:p>
            <a:pPr indent="0" lvl="0" marL="0" rtl="0" algn="l">
              <a:spcBef>
                <a:spcPts val="1600"/>
              </a:spcBef>
              <a:spcAft>
                <a:spcPts val="1600"/>
              </a:spcAft>
              <a:buNone/>
            </a:pPr>
            <a:r>
              <a:rPr lang="en" sz="2000">
                <a:solidFill>
                  <a:srgbClr val="000000"/>
                </a:solidFill>
                <a:latin typeface="Lora"/>
                <a:ea typeface="Lora"/>
                <a:cs typeface="Lora"/>
                <a:sym typeface="Lora"/>
              </a:rPr>
              <a:t>Show your work!</a:t>
            </a:r>
            <a:endParaRPr sz="2000">
              <a:solidFill>
                <a:srgbClr val="000000"/>
              </a:solidFill>
              <a:latin typeface="Lora"/>
              <a:ea typeface="Lora"/>
              <a:cs typeface="Lora"/>
              <a:sym typeface="Lor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txBox="1"/>
          <p:nvPr>
            <p:ph type="title"/>
          </p:nvPr>
        </p:nvSpPr>
        <p:spPr>
          <a:xfrm>
            <a:off x="311700" y="264150"/>
            <a:ext cx="8520600" cy="5727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Lora"/>
                <a:ea typeface="Lora"/>
                <a:cs typeface="Lora"/>
                <a:sym typeface="Lora"/>
              </a:rPr>
              <a:t>Explore: Try this!</a:t>
            </a:r>
            <a:endParaRPr sz="2400">
              <a:latin typeface="Lora"/>
              <a:ea typeface="Lora"/>
              <a:cs typeface="Lora"/>
              <a:sym typeface="Lora"/>
            </a:endParaRPr>
          </a:p>
        </p:txBody>
      </p:sp>
      <p:sp>
        <p:nvSpPr>
          <p:cNvPr id="152" name="Google Shape;152;p28"/>
          <p:cNvSpPr txBox="1"/>
          <p:nvPr>
            <p:ph idx="1" type="body"/>
          </p:nvPr>
        </p:nvSpPr>
        <p:spPr>
          <a:xfrm>
            <a:off x="311700" y="926950"/>
            <a:ext cx="8520600" cy="36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000000"/>
                </a:solidFill>
                <a:latin typeface="Lora"/>
                <a:ea typeface="Lora"/>
                <a:cs typeface="Lora"/>
                <a:sym typeface="Lora"/>
              </a:rPr>
              <a:t>Complete next several slides on a class whiteboard and insert photos of your work (or other record) on each slide.  </a:t>
            </a:r>
            <a:endParaRPr sz="2000">
              <a:solidFill>
                <a:srgbClr val="000000"/>
              </a:solidFill>
              <a:latin typeface="Lora"/>
              <a:ea typeface="Lora"/>
              <a:cs typeface="Lora"/>
              <a:sym typeface="Lora"/>
            </a:endParaRPr>
          </a:p>
          <a:p>
            <a:pPr indent="0" lvl="0" marL="0" rtl="0" algn="l">
              <a:spcBef>
                <a:spcPts val="1600"/>
              </a:spcBef>
              <a:spcAft>
                <a:spcPts val="1600"/>
              </a:spcAft>
              <a:buNone/>
            </a:pPr>
            <a:r>
              <a:rPr lang="en" sz="2000">
                <a:solidFill>
                  <a:srgbClr val="000000"/>
                </a:solidFill>
                <a:latin typeface="Lora"/>
                <a:ea typeface="Lora"/>
                <a:cs typeface="Lora"/>
                <a:sym typeface="Lora"/>
              </a:rPr>
              <a:t>Solve by working through next </a:t>
            </a:r>
            <a:r>
              <a:rPr lang="en" sz="2000">
                <a:solidFill>
                  <a:srgbClr val="000000"/>
                </a:solidFill>
                <a:latin typeface="Lora"/>
                <a:ea typeface="Lora"/>
                <a:cs typeface="Lora"/>
                <a:sym typeface="Lora"/>
              </a:rPr>
              <a:t>several</a:t>
            </a:r>
            <a:r>
              <a:rPr lang="en" sz="2000">
                <a:solidFill>
                  <a:srgbClr val="000000"/>
                </a:solidFill>
                <a:latin typeface="Lora"/>
                <a:ea typeface="Lora"/>
                <a:cs typeface="Lora"/>
                <a:sym typeface="Lora"/>
              </a:rPr>
              <a:t> slides: </a:t>
            </a:r>
            <a:r>
              <a:rPr lang="en" sz="2000">
                <a:solidFill>
                  <a:srgbClr val="000000"/>
                </a:solidFill>
                <a:latin typeface="Lora"/>
                <a:ea typeface="Lora"/>
                <a:cs typeface="Lora"/>
                <a:sym typeface="Lora"/>
              </a:rPr>
              <a:t>A 13.5g sample of a compound is determined to have 7.46g of s</a:t>
            </a:r>
            <a:r>
              <a:rPr lang="en" sz="2000">
                <a:solidFill>
                  <a:srgbClr val="000000"/>
                </a:solidFill>
                <a:latin typeface="Lora"/>
                <a:ea typeface="Lora"/>
                <a:cs typeface="Lora"/>
                <a:sym typeface="Lora"/>
              </a:rPr>
              <a:t>trontium and 6.04 of c</a:t>
            </a:r>
            <a:r>
              <a:rPr lang="en" sz="2000">
                <a:solidFill>
                  <a:srgbClr val="000000"/>
                </a:solidFill>
                <a:latin typeface="Lora"/>
                <a:ea typeface="Lora"/>
                <a:cs typeface="Lora"/>
                <a:sym typeface="Lora"/>
              </a:rPr>
              <a:t>hlorine. Determine the % composition of each element. </a:t>
            </a:r>
            <a:endParaRPr sz="2000">
              <a:solidFill>
                <a:srgbClr val="000000"/>
              </a:solidFill>
              <a:latin typeface="Lora"/>
              <a:ea typeface="Lora"/>
              <a:cs typeface="Lora"/>
              <a:sym typeface="Lor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9"/>
          <p:cNvSpPr txBox="1"/>
          <p:nvPr>
            <p:ph type="title"/>
          </p:nvPr>
        </p:nvSpPr>
        <p:spPr>
          <a:xfrm>
            <a:off x="217500" y="432825"/>
            <a:ext cx="8709000" cy="935100"/>
          </a:xfrm>
          <a:prstGeom prst="rect">
            <a:avLst/>
          </a:prstGeom>
          <a:solidFill>
            <a:srgbClr val="00FFFF"/>
          </a:solidFill>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2000">
                <a:latin typeface="Lora"/>
                <a:ea typeface="Lora"/>
                <a:cs typeface="Lora"/>
                <a:sym typeface="Lora"/>
              </a:rPr>
              <a:t>Explore: Problem 1 - </a:t>
            </a:r>
            <a:r>
              <a:rPr lang="en" sz="2000">
                <a:highlight>
                  <a:srgbClr val="00FFFF"/>
                </a:highlight>
                <a:latin typeface="Lora"/>
                <a:ea typeface="Lora"/>
                <a:cs typeface="Lora"/>
                <a:sym typeface="Lora"/>
              </a:rPr>
              <a:t>Calculate the % composition of carbon dioxide, </a:t>
            </a:r>
            <a:r>
              <a:rPr lang="en" sz="2000">
                <a:highlight>
                  <a:srgbClr val="00FFFF"/>
                </a:highlight>
                <a:latin typeface="Lora"/>
                <a:ea typeface="Lora"/>
                <a:cs typeface="Lora"/>
                <a:sym typeface="Lora"/>
              </a:rPr>
              <a:t>CO</a:t>
            </a:r>
            <a:r>
              <a:rPr baseline="-25000" lang="en" sz="2000">
                <a:highlight>
                  <a:srgbClr val="00FFFF"/>
                </a:highlight>
                <a:latin typeface="Lora"/>
                <a:ea typeface="Lora"/>
                <a:cs typeface="Lora"/>
                <a:sym typeface="Lora"/>
              </a:rPr>
              <a:t>2</a:t>
            </a:r>
            <a:r>
              <a:rPr lang="en" sz="2000">
                <a:highlight>
                  <a:srgbClr val="00FFFF"/>
                </a:highlight>
                <a:latin typeface="Lora"/>
                <a:ea typeface="Lora"/>
                <a:cs typeface="Lora"/>
                <a:sym typeface="Lora"/>
              </a:rPr>
              <a:t> from atomic mass. </a:t>
            </a:r>
            <a:endParaRPr sz="2000">
              <a:highlight>
                <a:srgbClr val="00FFFF"/>
              </a:highlight>
              <a:latin typeface="Lora"/>
              <a:ea typeface="Lora"/>
              <a:cs typeface="Lora"/>
              <a:sym typeface="Lora"/>
            </a:endParaRPr>
          </a:p>
          <a:p>
            <a:pPr indent="0" lvl="0" marL="0" rtl="0" algn="l">
              <a:spcBef>
                <a:spcPts val="1600"/>
              </a:spcBef>
              <a:spcAft>
                <a:spcPts val="0"/>
              </a:spcAft>
              <a:buNone/>
            </a:pPr>
            <a:r>
              <a:t/>
            </a:r>
            <a:endParaRPr sz="2400">
              <a:solidFill>
                <a:srgbClr val="000000"/>
              </a:solidFill>
            </a:endParaRPr>
          </a:p>
        </p:txBody>
      </p:sp>
      <p:sp>
        <p:nvSpPr>
          <p:cNvPr id="158" name="Google Shape;158;p29"/>
          <p:cNvSpPr txBox="1"/>
          <p:nvPr>
            <p:ph idx="1" type="body"/>
          </p:nvPr>
        </p:nvSpPr>
        <p:spPr>
          <a:xfrm>
            <a:off x="311700" y="1367825"/>
            <a:ext cx="8832300" cy="320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200">
                <a:solidFill>
                  <a:srgbClr val="000000"/>
                </a:solidFill>
                <a:latin typeface="Lora"/>
                <a:ea typeface="Lora"/>
                <a:cs typeface="Lora"/>
                <a:sym typeface="Lora"/>
              </a:rPr>
              <a:t>Step 1 : Calculate total atomic mass of each element in the compound.</a:t>
            </a:r>
            <a:endParaRPr sz="2200">
              <a:solidFill>
                <a:srgbClr val="000000"/>
              </a:solidFill>
              <a:latin typeface="Lora"/>
              <a:ea typeface="Lora"/>
              <a:cs typeface="Lora"/>
              <a:sym typeface="Lora"/>
            </a:endParaRPr>
          </a:p>
          <a:p>
            <a:pPr indent="0" lvl="0" marL="0" rtl="0" algn="l">
              <a:spcBef>
                <a:spcPts val="1600"/>
              </a:spcBef>
              <a:spcAft>
                <a:spcPts val="0"/>
              </a:spcAft>
              <a:buClr>
                <a:schemeClr val="dk1"/>
              </a:buClr>
              <a:buSzPts val="1100"/>
              <a:buFont typeface="Arial"/>
              <a:buNone/>
            </a:pPr>
            <a:r>
              <a:rPr lang="en" sz="2400">
                <a:solidFill>
                  <a:srgbClr val="000000"/>
                </a:solidFill>
                <a:latin typeface="Lora"/>
                <a:ea typeface="Lora"/>
                <a:cs typeface="Lora"/>
                <a:sym typeface="Lora"/>
              </a:rPr>
              <a:t>m</a:t>
            </a:r>
            <a:r>
              <a:rPr baseline="-25000" lang="en" sz="2400">
                <a:solidFill>
                  <a:srgbClr val="000000"/>
                </a:solidFill>
                <a:latin typeface="Lora"/>
                <a:ea typeface="Lora"/>
                <a:cs typeface="Lora"/>
                <a:sym typeface="Lora"/>
              </a:rPr>
              <a:t>c</a:t>
            </a:r>
            <a:r>
              <a:rPr lang="en" sz="2400">
                <a:solidFill>
                  <a:srgbClr val="000000"/>
                </a:solidFill>
                <a:latin typeface="Lora"/>
                <a:ea typeface="Lora"/>
                <a:cs typeface="Lora"/>
                <a:sym typeface="Lora"/>
              </a:rPr>
              <a:t> = </a:t>
            </a:r>
            <a:endParaRPr sz="2400">
              <a:solidFill>
                <a:srgbClr val="000000"/>
              </a:solidFill>
              <a:latin typeface="Lora"/>
              <a:ea typeface="Lora"/>
              <a:cs typeface="Lora"/>
              <a:sym typeface="Lora"/>
            </a:endParaRPr>
          </a:p>
          <a:p>
            <a:pPr indent="0" lvl="0" marL="0" rtl="0" algn="l">
              <a:spcBef>
                <a:spcPts val="1600"/>
              </a:spcBef>
              <a:spcAft>
                <a:spcPts val="0"/>
              </a:spcAft>
              <a:buClr>
                <a:schemeClr val="dk1"/>
              </a:buClr>
              <a:buSzPts val="1100"/>
              <a:buFont typeface="Arial"/>
              <a:buNone/>
            </a:pPr>
            <a:r>
              <a:t/>
            </a:r>
            <a:endParaRPr sz="2400">
              <a:solidFill>
                <a:srgbClr val="000000"/>
              </a:solidFill>
              <a:latin typeface="Lora"/>
              <a:ea typeface="Lora"/>
              <a:cs typeface="Lora"/>
              <a:sym typeface="Lora"/>
            </a:endParaRPr>
          </a:p>
          <a:p>
            <a:pPr indent="0" lvl="0" marL="0" rtl="0" algn="l">
              <a:spcBef>
                <a:spcPts val="1600"/>
              </a:spcBef>
              <a:spcAft>
                <a:spcPts val="0"/>
              </a:spcAft>
              <a:buClr>
                <a:schemeClr val="dk1"/>
              </a:buClr>
              <a:buSzPts val="1100"/>
              <a:buFont typeface="Arial"/>
              <a:buNone/>
            </a:pPr>
            <a:r>
              <a:rPr lang="en" sz="2400">
                <a:solidFill>
                  <a:schemeClr val="dk1"/>
                </a:solidFill>
                <a:latin typeface="Lora"/>
                <a:ea typeface="Lora"/>
                <a:cs typeface="Lora"/>
                <a:sym typeface="Lora"/>
              </a:rPr>
              <a:t>m</a:t>
            </a:r>
            <a:r>
              <a:rPr baseline="-25000" lang="en" sz="2400">
                <a:solidFill>
                  <a:schemeClr val="dk1"/>
                </a:solidFill>
                <a:latin typeface="Lora"/>
                <a:ea typeface="Lora"/>
                <a:cs typeface="Lora"/>
                <a:sym typeface="Lora"/>
              </a:rPr>
              <a:t>o</a:t>
            </a:r>
            <a:r>
              <a:rPr lang="en" sz="2400">
                <a:solidFill>
                  <a:schemeClr val="dk1"/>
                </a:solidFill>
                <a:latin typeface="Lora"/>
                <a:ea typeface="Lora"/>
                <a:cs typeface="Lora"/>
                <a:sym typeface="Lora"/>
              </a:rPr>
              <a:t> =</a:t>
            </a:r>
            <a:br>
              <a:rPr lang="en" sz="2400">
                <a:solidFill>
                  <a:srgbClr val="000000"/>
                </a:solidFill>
                <a:latin typeface="Lora"/>
                <a:ea typeface="Lora"/>
                <a:cs typeface="Lora"/>
                <a:sym typeface="Lora"/>
              </a:rPr>
            </a:br>
            <a:r>
              <a:rPr lang="en" sz="2400">
                <a:solidFill>
                  <a:srgbClr val="000000"/>
                </a:solidFill>
                <a:latin typeface="Lora"/>
                <a:ea typeface="Lora"/>
                <a:cs typeface="Lora"/>
                <a:sym typeface="Lora"/>
              </a:rPr>
              <a:t> </a:t>
            </a:r>
            <a:endParaRPr sz="2400">
              <a:solidFill>
                <a:srgbClr val="000000"/>
              </a:solidFill>
              <a:latin typeface="Lora"/>
              <a:ea typeface="Lora"/>
              <a:cs typeface="Lora"/>
              <a:sym typeface="Lora"/>
            </a:endParaRPr>
          </a:p>
          <a:p>
            <a:pPr indent="0" lvl="0" marL="0" rtl="0" algn="l">
              <a:spcBef>
                <a:spcPts val="1600"/>
              </a:spcBef>
              <a:spcAft>
                <a:spcPts val="1600"/>
              </a:spcAft>
              <a:buNone/>
            </a:pPr>
            <a:r>
              <a:t/>
            </a:r>
            <a:endParaRPr sz="240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ph type="title"/>
          </p:nvPr>
        </p:nvSpPr>
        <p:spPr>
          <a:xfrm>
            <a:off x="311700" y="445025"/>
            <a:ext cx="8520600" cy="5727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Lora"/>
                <a:ea typeface="Lora"/>
                <a:cs typeface="Lora"/>
                <a:sym typeface="Lora"/>
              </a:rPr>
              <a:t>Explore: Problem 1</a:t>
            </a:r>
            <a:endParaRPr>
              <a:latin typeface="Lora"/>
              <a:ea typeface="Lora"/>
              <a:cs typeface="Lora"/>
              <a:sym typeface="Lora"/>
            </a:endParaRPr>
          </a:p>
        </p:txBody>
      </p:sp>
      <p:sp>
        <p:nvSpPr>
          <p:cNvPr id="164" name="Google Shape;164;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rgbClr val="000000"/>
                </a:solidFill>
                <a:latin typeface="Lora"/>
                <a:ea typeface="Lora"/>
                <a:cs typeface="Lora"/>
                <a:sym typeface="Lora"/>
              </a:rPr>
              <a:t>Show your calculation of the molecular mass of CO</a:t>
            </a:r>
            <a:r>
              <a:rPr baseline="-25000" lang="en" sz="2400">
                <a:solidFill>
                  <a:srgbClr val="000000"/>
                </a:solidFill>
                <a:latin typeface="Lora"/>
                <a:ea typeface="Lora"/>
                <a:cs typeface="Lora"/>
                <a:sym typeface="Lora"/>
              </a:rPr>
              <a:t>2</a:t>
            </a:r>
            <a:r>
              <a:rPr lang="en" sz="2400">
                <a:solidFill>
                  <a:srgbClr val="000000"/>
                </a:solidFill>
                <a:latin typeface="Lora"/>
                <a:ea typeface="Lora"/>
                <a:cs typeface="Lora"/>
                <a:sym typeface="Lora"/>
              </a:rPr>
              <a:t>.</a:t>
            </a:r>
            <a:endParaRPr sz="2400">
              <a:solidFill>
                <a:srgbClr val="000000"/>
              </a:solidFill>
              <a:latin typeface="Lora"/>
              <a:ea typeface="Lora"/>
              <a:cs typeface="Lora"/>
              <a:sym typeface="Lora"/>
            </a:endParaRPr>
          </a:p>
          <a:p>
            <a:pPr indent="0" lvl="0" marL="0" rtl="0" algn="l">
              <a:spcBef>
                <a:spcPts val="1600"/>
              </a:spcBef>
              <a:spcAft>
                <a:spcPts val="1600"/>
              </a:spcAft>
              <a:buNone/>
            </a:pPr>
            <a:r>
              <a:rPr lang="en" sz="2400">
                <a:solidFill>
                  <a:srgbClr val="000000"/>
                </a:solidFill>
                <a:latin typeface="Lora"/>
                <a:ea typeface="Lora"/>
                <a:cs typeface="Lora"/>
                <a:sym typeface="Lora"/>
              </a:rPr>
              <a:t>Molecular mass</a:t>
            </a:r>
            <a:r>
              <a:rPr baseline="-25000" lang="en" sz="2400">
                <a:solidFill>
                  <a:srgbClr val="000000"/>
                </a:solidFill>
                <a:latin typeface="Lora"/>
                <a:ea typeface="Lora"/>
                <a:cs typeface="Lora"/>
                <a:sym typeface="Lora"/>
              </a:rPr>
              <a:t>CO2</a:t>
            </a:r>
            <a:r>
              <a:rPr lang="en" sz="2400">
                <a:solidFill>
                  <a:srgbClr val="000000"/>
                </a:solidFill>
                <a:latin typeface="Lora"/>
                <a:ea typeface="Lora"/>
                <a:cs typeface="Lora"/>
                <a:sym typeface="Lora"/>
              </a:rPr>
              <a:t>= </a:t>
            </a:r>
            <a:endParaRPr sz="2400">
              <a:latin typeface="Lora"/>
              <a:ea typeface="Lora"/>
              <a:cs typeface="Lora"/>
              <a:sym typeface="Lora"/>
            </a:endParaRPr>
          </a:p>
        </p:txBody>
      </p:sp>
      <p:sp>
        <p:nvSpPr>
          <p:cNvPr id="165" name="Google Shape;165;p30"/>
          <p:cNvSpPr txBox="1"/>
          <p:nvPr/>
        </p:nvSpPr>
        <p:spPr>
          <a:xfrm>
            <a:off x="6579150" y="4137400"/>
            <a:ext cx="2023500" cy="572700"/>
          </a:xfrm>
          <a:prstGeom prst="rect">
            <a:avLst/>
          </a:prstGeom>
          <a:solidFill>
            <a:srgbClr val="00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ora"/>
                <a:ea typeface="Lora"/>
                <a:cs typeface="Lora"/>
                <a:sym typeface="Lora"/>
              </a:rPr>
              <a:t>Ans: 44.01amu  (or just u for units)</a:t>
            </a:r>
            <a:endParaRPr>
              <a:latin typeface="Lora"/>
              <a:ea typeface="Lora"/>
              <a:cs typeface="Lora"/>
              <a:sym typeface="Lor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1"/>
          <p:cNvSpPr txBox="1"/>
          <p:nvPr>
            <p:ph type="title"/>
          </p:nvPr>
        </p:nvSpPr>
        <p:spPr>
          <a:xfrm>
            <a:off x="311700" y="249975"/>
            <a:ext cx="8520600" cy="8046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Lora"/>
                <a:ea typeface="Lora"/>
                <a:cs typeface="Lora"/>
                <a:sym typeface="Lora"/>
              </a:rPr>
              <a:t>Explore: Problem 1 - </a:t>
            </a:r>
            <a:r>
              <a:rPr lang="en" sz="2000">
                <a:latin typeface="Lora"/>
                <a:ea typeface="Lora"/>
                <a:cs typeface="Lora"/>
                <a:sym typeface="Lora"/>
              </a:rPr>
              <a:t>Now determine %</a:t>
            </a:r>
            <a:r>
              <a:rPr lang="en" sz="2000">
                <a:latin typeface="Lora"/>
                <a:ea typeface="Lora"/>
                <a:cs typeface="Lora"/>
                <a:sym typeface="Lora"/>
              </a:rPr>
              <a:t> composition by</a:t>
            </a:r>
            <a:r>
              <a:rPr lang="en" sz="2000">
                <a:latin typeface="Lora"/>
                <a:ea typeface="Lora"/>
                <a:cs typeface="Lora"/>
                <a:sym typeface="Lora"/>
              </a:rPr>
              <a:t> mass</a:t>
            </a:r>
            <a:r>
              <a:rPr lang="en" sz="2000">
                <a:latin typeface="Lora"/>
                <a:ea typeface="Lora"/>
                <a:cs typeface="Lora"/>
                <a:sym typeface="Lora"/>
              </a:rPr>
              <a:t> of oxygen in CO2. Then do % of carbon.  {Use GRASP}</a:t>
            </a:r>
            <a:endParaRPr sz="2000">
              <a:latin typeface="Lora"/>
              <a:ea typeface="Lora"/>
              <a:cs typeface="Lora"/>
              <a:sym typeface="Lora"/>
            </a:endParaRPr>
          </a:p>
        </p:txBody>
      </p:sp>
      <p:sp>
        <p:nvSpPr>
          <p:cNvPr id="171" name="Google Shape;171;p31"/>
          <p:cNvSpPr txBox="1"/>
          <p:nvPr/>
        </p:nvSpPr>
        <p:spPr>
          <a:xfrm>
            <a:off x="390150" y="4108700"/>
            <a:ext cx="8119800" cy="80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latin typeface="Lora"/>
                <a:ea typeface="Lora"/>
                <a:cs typeface="Lora"/>
                <a:sym typeface="Lora"/>
              </a:rPr>
              <a:t>Therefore statement: </a:t>
            </a:r>
            <a:endParaRPr>
              <a:latin typeface="Lora"/>
              <a:ea typeface="Lora"/>
              <a:cs typeface="Lora"/>
              <a:sym typeface="Lor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2"/>
          <p:cNvSpPr txBox="1"/>
          <p:nvPr>
            <p:ph type="title"/>
          </p:nvPr>
        </p:nvSpPr>
        <p:spPr>
          <a:xfrm>
            <a:off x="311700" y="445025"/>
            <a:ext cx="8520600" cy="5727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Lora"/>
                <a:ea typeface="Lora"/>
                <a:cs typeface="Lora"/>
                <a:sym typeface="Lora"/>
              </a:rPr>
              <a:t>Explore: Problem 2 - </a:t>
            </a:r>
            <a:r>
              <a:rPr lang="en" sz="2000">
                <a:latin typeface="Lora"/>
                <a:ea typeface="Lora"/>
                <a:cs typeface="Lora"/>
                <a:sym typeface="Lora"/>
              </a:rPr>
              <a:t>Empirical formulas from Mass Data</a:t>
            </a:r>
            <a:endParaRPr>
              <a:latin typeface="Lora"/>
              <a:ea typeface="Lora"/>
              <a:cs typeface="Lora"/>
              <a:sym typeface="Lora"/>
            </a:endParaRPr>
          </a:p>
        </p:txBody>
      </p:sp>
      <p:sp>
        <p:nvSpPr>
          <p:cNvPr id="177" name="Google Shape;177;p32"/>
          <p:cNvSpPr txBox="1"/>
          <p:nvPr>
            <p:ph idx="1" type="body"/>
          </p:nvPr>
        </p:nvSpPr>
        <p:spPr>
          <a:xfrm>
            <a:off x="241000" y="1114525"/>
            <a:ext cx="8520600" cy="393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latin typeface="Lora"/>
                <a:ea typeface="Lora"/>
                <a:cs typeface="Lora"/>
                <a:sym typeface="Lora"/>
              </a:rPr>
              <a:t>A compound contains the following % compositions:</a:t>
            </a:r>
            <a:endParaRPr>
              <a:solidFill>
                <a:srgbClr val="000000"/>
              </a:solidFill>
              <a:latin typeface="Lora"/>
              <a:ea typeface="Lora"/>
              <a:cs typeface="Lora"/>
              <a:sym typeface="Lora"/>
            </a:endParaRPr>
          </a:p>
          <a:p>
            <a:pPr indent="0" lvl="0" marL="457200" rtl="0" algn="l">
              <a:spcBef>
                <a:spcPts val="1600"/>
              </a:spcBef>
              <a:spcAft>
                <a:spcPts val="0"/>
              </a:spcAft>
              <a:buNone/>
            </a:pPr>
            <a:r>
              <a:rPr lang="en">
                <a:solidFill>
                  <a:srgbClr val="000000"/>
                </a:solidFill>
                <a:latin typeface="Lora"/>
                <a:ea typeface="Lora"/>
                <a:cs typeface="Lora"/>
                <a:sym typeface="Lora"/>
              </a:rPr>
              <a:t>C = 38.71%</a:t>
            </a:r>
            <a:endParaRPr>
              <a:solidFill>
                <a:srgbClr val="000000"/>
              </a:solidFill>
              <a:latin typeface="Lora"/>
              <a:ea typeface="Lora"/>
              <a:cs typeface="Lora"/>
              <a:sym typeface="Lora"/>
            </a:endParaRPr>
          </a:p>
          <a:p>
            <a:pPr indent="0" lvl="0" marL="457200" rtl="0" algn="l">
              <a:spcBef>
                <a:spcPts val="1600"/>
              </a:spcBef>
              <a:spcAft>
                <a:spcPts val="0"/>
              </a:spcAft>
              <a:buNone/>
            </a:pPr>
            <a:r>
              <a:rPr lang="en">
                <a:solidFill>
                  <a:srgbClr val="000000"/>
                </a:solidFill>
                <a:latin typeface="Lora"/>
                <a:ea typeface="Lora"/>
                <a:cs typeface="Lora"/>
                <a:sym typeface="Lora"/>
              </a:rPr>
              <a:t>H = 9.71 %</a:t>
            </a:r>
            <a:endParaRPr>
              <a:solidFill>
                <a:srgbClr val="000000"/>
              </a:solidFill>
              <a:latin typeface="Lora"/>
              <a:ea typeface="Lora"/>
              <a:cs typeface="Lora"/>
              <a:sym typeface="Lora"/>
            </a:endParaRPr>
          </a:p>
          <a:p>
            <a:pPr indent="0" lvl="0" marL="457200" rtl="0" algn="l">
              <a:spcBef>
                <a:spcPts val="1600"/>
              </a:spcBef>
              <a:spcAft>
                <a:spcPts val="0"/>
              </a:spcAft>
              <a:buNone/>
            </a:pPr>
            <a:r>
              <a:rPr lang="en">
                <a:solidFill>
                  <a:srgbClr val="000000"/>
                </a:solidFill>
                <a:latin typeface="Lora"/>
                <a:ea typeface="Lora"/>
                <a:cs typeface="Lora"/>
                <a:sym typeface="Lora"/>
              </a:rPr>
              <a:t>O = 51.58%</a:t>
            </a:r>
            <a:endParaRPr>
              <a:solidFill>
                <a:srgbClr val="000000"/>
              </a:solidFill>
              <a:latin typeface="Lora"/>
              <a:ea typeface="Lora"/>
              <a:cs typeface="Lora"/>
              <a:sym typeface="Lora"/>
            </a:endParaRPr>
          </a:p>
          <a:p>
            <a:pPr indent="0" lvl="0" marL="0" rtl="0" algn="l">
              <a:spcBef>
                <a:spcPts val="1600"/>
              </a:spcBef>
              <a:spcAft>
                <a:spcPts val="0"/>
              </a:spcAft>
              <a:buNone/>
            </a:pPr>
            <a:r>
              <a:rPr lang="en">
                <a:solidFill>
                  <a:srgbClr val="000000"/>
                </a:solidFill>
                <a:latin typeface="Lora"/>
                <a:ea typeface="Lora"/>
                <a:cs typeface="Lora"/>
                <a:sym typeface="Lora"/>
              </a:rPr>
              <a:t>Determine</a:t>
            </a:r>
            <a:r>
              <a:rPr lang="en">
                <a:solidFill>
                  <a:srgbClr val="000000"/>
                </a:solidFill>
                <a:latin typeface="Lora"/>
                <a:ea typeface="Lora"/>
                <a:cs typeface="Lora"/>
                <a:sym typeface="Lora"/>
              </a:rPr>
              <a:t> the mole ratio of the elements. Use the mole ratio to determine the Empirical Formula.</a:t>
            </a:r>
            <a:endParaRPr>
              <a:solidFill>
                <a:srgbClr val="000000"/>
              </a:solidFill>
              <a:latin typeface="Lora"/>
              <a:ea typeface="Lora"/>
              <a:cs typeface="Lora"/>
              <a:sym typeface="Lora"/>
            </a:endParaRPr>
          </a:p>
          <a:p>
            <a:pPr indent="0" lvl="0" marL="0" rtl="0" algn="l">
              <a:spcBef>
                <a:spcPts val="1600"/>
              </a:spcBef>
              <a:spcAft>
                <a:spcPts val="1600"/>
              </a:spcAft>
              <a:buNone/>
            </a:pPr>
            <a:r>
              <a:rPr lang="en">
                <a:solidFill>
                  <a:srgbClr val="000000"/>
                </a:solidFill>
                <a:latin typeface="Lora"/>
                <a:ea typeface="Lora"/>
                <a:cs typeface="Lora"/>
                <a:sym typeface="Lora"/>
              </a:rPr>
              <a:t>HINT: If you have a 100g sample, how many grams will be carbon? If you know the grams, what quantity can you convert to? Check the next blue solution slide to get started after trying!</a:t>
            </a:r>
            <a:endParaRPr>
              <a:solidFill>
                <a:srgbClr val="000000"/>
              </a:solidFill>
              <a:latin typeface="Lora"/>
              <a:ea typeface="Lora"/>
              <a:cs typeface="Lora"/>
              <a:sym typeface="Lor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EF2F2"/>
        </a:solidFill>
      </p:bgPr>
    </p:bg>
    <p:spTree>
      <p:nvGrpSpPr>
        <p:cNvPr id="181" name="Shape 181"/>
        <p:cNvGrpSpPr/>
        <p:nvPr/>
      </p:nvGrpSpPr>
      <p:grpSpPr>
        <a:xfrm>
          <a:off x="0" y="0"/>
          <a:ext cx="0" cy="0"/>
          <a:chOff x="0" y="0"/>
          <a:chExt cx="0" cy="0"/>
        </a:xfrm>
      </p:grpSpPr>
      <p:sp>
        <p:nvSpPr>
          <p:cNvPr id="182" name="Google Shape;182;p33"/>
          <p:cNvSpPr txBox="1"/>
          <p:nvPr>
            <p:ph idx="1" type="body"/>
          </p:nvPr>
        </p:nvSpPr>
        <p:spPr>
          <a:xfrm>
            <a:off x="348000" y="396925"/>
            <a:ext cx="3700200" cy="3416400"/>
          </a:xfrm>
          <a:prstGeom prst="rect">
            <a:avLst/>
          </a:prstGeom>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rgbClr val="000000"/>
                </a:solidFill>
                <a:latin typeface="Lora"/>
                <a:ea typeface="Lora"/>
                <a:cs typeface="Lora"/>
                <a:sym typeface="Lora"/>
              </a:rPr>
              <a:t>Solution:</a:t>
            </a:r>
            <a:endParaRPr sz="2400">
              <a:solidFill>
                <a:srgbClr val="000000"/>
              </a:solidFill>
              <a:latin typeface="Lora"/>
              <a:ea typeface="Lora"/>
              <a:cs typeface="Lora"/>
              <a:sym typeface="Lora"/>
            </a:endParaRPr>
          </a:p>
          <a:p>
            <a:pPr indent="0" lvl="0" marL="0" rtl="0" algn="l">
              <a:spcBef>
                <a:spcPts val="1600"/>
              </a:spcBef>
              <a:spcAft>
                <a:spcPts val="0"/>
              </a:spcAft>
              <a:buNone/>
            </a:pPr>
            <a:r>
              <a:rPr lang="en" sz="2400">
                <a:solidFill>
                  <a:srgbClr val="000000"/>
                </a:solidFill>
                <a:latin typeface="Lora"/>
                <a:ea typeface="Lora"/>
                <a:cs typeface="Lora"/>
                <a:sym typeface="Lora"/>
              </a:rPr>
              <a:t>			</a:t>
            </a:r>
            <a:r>
              <a:rPr lang="en" sz="2400" u="sng">
                <a:solidFill>
                  <a:srgbClr val="000000"/>
                </a:solidFill>
                <a:latin typeface="Lora"/>
                <a:ea typeface="Lora"/>
                <a:cs typeface="Lora"/>
                <a:sym typeface="Lora"/>
              </a:rPr>
              <a:t>100g sample</a:t>
            </a:r>
            <a:endParaRPr sz="2400" u="sng">
              <a:solidFill>
                <a:srgbClr val="000000"/>
              </a:solidFill>
              <a:latin typeface="Lora"/>
              <a:ea typeface="Lora"/>
              <a:cs typeface="Lora"/>
              <a:sym typeface="Lora"/>
            </a:endParaRPr>
          </a:p>
          <a:p>
            <a:pPr indent="0" lvl="0" marL="0" rtl="0" algn="l">
              <a:spcBef>
                <a:spcPts val="1600"/>
              </a:spcBef>
              <a:spcAft>
                <a:spcPts val="0"/>
              </a:spcAft>
              <a:buClr>
                <a:schemeClr val="dk1"/>
              </a:buClr>
              <a:buSzPts val="1100"/>
              <a:buFont typeface="Arial"/>
              <a:buNone/>
            </a:pPr>
            <a:r>
              <a:rPr lang="en" sz="2400">
                <a:solidFill>
                  <a:srgbClr val="000000"/>
                </a:solidFill>
                <a:latin typeface="Lora"/>
                <a:ea typeface="Lora"/>
                <a:cs typeface="Lora"/>
                <a:sym typeface="Lora"/>
              </a:rPr>
              <a:t>C = 38.71%  →   38.71g</a:t>
            </a:r>
            <a:endParaRPr sz="2400">
              <a:solidFill>
                <a:srgbClr val="000000"/>
              </a:solidFill>
              <a:latin typeface="Lora"/>
              <a:ea typeface="Lora"/>
              <a:cs typeface="Lora"/>
              <a:sym typeface="Lora"/>
            </a:endParaRPr>
          </a:p>
          <a:p>
            <a:pPr indent="0" lvl="0" marL="0" rtl="0" algn="l">
              <a:spcBef>
                <a:spcPts val="1600"/>
              </a:spcBef>
              <a:spcAft>
                <a:spcPts val="0"/>
              </a:spcAft>
              <a:buClr>
                <a:schemeClr val="dk1"/>
              </a:buClr>
              <a:buSzPts val="1100"/>
              <a:buFont typeface="Arial"/>
              <a:buNone/>
            </a:pPr>
            <a:r>
              <a:rPr lang="en" sz="2400">
                <a:solidFill>
                  <a:srgbClr val="000000"/>
                </a:solidFill>
                <a:latin typeface="Lora"/>
                <a:ea typeface="Lora"/>
                <a:cs typeface="Lora"/>
                <a:sym typeface="Lora"/>
              </a:rPr>
              <a:t>H = 9.71 %  </a:t>
            </a:r>
            <a:r>
              <a:rPr lang="en" sz="2400">
                <a:solidFill>
                  <a:schemeClr val="dk1"/>
                </a:solidFill>
                <a:latin typeface="Lora"/>
                <a:ea typeface="Lora"/>
                <a:cs typeface="Lora"/>
                <a:sym typeface="Lora"/>
              </a:rPr>
              <a:t>→</a:t>
            </a:r>
            <a:r>
              <a:rPr lang="en" sz="2400">
                <a:solidFill>
                  <a:srgbClr val="000000"/>
                </a:solidFill>
                <a:latin typeface="Lora"/>
                <a:ea typeface="Lora"/>
                <a:cs typeface="Lora"/>
                <a:sym typeface="Lora"/>
              </a:rPr>
              <a:t>	9.71g</a:t>
            </a:r>
            <a:endParaRPr sz="2400">
              <a:solidFill>
                <a:srgbClr val="000000"/>
              </a:solidFill>
              <a:latin typeface="Lora"/>
              <a:ea typeface="Lora"/>
              <a:cs typeface="Lora"/>
              <a:sym typeface="Lora"/>
            </a:endParaRPr>
          </a:p>
          <a:p>
            <a:pPr indent="0" lvl="0" marL="0" rtl="0" algn="l">
              <a:spcBef>
                <a:spcPts val="1600"/>
              </a:spcBef>
              <a:spcAft>
                <a:spcPts val="0"/>
              </a:spcAft>
              <a:buClr>
                <a:schemeClr val="dk1"/>
              </a:buClr>
              <a:buSzPts val="1100"/>
              <a:buFont typeface="Arial"/>
              <a:buNone/>
            </a:pPr>
            <a:r>
              <a:rPr lang="en" sz="2400">
                <a:solidFill>
                  <a:srgbClr val="000000"/>
                </a:solidFill>
                <a:latin typeface="Lora"/>
                <a:ea typeface="Lora"/>
                <a:cs typeface="Lora"/>
                <a:sym typeface="Lora"/>
              </a:rPr>
              <a:t>O = 51.58% </a:t>
            </a:r>
            <a:r>
              <a:rPr lang="en" sz="2400">
                <a:solidFill>
                  <a:schemeClr val="dk1"/>
                </a:solidFill>
                <a:latin typeface="Lora"/>
                <a:ea typeface="Lora"/>
                <a:cs typeface="Lora"/>
                <a:sym typeface="Lora"/>
              </a:rPr>
              <a:t>→    </a:t>
            </a:r>
            <a:r>
              <a:rPr lang="en" sz="2400">
                <a:solidFill>
                  <a:srgbClr val="000000"/>
                </a:solidFill>
                <a:latin typeface="Lora"/>
                <a:ea typeface="Lora"/>
                <a:cs typeface="Lora"/>
                <a:sym typeface="Lora"/>
              </a:rPr>
              <a:t>51.58g</a:t>
            </a:r>
            <a:endParaRPr sz="2400">
              <a:solidFill>
                <a:srgbClr val="000000"/>
              </a:solidFill>
              <a:latin typeface="Lora"/>
              <a:ea typeface="Lora"/>
              <a:cs typeface="Lora"/>
              <a:sym typeface="Lora"/>
            </a:endParaRPr>
          </a:p>
          <a:p>
            <a:pPr indent="0" lvl="0" marL="0" rtl="0" algn="l">
              <a:spcBef>
                <a:spcPts val="1600"/>
              </a:spcBef>
              <a:spcAft>
                <a:spcPts val="1600"/>
              </a:spcAft>
              <a:buNone/>
            </a:pPr>
            <a:r>
              <a:t/>
            </a:r>
            <a:endParaRPr/>
          </a:p>
        </p:txBody>
      </p:sp>
      <p:sp>
        <p:nvSpPr>
          <p:cNvPr id="183" name="Google Shape;183;p33"/>
          <p:cNvSpPr txBox="1"/>
          <p:nvPr/>
        </p:nvSpPr>
        <p:spPr>
          <a:xfrm>
            <a:off x="4482725" y="396925"/>
            <a:ext cx="4085400" cy="33183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Lora"/>
                <a:ea typeface="Lora"/>
                <a:cs typeface="Lora"/>
                <a:sym typeface="Lora"/>
              </a:rPr>
              <a:t>Convert each to </a:t>
            </a:r>
            <a:r>
              <a:rPr lang="en" sz="2400">
                <a:latin typeface="Lora"/>
                <a:ea typeface="Lora"/>
                <a:cs typeface="Lora"/>
                <a:sym typeface="Lora"/>
              </a:rPr>
              <a:t>moles</a:t>
            </a:r>
            <a:endParaRPr sz="2400">
              <a:latin typeface="Lora"/>
              <a:ea typeface="Lora"/>
              <a:cs typeface="Lora"/>
              <a:sym typeface="Lora"/>
            </a:endParaRPr>
          </a:p>
          <a:p>
            <a:pPr indent="0" lvl="0" marL="0" rtl="0" algn="l">
              <a:spcBef>
                <a:spcPts val="0"/>
              </a:spcBef>
              <a:spcAft>
                <a:spcPts val="0"/>
              </a:spcAft>
              <a:buNone/>
            </a:pPr>
            <a:r>
              <a:rPr lang="en" sz="2400">
                <a:latin typeface="Lora"/>
                <a:ea typeface="Lora"/>
                <a:cs typeface="Lora"/>
                <a:sym typeface="Lora"/>
              </a:rPr>
              <a:t>n = m/MM</a:t>
            </a:r>
            <a:endParaRPr sz="2400">
              <a:latin typeface="Lora"/>
              <a:ea typeface="Lora"/>
              <a:cs typeface="Lora"/>
              <a:sym typeface="Lora"/>
            </a:endParaRPr>
          </a:p>
          <a:p>
            <a:pPr indent="0" lvl="0" marL="0" rtl="0" algn="l">
              <a:spcBef>
                <a:spcPts val="0"/>
              </a:spcBef>
              <a:spcAft>
                <a:spcPts val="0"/>
              </a:spcAft>
              <a:buNone/>
            </a:pPr>
            <a:r>
              <a:t/>
            </a:r>
            <a:endParaRPr sz="2400">
              <a:latin typeface="Lora"/>
              <a:ea typeface="Lora"/>
              <a:cs typeface="Lora"/>
              <a:sym typeface="Lora"/>
            </a:endParaRPr>
          </a:p>
          <a:p>
            <a:pPr indent="0" lvl="0" marL="0" rtl="0" algn="l">
              <a:spcBef>
                <a:spcPts val="0"/>
              </a:spcBef>
              <a:spcAft>
                <a:spcPts val="0"/>
              </a:spcAft>
              <a:buNone/>
            </a:pPr>
            <a:r>
              <a:rPr lang="en" sz="2400">
                <a:latin typeface="Lora"/>
                <a:ea typeface="Lora"/>
                <a:cs typeface="Lora"/>
                <a:sym typeface="Lora"/>
              </a:rPr>
              <a:t>n</a:t>
            </a:r>
            <a:r>
              <a:rPr baseline="-25000" lang="en" sz="2400">
                <a:latin typeface="Lora"/>
                <a:ea typeface="Lora"/>
                <a:cs typeface="Lora"/>
                <a:sym typeface="Lora"/>
              </a:rPr>
              <a:t>c </a:t>
            </a:r>
            <a:r>
              <a:rPr lang="en" sz="2400">
                <a:latin typeface="Lora"/>
                <a:ea typeface="Lora"/>
                <a:cs typeface="Lora"/>
                <a:sym typeface="Lora"/>
              </a:rPr>
              <a:t>= 38.71g/12gmol</a:t>
            </a:r>
            <a:r>
              <a:rPr baseline="30000" lang="en" sz="2400">
                <a:latin typeface="Lora"/>
                <a:ea typeface="Lora"/>
                <a:cs typeface="Lora"/>
                <a:sym typeface="Lora"/>
              </a:rPr>
              <a:t>-1 </a:t>
            </a:r>
            <a:endParaRPr baseline="30000" sz="2400">
              <a:latin typeface="Lora"/>
              <a:ea typeface="Lora"/>
              <a:cs typeface="Lora"/>
              <a:sym typeface="Lora"/>
            </a:endParaRPr>
          </a:p>
          <a:p>
            <a:pPr indent="0" lvl="0" marL="0" rtl="0" algn="l">
              <a:spcBef>
                <a:spcPts val="0"/>
              </a:spcBef>
              <a:spcAft>
                <a:spcPts val="0"/>
              </a:spcAft>
              <a:buNone/>
            </a:pPr>
            <a:r>
              <a:rPr lang="en" sz="2400">
                <a:latin typeface="Lora"/>
                <a:ea typeface="Lora"/>
                <a:cs typeface="Lora"/>
                <a:sym typeface="Lora"/>
              </a:rPr>
              <a:t>    = 3.22 mol</a:t>
            </a:r>
            <a:endParaRPr sz="2400">
              <a:latin typeface="Lora"/>
              <a:ea typeface="Lora"/>
              <a:cs typeface="Lora"/>
              <a:sym typeface="Lora"/>
            </a:endParaRPr>
          </a:p>
          <a:p>
            <a:pPr indent="0" lvl="0" marL="0" rtl="0" algn="l">
              <a:spcBef>
                <a:spcPts val="0"/>
              </a:spcBef>
              <a:spcAft>
                <a:spcPts val="0"/>
              </a:spcAft>
              <a:buNone/>
            </a:pPr>
            <a:r>
              <a:rPr lang="en" sz="2400">
                <a:solidFill>
                  <a:schemeClr val="dk1"/>
                </a:solidFill>
                <a:latin typeface="Lora"/>
                <a:ea typeface="Lora"/>
                <a:cs typeface="Lora"/>
                <a:sym typeface="Lora"/>
              </a:rPr>
              <a:t>n</a:t>
            </a:r>
            <a:r>
              <a:rPr baseline="-25000" lang="en" sz="2400">
                <a:solidFill>
                  <a:schemeClr val="dk1"/>
                </a:solidFill>
                <a:latin typeface="Lora"/>
                <a:ea typeface="Lora"/>
                <a:cs typeface="Lora"/>
                <a:sym typeface="Lora"/>
              </a:rPr>
              <a:t>H </a:t>
            </a:r>
            <a:r>
              <a:rPr lang="en" sz="2400">
                <a:solidFill>
                  <a:schemeClr val="dk1"/>
                </a:solidFill>
                <a:latin typeface="Lora"/>
                <a:ea typeface="Lora"/>
                <a:cs typeface="Lora"/>
                <a:sym typeface="Lora"/>
              </a:rPr>
              <a:t>= 9.71g/1.01gmol</a:t>
            </a:r>
            <a:r>
              <a:rPr baseline="30000" lang="en" sz="2400">
                <a:solidFill>
                  <a:schemeClr val="dk1"/>
                </a:solidFill>
                <a:latin typeface="Lora"/>
                <a:ea typeface="Lora"/>
                <a:cs typeface="Lora"/>
                <a:sym typeface="Lora"/>
              </a:rPr>
              <a:t>-1 </a:t>
            </a:r>
            <a:endParaRPr baseline="30000" sz="2400">
              <a:solidFill>
                <a:schemeClr val="dk1"/>
              </a:solidFill>
              <a:latin typeface="Lora"/>
              <a:ea typeface="Lora"/>
              <a:cs typeface="Lora"/>
              <a:sym typeface="Lora"/>
            </a:endParaRPr>
          </a:p>
          <a:p>
            <a:pPr indent="0" lvl="0" marL="0" rtl="0" algn="l">
              <a:spcBef>
                <a:spcPts val="0"/>
              </a:spcBef>
              <a:spcAft>
                <a:spcPts val="0"/>
              </a:spcAft>
              <a:buNone/>
            </a:pPr>
            <a:r>
              <a:rPr lang="en" sz="2400">
                <a:solidFill>
                  <a:schemeClr val="dk1"/>
                </a:solidFill>
                <a:latin typeface="Lora"/>
                <a:ea typeface="Lora"/>
                <a:cs typeface="Lora"/>
                <a:sym typeface="Lora"/>
              </a:rPr>
              <a:t>    = 9.61</a:t>
            </a:r>
            <a:endParaRPr sz="2400">
              <a:solidFill>
                <a:schemeClr val="dk1"/>
              </a:solidFill>
              <a:latin typeface="Lora"/>
              <a:ea typeface="Lora"/>
              <a:cs typeface="Lora"/>
              <a:sym typeface="Lora"/>
            </a:endParaRPr>
          </a:p>
          <a:p>
            <a:pPr indent="0" lvl="0" marL="0" rtl="0" algn="l">
              <a:spcBef>
                <a:spcPts val="0"/>
              </a:spcBef>
              <a:spcAft>
                <a:spcPts val="0"/>
              </a:spcAft>
              <a:buNone/>
            </a:pPr>
            <a:r>
              <a:rPr lang="en" sz="2400">
                <a:solidFill>
                  <a:schemeClr val="dk1"/>
                </a:solidFill>
                <a:latin typeface="Lora"/>
                <a:ea typeface="Lora"/>
                <a:cs typeface="Lora"/>
                <a:sym typeface="Lora"/>
              </a:rPr>
              <a:t>n</a:t>
            </a:r>
            <a:r>
              <a:rPr baseline="-25000" lang="en" sz="2400">
                <a:solidFill>
                  <a:schemeClr val="dk1"/>
                </a:solidFill>
                <a:latin typeface="Lora"/>
                <a:ea typeface="Lora"/>
                <a:cs typeface="Lora"/>
                <a:sym typeface="Lora"/>
              </a:rPr>
              <a:t>O </a:t>
            </a:r>
            <a:r>
              <a:rPr lang="en" sz="2400">
                <a:solidFill>
                  <a:schemeClr val="dk1"/>
                </a:solidFill>
                <a:latin typeface="Lora"/>
                <a:ea typeface="Lora"/>
                <a:cs typeface="Lora"/>
                <a:sym typeface="Lora"/>
              </a:rPr>
              <a:t>= 51.58g/16.00gmol</a:t>
            </a:r>
            <a:r>
              <a:rPr baseline="30000" lang="en" sz="2400">
                <a:solidFill>
                  <a:schemeClr val="dk1"/>
                </a:solidFill>
                <a:latin typeface="Lora"/>
                <a:ea typeface="Lora"/>
                <a:cs typeface="Lora"/>
                <a:sym typeface="Lora"/>
              </a:rPr>
              <a:t>-1 </a:t>
            </a:r>
            <a:endParaRPr baseline="30000" sz="24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rPr lang="en" sz="2400">
                <a:solidFill>
                  <a:schemeClr val="dk1"/>
                </a:solidFill>
                <a:latin typeface="Lora"/>
                <a:ea typeface="Lora"/>
                <a:cs typeface="Lora"/>
                <a:sym typeface="Lora"/>
              </a:rPr>
              <a:t>     = 3.22</a:t>
            </a:r>
            <a:endParaRPr sz="2400">
              <a:solidFill>
                <a:schemeClr val="dk1"/>
              </a:solidFill>
              <a:latin typeface="Lora"/>
              <a:ea typeface="Lora"/>
              <a:cs typeface="Lora"/>
              <a:sym typeface="Lora"/>
            </a:endParaRPr>
          </a:p>
        </p:txBody>
      </p:sp>
      <p:sp>
        <p:nvSpPr>
          <p:cNvPr id="184" name="Google Shape;184;p33"/>
          <p:cNvSpPr txBox="1"/>
          <p:nvPr/>
        </p:nvSpPr>
        <p:spPr>
          <a:xfrm>
            <a:off x="348000" y="3896900"/>
            <a:ext cx="8430900" cy="1293000"/>
          </a:xfrm>
          <a:prstGeom prst="rect">
            <a:avLst/>
          </a:prstGeom>
          <a:noFill/>
          <a:ln cap="flat" cmpd="sng" w="2857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Lora"/>
                <a:ea typeface="Lora"/>
                <a:cs typeface="Lora"/>
                <a:sym typeface="Lora"/>
              </a:rPr>
              <a:t>You aren’t at a chemical formula yet, but you do have mole ratios. </a:t>
            </a:r>
            <a:endParaRPr b="1" sz="1800">
              <a:solidFill>
                <a:schemeClr val="dk1"/>
              </a:solidFill>
              <a:latin typeface="Lora"/>
              <a:ea typeface="Lora"/>
              <a:cs typeface="Lora"/>
              <a:sym typeface="Lora"/>
            </a:endParaRPr>
          </a:p>
          <a:p>
            <a:pPr indent="0" lvl="0" marL="0" rtl="0" algn="l">
              <a:spcBef>
                <a:spcPts val="0"/>
              </a:spcBef>
              <a:spcAft>
                <a:spcPts val="0"/>
              </a:spcAft>
              <a:buNone/>
            </a:pPr>
            <a:r>
              <a:rPr b="1" lang="en" sz="1800" u="sng">
                <a:solidFill>
                  <a:schemeClr val="dk1"/>
                </a:solidFill>
                <a:latin typeface="Lora"/>
                <a:ea typeface="Lora"/>
                <a:cs typeface="Lora"/>
                <a:sym typeface="Lora"/>
              </a:rPr>
              <a:t>Discuss</a:t>
            </a:r>
            <a:r>
              <a:rPr b="1" lang="en" sz="1800">
                <a:solidFill>
                  <a:schemeClr val="dk1"/>
                </a:solidFill>
                <a:latin typeface="Lora"/>
                <a:ea typeface="Lora"/>
                <a:cs typeface="Lora"/>
                <a:sym typeface="Lora"/>
              </a:rPr>
              <a:t> as a group how you could use them to determine the empirical formula (lowest whole number ratio), then continue to the next slides for some guidance! </a:t>
            </a:r>
            <a:endParaRPr b="1" sz="1800">
              <a:solidFill>
                <a:schemeClr val="dk1"/>
              </a:solidFill>
              <a:latin typeface="Lora"/>
              <a:ea typeface="Lora"/>
              <a:cs typeface="Lora"/>
              <a:sym typeface="Lor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88" name="Shape 188"/>
        <p:cNvGrpSpPr/>
        <p:nvPr/>
      </p:nvGrpSpPr>
      <p:grpSpPr>
        <a:xfrm>
          <a:off x="0" y="0"/>
          <a:ext cx="0" cy="0"/>
          <a:chOff x="0" y="0"/>
          <a:chExt cx="0" cy="0"/>
        </a:xfrm>
      </p:grpSpPr>
      <p:sp>
        <p:nvSpPr>
          <p:cNvPr id="189" name="Google Shape;189;p34"/>
          <p:cNvSpPr txBox="1"/>
          <p:nvPr>
            <p:ph type="title"/>
          </p:nvPr>
        </p:nvSpPr>
        <p:spPr>
          <a:xfrm>
            <a:off x="311700" y="8615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latin typeface="Lora"/>
                <a:ea typeface="Lora"/>
                <a:cs typeface="Lora"/>
                <a:sym typeface="Lora"/>
              </a:rPr>
              <a:t>You now have a molar ratio of the </a:t>
            </a:r>
            <a:r>
              <a:rPr lang="en" sz="2100">
                <a:latin typeface="Lora"/>
                <a:ea typeface="Lora"/>
                <a:cs typeface="Lora"/>
                <a:sym typeface="Lora"/>
              </a:rPr>
              <a:t>elements:</a:t>
            </a:r>
            <a:endParaRPr sz="2100">
              <a:latin typeface="Lora"/>
              <a:ea typeface="Lora"/>
              <a:cs typeface="Lora"/>
              <a:sym typeface="Lora"/>
            </a:endParaRPr>
          </a:p>
        </p:txBody>
      </p:sp>
      <p:sp>
        <p:nvSpPr>
          <p:cNvPr id="190" name="Google Shape;190;p34"/>
          <p:cNvSpPr txBox="1"/>
          <p:nvPr>
            <p:ph idx="1" type="body"/>
          </p:nvPr>
        </p:nvSpPr>
        <p:spPr>
          <a:xfrm>
            <a:off x="311700" y="1569025"/>
            <a:ext cx="85206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00"/>
                </a:solidFill>
              </a:rPr>
              <a:t>  </a:t>
            </a:r>
            <a:r>
              <a:rPr lang="en">
                <a:solidFill>
                  <a:srgbClr val="000000"/>
                </a:solidFill>
                <a:latin typeface="Lora"/>
                <a:ea typeface="Lora"/>
                <a:cs typeface="Lora"/>
                <a:sym typeface="Lora"/>
              </a:rPr>
              <a:t>C   :    H   :    O </a:t>
            </a:r>
            <a:endParaRPr>
              <a:solidFill>
                <a:srgbClr val="000000"/>
              </a:solidFill>
              <a:latin typeface="Lora"/>
              <a:ea typeface="Lora"/>
              <a:cs typeface="Lora"/>
              <a:sym typeface="Lora"/>
            </a:endParaRPr>
          </a:p>
          <a:p>
            <a:pPr indent="0" lvl="0" marL="0" rtl="0" algn="ctr">
              <a:spcBef>
                <a:spcPts val="1600"/>
              </a:spcBef>
              <a:spcAft>
                <a:spcPts val="0"/>
              </a:spcAft>
              <a:buNone/>
            </a:pPr>
            <a:r>
              <a:rPr lang="en">
                <a:solidFill>
                  <a:srgbClr val="000000"/>
                </a:solidFill>
                <a:latin typeface="Lora"/>
                <a:ea typeface="Lora"/>
                <a:cs typeface="Lora"/>
                <a:sym typeface="Lora"/>
              </a:rPr>
              <a:t>3.22:  9.61  : 3.22</a:t>
            </a:r>
            <a:endParaRPr>
              <a:solidFill>
                <a:srgbClr val="000000"/>
              </a:solidFill>
              <a:latin typeface="Lora"/>
              <a:ea typeface="Lora"/>
              <a:cs typeface="Lora"/>
              <a:sym typeface="Lora"/>
            </a:endParaRPr>
          </a:p>
          <a:p>
            <a:pPr indent="0" lvl="0" marL="0" rtl="0" algn="l">
              <a:spcBef>
                <a:spcPts val="1600"/>
              </a:spcBef>
              <a:spcAft>
                <a:spcPts val="1600"/>
              </a:spcAft>
              <a:buNone/>
            </a:pPr>
            <a:r>
              <a:rPr lang="en" sz="1900">
                <a:solidFill>
                  <a:srgbClr val="000000"/>
                </a:solidFill>
                <a:latin typeface="Lora"/>
                <a:ea typeface="Lora"/>
                <a:cs typeface="Lora"/>
                <a:sym typeface="Lora"/>
              </a:rPr>
              <a:t>Numbers in compound formulas are always whole numbers though. What can you do to get whole numbers? Think before going to next slide! </a:t>
            </a:r>
            <a:endParaRPr sz="1900">
              <a:solidFill>
                <a:srgbClr val="000000"/>
              </a:solidFill>
              <a:latin typeface="Lora"/>
              <a:ea typeface="Lora"/>
              <a:cs typeface="Lora"/>
              <a:sym typeface="Lora"/>
            </a:endParaRPr>
          </a:p>
        </p:txBody>
      </p:sp>
      <p:sp>
        <p:nvSpPr>
          <p:cNvPr id="191" name="Google Shape;191;p34"/>
          <p:cNvSpPr txBox="1"/>
          <p:nvPr>
            <p:ph type="title"/>
          </p:nvPr>
        </p:nvSpPr>
        <p:spPr>
          <a:xfrm>
            <a:off x="384150" y="154125"/>
            <a:ext cx="8520600" cy="5727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Lora"/>
                <a:ea typeface="Lora"/>
                <a:cs typeface="Lora"/>
                <a:sym typeface="Lora"/>
              </a:rPr>
              <a:t>Explore: Problem 2 - Empirical formulas from Mass Data</a:t>
            </a:r>
            <a:endParaRPr>
              <a:latin typeface="Lora"/>
              <a:ea typeface="Lora"/>
              <a:cs typeface="Lora"/>
              <a:sym typeface="Lor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EF2F2"/>
        </a:solidFill>
      </p:bgPr>
    </p:bg>
    <p:spTree>
      <p:nvGrpSpPr>
        <p:cNvPr id="195" name="Shape 195"/>
        <p:cNvGrpSpPr/>
        <p:nvPr/>
      </p:nvGrpSpPr>
      <p:grpSpPr>
        <a:xfrm>
          <a:off x="0" y="0"/>
          <a:ext cx="0" cy="0"/>
          <a:chOff x="0" y="0"/>
          <a:chExt cx="0" cy="0"/>
        </a:xfrm>
      </p:grpSpPr>
      <p:sp>
        <p:nvSpPr>
          <p:cNvPr id="196" name="Google Shape;196;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ora"/>
                <a:ea typeface="Lora"/>
                <a:cs typeface="Lora"/>
                <a:sym typeface="Lora"/>
              </a:rPr>
              <a:t>Solution</a:t>
            </a:r>
            <a:endParaRPr>
              <a:latin typeface="Lora"/>
              <a:ea typeface="Lora"/>
              <a:cs typeface="Lora"/>
              <a:sym typeface="Lora"/>
            </a:endParaRPr>
          </a:p>
        </p:txBody>
      </p:sp>
      <p:sp>
        <p:nvSpPr>
          <p:cNvPr id="197" name="Google Shape;197;p3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latin typeface="Lora"/>
                <a:ea typeface="Lora"/>
                <a:cs typeface="Lora"/>
                <a:sym typeface="Lora"/>
              </a:rPr>
              <a:t>C: H : O </a:t>
            </a:r>
            <a:endParaRPr>
              <a:solidFill>
                <a:srgbClr val="000000"/>
              </a:solidFill>
              <a:latin typeface="Lora"/>
              <a:ea typeface="Lora"/>
              <a:cs typeface="Lora"/>
              <a:sym typeface="Lora"/>
            </a:endParaRPr>
          </a:p>
          <a:p>
            <a:pPr indent="0" lvl="0" marL="0" rtl="0" algn="l">
              <a:spcBef>
                <a:spcPts val="1600"/>
              </a:spcBef>
              <a:spcAft>
                <a:spcPts val="0"/>
              </a:spcAft>
              <a:buNone/>
            </a:pPr>
            <a:r>
              <a:rPr lang="en">
                <a:solidFill>
                  <a:srgbClr val="000000"/>
                </a:solidFill>
                <a:latin typeface="Lora"/>
                <a:ea typeface="Lora"/>
                <a:cs typeface="Lora"/>
                <a:sym typeface="Lora"/>
              </a:rPr>
              <a:t>3.22:  9.61  : 3.22</a:t>
            </a:r>
            <a:endParaRPr>
              <a:solidFill>
                <a:srgbClr val="000000"/>
              </a:solidFill>
              <a:latin typeface="Lora"/>
              <a:ea typeface="Lora"/>
              <a:cs typeface="Lora"/>
              <a:sym typeface="Lora"/>
            </a:endParaRPr>
          </a:p>
          <a:p>
            <a:pPr indent="0" lvl="0" marL="0" rtl="0" algn="l">
              <a:spcBef>
                <a:spcPts val="1600"/>
              </a:spcBef>
              <a:spcAft>
                <a:spcPts val="0"/>
              </a:spcAft>
              <a:buNone/>
            </a:pPr>
            <a:r>
              <a:rPr lang="en">
                <a:solidFill>
                  <a:srgbClr val="000000"/>
                </a:solidFill>
                <a:latin typeface="Lora"/>
                <a:ea typeface="Lora"/>
                <a:cs typeface="Lora"/>
                <a:sym typeface="Lora"/>
              </a:rPr>
              <a:t>Divide by smallest # to get to whole number ratio. Round the 2.98 to 3. Recall this was experimental data so it won’t give perfect results. 2.98 is very close to 3 within experimental error! </a:t>
            </a:r>
            <a:endParaRPr>
              <a:solidFill>
                <a:srgbClr val="000000"/>
              </a:solidFill>
              <a:latin typeface="Lora"/>
              <a:ea typeface="Lora"/>
              <a:cs typeface="Lora"/>
              <a:sym typeface="Lora"/>
            </a:endParaRPr>
          </a:p>
          <a:p>
            <a:pPr indent="0" lvl="0" marL="0" rtl="0" algn="l">
              <a:spcBef>
                <a:spcPts val="1600"/>
              </a:spcBef>
              <a:spcAft>
                <a:spcPts val="1600"/>
              </a:spcAft>
              <a:buNone/>
            </a:pPr>
            <a:r>
              <a:rPr lang="en">
                <a:solidFill>
                  <a:srgbClr val="000000"/>
                </a:solidFill>
                <a:latin typeface="Lora"/>
                <a:ea typeface="Lora"/>
                <a:cs typeface="Lora"/>
                <a:sym typeface="Lora"/>
              </a:rPr>
              <a:t>Final empirical formula:  CH</a:t>
            </a:r>
            <a:r>
              <a:rPr baseline="-25000" lang="en">
                <a:solidFill>
                  <a:srgbClr val="000000"/>
                </a:solidFill>
                <a:latin typeface="Lora"/>
                <a:ea typeface="Lora"/>
                <a:cs typeface="Lora"/>
                <a:sym typeface="Lora"/>
              </a:rPr>
              <a:t>3</a:t>
            </a:r>
            <a:r>
              <a:rPr lang="en">
                <a:solidFill>
                  <a:srgbClr val="000000"/>
                </a:solidFill>
                <a:latin typeface="Lora"/>
                <a:ea typeface="Lora"/>
                <a:cs typeface="Lora"/>
                <a:sym typeface="Lora"/>
              </a:rPr>
              <a:t>O</a:t>
            </a:r>
            <a:endParaRPr>
              <a:solidFill>
                <a:srgbClr val="000000"/>
              </a:solidFill>
              <a:latin typeface="Lora"/>
              <a:ea typeface="Lora"/>
              <a:cs typeface="Lora"/>
              <a:sym typeface="Lor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6"/>
          <p:cNvSpPr txBox="1"/>
          <p:nvPr>
            <p:ph type="title"/>
          </p:nvPr>
        </p:nvSpPr>
        <p:spPr>
          <a:xfrm>
            <a:off x="311700" y="445025"/>
            <a:ext cx="8520600" cy="9003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Lora"/>
                <a:ea typeface="Lora"/>
                <a:cs typeface="Lora"/>
                <a:sym typeface="Lora"/>
              </a:rPr>
              <a:t>Explore: Problem 3 - </a:t>
            </a:r>
            <a:r>
              <a:rPr lang="en" sz="2000">
                <a:latin typeface="Lora"/>
                <a:ea typeface="Lora"/>
                <a:cs typeface="Lora"/>
                <a:sym typeface="Lora"/>
              </a:rPr>
              <a:t>Determine molecular formula given the molecular mass of the compound. </a:t>
            </a:r>
            <a:endParaRPr sz="2000">
              <a:latin typeface="Lora"/>
              <a:ea typeface="Lora"/>
              <a:cs typeface="Lora"/>
              <a:sym typeface="Lora"/>
            </a:endParaRPr>
          </a:p>
        </p:txBody>
      </p:sp>
      <p:sp>
        <p:nvSpPr>
          <p:cNvPr id="203" name="Google Shape;203;p36"/>
          <p:cNvSpPr txBox="1"/>
          <p:nvPr>
            <p:ph idx="1" type="body"/>
          </p:nvPr>
        </p:nvSpPr>
        <p:spPr>
          <a:xfrm>
            <a:off x="311700" y="142602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latin typeface="Lora"/>
                <a:ea typeface="Lora"/>
                <a:cs typeface="Lora"/>
                <a:sym typeface="Lora"/>
              </a:rPr>
              <a:t>Reminder: </a:t>
            </a:r>
            <a:r>
              <a:rPr lang="en">
                <a:solidFill>
                  <a:srgbClr val="000000"/>
                </a:solidFill>
                <a:latin typeface="Lora"/>
                <a:ea typeface="Lora"/>
                <a:cs typeface="Lora"/>
                <a:sym typeface="Lora"/>
              </a:rPr>
              <a:t>Empirical formula is CH</a:t>
            </a:r>
            <a:r>
              <a:rPr baseline="-25000" lang="en">
                <a:solidFill>
                  <a:srgbClr val="000000"/>
                </a:solidFill>
                <a:latin typeface="Lora"/>
                <a:ea typeface="Lora"/>
                <a:cs typeface="Lora"/>
                <a:sym typeface="Lora"/>
              </a:rPr>
              <a:t>3</a:t>
            </a:r>
            <a:r>
              <a:rPr lang="en">
                <a:solidFill>
                  <a:srgbClr val="000000"/>
                </a:solidFill>
                <a:latin typeface="Lora"/>
                <a:ea typeface="Lora"/>
                <a:cs typeface="Lora"/>
                <a:sym typeface="Lora"/>
              </a:rPr>
              <a:t>O.  Recall the difference between empirical and molecular formulas! </a:t>
            </a:r>
            <a:endParaRPr>
              <a:solidFill>
                <a:srgbClr val="000000"/>
              </a:solidFill>
              <a:latin typeface="Lora"/>
              <a:ea typeface="Lora"/>
              <a:cs typeface="Lora"/>
              <a:sym typeface="Lora"/>
            </a:endParaRPr>
          </a:p>
          <a:p>
            <a:pPr indent="0" lvl="0" marL="0" rtl="0" algn="l">
              <a:spcBef>
                <a:spcPts val="1600"/>
              </a:spcBef>
              <a:spcAft>
                <a:spcPts val="0"/>
              </a:spcAft>
              <a:buNone/>
            </a:pPr>
            <a:r>
              <a:rPr lang="en">
                <a:solidFill>
                  <a:srgbClr val="000000"/>
                </a:solidFill>
                <a:latin typeface="Lora"/>
                <a:ea typeface="Lora"/>
                <a:cs typeface="Lora"/>
                <a:sym typeface="Lora"/>
              </a:rPr>
              <a:t>Solve: If the molecular mass is 93.12 g/mol, what is the molecular formula?</a:t>
            </a:r>
            <a:endParaRPr>
              <a:solidFill>
                <a:srgbClr val="000000"/>
              </a:solidFill>
              <a:latin typeface="Lora"/>
              <a:ea typeface="Lora"/>
              <a:cs typeface="Lora"/>
              <a:sym typeface="Lora"/>
            </a:endParaRPr>
          </a:p>
          <a:p>
            <a:pPr indent="0" lvl="0" marL="0" rtl="0" algn="l">
              <a:spcBef>
                <a:spcPts val="1600"/>
              </a:spcBef>
              <a:spcAft>
                <a:spcPts val="0"/>
              </a:spcAft>
              <a:buNone/>
            </a:pPr>
            <a:r>
              <a:rPr lang="en">
                <a:solidFill>
                  <a:srgbClr val="000000"/>
                </a:solidFill>
                <a:latin typeface="Lora"/>
                <a:ea typeface="Lora"/>
                <a:cs typeface="Lora"/>
                <a:sym typeface="Lora"/>
              </a:rPr>
              <a:t>Discuss how you could use this information together with the empirical formula and try to solve. Check in with your instructor to see if you are correct!  </a:t>
            </a:r>
            <a:endParaRPr>
              <a:latin typeface="Lora"/>
              <a:ea typeface="Lora"/>
              <a:cs typeface="Lora"/>
              <a:sym typeface="Lora"/>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204" name="Google Shape;204;p36"/>
          <p:cNvPicPr preferRelativeResize="0"/>
          <p:nvPr/>
        </p:nvPicPr>
        <p:blipFill>
          <a:blip r:embed="rId3">
            <a:alphaModFix/>
          </a:blip>
          <a:stretch>
            <a:fillRect/>
          </a:stretch>
        </p:blipFill>
        <p:spPr>
          <a:xfrm>
            <a:off x="4102200" y="3826875"/>
            <a:ext cx="939600" cy="9396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7"/>
          <p:cNvSpPr txBox="1"/>
          <p:nvPr>
            <p:ph type="title"/>
          </p:nvPr>
        </p:nvSpPr>
        <p:spPr>
          <a:xfrm>
            <a:off x="311700" y="445025"/>
            <a:ext cx="8520600" cy="9693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Lora"/>
                <a:ea typeface="Lora"/>
                <a:cs typeface="Lora"/>
                <a:sym typeface="Lora"/>
              </a:rPr>
              <a:t>Explore: Problem 4 - </a:t>
            </a:r>
            <a:r>
              <a:rPr lang="en" sz="2000">
                <a:latin typeface="Lora"/>
                <a:ea typeface="Lora"/>
                <a:cs typeface="Lora"/>
                <a:sym typeface="Lora"/>
              </a:rPr>
              <a:t>Determine the formula, using the same process, </a:t>
            </a:r>
            <a:r>
              <a:rPr lang="en" sz="2000">
                <a:latin typeface="Lora"/>
                <a:ea typeface="Lora"/>
                <a:cs typeface="Lora"/>
                <a:sym typeface="Lora"/>
              </a:rPr>
              <a:t>for </a:t>
            </a:r>
            <a:r>
              <a:rPr lang="en" sz="2000">
                <a:latin typeface="Lora"/>
                <a:ea typeface="Lora"/>
                <a:cs typeface="Lora"/>
                <a:sym typeface="Lora"/>
              </a:rPr>
              <a:t>a compound containing 69.9% Fe and 30.1% O.</a:t>
            </a:r>
            <a:r>
              <a:rPr lang="en" sz="2400">
                <a:latin typeface="Lora"/>
                <a:ea typeface="Lora"/>
                <a:cs typeface="Lora"/>
                <a:sym typeface="Lora"/>
              </a:rPr>
              <a:t> </a:t>
            </a:r>
            <a:endParaRPr sz="2400">
              <a:latin typeface="Lora"/>
              <a:ea typeface="Lora"/>
              <a:cs typeface="Lora"/>
              <a:sym typeface="Lor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8"/>
          <p:cNvSpPr txBox="1"/>
          <p:nvPr>
            <p:ph type="title"/>
          </p:nvPr>
        </p:nvSpPr>
        <p:spPr>
          <a:xfrm>
            <a:off x="266475" y="264150"/>
            <a:ext cx="8520600" cy="8979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Lora"/>
                <a:ea typeface="Lora"/>
                <a:cs typeface="Lora"/>
                <a:sym typeface="Lora"/>
              </a:rPr>
              <a:t>Explore: Problem 4 - </a:t>
            </a:r>
            <a:r>
              <a:rPr lang="en" sz="2000">
                <a:latin typeface="Lora"/>
                <a:ea typeface="Lora"/>
                <a:cs typeface="Lora"/>
                <a:sym typeface="Lora"/>
              </a:rPr>
              <a:t>If you found a ratio of 1: 1.5 for Fe:O (this is a correct step towards the final answer):</a:t>
            </a:r>
            <a:endParaRPr sz="2300"/>
          </a:p>
        </p:txBody>
      </p:sp>
      <p:sp>
        <p:nvSpPr>
          <p:cNvPr id="215" name="Google Shape;215;p38"/>
          <p:cNvSpPr txBox="1"/>
          <p:nvPr/>
        </p:nvSpPr>
        <p:spPr>
          <a:xfrm>
            <a:off x="339000" y="1826350"/>
            <a:ext cx="8466000" cy="168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300">
                <a:solidFill>
                  <a:schemeClr val="dk1"/>
                </a:solidFill>
                <a:latin typeface="Lora"/>
                <a:ea typeface="Lora"/>
                <a:cs typeface="Lora"/>
                <a:sym typeface="Lora"/>
              </a:rPr>
              <a:t>S</a:t>
            </a:r>
            <a:r>
              <a:rPr lang="en" sz="2300">
                <a:solidFill>
                  <a:schemeClr val="dk1"/>
                </a:solidFill>
                <a:latin typeface="Lora"/>
                <a:ea typeface="Lora"/>
                <a:cs typeface="Lora"/>
                <a:sym typeface="Lora"/>
              </a:rPr>
              <a:t>ince 1.5 atoms of oxygen isn’t possible, how can this ratio be maintained in the final empirical formula without having 0.5 of an atom? Show your work!</a:t>
            </a:r>
            <a:endParaRPr sz="1800">
              <a:solidFill>
                <a:schemeClr val="dk2"/>
              </a:solidFill>
              <a:latin typeface="Lora"/>
              <a:ea typeface="Lora"/>
              <a:cs typeface="Lora"/>
              <a:sym typeface="Lora"/>
            </a:endParaRPr>
          </a:p>
        </p:txBody>
      </p:sp>
      <p:pic>
        <p:nvPicPr>
          <p:cNvPr id="216" name="Google Shape;216;p38"/>
          <p:cNvPicPr preferRelativeResize="0"/>
          <p:nvPr/>
        </p:nvPicPr>
        <p:blipFill>
          <a:blip r:embed="rId3">
            <a:alphaModFix/>
          </a:blip>
          <a:stretch>
            <a:fillRect/>
          </a:stretch>
        </p:blipFill>
        <p:spPr>
          <a:xfrm>
            <a:off x="4102200" y="3826875"/>
            <a:ext cx="939600" cy="9396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9"/>
          <p:cNvSpPr txBox="1"/>
          <p:nvPr>
            <p:ph type="title"/>
          </p:nvPr>
        </p:nvSpPr>
        <p:spPr>
          <a:xfrm>
            <a:off x="322350" y="1779525"/>
            <a:ext cx="8499300" cy="10215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sz="2600">
                <a:latin typeface="Lora"/>
                <a:ea typeface="Lora"/>
                <a:cs typeface="Lora"/>
                <a:sym typeface="Lora"/>
              </a:rPr>
              <a:t>Part 3: Apply </a:t>
            </a:r>
            <a:endParaRPr sz="2600">
              <a:latin typeface="Lora"/>
              <a:ea typeface="Lora"/>
              <a:cs typeface="Lora"/>
              <a:sym typeface="Lora"/>
            </a:endParaRPr>
          </a:p>
          <a:p>
            <a:pPr indent="0" lvl="0" marL="0" rtl="0" algn="ctr">
              <a:spcBef>
                <a:spcPts val="0"/>
              </a:spcBef>
              <a:spcAft>
                <a:spcPts val="0"/>
              </a:spcAft>
              <a:buNone/>
            </a:pPr>
            <a:r>
              <a:rPr lang="en" sz="2600">
                <a:latin typeface="Lora"/>
                <a:ea typeface="Lora"/>
                <a:cs typeface="Lora"/>
                <a:sym typeface="Lora"/>
              </a:rPr>
              <a:t>(20-40 minutes; includes home practice time)</a:t>
            </a:r>
            <a:endParaRPr sz="2200">
              <a:latin typeface="Lora"/>
              <a:ea typeface="Lora"/>
              <a:cs typeface="Lora"/>
              <a:sym typeface="Lora"/>
            </a:endParaRPr>
          </a:p>
        </p:txBody>
      </p:sp>
      <p:sp>
        <p:nvSpPr>
          <p:cNvPr id="222" name="Google Shape;222;p39"/>
          <p:cNvSpPr/>
          <p:nvPr/>
        </p:nvSpPr>
        <p:spPr>
          <a:xfrm>
            <a:off x="0" y="-15100"/>
            <a:ext cx="9144000" cy="16392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39"/>
          <p:cNvSpPr/>
          <p:nvPr/>
        </p:nvSpPr>
        <p:spPr>
          <a:xfrm>
            <a:off x="-18100" y="2988300"/>
            <a:ext cx="9162000" cy="2209500"/>
          </a:xfrm>
          <a:prstGeom prst="rect">
            <a:avLst/>
          </a:prstGeom>
          <a:solidFill>
            <a:srgbClr val="80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0"/>
          <p:cNvSpPr txBox="1"/>
          <p:nvPr>
            <p:ph type="title"/>
          </p:nvPr>
        </p:nvSpPr>
        <p:spPr>
          <a:xfrm>
            <a:off x="311700" y="445025"/>
            <a:ext cx="8520600" cy="5727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ora"/>
                <a:ea typeface="Lora"/>
                <a:cs typeface="Lora"/>
                <a:sym typeface="Lora"/>
              </a:rPr>
              <a:t>Apply: Check your understanding </a:t>
            </a:r>
            <a:endParaRPr>
              <a:latin typeface="Lora"/>
              <a:ea typeface="Lora"/>
              <a:cs typeface="Lora"/>
              <a:sym typeface="Lora"/>
            </a:endParaRPr>
          </a:p>
        </p:txBody>
      </p:sp>
      <p:sp>
        <p:nvSpPr>
          <p:cNvPr id="229" name="Google Shape;229;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600">
                <a:solidFill>
                  <a:schemeClr val="dk1"/>
                </a:solidFill>
                <a:latin typeface="Lora"/>
                <a:ea typeface="Lora"/>
                <a:cs typeface="Lora"/>
                <a:sym typeface="Lora"/>
              </a:rPr>
              <a:t>1. A compound is 27.5% carbon and 72.5.0% oxygen by mass. What is its empirical formula?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1600">
                <a:solidFill>
                  <a:schemeClr val="dk1"/>
                </a:solidFill>
                <a:latin typeface="Lora"/>
                <a:ea typeface="Lora"/>
                <a:cs typeface="Lora"/>
                <a:sym typeface="Lora"/>
              </a:rPr>
              <a:t>   a) CO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1600">
                <a:solidFill>
                  <a:schemeClr val="dk1"/>
                </a:solidFill>
                <a:latin typeface="Lora"/>
                <a:ea typeface="Lora"/>
                <a:cs typeface="Lora"/>
                <a:sym typeface="Lora"/>
              </a:rPr>
              <a:t>   b) CO₂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1600">
                <a:solidFill>
                  <a:schemeClr val="dk1"/>
                </a:solidFill>
                <a:latin typeface="Lora"/>
                <a:ea typeface="Lora"/>
                <a:cs typeface="Lora"/>
                <a:sym typeface="Lora"/>
              </a:rPr>
              <a:t>   c) C₂O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1600">
                <a:solidFill>
                  <a:schemeClr val="dk1"/>
                </a:solidFill>
                <a:latin typeface="Lora"/>
                <a:ea typeface="Lora"/>
                <a:cs typeface="Lora"/>
                <a:sym typeface="Lora"/>
              </a:rPr>
              <a:t>   d) C₃O₂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 sz="1600">
                <a:solidFill>
                  <a:srgbClr val="9900FF"/>
                </a:solidFill>
                <a:latin typeface="Lora"/>
                <a:ea typeface="Lora"/>
                <a:cs typeface="Lora"/>
                <a:sym typeface="Lora"/>
              </a:rPr>
              <a:t>Room to show your work: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2400">
                <a:solidFill>
                  <a:schemeClr val="dk1"/>
                </a:solidFill>
                <a:latin typeface="Lora"/>
                <a:ea typeface="Lora"/>
                <a:cs typeface="Lora"/>
                <a:sym typeface="Lora"/>
              </a:rPr>
              <a:t>Answer: move box to check</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 sz="1600">
                <a:solidFill>
                  <a:schemeClr val="dk1"/>
                </a:solidFill>
                <a:latin typeface="Lora"/>
                <a:ea typeface="Lora"/>
                <a:cs typeface="Lora"/>
                <a:sym typeface="Lora"/>
              </a:rPr>
              <a:t>b) CO₂ ✅ (Solution: 27.5g C ÷ 12.01 ≈ 2.29 mol; 60g O ÷ 16.00 ≈ 4.53 mol → ratio 1:1.98 ≈ 1:2 ratio of C:O. Therefore, CO₂)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p:txBody>
      </p:sp>
      <p:sp>
        <p:nvSpPr>
          <p:cNvPr id="230" name="Google Shape;230;p40"/>
          <p:cNvSpPr/>
          <p:nvPr/>
        </p:nvSpPr>
        <p:spPr>
          <a:xfrm>
            <a:off x="220800" y="3824425"/>
            <a:ext cx="8702400" cy="89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1"/>
          <p:cNvSpPr txBox="1"/>
          <p:nvPr>
            <p:ph type="title"/>
          </p:nvPr>
        </p:nvSpPr>
        <p:spPr>
          <a:xfrm>
            <a:off x="311700" y="445025"/>
            <a:ext cx="8520600" cy="5727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Lora"/>
                <a:ea typeface="Lora"/>
                <a:cs typeface="Lora"/>
                <a:sym typeface="Lora"/>
              </a:rPr>
              <a:t>Apply: Check your understanding</a:t>
            </a:r>
            <a:endParaRPr>
              <a:latin typeface="Lora"/>
              <a:ea typeface="Lora"/>
              <a:cs typeface="Lora"/>
              <a:sym typeface="Lora"/>
            </a:endParaRPr>
          </a:p>
        </p:txBody>
      </p:sp>
      <p:sp>
        <p:nvSpPr>
          <p:cNvPr id="236" name="Google Shape;236;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600">
                <a:solidFill>
                  <a:schemeClr val="dk1"/>
                </a:solidFill>
                <a:latin typeface="Lora"/>
                <a:ea typeface="Lora"/>
                <a:cs typeface="Lora"/>
                <a:sym typeface="Lora"/>
              </a:rPr>
              <a:t>2. If 100g of sucrose (C₁₂H₂₂O₁₁) is analyzed, how many grams of hydrogen are present?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1600">
                <a:solidFill>
                  <a:schemeClr val="dk1"/>
                </a:solidFill>
                <a:latin typeface="Lora"/>
                <a:ea typeface="Lora"/>
                <a:cs typeface="Lora"/>
                <a:sym typeface="Lora"/>
              </a:rPr>
              <a:t>   a) 1.2g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1600">
                <a:solidFill>
                  <a:schemeClr val="dk1"/>
                </a:solidFill>
                <a:latin typeface="Lora"/>
                <a:ea typeface="Lora"/>
                <a:cs typeface="Lora"/>
                <a:sym typeface="Lora"/>
              </a:rPr>
              <a:t>   b) </a:t>
            </a:r>
            <a:r>
              <a:rPr lang="en" sz="1600">
                <a:solidFill>
                  <a:schemeClr val="dk1"/>
                </a:solidFill>
                <a:latin typeface="Lora"/>
                <a:ea typeface="Lora"/>
                <a:cs typeface="Lora"/>
                <a:sym typeface="Lora"/>
              </a:rPr>
              <a:t>22.0g </a:t>
            </a:r>
            <a:r>
              <a:rPr lang="en" sz="1600">
                <a:solidFill>
                  <a:schemeClr val="dk1"/>
                </a:solidFill>
                <a:latin typeface="Lora"/>
                <a:ea typeface="Lora"/>
                <a:cs typeface="Lora"/>
                <a:sym typeface="Lora"/>
              </a:rPr>
              <a:t>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1600">
                <a:solidFill>
                  <a:schemeClr val="dk1"/>
                </a:solidFill>
                <a:latin typeface="Lora"/>
                <a:ea typeface="Lora"/>
                <a:cs typeface="Lora"/>
                <a:sym typeface="Lora"/>
              </a:rPr>
              <a:t>   c) 13.0g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1600">
                <a:solidFill>
                  <a:schemeClr val="dk1"/>
                </a:solidFill>
                <a:latin typeface="Lora"/>
                <a:ea typeface="Lora"/>
                <a:cs typeface="Lora"/>
                <a:sym typeface="Lora"/>
              </a:rPr>
              <a:t>   d) </a:t>
            </a:r>
            <a:r>
              <a:rPr lang="en" sz="1600">
                <a:solidFill>
                  <a:schemeClr val="dk1"/>
                </a:solidFill>
                <a:latin typeface="Lora"/>
                <a:ea typeface="Lora"/>
                <a:cs typeface="Lora"/>
                <a:sym typeface="Lora"/>
              </a:rPr>
              <a:t>6.5g </a:t>
            </a:r>
            <a:r>
              <a:rPr lang="en" sz="1600">
                <a:solidFill>
                  <a:schemeClr val="dk1"/>
                </a:solidFill>
                <a:latin typeface="Lora"/>
                <a:ea typeface="Lora"/>
                <a:cs typeface="Lora"/>
                <a:sym typeface="Lora"/>
              </a:rPr>
              <a:t>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 sz="1600">
                <a:solidFill>
                  <a:srgbClr val="9900FF"/>
                </a:solidFill>
                <a:latin typeface="Lora"/>
                <a:ea typeface="Lora"/>
                <a:cs typeface="Lora"/>
                <a:sym typeface="Lora"/>
              </a:rPr>
              <a:t>Room to show your work:</a:t>
            </a:r>
            <a:r>
              <a:rPr lang="en" sz="1600">
                <a:solidFill>
                  <a:srgbClr val="9900FF"/>
                </a:solidFill>
                <a:latin typeface="Lora"/>
                <a:ea typeface="Lora"/>
                <a:cs typeface="Lora"/>
                <a:sym typeface="Lora"/>
              </a:rPr>
              <a:t>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latin typeface="Lora"/>
                <a:ea typeface="Lora"/>
                <a:cs typeface="Lora"/>
                <a:sym typeface="Lora"/>
              </a:rPr>
              <a:t>Answer: move box to check</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1600">
                <a:solidFill>
                  <a:schemeClr val="dk1"/>
                </a:solidFill>
                <a:latin typeface="Lora"/>
                <a:ea typeface="Lora"/>
                <a:cs typeface="Lora"/>
                <a:sym typeface="Lora"/>
              </a:rPr>
              <a:t> d) 6.5g ✅ (Solution: %H = (22 × 1.01) ÷ 342.3 × 100 ≈ 6.5%. Therefore, 6.5g in 100g)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p:txBody>
      </p:sp>
      <p:sp>
        <p:nvSpPr>
          <p:cNvPr id="237" name="Google Shape;237;p41"/>
          <p:cNvSpPr/>
          <p:nvPr/>
        </p:nvSpPr>
        <p:spPr>
          <a:xfrm>
            <a:off x="220800" y="3869725"/>
            <a:ext cx="8702400" cy="89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2"/>
          <p:cNvSpPr txBox="1"/>
          <p:nvPr>
            <p:ph type="title"/>
          </p:nvPr>
        </p:nvSpPr>
        <p:spPr>
          <a:xfrm>
            <a:off x="311700" y="445025"/>
            <a:ext cx="8520600" cy="5727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ora"/>
                <a:ea typeface="Lora"/>
                <a:cs typeface="Lora"/>
                <a:sym typeface="Lora"/>
              </a:rPr>
              <a:t>Apply: Check your understanding</a:t>
            </a:r>
            <a:endParaRPr>
              <a:latin typeface="Lora"/>
              <a:ea typeface="Lora"/>
              <a:cs typeface="Lora"/>
              <a:sym typeface="Lora"/>
            </a:endParaRPr>
          </a:p>
        </p:txBody>
      </p:sp>
      <p:sp>
        <p:nvSpPr>
          <p:cNvPr id="243" name="Google Shape;243;p4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rPr>
              <a:t> </a:t>
            </a:r>
            <a:r>
              <a:rPr lang="en" sz="1900">
                <a:solidFill>
                  <a:schemeClr val="dk1"/>
                </a:solidFill>
              </a:rPr>
              <a:t>3. A student gets an empirical formula of CH</a:t>
            </a:r>
            <a:r>
              <a:rPr baseline="-25000" lang="en" sz="1900">
                <a:solidFill>
                  <a:schemeClr val="dk1"/>
                </a:solidFill>
              </a:rPr>
              <a:t>1.32</a:t>
            </a:r>
            <a:r>
              <a:rPr lang="en" sz="1900">
                <a:solidFill>
                  <a:schemeClr val="dk1"/>
                </a:solidFill>
              </a:rPr>
              <a:t>. How can they fix this? </a:t>
            </a:r>
            <a:r>
              <a:rPr lang="en" sz="1300">
                <a:solidFill>
                  <a:schemeClr val="dk1"/>
                </a:solidFill>
              </a:rPr>
              <a:t> </a:t>
            </a:r>
            <a:endParaRPr sz="1300">
              <a:solidFill>
                <a:schemeClr val="dk1"/>
              </a:solidFill>
            </a:endParaRPr>
          </a:p>
          <a:p>
            <a:pPr indent="0" lvl="0" marL="0" rtl="0" algn="l">
              <a:spcBef>
                <a:spcPts val="0"/>
              </a:spcBef>
              <a:spcAft>
                <a:spcPts val="0"/>
              </a:spcAft>
              <a:buClr>
                <a:schemeClr val="dk1"/>
              </a:buClr>
              <a:buSzPts val="1100"/>
              <a:buFont typeface="Arial"/>
              <a:buNone/>
            </a:pPr>
            <a:r>
              <a:rPr lang="en" sz="1300">
                <a:solidFill>
                  <a:schemeClr val="dk1"/>
                </a:solidFill>
              </a:rPr>
              <a:t> </a:t>
            </a:r>
            <a:endParaRPr>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1600">
                <a:solidFill>
                  <a:srgbClr val="9900FF"/>
                </a:solidFill>
                <a:latin typeface="Lora"/>
                <a:ea typeface="Lora"/>
                <a:cs typeface="Lora"/>
                <a:sym typeface="Lora"/>
              </a:rPr>
              <a:t>Group answer: </a:t>
            </a:r>
            <a:endParaRPr sz="1600">
              <a:solidFill>
                <a:srgbClr val="9900FF"/>
              </a:solidFill>
              <a:latin typeface="Lora"/>
              <a:ea typeface="Lora"/>
              <a:cs typeface="Lora"/>
              <a:sym typeface="Lora"/>
            </a:endParaRPr>
          </a:p>
          <a:p>
            <a:pPr indent="0" lvl="0" marL="0" rtl="0" algn="l">
              <a:lnSpc>
                <a:spcPct val="100000"/>
              </a:lnSpc>
              <a:spcBef>
                <a:spcPts val="0"/>
              </a:spcBef>
              <a:spcAft>
                <a:spcPts val="0"/>
              </a:spcAft>
              <a:buNone/>
            </a:pPr>
            <a:r>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1900">
                <a:solidFill>
                  <a:schemeClr val="dk1"/>
                </a:solidFill>
              </a:rPr>
              <a:t>4. Why do C6H12O6 (glucose) and C3H4O (cyclopropanone) behave differently despite having the same elements?</a:t>
            </a:r>
            <a:r>
              <a:rPr lang="en" sz="1600">
                <a:solidFill>
                  <a:schemeClr val="dk1"/>
                </a:solidFill>
                <a:latin typeface="Lora"/>
                <a:ea typeface="Lora"/>
                <a:cs typeface="Lora"/>
                <a:sym typeface="Lora"/>
              </a:rPr>
              <a:t>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1600">
                <a:solidFill>
                  <a:srgbClr val="9900FF"/>
                </a:solidFill>
                <a:latin typeface="Lora"/>
                <a:ea typeface="Lora"/>
                <a:cs typeface="Lora"/>
                <a:sym typeface="Lora"/>
              </a:rPr>
              <a:t>Group answer: </a:t>
            </a:r>
            <a:endParaRPr sz="1600">
              <a:solidFill>
                <a:srgbClr val="9900FF"/>
              </a:solidFill>
              <a:latin typeface="Lora"/>
              <a:ea typeface="Lora"/>
              <a:cs typeface="Lora"/>
              <a:sym typeface="Lora"/>
            </a:endParaRPr>
          </a:p>
          <a:p>
            <a:pPr indent="0" lvl="0" marL="0" rtl="0" algn="l">
              <a:lnSpc>
                <a:spcPct val="100000"/>
              </a:lnSpc>
              <a:spcBef>
                <a:spcPts val="0"/>
              </a:spcBef>
              <a:spcAft>
                <a:spcPts val="0"/>
              </a:spcAft>
              <a:buNone/>
            </a:pPr>
            <a:r>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1900">
                <a:solidFill>
                  <a:schemeClr val="dk1"/>
                </a:solidFill>
                <a:latin typeface="Lora"/>
                <a:ea typeface="Lora"/>
                <a:cs typeface="Lora"/>
                <a:sym typeface="Lora"/>
              </a:rPr>
              <a:t>Answer: move box to check</a:t>
            </a:r>
            <a:endParaRPr sz="19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1100">
                <a:solidFill>
                  <a:schemeClr val="dk1"/>
                </a:solidFill>
              </a:rPr>
              <a:t>3. Multiply by 3 to get whole numbers: C</a:t>
            </a:r>
            <a:r>
              <a:rPr baseline="-25000" lang="en" sz="1100">
                <a:solidFill>
                  <a:schemeClr val="dk1"/>
                </a:solidFill>
              </a:rPr>
              <a:t>3</a:t>
            </a:r>
            <a:r>
              <a:rPr lang="en" sz="1100">
                <a:solidFill>
                  <a:schemeClr val="dk1"/>
                </a:solidFill>
              </a:rPr>
              <a:t>H</a:t>
            </a:r>
            <a:r>
              <a:rPr baseline="-25000" lang="en" sz="1100">
                <a:solidFill>
                  <a:schemeClr val="dk1"/>
                </a:solidFill>
              </a:rPr>
              <a:t>4</a:t>
            </a:r>
            <a:r>
              <a:rPr lang="en" sz="1100">
                <a:solidFill>
                  <a:schemeClr val="dk1"/>
                </a:solidFill>
              </a:rPr>
              <a:t> </a:t>
            </a:r>
            <a:endParaRPr sz="1100">
              <a:solidFill>
                <a:schemeClr val="dk1"/>
              </a:solidFill>
            </a:endParaRPr>
          </a:p>
          <a:p>
            <a:pPr indent="0" lvl="0" marL="0" rtl="0" algn="l">
              <a:lnSpc>
                <a:spcPct val="100000"/>
              </a:lnSpc>
              <a:spcBef>
                <a:spcPts val="0"/>
              </a:spcBef>
              <a:spcAft>
                <a:spcPts val="0"/>
              </a:spcAft>
              <a:buNone/>
            </a:pPr>
            <a:r>
              <a:rPr lang="en" sz="1100">
                <a:solidFill>
                  <a:schemeClr val="dk1"/>
                </a:solidFill>
              </a:rPr>
              <a:t>4. Different ratios of H and O change molecular structure, affecting properties like solubility and reactivity. </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p:txBody>
      </p:sp>
      <p:sp>
        <p:nvSpPr>
          <p:cNvPr id="244" name="Google Shape;244;p42"/>
          <p:cNvSpPr/>
          <p:nvPr/>
        </p:nvSpPr>
        <p:spPr>
          <a:xfrm>
            <a:off x="257350" y="4159500"/>
            <a:ext cx="8702400" cy="89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3"/>
          <p:cNvSpPr txBox="1"/>
          <p:nvPr>
            <p:ph type="title"/>
          </p:nvPr>
        </p:nvSpPr>
        <p:spPr>
          <a:xfrm>
            <a:off x="311700" y="445025"/>
            <a:ext cx="8520600" cy="5727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ora"/>
                <a:ea typeface="Lora"/>
                <a:cs typeface="Lora"/>
                <a:sym typeface="Lora"/>
              </a:rPr>
              <a:t>Apply: Real world</a:t>
            </a:r>
            <a:endParaRPr>
              <a:latin typeface="Lora"/>
              <a:ea typeface="Lora"/>
              <a:cs typeface="Lora"/>
              <a:sym typeface="Lora"/>
            </a:endParaRPr>
          </a:p>
        </p:txBody>
      </p:sp>
      <p:sp>
        <p:nvSpPr>
          <p:cNvPr id="250" name="Google Shape;250;p4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000">
                <a:solidFill>
                  <a:schemeClr val="dk1"/>
                </a:solidFill>
                <a:latin typeface="Lora"/>
                <a:ea typeface="Lora"/>
                <a:cs typeface="Lora"/>
                <a:sym typeface="Lora"/>
              </a:rPr>
              <a:t>Why is percentage composition used in forensic chemistry?  </a:t>
            </a:r>
            <a:endParaRPr sz="2000">
              <a:solidFill>
                <a:schemeClr val="dk1"/>
              </a:solidFill>
              <a:latin typeface="Lora"/>
              <a:ea typeface="Lora"/>
              <a:cs typeface="Lora"/>
              <a:sym typeface="Lora"/>
            </a:endParaRPr>
          </a:p>
          <a:p>
            <a:pPr indent="0" lvl="0" marL="457200" rtl="0" algn="l">
              <a:lnSpc>
                <a:spcPct val="100000"/>
              </a:lnSpc>
              <a:spcBef>
                <a:spcPts val="0"/>
              </a:spcBef>
              <a:spcAft>
                <a:spcPts val="0"/>
              </a:spcAft>
              <a:buNone/>
            </a:pPr>
            <a:r>
              <a:rPr lang="en" sz="2000">
                <a:solidFill>
                  <a:schemeClr val="dk1"/>
                </a:solidFill>
                <a:latin typeface="Lora"/>
                <a:ea typeface="Lora"/>
                <a:cs typeface="Lora"/>
                <a:sym typeface="Lora"/>
              </a:rPr>
              <a:t>   a) To measure a compound’s density  </a:t>
            </a:r>
            <a:endParaRPr sz="2000">
              <a:solidFill>
                <a:schemeClr val="dk1"/>
              </a:solidFill>
              <a:latin typeface="Lora"/>
              <a:ea typeface="Lora"/>
              <a:cs typeface="Lora"/>
              <a:sym typeface="Lora"/>
            </a:endParaRPr>
          </a:p>
          <a:p>
            <a:pPr indent="0" lvl="0" marL="457200" rtl="0" algn="l">
              <a:lnSpc>
                <a:spcPct val="100000"/>
              </a:lnSpc>
              <a:spcBef>
                <a:spcPts val="0"/>
              </a:spcBef>
              <a:spcAft>
                <a:spcPts val="0"/>
              </a:spcAft>
              <a:buNone/>
            </a:pPr>
            <a:r>
              <a:rPr lang="en" sz="2000">
                <a:solidFill>
                  <a:schemeClr val="dk1"/>
                </a:solidFill>
                <a:latin typeface="Lora"/>
                <a:ea typeface="Lora"/>
                <a:cs typeface="Lora"/>
                <a:sym typeface="Lora"/>
              </a:rPr>
              <a:t>   b) To identify substances by comparing elemental ratios   </a:t>
            </a:r>
            <a:endParaRPr sz="2000">
              <a:solidFill>
                <a:schemeClr val="dk1"/>
              </a:solidFill>
              <a:latin typeface="Lora"/>
              <a:ea typeface="Lora"/>
              <a:cs typeface="Lora"/>
              <a:sym typeface="Lora"/>
            </a:endParaRPr>
          </a:p>
          <a:p>
            <a:pPr indent="0" lvl="0" marL="457200" rtl="0" algn="l">
              <a:lnSpc>
                <a:spcPct val="100000"/>
              </a:lnSpc>
              <a:spcBef>
                <a:spcPts val="0"/>
              </a:spcBef>
              <a:spcAft>
                <a:spcPts val="0"/>
              </a:spcAft>
              <a:buNone/>
            </a:pPr>
            <a:r>
              <a:rPr lang="en" sz="2000">
                <a:solidFill>
                  <a:schemeClr val="dk1"/>
                </a:solidFill>
                <a:latin typeface="Lora"/>
                <a:ea typeface="Lora"/>
                <a:cs typeface="Lora"/>
                <a:sym typeface="Lora"/>
              </a:rPr>
              <a:t>   c) To determine the color of a powder  </a:t>
            </a:r>
            <a:endParaRPr sz="2000">
              <a:solidFill>
                <a:schemeClr val="dk1"/>
              </a:solidFill>
              <a:latin typeface="Lora"/>
              <a:ea typeface="Lora"/>
              <a:cs typeface="Lora"/>
              <a:sym typeface="Lora"/>
            </a:endParaRPr>
          </a:p>
          <a:p>
            <a:pPr indent="0" lvl="0" marL="457200" rtl="0" algn="l">
              <a:lnSpc>
                <a:spcPct val="100000"/>
              </a:lnSpc>
              <a:spcBef>
                <a:spcPts val="0"/>
              </a:spcBef>
              <a:spcAft>
                <a:spcPts val="0"/>
              </a:spcAft>
              <a:buNone/>
            </a:pPr>
            <a:r>
              <a:rPr lang="en" sz="2000">
                <a:solidFill>
                  <a:schemeClr val="dk1"/>
                </a:solidFill>
                <a:latin typeface="Lora"/>
                <a:ea typeface="Lora"/>
                <a:cs typeface="Lora"/>
                <a:sym typeface="Lora"/>
              </a:rPr>
              <a:t>   d) To calculate the boiling point of liquids  </a:t>
            </a:r>
            <a:endParaRPr sz="20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a:p>
            <a:pPr indent="0" lvl="0" marL="457200" marR="0" rtl="0" algn="l">
              <a:lnSpc>
                <a:spcPct val="100000"/>
              </a:lnSpc>
              <a:spcBef>
                <a:spcPts val="0"/>
              </a:spcBef>
              <a:spcAft>
                <a:spcPts val="0"/>
              </a:spcAft>
              <a:buNone/>
            </a:pPr>
            <a:r>
              <a:rPr lang="en" sz="2000">
                <a:solidFill>
                  <a:schemeClr val="dk1"/>
                </a:solidFill>
                <a:latin typeface="Lora"/>
                <a:ea typeface="Lora"/>
                <a:cs typeface="Lora"/>
                <a:sym typeface="Lora"/>
              </a:rPr>
              <a:t>Answer:</a:t>
            </a:r>
            <a:endParaRPr sz="2000">
              <a:solidFill>
                <a:schemeClr val="dk1"/>
              </a:solidFill>
              <a:latin typeface="Lora"/>
              <a:ea typeface="Lora"/>
              <a:cs typeface="Lora"/>
              <a:sym typeface="Lora"/>
            </a:endParaRPr>
          </a:p>
          <a:p>
            <a:pPr indent="0" lvl="0" marL="457200" marR="0" rtl="0" algn="l">
              <a:lnSpc>
                <a:spcPct val="100000"/>
              </a:lnSpc>
              <a:spcBef>
                <a:spcPts val="0"/>
              </a:spcBef>
              <a:spcAft>
                <a:spcPts val="0"/>
              </a:spcAft>
              <a:buNone/>
            </a:pPr>
            <a:r>
              <a:rPr lang="en" sz="2000">
                <a:solidFill>
                  <a:schemeClr val="dk1"/>
                </a:solidFill>
                <a:latin typeface="Lora"/>
                <a:ea typeface="Lora"/>
                <a:cs typeface="Lora"/>
                <a:sym typeface="Lora"/>
              </a:rPr>
              <a:t>b) this can help identify the substance &amp; solve the case! </a:t>
            </a:r>
            <a:endParaRPr sz="2400">
              <a:solidFill>
                <a:schemeClr val="dk1"/>
              </a:solidFill>
              <a:latin typeface="Lora"/>
              <a:ea typeface="Lora"/>
              <a:cs typeface="Lora"/>
              <a:sym typeface="Lora"/>
            </a:endParaRPr>
          </a:p>
        </p:txBody>
      </p:sp>
      <p:sp>
        <p:nvSpPr>
          <p:cNvPr id="251" name="Google Shape;251;p43"/>
          <p:cNvSpPr/>
          <p:nvPr/>
        </p:nvSpPr>
        <p:spPr>
          <a:xfrm>
            <a:off x="166475" y="3453200"/>
            <a:ext cx="8702400" cy="89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4"/>
          <p:cNvSpPr txBox="1"/>
          <p:nvPr>
            <p:ph type="title"/>
          </p:nvPr>
        </p:nvSpPr>
        <p:spPr>
          <a:xfrm>
            <a:off x="311700" y="445025"/>
            <a:ext cx="8520600" cy="5727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ora"/>
                <a:ea typeface="Lora"/>
                <a:cs typeface="Lora"/>
                <a:sym typeface="Lora"/>
              </a:rPr>
              <a:t>Apply: </a:t>
            </a:r>
            <a:r>
              <a:rPr lang="en">
                <a:latin typeface="Lora"/>
                <a:ea typeface="Lora"/>
                <a:cs typeface="Lora"/>
                <a:sym typeface="Lora"/>
              </a:rPr>
              <a:t>Practice Work</a:t>
            </a:r>
            <a:endParaRPr>
              <a:latin typeface="Lora"/>
              <a:ea typeface="Lora"/>
              <a:cs typeface="Lora"/>
              <a:sym typeface="Lora"/>
            </a:endParaRPr>
          </a:p>
          <a:p>
            <a:pPr indent="0" lvl="0" marL="0" rtl="0" algn="l">
              <a:spcBef>
                <a:spcPts val="0"/>
              </a:spcBef>
              <a:spcAft>
                <a:spcPts val="0"/>
              </a:spcAft>
              <a:buNone/>
            </a:pPr>
            <a:r>
              <a:t/>
            </a:r>
            <a:endParaRPr>
              <a:latin typeface="Lora"/>
              <a:ea typeface="Lora"/>
              <a:cs typeface="Lora"/>
              <a:sym typeface="Lora"/>
            </a:endParaRPr>
          </a:p>
        </p:txBody>
      </p:sp>
      <p:sp>
        <p:nvSpPr>
          <p:cNvPr id="257" name="Google Shape;257;p4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600">
                <a:solidFill>
                  <a:schemeClr val="dk1"/>
                </a:solidFill>
                <a:latin typeface="Lora"/>
                <a:ea typeface="Lora"/>
                <a:cs typeface="Lora"/>
                <a:sym typeface="Lora"/>
              </a:rPr>
              <a:t>Complete the practice work as indicated in the unit plan and/or sheets given in class.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1900">
                <a:solidFill>
                  <a:schemeClr val="dk1"/>
                </a:solidFill>
                <a:latin typeface="Lora"/>
                <a:ea typeface="Lora"/>
                <a:cs typeface="Lora"/>
                <a:sym typeface="Lora"/>
              </a:rPr>
              <a:t>If time allows you can ask for and play “</a:t>
            </a:r>
            <a:r>
              <a:rPr lang="en" sz="1900">
                <a:solidFill>
                  <a:srgbClr val="9900FF"/>
                </a:solidFill>
                <a:latin typeface="Lora"/>
                <a:ea typeface="Lora"/>
                <a:cs typeface="Lora"/>
                <a:sym typeface="Lora"/>
              </a:rPr>
              <a:t>Kitchen or Crime Scene</a:t>
            </a:r>
            <a:r>
              <a:rPr lang="en" sz="1900">
                <a:solidFill>
                  <a:schemeClr val="dk1"/>
                </a:solidFill>
                <a:latin typeface="Lora"/>
                <a:ea typeface="Lora"/>
                <a:cs typeface="Lora"/>
                <a:sym typeface="Lora"/>
              </a:rPr>
              <a:t>” </a:t>
            </a:r>
            <a:endParaRPr sz="19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1600">
                <a:solidFill>
                  <a:schemeClr val="dk1"/>
                </a:solidFill>
                <a:latin typeface="Lora"/>
                <a:ea typeface="Lora"/>
                <a:cs typeface="Lora"/>
                <a:sym typeface="Lora"/>
              </a:rPr>
              <a:t>Remember! Its important in this unit to do plenty of practice to be confident of each topic before moving to the next one! It is also good practice to save some practice work, once you are confident, to complete over the next several days &amp; weeks from the lesson.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1600">
                <a:solidFill>
                  <a:schemeClr val="dk1"/>
                </a:solidFill>
                <a:latin typeface="Lora"/>
                <a:ea typeface="Lora"/>
                <a:cs typeface="Lora"/>
                <a:sym typeface="Lora"/>
              </a:rPr>
              <a:t>Spaced practice solidifies your understanding and long term retention!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rPr lang="en" sz="1600">
                <a:solidFill>
                  <a:schemeClr val="dk1"/>
                </a:solidFill>
                <a:latin typeface="Lora"/>
                <a:ea typeface="Lora"/>
                <a:cs typeface="Lora"/>
                <a:sym typeface="Lora"/>
              </a:rPr>
              <a:t>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16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a:p>
            <a:pPr indent="0" lvl="0" marL="0" rtl="0" algn="l">
              <a:lnSpc>
                <a:spcPct val="100000"/>
              </a:lnSpc>
              <a:spcBef>
                <a:spcPts val="0"/>
              </a:spcBef>
              <a:spcAft>
                <a:spcPts val="0"/>
              </a:spcAft>
              <a:buNone/>
            </a:pPr>
            <a:r>
              <a:t/>
            </a:r>
            <a:endParaRPr sz="2400">
              <a:solidFill>
                <a:schemeClr val="dk1"/>
              </a:solidFill>
              <a:latin typeface="Lora"/>
              <a:ea typeface="Lora"/>
              <a:cs typeface="Lora"/>
              <a:sym typeface="Lora"/>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5"/>
          <p:cNvSpPr txBox="1"/>
          <p:nvPr>
            <p:ph type="title"/>
          </p:nvPr>
        </p:nvSpPr>
        <p:spPr>
          <a:xfrm>
            <a:off x="322350" y="1924450"/>
            <a:ext cx="8499300" cy="8766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Lora"/>
                <a:ea typeface="Lora"/>
                <a:cs typeface="Lora"/>
                <a:sym typeface="Lora"/>
              </a:rPr>
              <a:t>Part 5: Beyond the course extensions &amp; Extra help {optional}</a:t>
            </a:r>
            <a:endParaRPr sz="3000">
              <a:latin typeface="Lora"/>
              <a:ea typeface="Lora"/>
              <a:cs typeface="Lora"/>
              <a:sym typeface="Lora"/>
            </a:endParaRPr>
          </a:p>
        </p:txBody>
      </p:sp>
      <p:sp>
        <p:nvSpPr>
          <p:cNvPr id="263" name="Google Shape;263;p45"/>
          <p:cNvSpPr/>
          <p:nvPr/>
        </p:nvSpPr>
        <p:spPr>
          <a:xfrm>
            <a:off x="0" y="-15100"/>
            <a:ext cx="9144000" cy="1639200"/>
          </a:xfrm>
          <a:prstGeom prst="rect">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45"/>
          <p:cNvSpPr/>
          <p:nvPr/>
        </p:nvSpPr>
        <p:spPr>
          <a:xfrm>
            <a:off x="-18100" y="2988300"/>
            <a:ext cx="9162000" cy="2209500"/>
          </a:xfrm>
          <a:prstGeom prst="rect">
            <a:avLst/>
          </a:prstGeom>
          <a:solidFill>
            <a:srgbClr val="80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6"/>
          <p:cNvSpPr txBox="1"/>
          <p:nvPr>
            <p:ph type="title"/>
          </p:nvPr>
        </p:nvSpPr>
        <p:spPr>
          <a:xfrm>
            <a:off x="311700" y="445025"/>
            <a:ext cx="8520600" cy="961500"/>
          </a:xfrm>
          <a:prstGeom prst="rect">
            <a:avLst/>
          </a:prstGeom>
          <a:solidFill>
            <a:srgbClr val="00FFFF"/>
          </a:solidFill>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ora"/>
                <a:ea typeface="Lora"/>
                <a:cs typeface="Lora"/>
                <a:sym typeface="Lora"/>
              </a:rPr>
              <a:t>Extend</a:t>
            </a:r>
            <a:r>
              <a:rPr lang="en">
                <a:latin typeface="Lora"/>
                <a:ea typeface="Lora"/>
                <a:cs typeface="Lora"/>
                <a:sym typeface="Lora"/>
              </a:rPr>
              <a:t>: Read this </a:t>
            </a:r>
            <a:r>
              <a:rPr lang="en">
                <a:latin typeface="Lora"/>
                <a:ea typeface="Lora"/>
                <a:cs typeface="Lora"/>
                <a:sym typeface="Lora"/>
              </a:rPr>
              <a:t>article. On the spot crime scene analysis! </a:t>
            </a:r>
            <a:endParaRPr>
              <a:latin typeface="Lora"/>
              <a:ea typeface="Lora"/>
              <a:cs typeface="Lora"/>
              <a:sym typeface="Lora"/>
            </a:endParaRPr>
          </a:p>
          <a:p>
            <a:pPr indent="0" lvl="0" marL="0" rtl="0" algn="l">
              <a:spcBef>
                <a:spcPts val="0"/>
              </a:spcBef>
              <a:spcAft>
                <a:spcPts val="0"/>
              </a:spcAft>
              <a:buNone/>
            </a:pPr>
            <a:r>
              <a:t/>
            </a:r>
            <a:endParaRPr>
              <a:latin typeface="Lora"/>
              <a:ea typeface="Lora"/>
              <a:cs typeface="Lora"/>
              <a:sym typeface="Lora"/>
            </a:endParaRPr>
          </a:p>
          <a:p>
            <a:pPr indent="0" lvl="0" marL="0" rtl="0" algn="l">
              <a:spcBef>
                <a:spcPts val="0"/>
              </a:spcBef>
              <a:spcAft>
                <a:spcPts val="0"/>
              </a:spcAft>
              <a:buNone/>
            </a:pPr>
            <a:r>
              <a:t/>
            </a:r>
            <a:endParaRPr>
              <a:latin typeface="Lora"/>
              <a:ea typeface="Lora"/>
              <a:cs typeface="Lora"/>
              <a:sym typeface="Lora"/>
            </a:endParaRPr>
          </a:p>
          <a:p>
            <a:pPr indent="0" lvl="0" marL="0" rtl="0" algn="l">
              <a:spcBef>
                <a:spcPts val="0"/>
              </a:spcBef>
              <a:spcAft>
                <a:spcPts val="0"/>
              </a:spcAft>
              <a:buNone/>
            </a:pPr>
            <a:r>
              <a:t/>
            </a:r>
            <a:endParaRPr>
              <a:latin typeface="Lora"/>
              <a:ea typeface="Lora"/>
              <a:cs typeface="Lora"/>
              <a:sym typeface="Lora"/>
            </a:endParaRPr>
          </a:p>
        </p:txBody>
      </p:sp>
      <p:sp>
        <p:nvSpPr>
          <p:cNvPr id="270" name="Google Shape;270;p46"/>
          <p:cNvSpPr txBox="1"/>
          <p:nvPr/>
        </p:nvSpPr>
        <p:spPr>
          <a:xfrm>
            <a:off x="1159100" y="2167275"/>
            <a:ext cx="5569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u="sng">
                <a:solidFill>
                  <a:schemeClr val="hlink"/>
                </a:solidFill>
                <a:hlinkClick r:id="rId3"/>
              </a:rPr>
              <a:t>MIT develops handheld mass spectrometer</a:t>
            </a:r>
            <a:r>
              <a:rPr lang="en" sz="1800">
                <a:solidFill>
                  <a:schemeClr val="dk2"/>
                </a:solidFill>
              </a:rPr>
              <a:t>.</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