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gGWo4q1nJZh/jAj+4LRSqgJQOH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3" name="Google Shape;43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9" name="Google Shape;49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2" name="Google Shape;62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3" name="Google Shape;63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4" name="Google Shape;64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0" name="Google Shape;70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Gases &amp; Stoichiometry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Chapter 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4294967295" type="title"/>
          </p:nvPr>
        </p:nvSpPr>
        <p:spPr>
          <a:xfrm>
            <a:off x="381000" y="685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Recall, that if we combine Avogadro's theory with the combined gas law, we can create…</a:t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048000"/>
            <a:ext cx="8229600" cy="3413125"/>
          </a:xfrm>
          <a:prstGeom prst="rect">
            <a:avLst/>
          </a:prstGeom>
          <a:noFill/>
          <a:ln cap="flat" cmpd="sng" w="92075">
            <a:solidFill>
              <a:srgbClr val="00FFFF"/>
            </a:solidFill>
            <a:prstDash val="solid"/>
            <a:miter lim="524288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idx="4294967295" type="title"/>
          </p:nvPr>
        </p:nvSpPr>
        <p:spPr>
          <a:xfrm>
            <a:off x="457200" y="152400"/>
            <a:ext cx="8229600" cy="633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FFFF"/>
              </a:buClr>
              <a:buSzPts val="4800"/>
              <a:buFont typeface="Arial"/>
              <a:buNone/>
            </a:pPr>
            <a:r>
              <a:rPr b="1" i="0" lang="en-US" sz="4800" u="sng" cap="none" strike="noStrike">
                <a:solidFill>
                  <a:srgbClr val="66FFFF"/>
                </a:solidFill>
                <a:latin typeface="Arial"/>
                <a:ea typeface="Arial"/>
                <a:cs typeface="Arial"/>
                <a:sym typeface="Arial"/>
              </a:rPr>
              <a:t>Ideal Gas Law</a:t>
            </a:r>
            <a:endParaRPr/>
          </a:p>
        </p:txBody>
      </p:sp>
      <p:sp>
        <p:nvSpPr>
          <p:cNvPr id="97" name="Google Shape;97;p3"/>
          <p:cNvSpPr txBox="1"/>
          <p:nvPr>
            <p:ph idx="4294967295" type="body"/>
          </p:nvPr>
        </p:nvSpPr>
        <p:spPr>
          <a:xfrm>
            <a:off x="457200" y="981075"/>
            <a:ext cx="8229600" cy="547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did we get there??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Recall: (for constant T &amp; P)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(for a fixed amount of gas)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Therefore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means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Where: </a:t>
            </a:r>
            <a:r>
              <a:rPr b="1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 = Universal Gas Law Constant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1066800"/>
            <a:ext cx="134302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8175" y="2749550"/>
            <a:ext cx="2066925" cy="85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11462" y="3716337"/>
            <a:ext cx="2327275" cy="936625"/>
          </a:xfrm>
          <a:prstGeom prst="rect">
            <a:avLst/>
          </a:prstGeom>
          <a:noFill/>
          <a:ln cap="flat" cmpd="sng" w="635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01" name="Google Shape;10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00400" y="4800600"/>
            <a:ext cx="1514475" cy="936625"/>
          </a:xfrm>
          <a:prstGeom prst="rect">
            <a:avLst/>
          </a:prstGeom>
          <a:noFill/>
          <a:ln cap="flat" cmpd="sng" w="666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idx="4294967295" type="title"/>
          </p:nvPr>
        </p:nvSpPr>
        <p:spPr>
          <a:xfrm>
            <a:off x="468312" y="188912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FFFF"/>
              </a:buClr>
              <a:buSzPts val="4800"/>
              <a:buFont typeface="Arial"/>
              <a:buNone/>
            </a:pPr>
            <a:r>
              <a:rPr b="1" i="0" lang="en-US" sz="4800" u="sng" cap="none" strike="noStrike">
                <a:solidFill>
                  <a:srgbClr val="66FFFF"/>
                </a:solidFill>
                <a:latin typeface="Arial"/>
                <a:ea typeface="Arial"/>
                <a:cs typeface="Arial"/>
                <a:sym typeface="Arial"/>
              </a:rPr>
              <a:t>Ideal Gas Law</a:t>
            </a:r>
            <a:endParaRPr/>
          </a:p>
        </p:txBody>
      </p:sp>
      <p:sp>
        <p:nvSpPr>
          <p:cNvPr id="107" name="Google Shape;107;p4"/>
          <p:cNvSpPr txBox="1"/>
          <p:nvPr>
            <p:ph idx="4294967295" type="body"/>
          </p:nvPr>
        </p:nvSpPr>
        <p:spPr>
          <a:xfrm>
            <a:off x="457200" y="765175"/>
            <a:ext cx="8435975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value of R can be calculated using one mole of a gas at STP:</a:t>
            </a:r>
            <a:endParaRPr/>
          </a:p>
          <a:p>
            <a:pPr indent="0" lvl="1" marL="4000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 = 101.3 kPa</a:t>
            </a:r>
            <a:endParaRPr/>
          </a:p>
          <a:p>
            <a:pPr indent="0" lvl="1" marL="4000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 = 22.4 L</a:t>
            </a:r>
            <a:endParaRPr/>
          </a:p>
          <a:p>
            <a:pPr indent="0" lvl="1" marL="4000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 = 273 K</a:t>
            </a:r>
            <a:endParaRPr/>
          </a:p>
          <a:p>
            <a:pPr indent="0" lvl="1" marL="4000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 = 1.00 mol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 can also be expressed in other units: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Ideal Gas Law Equation can be rearranged as: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371600"/>
            <a:ext cx="1514475" cy="935037"/>
          </a:xfrm>
          <a:prstGeom prst="rect">
            <a:avLst/>
          </a:prstGeom>
          <a:noFill/>
          <a:ln cap="flat" cmpd="sng" w="666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09" name="Google Shape;10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7175" y="2636837"/>
            <a:ext cx="2833687" cy="1079500"/>
          </a:xfrm>
          <a:prstGeom prst="rect">
            <a:avLst/>
          </a:prstGeom>
          <a:noFill/>
          <a:ln cap="flat" cmpd="sng" w="76200">
            <a:solidFill>
              <a:srgbClr val="66FFFF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10" name="Google Shape;11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7450" y="4443412"/>
            <a:ext cx="2332037" cy="792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24362" y="4437062"/>
            <a:ext cx="2493962" cy="7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52800" y="5791200"/>
            <a:ext cx="3495675" cy="792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idx="4294967295" type="title"/>
          </p:nvPr>
        </p:nvSpPr>
        <p:spPr>
          <a:xfrm>
            <a:off x="468312" y="188912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FFFF"/>
              </a:buClr>
              <a:buSzPts val="4800"/>
              <a:buFont typeface="Arial"/>
              <a:buNone/>
            </a:pPr>
            <a:r>
              <a:rPr b="1" i="0" lang="en-US" sz="4800" u="sng" cap="none" strike="noStrike">
                <a:solidFill>
                  <a:srgbClr val="66FFFF"/>
                </a:solidFill>
                <a:latin typeface="Arial"/>
                <a:ea typeface="Arial"/>
                <a:cs typeface="Arial"/>
                <a:sym typeface="Arial"/>
              </a:rPr>
              <a:t>Ideal Gas Law</a:t>
            </a:r>
            <a:endParaRPr/>
          </a:p>
        </p:txBody>
      </p:sp>
      <p:sp>
        <p:nvSpPr>
          <p:cNvPr id="118" name="Google Shape;118;p5"/>
          <p:cNvSpPr txBox="1"/>
          <p:nvPr>
            <p:ph idx="4294967295" type="body"/>
          </p:nvPr>
        </p:nvSpPr>
        <p:spPr>
          <a:xfrm>
            <a:off x="395287" y="765175"/>
            <a:ext cx="8435975" cy="568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1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 Problems: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AutoNum type="arabicPeriod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pressure gauge on a 15.0 L cylinder of oxygen gas has a reading of 2.70 x 10</a:t>
            </a:r>
            <a:r>
              <a:rPr b="0" baseline="30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kPa and a temperature of 22.5 </a:t>
            </a:r>
            <a:r>
              <a:rPr b="0" baseline="30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C.  What is the mass of oxygen in the cylinder?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AutoNum type="arabicPeriod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volume of carbon dioxide did a swimmer breathe out when he exhaled 10.5 g of CO</a:t>
            </a:r>
            <a:r>
              <a:rPr b="0" baseline="-25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@ SATP into a flask to measure his lung capacity?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1" lang="en-US" sz="2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HW: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-p.487 # 12-14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-p.488 #1-5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462" y="5229225"/>
            <a:ext cx="3494087" cy="792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idx="4294967295"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>
            <p:ph idx="4294967295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8887" y="949325"/>
            <a:ext cx="6769100" cy="50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457200" y="274637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Arial"/>
              <a:buNone/>
            </a:pPr>
            <a:r>
              <a:rPr b="1" i="0" lang="en-US" sz="4000" u="sng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Real Gas Behaviour (p.483)</a:t>
            </a:r>
            <a:endParaRPr/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228600" y="990600"/>
            <a:ext cx="8763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60400" lvl="0" marL="660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are several assumptions in KMT that allow us to imagine all gases behaving in an “ideal” way.  ie. All gas molecules are the same.</a:t>
            </a:r>
            <a:endParaRPr/>
          </a:p>
          <a:p>
            <a:pPr indent="-577850" lvl="1" marL="10350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Arial"/>
              <a:buAutoNum type="romanLcPeriod"/>
            </a:pP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Gas molecules have zero volume</a:t>
            </a:r>
            <a:endParaRPr/>
          </a:p>
          <a:p>
            <a:pPr indent="-577850" lvl="1" marL="10350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Arial"/>
              <a:buAutoNum type="romanLcPeriod"/>
            </a:pP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Forces of attraction are zero</a:t>
            </a:r>
            <a:endParaRPr/>
          </a:p>
          <a:p>
            <a:pPr indent="-577850" lvl="1" marL="10350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Arial"/>
              <a:buAutoNum type="romanLcPeriod"/>
            </a:pP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Molecules move in straight lines</a:t>
            </a:r>
            <a:endParaRPr/>
          </a:p>
          <a:p>
            <a:pPr indent="-577850" lvl="1" marL="10350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Arial"/>
              <a:buAutoNum type="romanLcPeriod"/>
            </a:pP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Collisions are completely elastic</a:t>
            </a:r>
            <a:endParaRPr/>
          </a:p>
          <a:p>
            <a:pPr indent="-660400" lvl="0" marL="6604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60400" lvl="0" marL="6604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 high pressures and low temperatures, there are problems with the assumptions:</a:t>
            </a:r>
            <a:endParaRPr/>
          </a:p>
          <a:p>
            <a:pPr indent="-577850" lvl="1" marL="10350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AutoNum type="romanLcPeriod"/>
            </a:pP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In very small volumes there will be many more interactions and collisions</a:t>
            </a:r>
            <a:endParaRPr/>
          </a:p>
          <a:p>
            <a:pPr indent="-577850" lvl="1" marL="10350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AutoNum type="romanLcPeriod"/>
            </a:pP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The volume of the gas molecules is now a significant fraction of the container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381000" y="152400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4000"/>
              <a:buFont typeface="Arial"/>
              <a:buNone/>
            </a:pPr>
            <a:r>
              <a:rPr b="1" i="1" lang="en-US" sz="40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The Mole and Gases</a:t>
            </a:r>
            <a:endParaRPr/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228600" y="914400"/>
            <a:ext cx="86868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Many chemical reactions involve gases as reactants or products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Measured at the same temperature and pressure, gases react or are chemically produced in </a:t>
            </a:r>
            <a:r>
              <a:rPr b="1" i="1" lang="en-US" sz="22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simple whole number volume ratios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 (Gay-Lussac’s Law of Combining Gas Volumes)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Coefficients for gaseous substances in a balanced equation represent </a:t>
            </a:r>
            <a:r>
              <a:rPr b="1" i="0" lang="en-US" sz="2200" u="sng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volume ratios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as well as </a:t>
            </a:r>
            <a:r>
              <a:rPr b="1" i="0" lang="en-US" sz="2200" u="sng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mole ratios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if temperature and pressure conditions are the same.  (Avogadro’s Hypothesis)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baseline="-25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baseline="-25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(g)</a:t>
            </a: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+ Cl</a:t>
            </a:r>
            <a:r>
              <a:rPr b="1" baseline="-25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baseline="-25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(g)</a:t>
            </a: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→ 2 HCl </a:t>
            </a:r>
            <a:r>
              <a:rPr b="1" baseline="-25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1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 H</a:t>
            </a:r>
            <a:r>
              <a:rPr b="0" baseline="-25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baseline="-25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(g)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+ N</a:t>
            </a:r>
            <a:r>
              <a:rPr b="0" baseline="-25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baseline="-25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(g)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→ 2 NH</a:t>
            </a:r>
            <a:r>
              <a:rPr b="0" baseline="-25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baseline="-2500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(g)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609600" y="5105400"/>
            <a:ext cx="838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457200" y="4114800"/>
            <a:ext cx="1066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1 mol</a:t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1752600" y="4114800"/>
            <a:ext cx="1066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1 mol</a:t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3352800" y="4114800"/>
            <a:ext cx="1066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2 mol</a:t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457200" y="4495800"/>
            <a:ext cx="1066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 L</a:t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1752600" y="4572000"/>
            <a:ext cx="1066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 L</a:t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3276600" y="4572000"/>
            <a:ext cx="1066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2 L</a:t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533400" y="5562600"/>
            <a:ext cx="43434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3 mol	        1 mol	     2 mol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609600" y="6019800"/>
            <a:ext cx="43434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3 L	        1 L  	     2 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457200" y="152400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12.3 Gas Law Stoichiometry</a:t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304800" y="838200"/>
            <a:ext cx="8610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1" lang="en-US" sz="22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balanced chemical equation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can be used to solve problems for gases.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Arial"/>
              <a:buNone/>
            </a:pPr>
            <a:r>
              <a:rPr b="1" i="1" lang="en-US" sz="22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Sample Problems: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AutoNum type="arabicPeriod"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 H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(g)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+ N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(g)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→ 2 NH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(g)</a:t>
            </a:r>
            <a:endParaRPr/>
          </a:p>
          <a:p>
            <a:pPr indent="-533400" lvl="1" marL="9906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 b="0" baseline="-25000" i="0" sz="2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906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Suppose that in a reaction, 5.0 L of nitrogen reacts with hydrogen gas at the same T &amp; P:</a:t>
            </a:r>
            <a:endParaRPr/>
          </a:p>
          <a:p>
            <a:pPr indent="-533400" lvl="1" marL="9906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AutoNum type="alphaLcParenR"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volume of ammonia is produced?</a:t>
            </a:r>
            <a:endParaRPr/>
          </a:p>
          <a:p>
            <a:pPr indent="-533400" lvl="1" marL="9906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AutoNum type="alphaLcParenR"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volume of hydrogen is consumed?</a:t>
            </a:r>
            <a:endParaRPr/>
          </a:p>
          <a:p>
            <a:pPr indent="-393700" lvl="1" marL="9906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AutoNum type="arabicPeriod"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Zinc reacts with sulfuric acid to produce 380 mL of hydrogen gas measured at 101.6 kPa and 25</a:t>
            </a:r>
            <a:r>
              <a:rPr b="0" baseline="30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C.  What mass of zinc is consumed in this reaction?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AutoNum type="arabicPeriod"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Acetylene gas, C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is normally prepared in the laboratory by reacting calcium carbide CaC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with water.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CaC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(s)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+ 2 H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(l)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→ C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(g)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+ Ca(OH)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baseline="-2500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(aq)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What mass of calcium carbide is required to produce 235 mL of acetylene gas at SATP?</a:t>
            </a:r>
            <a:endParaRPr/>
          </a:p>
          <a:p>
            <a:pPr indent="-482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9">
      <a:dk1>
        <a:srgbClr val="336699"/>
      </a:dk1>
      <a:lt1>
        <a:srgbClr val="FFFFFF"/>
      </a:lt1>
      <a:dk2>
        <a:srgbClr val="000000"/>
      </a:dk2>
      <a:lt2>
        <a:srgbClr val="E3EBF1"/>
      </a:lt2>
      <a:accent1>
        <a:srgbClr val="003399"/>
      </a:accent1>
      <a:accent2>
        <a:srgbClr val="468A4B"/>
      </a:accent2>
      <a:accent3>
        <a:srgbClr val="AAAAAA"/>
      </a:accent3>
      <a:accent4>
        <a:srgbClr val="DADADA"/>
      </a:accent4>
      <a:accent5>
        <a:srgbClr val="AAADCA"/>
      </a:accent5>
      <a:accent6>
        <a:srgbClr val="3F7D43"/>
      </a:accent6>
      <a:hlink>
        <a:srgbClr val="66CCFF"/>
      </a:hlink>
      <a:folHlink>
        <a:srgbClr val="F0E5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2015-01-19T14:09:39Z</dcterms:created>
  <dc:creator>C41077</dc:creator>
</cp:coreProperties>
</file>