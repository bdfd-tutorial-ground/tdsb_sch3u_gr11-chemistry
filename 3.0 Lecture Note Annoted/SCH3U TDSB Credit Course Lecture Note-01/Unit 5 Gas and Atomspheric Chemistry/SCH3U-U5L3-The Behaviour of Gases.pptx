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oleObject" PartName="/ppt/embeddings/oleObject3.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h+yGoGwQA9CzTKJvJ8p9mQPdrb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EED7565-A696-4B49-A5CC-65C8693FE214}">
  <a:tblStyle styleId="{2EED7565-A696-4B49-A5CC-65C8693FE21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3E8EA"/>
          </a:solidFill>
        </a:fill>
      </a:tcStyle>
    </a:wholeTbl>
    <a:band1H>
      <a:tcTxStyle/>
      <a:tcStyle>
        <a:fill>
          <a:solidFill>
            <a:srgbClr val="E6CDD2"/>
          </a:solidFill>
        </a:fill>
      </a:tcStyle>
    </a:band1H>
    <a:band2H>
      <a:tcTxStyle/>
    </a:band2H>
    <a:band1V>
      <a:tcTxStyle/>
      <a:tcStyle>
        <a:fill>
          <a:solidFill>
            <a:srgbClr val="E6CDD2"/>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 name="Google Shape;13;p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 name="Google Shape;19;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4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4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4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48"/>
          <p:cNvSpPr/>
          <p:nvPr>
            <p:ph idx="2" type="pic"/>
          </p:nvPr>
        </p:nvSpPr>
        <p:spPr>
          <a:xfrm>
            <a:off x="1792288" y="612775"/>
            <a:ext cx="5486400" cy="4114800"/>
          </a:xfrm>
          <a:prstGeom prst="rect">
            <a:avLst/>
          </a:prstGeom>
          <a:noFill/>
          <a:ln>
            <a:noFill/>
          </a:ln>
        </p:spPr>
      </p:sp>
      <p:sp>
        <p:nvSpPr>
          <p:cNvPr id="64" name="Google Shape;64;p4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4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5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 name="Google Shape;7;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44.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21.png"/><Relationship Id="rId8" Type="http://schemas.openxmlformats.org/officeDocument/2006/relationships/image" Target="../media/image4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vmlDrawing" Target="../drawings/vmlDrawing1.vml"/><Relationship Id="rId4" Type="http://schemas.openxmlformats.org/officeDocument/2006/relationships/image" Target="../media/image7.png"/><Relationship Id="rId9"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image" Target="../media/image6.jpg"/><Relationship Id="rId7" Type="http://schemas.openxmlformats.org/officeDocument/2006/relationships/oleObject" Target="../embeddings/oleObject1.bin"/><Relationship Id="rId8"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19.png"/><Relationship Id="rId5"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vmlDrawing" Target="../drawings/vmlDrawing2.vml"/><Relationship Id="rId4" Type="http://schemas.openxmlformats.org/officeDocument/2006/relationships/image" Target="../media/image37.png"/><Relationship Id="rId5" Type="http://schemas.openxmlformats.org/officeDocument/2006/relationships/image" Target="../media/image32.png"/><Relationship Id="rId6" Type="http://schemas.openxmlformats.org/officeDocument/2006/relationships/oleObject" Target="../embeddings/oleObject2.bin"/><Relationship Id="rId7" Type="http://schemas.openxmlformats.org/officeDocument/2006/relationships/oleObject" Target="../embeddings/oleObject2.bin"/><Relationship Id="rId8"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3.png"/><Relationship Id="rId4" Type="http://schemas.openxmlformats.org/officeDocument/2006/relationships/image" Target="../media/image42.png"/><Relationship Id="rId5" Type="http://schemas.openxmlformats.org/officeDocument/2006/relationships/image" Target="../media/image30.png"/><Relationship Id="rId6"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1.png"/><Relationship Id="rId4" Type="http://schemas.openxmlformats.org/officeDocument/2006/relationships/image" Target="../media/image43.png"/><Relationship Id="rId5" Type="http://schemas.openxmlformats.org/officeDocument/2006/relationships/image" Target="../media/image34.png"/><Relationship Id="rId6" Type="http://schemas.openxmlformats.org/officeDocument/2006/relationships/image" Target="../media/image46.png"/><Relationship Id="rId7"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11188" y="188913"/>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b="1" lang="en-US">
                <a:solidFill>
                  <a:schemeClr val="lt1"/>
                </a:solidFill>
              </a:rPr>
              <a:t>The Behaviour of Gases </a:t>
            </a:r>
            <a:endParaRPr b="1">
              <a:solidFill>
                <a:schemeClr val="lt1"/>
              </a:solidFill>
            </a:endParaRPr>
          </a:p>
        </p:txBody>
      </p:sp>
      <p:sp>
        <p:nvSpPr>
          <p:cNvPr id="85" name="Google Shape;85;p1"/>
          <p:cNvSpPr txBox="1"/>
          <p:nvPr>
            <p:ph idx="1" type="subTitle"/>
          </p:nvPr>
        </p:nvSpPr>
        <p:spPr>
          <a:xfrm>
            <a:off x="1401763" y="1268413"/>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lt1"/>
              </a:buClr>
              <a:buSzPts val="3200"/>
              <a:buFont typeface="Arial"/>
              <a:buNone/>
            </a:pPr>
            <a:r>
              <a:rPr b="1" i="1" lang="en-US">
                <a:solidFill>
                  <a:schemeClr val="lt1"/>
                </a:solidFill>
              </a:rPr>
              <a:t>Chapter 11</a:t>
            </a:r>
            <a:endParaRPr b="1" i="1">
              <a:solidFill>
                <a:schemeClr val="lt1"/>
              </a:solidFill>
            </a:endParaRPr>
          </a:p>
        </p:txBody>
      </p:sp>
      <p:pic>
        <p:nvPicPr>
          <p:cNvPr id="86" name="Google Shape;86;p1"/>
          <p:cNvPicPr preferRelativeResize="0"/>
          <p:nvPr/>
        </p:nvPicPr>
        <p:blipFill rotWithShape="1">
          <a:blip r:embed="rId3">
            <a:alphaModFix/>
          </a:blip>
          <a:srcRect b="0" l="0" r="0" t="0"/>
          <a:stretch/>
        </p:blipFill>
        <p:spPr>
          <a:xfrm>
            <a:off x="3001963" y="1916113"/>
            <a:ext cx="3200400" cy="4762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457200" y="274638"/>
            <a:ext cx="8229600" cy="70643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u="sng">
                <a:solidFill>
                  <a:schemeClr val="lt1"/>
                </a:solidFill>
              </a:rPr>
              <a:t>Kinetic Molecular Theory of Gases</a:t>
            </a:r>
            <a:br>
              <a:rPr lang="en-US" u="sng">
                <a:solidFill>
                  <a:schemeClr val="lt1"/>
                </a:solidFill>
              </a:rPr>
            </a:br>
            <a:endParaRPr>
              <a:solidFill>
                <a:schemeClr val="lt1"/>
              </a:solidFill>
            </a:endParaRPr>
          </a:p>
        </p:txBody>
      </p:sp>
      <p:sp>
        <p:nvSpPr>
          <p:cNvPr id="92" name="Google Shape;92;p2"/>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C000"/>
              </a:buClr>
              <a:buSzPts val="2400"/>
              <a:buFont typeface="Arial"/>
              <a:buNone/>
            </a:pPr>
            <a:r>
              <a:rPr b="1" i="1" lang="en-US" sz="2400">
                <a:solidFill>
                  <a:srgbClr val="FFC000"/>
                </a:solidFill>
                <a:latin typeface="Arial"/>
                <a:ea typeface="Arial"/>
                <a:cs typeface="Arial"/>
                <a:sym typeface="Arial"/>
              </a:rPr>
              <a:t>This theory describes what we refer to as an “ideal gas”.</a:t>
            </a:r>
            <a:endParaRPr b="1" sz="2400">
              <a:solidFill>
                <a:srgbClr val="FFC000"/>
              </a:solidFill>
              <a:latin typeface="Arial"/>
              <a:ea typeface="Arial"/>
              <a:cs typeface="Arial"/>
              <a:sym typeface="Arial"/>
            </a:endParaRPr>
          </a:p>
          <a:p>
            <a:pPr indent="0" lvl="0" marL="0" rtl="0" algn="l">
              <a:spcBef>
                <a:spcPts val="210"/>
              </a:spcBef>
              <a:spcAft>
                <a:spcPts val="0"/>
              </a:spcAft>
              <a:buClr>
                <a:schemeClr val="dk1"/>
              </a:buClr>
              <a:buSzPts val="1050"/>
              <a:buFont typeface="Arial"/>
              <a:buNone/>
            </a:pPr>
            <a:r>
              <a:t/>
            </a:r>
            <a:endParaRPr sz="1050">
              <a:solidFill>
                <a:schemeClr val="lt1"/>
              </a:solidFill>
              <a:latin typeface="Arial"/>
              <a:ea typeface="Arial"/>
              <a:cs typeface="Arial"/>
              <a:sym typeface="Arial"/>
            </a:endParaRPr>
          </a:p>
          <a:p>
            <a:pPr indent="-342900" lvl="0" marL="342900" rtl="0" algn="l">
              <a:spcBef>
                <a:spcPts val="480"/>
              </a:spcBef>
              <a:spcAft>
                <a:spcPts val="0"/>
              </a:spcAft>
              <a:buClr>
                <a:schemeClr val="lt1"/>
              </a:buClr>
              <a:buSzPts val="2400"/>
              <a:buFont typeface="Arial"/>
              <a:buChar char="•"/>
            </a:pPr>
            <a:r>
              <a:rPr lang="en-US" sz="2400">
                <a:solidFill>
                  <a:schemeClr val="lt1"/>
                </a:solidFill>
                <a:latin typeface="Arial"/>
                <a:ea typeface="Arial"/>
                <a:cs typeface="Arial"/>
                <a:sym typeface="Arial"/>
              </a:rPr>
              <a:t>The volume of an individual gas molecule is negligible compared to the volume of the container holding the gas.  Thus the molecules are very far apart and gases are considered compressible.</a:t>
            </a:r>
            <a:endParaRPr sz="2400">
              <a:solidFill>
                <a:schemeClr val="lt1"/>
              </a:solidFill>
              <a:latin typeface="Arial"/>
              <a:ea typeface="Arial"/>
              <a:cs typeface="Arial"/>
              <a:sym typeface="Arial"/>
            </a:endParaRPr>
          </a:p>
          <a:p>
            <a:pPr indent="-342900" lvl="0" marL="342900" rtl="0" algn="l">
              <a:spcBef>
                <a:spcPts val="480"/>
              </a:spcBef>
              <a:spcAft>
                <a:spcPts val="0"/>
              </a:spcAft>
              <a:buClr>
                <a:srgbClr val="BFBFBF"/>
              </a:buClr>
              <a:buSzPts val="2400"/>
              <a:buFont typeface="Arial"/>
              <a:buChar char="•"/>
            </a:pPr>
            <a:r>
              <a:rPr lang="en-US" sz="2400">
                <a:solidFill>
                  <a:srgbClr val="BFBFBF"/>
                </a:solidFill>
                <a:latin typeface="Arial"/>
                <a:ea typeface="Arial"/>
                <a:cs typeface="Arial"/>
                <a:sym typeface="Arial"/>
              </a:rPr>
              <a:t>There are neither attractive nor repulsive forces between gas molecules.</a:t>
            </a:r>
            <a:endParaRPr sz="2400">
              <a:solidFill>
                <a:srgbClr val="BFBFBF"/>
              </a:solidFill>
              <a:latin typeface="Arial"/>
              <a:ea typeface="Arial"/>
              <a:cs typeface="Arial"/>
              <a:sym typeface="Arial"/>
            </a:endParaRPr>
          </a:p>
          <a:p>
            <a:pPr indent="-342900" lvl="0" marL="342900" rtl="0" algn="l">
              <a:spcBef>
                <a:spcPts val="480"/>
              </a:spcBef>
              <a:spcAft>
                <a:spcPts val="0"/>
              </a:spcAft>
              <a:buClr>
                <a:schemeClr val="lt1"/>
              </a:buClr>
              <a:buSzPts val="2400"/>
              <a:buFont typeface="Arial"/>
              <a:buChar char="•"/>
            </a:pPr>
            <a:r>
              <a:rPr lang="en-US" sz="2400">
                <a:solidFill>
                  <a:schemeClr val="lt1"/>
                </a:solidFill>
                <a:latin typeface="Arial"/>
                <a:ea typeface="Arial"/>
                <a:cs typeface="Arial"/>
                <a:sym typeface="Arial"/>
              </a:rPr>
              <a:t>Gas molecules have high translational energy.</a:t>
            </a:r>
            <a:endParaRPr sz="2400">
              <a:solidFill>
                <a:schemeClr val="lt1"/>
              </a:solidFill>
              <a:latin typeface="Arial"/>
              <a:ea typeface="Arial"/>
              <a:cs typeface="Arial"/>
              <a:sym typeface="Arial"/>
            </a:endParaRPr>
          </a:p>
          <a:p>
            <a:pPr indent="-342900" lvl="0" marL="342900" rtl="0" algn="l">
              <a:spcBef>
                <a:spcPts val="480"/>
              </a:spcBef>
              <a:spcAft>
                <a:spcPts val="0"/>
              </a:spcAft>
              <a:buClr>
                <a:srgbClr val="BFBFBF"/>
              </a:buClr>
              <a:buSzPts val="2400"/>
              <a:buFont typeface="Arial"/>
              <a:buChar char="•"/>
            </a:pPr>
            <a:r>
              <a:rPr lang="en-US" sz="2400">
                <a:solidFill>
                  <a:srgbClr val="BFBFBF"/>
                </a:solidFill>
                <a:latin typeface="Arial"/>
                <a:ea typeface="Arial"/>
                <a:cs typeface="Arial"/>
                <a:sym typeface="Arial"/>
              </a:rPr>
              <a:t>Collisions of gas molecules are completely elastic, thus when gas molecules collide there is no loss in kinetic energy.</a:t>
            </a:r>
            <a:endParaRPr sz="2400">
              <a:solidFill>
                <a:srgbClr val="BFBFBF"/>
              </a:solidFill>
              <a:latin typeface="Arial"/>
              <a:ea typeface="Arial"/>
              <a:cs typeface="Arial"/>
              <a:sym typeface="Arial"/>
            </a:endParaRPr>
          </a:p>
          <a:p>
            <a:pPr indent="-342900" lvl="0" marL="342900" rtl="0" algn="l">
              <a:spcBef>
                <a:spcPts val="480"/>
              </a:spcBef>
              <a:spcAft>
                <a:spcPts val="0"/>
              </a:spcAft>
              <a:buClr>
                <a:schemeClr val="lt1"/>
              </a:buClr>
              <a:buSzPts val="2400"/>
              <a:buFont typeface="Arial"/>
              <a:buChar char="•"/>
            </a:pPr>
            <a:r>
              <a:rPr lang="en-US" sz="2400">
                <a:solidFill>
                  <a:schemeClr val="lt1"/>
                </a:solidFill>
                <a:latin typeface="Arial"/>
                <a:ea typeface="Arial"/>
                <a:cs typeface="Arial"/>
                <a:sym typeface="Arial"/>
              </a:rPr>
              <a:t>The average kinetic energy of gas molecules is directly proportional to temperature as well as mass and inversely proportional to pressure.</a:t>
            </a:r>
            <a:endParaRPr sz="2400">
              <a:solidFill>
                <a:schemeClr val="lt1"/>
              </a:solidFill>
              <a:latin typeface="Arial"/>
              <a:ea typeface="Arial"/>
              <a:cs typeface="Arial"/>
              <a:sym typeface="Arial"/>
            </a:endParaRPr>
          </a:p>
          <a:p>
            <a:pPr indent="-190500" lvl="0" marL="34290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animEffect filter="fade" transition="in">
                                      <p:cBhvr>
                                        <p:cTn dur="500"/>
                                        <p:tgtEl>
                                          <p:spTgt spid="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animEffect filter="fade" transition="in">
                                      <p:cBhvr>
                                        <p:cTn dur="500"/>
                                        <p:tgtEl>
                                          <p:spTgt spid="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animEffect filter="fade" transition="in">
                                      <p:cBhvr>
                                        <p:cTn dur="500"/>
                                        <p:tgtEl>
                                          <p:spTgt spid="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animEffect filter="fade" transition="in">
                                      <p:cBhvr>
                                        <p:cTn dur="500"/>
                                        <p:tgtEl>
                                          <p:spTgt spid="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animEffect filter="fade" transition="in">
                                      <p:cBhvr>
                                        <p:cTn dur="500"/>
                                        <p:tgtEl>
                                          <p:spTgt spid="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5" st="5"/>
                                            </p:txEl>
                                          </p:spTgt>
                                        </p:tgtEl>
                                        <p:attrNameLst>
                                          <p:attrName>style.visibility</p:attrName>
                                        </p:attrNameLst>
                                      </p:cBhvr>
                                      <p:to>
                                        <p:strVal val="visible"/>
                                      </p:to>
                                    </p:set>
                                    <p:animEffect filter="fade" transition="in">
                                      <p:cBhvr>
                                        <p:cTn dur="500"/>
                                        <p:tgtEl>
                                          <p:spTgt spid="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6" st="6"/>
                                            </p:txEl>
                                          </p:spTgt>
                                        </p:tgtEl>
                                        <p:attrNameLst>
                                          <p:attrName>style.visibility</p:attrName>
                                        </p:attrNameLst>
                                      </p:cBhvr>
                                      <p:to>
                                        <p:strVal val="visible"/>
                                      </p:to>
                                    </p:set>
                                    <p:animEffect filter="fade" transition="in">
                                      <p:cBhvr>
                                        <p:cTn dur="500"/>
                                        <p:tgtEl>
                                          <p:spTgt spid="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7" st="7"/>
                                            </p:txEl>
                                          </p:spTgt>
                                        </p:tgtEl>
                                        <p:attrNameLst>
                                          <p:attrName>style.visibility</p:attrName>
                                        </p:attrNameLst>
                                      </p:cBhvr>
                                      <p:to>
                                        <p:strVal val="visible"/>
                                      </p:to>
                                    </p:set>
                                    <p:animEffect filter="fade" transition="in">
                                      <p:cBhvr>
                                        <p:cTn dur="500"/>
                                        <p:tgtEl>
                                          <p:spTgt spid="9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468313" y="260350"/>
            <a:ext cx="8229600" cy="7064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u="sng">
                <a:solidFill>
                  <a:schemeClr val="lt1"/>
                </a:solidFill>
              </a:rPr>
              <a:t>States of Matter and the KMT</a:t>
            </a:r>
            <a:br>
              <a:rPr lang="en-US" u="sng">
                <a:solidFill>
                  <a:schemeClr val="lt1"/>
                </a:solidFill>
              </a:rPr>
            </a:br>
            <a:endParaRPr>
              <a:solidFill>
                <a:schemeClr val="lt1"/>
              </a:solidFill>
            </a:endParaRPr>
          </a:p>
        </p:txBody>
      </p:sp>
      <p:sp>
        <p:nvSpPr>
          <p:cNvPr id="98" name="Google Shape;98;p3"/>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C000"/>
              </a:buClr>
              <a:buSzPts val="3200"/>
              <a:buFont typeface="Arial"/>
              <a:buNone/>
            </a:pPr>
            <a:r>
              <a:rPr b="1" i="1" lang="en-US" u="sng">
                <a:solidFill>
                  <a:srgbClr val="FFC000"/>
                </a:solidFill>
                <a:latin typeface="Arial"/>
                <a:ea typeface="Arial"/>
                <a:cs typeface="Arial"/>
                <a:sym typeface="Arial"/>
              </a:rPr>
              <a:t>Types of Motion:</a:t>
            </a:r>
            <a:endParaRPr b="1" u="sng">
              <a:solidFill>
                <a:srgbClr val="FFC000"/>
              </a:solidFill>
              <a:latin typeface="Arial"/>
              <a:ea typeface="Arial"/>
              <a:cs typeface="Arial"/>
              <a:sym typeface="Arial"/>
            </a:endParaRPr>
          </a:p>
          <a:p>
            <a:pPr indent="0" lvl="0" marL="0" rtl="0" algn="l">
              <a:spcBef>
                <a:spcPts val="240"/>
              </a:spcBef>
              <a:spcAft>
                <a:spcPts val="0"/>
              </a:spcAft>
              <a:buClr>
                <a:schemeClr val="dk1"/>
              </a:buClr>
              <a:buSzPts val="1200"/>
              <a:buFont typeface="Arial"/>
              <a:buNone/>
            </a:pPr>
            <a:r>
              <a:t/>
            </a:r>
            <a:endParaRPr sz="1200">
              <a:solidFill>
                <a:schemeClr val="lt1"/>
              </a:solidFill>
              <a:latin typeface="Arial"/>
              <a:ea typeface="Arial"/>
              <a:cs typeface="Arial"/>
              <a:sym typeface="Arial"/>
            </a:endParaRPr>
          </a:p>
          <a:p>
            <a:pPr indent="-457200" lvl="0" marL="457200" rtl="0" algn="l">
              <a:spcBef>
                <a:spcPts val="560"/>
              </a:spcBef>
              <a:spcAft>
                <a:spcPts val="0"/>
              </a:spcAft>
              <a:buClr>
                <a:srgbClr val="FF66CC"/>
              </a:buClr>
              <a:buSzPts val="2800"/>
              <a:buFont typeface="Calibri"/>
              <a:buAutoNum type="arabicPeriod"/>
            </a:pPr>
            <a:r>
              <a:rPr b="1" lang="en-US" sz="2800" u="sng">
                <a:solidFill>
                  <a:srgbClr val="FF66CC"/>
                </a:solidFill>
                <a:latin typeface="Arial"/>
                <a:ea typeface="Arial"/>
                <a:cs typeface="Arial"/>
                <a:sym typeface="Arial"/>
              </a:rPr>
              <a:t>Translational Motion </a:t>
            </a:r>
            <a:r>
              <a:rPr lang="en-US" sz="2800">
                <a:solidFill>
                  <a:schemeClr val="lt1"/>
                </a:solidFill>
                <a:latin typeface="Arial"/>
                <a:ea typeface="Arial"/>
                <a:cs typeface="Arial"/>
                <a:sym typeface="Arial"/>
              </a:rPr>
              <a:t>– the independent motion of particles from one point in space to another</a:t>
            </a:r>
            <a:endParaRPr/>
          </a:p>
          <a:p>
            <a:pPr indent="-457200" lvl="0" marL="457200" rtl="0" algn="l">
              <a:spcBef>
                <a:spcPts val="560"/>
              </a:spcBef>
              <a:spcAft>
                <a:spcPts val="0"/>
              </a:spcAft>
              <a:buClr>
                <a:srgbClr val="FF66CC"/>
              </a:buClr>
              <a:buSzPts val="2800"/>
              <a:buFont typeface="Calibri"/>
              <a:buAutoNum type="arabicPeriod"/>
            </a:pPr>
            <a:r>
              <a:rPr b="1" lang="en-US" sz="2800" u="sng">
                <a:solidFill>
                  <a:srgbClr val="FF66CC"/>
                </a:solidFill>
                <a:latin typeface="Arial"/>
                <a:ea typeface="Arial"/>
                <a:cs typeface="Arial"/>
                <a:sym typeface="Arial"/>
              </a:rPr>
              <a:t>Rotational Motion </a:t>
            </a:r>
            <a:r>
              <a:rPr lang="en-US" sz="2800">
                <a:solidFill>
                  <a:schemeClr val="lt1"/>
                </a:solidFill>
                <a:latin typeface="Arial"/>
                <a:ea typeface="Arial"/>
                <a:cs typeface="Arial"/>
                <a:sym typeface="Arial"/>
              </a:rPr>
              <a:t>– the motion of particles around other particles</a:t>
            </a:r>
            <a:endParaRPr/>
          </a:p>
          <a:p>
            <a:pPr indent="-457200" lvl="0" marL="457200" rtl="0" algn="l">
              <a:spcBef>
                <a:spcPts val="560"/>
              </a:spcBef>
              <a:spcAft>
                <a:spcPts val="0"/>
              </a:spcAft>
              <a:buClr>
                <a:srgbClr val="FF66CC"/>
              </a:buClr>
              <a:buSzPts val="2800"/>
              <a:buFont typeface="Calibri"/>
              <a:buAutoNum type="arabicPeriod"/>
            </a:pPr>
            <a:r>
              <a:rPr b="1" lang="en-US" sz="2800" u="sng">
                <a:solidFill>
                  <a:srgbClr val="FF66CC"/>
                </a:solidFill>
                <a:latin typeface="Arial"/>
                <a:ea typeface="Arial"/>
                <a:cs typeface="Arial"/>
                <a:sym typeface="Arial"/>
              </a:rPr>
              <a:t>Vibrational Motion </a:t>
            </a:r>
            <a:r>
              <a:rPr lang="en-US" sz="2800">
                <a:solidFill>
                  <a:schemeClr val="lt1"/>
                </a:solidFill>
                <a:latin typeface="Arial"/>
                <a:ea typeface="Arial"/>
                <a:cs typeface="Arial"/>
                <a:sym typeface="Arial"/>
              </a:rPr>
              <a:t>– the back and forth motion of particles that are fixed in position</a:t>
            </a:r>
            <a:endParaRPr sz="2800">
              <a:solidFill>
                <a:schemeClr val="lt1"/>
              </a:solidFill>
              <a:latin typeface="Arial"/>
              <a:ea typeface="Arial"/>
              <a:cs typeface="Arial"/>
              <a:sym typeface="Arial"/>
            </a:endParaRPr>
          </a:p>
        </p:txBody>
      </p:sp>
      <p:pic>
        <p:nvPicPr>
          <p:cNvPr id="99" name="Google Shape;99;p3"/>
          <p:cNvPicPr preferRelativeResize="0"/>
          <p:nvPr/>
        </p:nvPicPr>
        <p:blipFill rotWithShape="1">
          <a:blip r:embed="rId3">
            <a:alphaModFix/>
          </a:blip>
          <a:srcRect b="0" l="0" r="0" t="0"/>
          <a:stretch/>
        </p:blipFill>
        <p:spPr>
          <a:xfrm>
            <a:off x="2339975" y="4437063"/>
            <a:ext cx="3744913" cy="2255837"/>
          </a:xfrm>
          <a:prstGeom prst="rect">
            <a:avLst/>
          </a:prstGeom>
          <a:solidFill>
            <a:schemeClr val="lt1"/>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animEffect filter="fade" transition="in">
                                      <p:cBhvr>
                                        <p:cTn dur="500"/>
                                        <p:tgtEl>
                                          <p:spTgt spid="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animEffect filter="fade" transition="in">
                                      <p:cBhvr>
                                        <p:cTn dur="500"/>
                                        <p:tgtEl>
                                          <p:spTgt spid="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animEffect filter="fade" transition="in">
                                      <p:cBhvr>
                                        <p:cTn dur="500"/>
                                        <p:tgtEl>
                                          <p:spTgt spid="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animEffect filter="fade" transition="in">
                                      <p:cBhvr>
                                        <p:cTn dur="500"/>
                                        <p:tgtEl>
                                          <p:spTgt spid="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animEffect filter="fade" transition="in">
                                      <p:cBhvr>
                                        <p:cTn dur="500"/>
                                        <p:tgtEl>
                                          <p:spTgt spid="9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468313" y="260350"/>
            <a:ext cx="8229600" cy="7064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u="sng">
                <a:solidFill>
                  <a:schemeClr val="lt1"/>
                </a:solidFill>
              </a:rPr>
              <a:t>States of Matter and the KMT</a:t>
            </a:r>
            <a:br>
              <a:rPr lang="en-US" u="sng">
                <a:solidFill>
                  <a:schemeClr val="lt1"/>
                </a:solidFill>
              </a:rPr>
            </a:br>
            <a:endParaRPr>
              <a:solidFill>
                <a:schemeClr val="lt1"/>
              </a:solidFill>
            </a:endParaRPr>
          </a:p>
        </p:txBody>
      </p:sp>
      <p:sp>
        <p:nvSpPr>
          <p:cNvPr id="105" name="Google Shape;105;p4"/>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FFC000"/>
              </a:buClr>
              <a:buSzPts val="3200"/>
              <a:buFont typeface="Arial"/>
              <a:buNone/>
            </a:pPr>
            <a:r>
              <a:rPr b="1" i="1" lang="en-US" u="sng">
                <a:solidFill>
                  <a:srgbClr val="FFC000"/>
                </a:solidFill>
                <a:latin typeface="Arial"/>
                <a:ea typeface="Arial"/>
                <a:cs typeface="Arial"/>
                <a:sym typeface="Arial"/>
              </a:rPr>
              <a:t>Comparing Solids, Liquids &amp; Gases:</a:t>
            </a:r>
            <a:endParaRPr/>
          </a:p>
          <a:p>
            <a:pPr indent="0" lvl="0" marL="0" rtl="0" algn="ctr">
              <a:spcBef>
                <a:spcPts val="640"/>
              </a:spcBef>
              <a:spcAft>
                <a:spcPts val="0"/>
              </a:spcAft>
              <a:buClr>
                <a:schemeClr val="dk1"/>
              </a:buClr>
              <a:buSzPts val="3200"/>
              <a:buFont typeface="Arial"/>
              <a:buNone/>
            </a:pPr>
            <a:r>
              <a:t/>
            </a:r>
            <a:endParaRPr b="1" u="sng">
              <a:solidFill>
                <a:srgbClr val="FFC000"/>
              </a:solidFill>
              <a:latin typeface="Arial"/>
              <a:ea typeface="Arial"/>
              <a:cs typeface="Arial"/>
              <a:sym typeface="Arial"/>
            </a:endParaRPr>
          </a:p>
          <a:p>
            <a:pPr indent="0" lvl="0" marL="0" rtl="0" algn="ctr">
              <a:spcBef>
                <a:spcPts val="240"/>
              </a:spcBef>
              <a:spcAft>
                <a:spcPts val="0"/>
              </a:spcAft>
              <a:buClr>
                <a:schemeClr val="dk1"/>
              </a:buClr>
              <a:buSzPts val="1200"/>
              <a:buFont typeface="Arial"/>
              <a:buNone/>
            </a:pPr>
            <a:r>
              <a:t/>
            </a:r>
            <a:endParaRPr sz="1200">
              <a:solidFill>
                <a:schemeClr val="lt1"/>
              </a:solidFill>
              <a:latin typeface="Arial"/>
              <a:ea typeface="Arial"/>
              <a:cs typeface="Arial"/>
              <a:sym typeface="Arial"/>
            </a:endParaRPr>
          </a:p>
        </p:txBody>
      </p:sp>
      <p:graphicFrame>
        <p:nvGraphicFramePr>
          <p:cNvPr id="106" name="Google Shape;106;p4"/>
          <p:cNvGraphicFramePr/>
          <p:nvPr/>
        </p:nvGraphicFramePr>
        <p:xfrm>
          <a:off x="323850" y="1397000"/>
          <a:ext cx="3000000" cy="3000000"/>
        </p:xfrm>
        <a:graphic>
          <a:graphicData uri="http://schemas.openxmlformats.org/drawingml/2006/table">
            <a:tbl>
              <a:tblPr bandRow="1" firstRow="1">
                <a:noFill/>
                <a:tableStyleId>{2EED7565-A696-4B49-A5CC-65C8693FE214}</a:tableStyleId>
              </a:tblPr>
              <a:tblGrid>
                <a:gridCol w="2880325"/>
                <a:gridCol w="2880325"/>
                <a:gridCol w="2880325"/>
              </a:tblGrid>
              <a:tr h="722325">
                <a:tc>
                  <a:txBody>
                    <a:bodyPr/>
                    <a:lstStyle/>
                    <a:p>
                      <a:pPr indent="0" lvl="0" marL="0" marR="0" rtl="0" algn="ctr">
                        <a:spcBef>
                          <a:spcPts val="0"/>
                        </a:spcBef>
                        <a:spcAft>
                          <a:spcPts val="0"/>
                        </a:spcAft>
                        <a:buNone/>
                      </a:pPr>
                      <a:r>
                        <a:rPr lang="en-US" sz="3200" u="none" cap="none" strike="noStrike"/>
                        <a:t>SOLIDS</a:t>
                      </a:r>
                      <a:endParaRPr sz="3200" u="none" cap="none" strike="noStrike"/>
                    </a:p>
                  </a:txBody>
                  <a:tcPr marT="45725" marB="45725" marR="91450" marL="91450"/>
                </a:tc>
                <a:tc>
                  <a:txBody>
                    <a:bodyPr/>
                    <a:lstStyle/>
                    <a:p>
                      <a:pPr indent="0" lvl="0" marL="0" marR="0" rtl="0" algn="ctr">
                        <a:spcBef>
                          <a:spcPts val="0"/>
                        </a:spcBef>
                        <a:spcAft>
                          <a:spcPts val="0"/>
                        </a:spcAft>
                        <a:buNone/>
                      </a:pPr>
                      <a:r>
                        <a:rPr lang="en-US" sz="3200" u="none" cap="none" strike="noStrike"/>
                        <a:t>LIQUIDS</a:t>
                      </a:r>
                      <a:endParaRPr sz="3200" u="none" cap="none" strike="noStrike"/>
                    </a:p>
                  </a:txBody>
                  <a:tcPr marT="45725" marB="45725" marR="91450" marL="91450"/>
                </a:tc>
                <a:tc>
                  <a:txBody>
                    <a:bodyPr/>
                    <a:lstStyle/>
                    <a:p>
                      <a:pPr indent="0" lvl="0" marL="0" marR="0" rtl="0" algn="ctr">
                        <a:spcBef>
                          <a:spcPts val="0"/>
                        </a:spcBef>
                        <a:spcAft>
                          <a:spcPts val="0"/>
                        </a:spcAft>
                        <a:buNone/>
                      </a:pPr>
                      <a:r>
                        <a:rPr lang="en-US" sz="3200" u="none" cap="none" strike="noStrike"/>
                        <a:t>GASES</a:t>
                      </a:r>
                      <a:endParaRPr sz="3200" u="none" cap="none" strike="noStrike"/>
                    </a:p>
                  </a:txBody>
                  <a:tcPr marT="45725" marB="45725" marR="91450" marL="91450"/>
                </a:tc>
              </a:tr>
              <a:tr h="722325">
                <a:tc>
                  <a:txBody>
                    <a:bodyPr/>
                    <a:lstStyle/>
                    <a:p>
                      <a:pPr indent="0" lvl="0" marL="0" marR="0" rtl="0" algn="ctr">
                        <a:spcBef>
                          <a:spcPts val="0"/>
                        </a:spcBef>
                        <a:spcAft>
                          <a:spcPts val="0"/>
                        </a:spcAft>
                        <a:buNone/>
                      </a:pPr>
                      <a:r>
                        <a:rPr b="1" lang="en-US" sz="2000" u="none" cap="none" strike="noStrike"/>
                        <a:t>Incompressible</a:t>
                      </a:r>
                      <a:endParaRPr/>
                    </a:p>
                    <a:p>
                      <a:pPr indent="0" lvl="0" marL="0" marR="0" rtl="0" algn="ctr">
                        <a:spcBef>
                          <a:spcPts val="0"/>
                        </a:spcBef>
                        <a:spcAft>
                          <a:spcPts val="0"/>
                        </a:spcAft>
                        <a:buNone/>
                      </a:pPr>
                      <a:r>
                        <a:rPr b="1" lang="en-US" sz="2000" u="none" cap="none" strike="noStrike"/>
                        <a:t>(definite volume)</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Incompressible</a:t>
                      </a:r>
                      <a:endParaRPr/>
                    </a:p>
                    <a:p>
                      <a:pPr indent="0" lvl="0" marL="0" marR="0" rtl="0" algn="ctr">
                        <a:spcBef>
                          <a:spcPts val="0"/>
                        </a:spcBef>
                        <a:spcAft>
                          <a:spcPts val="0"/>
                        </a:spcAft>
                        <a:buNone/>
                      </a:pPr>
                      <a:r>
                        <a:rPr b="1" lang="en-US" sz="2000" u="none" cap="none" strike="noStrike"/>
                        <a:t>(definite volume)</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Compressible</a:t>
                      </a:r>
                      <a:endParaRPr/>
                    </a:p>
                    <a:p>
                      <a:pPr indent="0" lvl="0" marL="0" marR="0" rtl="0" algn="ctr">
                        <a:spcBef>
                          <a:spcPts val="0"/>
                        </a:spcBef>
                        <a:spcAft>
                          <a:spcPts val="0"/>
                        </a:spcAft>
                        <a:buNone/>
                      </a:pPr>
                      <a:r>
                        <a:rPr b="1" lang="en-US" sz="2000" u="none" cap="none" strike="noStrike"/>
                        <a:t>(indefinite volume)</a:t>
                      </a:r>
                      <a:endParaRPr b="1" sz="2000" u="none" cap="none" strike="noStrike"/>
                    </a:p>
                  </a:txBody>
                  <a:tcPr marT="45725" marB="45725" marR="91450" marL="91450"/>
                </a:tc>
              </a:tr>
              <a:tr h="722325">
                <a:tc>
                  <a:txBody>
                    <a:bodyPr/>
                    <a:lstStyle/>
                    <a:p>
                      <a:pPr indent="0" lvl="0" marL="0" marR="0" rtl="0" algn="ctr">
                        <a:spcBef>
                          <a:spcPts val="0"/>
                        </a:spcBef>
                        <a:spcAft>
                          <a:spcPts val="0"/>
                        </a:spcAft>
                        <a:buNone/>
                      </a:pPr>
                      <a:r>
                        <a:rPr b="1" lang="en-US" sz="2000" u="none" cap="none" strike="noStrike"/>
                        <a:t>Crystal lattice</a:t>
                      </a:r>
                      <a:endParaRPr/>
                    </a:p>
                    <a:p>
                      <a:pPr indent="0" lvl="0" marL="0" marR="0" rtl="0" algn="ctr">
                        <a:spcBef>
                          <a:spcPts val="0"/>
                        </a:spcBef>
                        <a:spcAft>
                          <a:spcPts val="0"/>
                        </a:spcAft>
                        <a:buNone/>
                      </a:pPr>
                      <a:r>
                        <a:rPr b="1" lang="en-US" sz="2000" u="none" cap="none" strike="noStrike"/>
                        <a:t>(fixed structure)</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Indefinite shape</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Indefinite shape</a:t>
                      </a:r>
                      <a:endParaRPr b="1" sz="2000" u="none" cap="none" strike="noStrike"/>
                    </a:p>
                  </a:txBody>
                  <a:tcPr marT="45725" marB="45725" marR="91450" marL="91450"/>
                </a:tc>
              </a:tr>
              <a:tr h="722325">
                <a:tc>
                  <a:txBody>
                    <a:bodyPr/>
                    <a:lstStyle/>
                    <a:p>
                      <a:pPr indent="0" lvl="0" marL="0" marR="0" rtl="0" algn="ctr">
                        <a:spcBef>
                          <a:spcPts val="0"/>
                        </a:spcBef>
                        <a:spcAft>
                          <a:spcPts val="0"/>
                        </a:spcAft>
                        <a:buNone/>
                      </a:pPr>
                      <a:r>
                        <a:rPr b="1" lang="en-US" sz="2000" u="none" cap="none" strike="noStrike"/>
                        <a:t>Cannot flow</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Flows</a:t>
                      </a:r>
                      <a:endParaRPr/>
                    </a:p>
                    <a:p>
                      <a:pPr indent="0" lvl="0" marL="0" marR="0" rtl="0" algn="ctr">
                        <a:spcBef>
                          <a:spcPts val="0"/>
                        </a:spcBef>
                        <a:spcAft>
                          <a:spcPts val="0"/>
                        </a:spcAft>
                        <a:buNone/>
                      </a:pPr>
                      <a:r>
                        <a:rPr b="1" lang="en-US" sz="2000" u="none" cap="none" strike="noStrike"/>
                        <a:t>(According to gravity)</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Flows</a:t>
                      </a:r>
                      <a:endParaRPr/>
                    </a:p>
                    <a:p>
                      <a:pPr indent="0" lvl="0" marL="0" marR="0" rtl="0" algn="ctr">
                        <a:spcBef>
                          <a:spcPts val="0"/>
                        </a:spcBef>
                        <a:spcAft>
                          <a:spcPts val="0"/>
                        </a:spcAft>
                        <a:buNone/>
                      </a:pPr>
                      <a:r>
                        <a:rPr b="1" lang="en-US" sz="2000" u="none" cap="none" strike="noStrike"/>
                        <a:t>(In all directions)</a:t>
                      </a:r>
                      <a:endParaRPr b="1" sz="2000" u="none" cap="none" strike="noStrike"/>
                    </a:p>
                  </a:txBody>
                  <a:tcPr marT="45725" marB="45725" marR="91450" marL="91450"/>
                </a:tc>
              </a:tr>
              <a:tr h="722325">
                <a:tc>
                  <a:txBody>
                    <a:bodyPr/>
                    <a:lstStyle/>
                    <a:p>
                      <a:pPr indent="0" lvl="0" marL="0" marR="0" rtl="0" algn="ctr">
                        <a:spcBef>
                          <a:spcPts val="0"/>
                        </a:spcBef>
                        <a:spcAft>
                          <a:spcPts val="0"/>
                        </a:spcAft>
                        <a:buNone/>
                      </a:pPr>
                      <a:r>
                        <a:rPr b="1" lang="en-US" sz="2000" u="none" cap="none" strike="noStrike"/>
                        <a:t>Vibrational Motion</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Vibrational Motion</a:t>
                      </a:r>
                      <a:endParaRPr/>
                    </a:p>
                    <a:p>
                      <a:pPr indent="0" lvl="0" marL="0" marR="0" rtl="0" algn="ctr">
                        <a:spcBef>
                          <a:spcPts val="0"/>
                        </a:spcBef>
                        <a:spcAft>
                          <a:spcPts val="0"/>
                        </a:spcAft>
                        <a:buNone/>
                      </a:pPr>
                      <a:r>
                        <a:rPr b="1" lang="en-US" sz="2000" u="none" cap="none" strike="noStrike"/>
                        <a:t>Rotational Motion</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Vibrational Motion</a:t>
                      </a:r>
                      <a:endParaRPr/>
                    </a:p>
                    <a:p>
                      <a:pPr indent="0" lvl="0" marL="0" marR="0" rtl="0" algn="ctr">
                        <a:spcBef>
                          <a:spcPts val="0"/>
                        </a:spcBef>
                        <a:spcAft>
                          <a:spcPts val="0"/>
                        </a:spcAft>
                        <a:buNone/>
                      </a:pPr>
                      <a:r>
                        <a:rPr b="1" lang="en-US" sz="2000" u="none" cap="none" strike="noStrike"/>
                        <a:t>Rotational Motion</a:t>
                      </a:r>
                      <a:endParaRPr/>
                    </a:p>
                    <a:p>
                      <a:pPr indent="0" lvl="0" marL="0" marR="0" rtl="0" algn="ctr">
                        <a:spcBef>
                          <a:spcPts val="0"/>
                        </a:spcBef>
                        <a:spcAft>
                          <a:spcPts val="0"/>
                        </a:spcAft>
                        <a:buNone/>
                      </a:pPr>
                      <a:r>
                        <a:rPr b="1" lang="en-US" sz="2000" u="none" cap="none" strike="noStrike"/>
                        <a:t>Translational Motion</a:t>
                      </a:r>
                      <a:endParaRPr b="1" sz="2000" u="none" cap="none" strike="noStrike"/>
                    </a:p>
                  </a:txBody>
                  <a:tcPr marT="45725" marB="45725" marR="91450" marL="91450"/>
                </a:tc>
              </a:tr>
              <a:tr h="722325">
                <a:tc>
                  <a:txBody>
                    <a:bodyPr/>
                    <a:lstStyle/>
                    <a:p>
                      <a:pPr indent="0" lvl="0" marL="0" marR="0" rtl="0" algn="ctr">
                        <a:spcBef>
                          <a:spcPts val="0"/>
                        </a:spcBef>
                        <a:spcAft>
                          <a:spcPts val="0"/>
                        </a:spcAft>
                        <a:buNone/>
                      </a:pPr>
                      <a:r>
                        <a:rPr b="1" lang="en-US" sz="2000" u="none" cap="none" strike="noStrike"/>
                        <a:t>Very low</a:t>
                      </a:r>
                      <a:endParaRPr/>
                    </a:p>
                    <a:p>
                      <a:pPr indent="0" lvl="0" marL="0" marR="0" rtl="0" algn="ctr">
                        <a:spcBef>
                          <a:spcPts val="0"/>
                        </a:spcBef>
                        <a:spcAft>
                          <a:spcPts val="0"/>
                        </a:spcAft>
                        <a:buNone/>
                      </a:pPr>
                      <a:r>
                        <a:rPr b="1" lang="en-US" sz="2000" u="none" cap="none" strike="noStrike"/>
                        <a:t>Degree of Disorder</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Medium </a:t>
                      </a:r>
                      <a:endParaRPr/>
                    </a:p>
                    <a:p>
                      <a:pPr indent="0" lvl="0" marL="0" marR="0" rtl="0" algn="ctr">
                        <a:spcBef>
                          <a:spcPts val="0"/>
                        </a:spcBef>
                        <a:spcAft>
                          <a:spcPts val="0"/>
                        </a:spcAft>
                        <a:buNone/>
                      </a:pPr>
                      <a:r>
                        <a:rPr b="1" lang="en-US" sz="2000" u="none" cap="none" strike="noStrike"/>
                        <a:t>Degree of Disorder</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Very High</a:t>
                      </a:r>
                      <a:endParaRPr/>
                    </a:p>
                    <a:p>
                      <a:pPr indent="0" lvl="0" marL="0" marR="0" rtl="0" algn="ctr">
                        <a:spcBef>
                          <a:spcPts val="0"/>
                        </a:spcBef>
                        <a:spcAft>
                          <a:spcPts val="0"/>
                        </a:spcAft>
                        <a:buNone/>
                      </a:pPr>
                      <a:r>
                        <a:rPr b="1" lang="en-US" sz="2000" u="none" cap="none" strike="noStrike"/>
                        <a:t>Degree of Disorder</a:t>
                      </a:r>
                      <a:endParaRPr b="1" sz="2000" u="none" cap="none" strike="noStrike"/>
                    </a:p>
                  </a:txBody>
                  <a:tcPr marT="45725" marB="45725" marR="91450" marL="91450"/>
                </a:tc>
              </a:tr>
              <a:tr h="722325">
                <a:tc>
                  <a:txBody>
                    <a:bodyPr/>
                    <a:lstStyle/>
                    <a:p>
                      <a:pPr indent="0" lvl="0" marL="0" marR="0" rtl="0" algn="ctr">
                        <a:spcBef>
                          <a:spcPts val="0"/>
                        </a:spcBef>
                        <a:spcAft>
                          <a:spcPts val="0"/>
                        </a:spcAft>
                        <a:buNone/>
                      </a:pPr>
                      <a:r>
                        <a:rPr b="1" lang="en-US" sz="2000" u="none" cap="none" strike="noStrike"/>
                        <a:t>Strongest attractive forces between particles</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Strong attractive forces between particles</a:t>
                      </a:r>
                      <a:endParaRPr b="1" sz="2000" u="none" cap="none" strike="noStrike"/>
                    </a:p>
                  </a:txBody>
                  <a:tcPr marT="45725" marB="45725" marR="91450" marL="91450"/>
                </a:tc>
                <a:tc>
                  <a:txBody>
                    <a:bodyPr/>
                    <a:lstStyle/>
                    <a:p>
                      <a:pPr indent="0" lvl="0" marL="0" marR="0" rtl="0" algn="ctr">
                        <a:spcBef>
                          <a:spcPts val="0"/>
                        </a:spcBef>
                        <a:spcAft>
                          <a:spcPts val="0"/>
                        </a:spcAft>
                        <a:buNone/>
                      </a:pPr>
                      <a:r>
                        <a:rPr b="1" lang="en-US" sz="2000" u="none" cap="none" strike="noStrike"/>
                        <a:t>Weakest attractive forces between particles</a:t>
                      </a:r>
                      <a:endParaRPr b="1" sz="2000" u="none" cap="none" strike="noStrike"/>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5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500"/>
                                        <p:tgtEl>
                                          <p:spTgt spid="1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Effect filter="fade" transition="in">
                                      <p:cBhvr>
                                        <p:cTn dur="500"/>
                                        <p:tgtEl>
                                          <p:spTgt spid="10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468313" y="260350"/>
            <a:ext cx="8229600" cy="7064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u="sng">
                <a:solidFill>
                  <a:schemeClr val="lt1"/>
                </a:solidFill>
              </a:rPr>
              <a:t>States of Matter and the KMT</a:t>
            </a:r>
            <a:br>
              <a:rPr lang="en-US" u="sng">
                <a:solidFill>
                  <a:schemeClr val="lt1"/>
                </a:solidFill>
              </a:rPr>
            </a:br>
            <a:endParaRPr>
              <a:solidFill>
                <a:schemeClr val="lt1"/>
              </a:solidFill>
            </a:endParaRPr>
          </a:p>
        </p:txBody>
      </p:sp>
      <p:sp>
        <p:nvSpPr>
          <p:cNvPr id="112" name="Google Shape;112;p5"/>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C000"/>
              </a:buClr>
              <a:buSzPts val="3200"/>
              <a:buFont typeface="Arial"/>
              <a:buNone/>
            </a:pPr>
            <a:r>
              <a:rPr b="1" i="1" lang="en-US" u="sng">
                <a:solidFill>
                  <a:srgbClr val="FFC000"/>
                </a:solidFill>
                <a:latin typeface="Arial"/>
                <a:ea typeface="Arial"/>
                <a:cs typeface="Arial"/>
                <a:sym typeface="Arial"/>
              </a:rPr>
              <a:t>Intermolecular Forces:</a:t>
            </a:r>
            <a:endParaRPr b="1" u="sng">
              <a:solidFill>
                <a:srgbClr val="FFC000"/>
              </a:solidFill>
              <a:latin typeface="Arial"/>
              <a:ea typeface="Arial"/>
              <a:cs typeface="Arial"/>
              <a:sym typeface="Arial"/>
            </a:endParaRPr>
          </a:p>
          <a:p>
            <a:pPr indent="0" lvl="0" marL="0" rtl="0" algn="l">
              <a:spcBef>
                <a:spcPts val="240"/>
              </a:spcBef>
              <a:spcAft>
                <a:spcPts val="0"/>
              </a:spcAft>
              <a:buClr>
                <a:schemeClr val="dk1"/>
              </a:buClr>
              <a:buSzPts val="1200"/>
              <a:buFont typeface="Arial"/>
              <a:buNone/>
            </a:pPr>
            <a:r>
              <a:t/>
            </a:r>
            <a:endParaRPr sz="12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b="1" lang="en-US" sz="2800">
                <a:solidFill>
                  <a:schemeClr val="lt1"/>
                </a:solidFill>
                <a:latin typeface="Arial"/>
                <a:ea typeface="Arial"/>
                <a:cs typeface="Arial"/>
                <a:sym typeface="Arial"/>
              </a:rPr>
              <a:t>Forces between neutral molecules or between molecules &amp; ions</a:t>
            </a:r>
            <a:endParaRPr/>
          </a:p>
          <a:p>
            <a:pPr indent="-342900" lvl="0" marL="342900" rtl="0" algn="l">
              <a:spcBef>
                <a:spcPts val="560"/>
              </a:spcBef>
              <a:spcAft>
                <a:spcPts val="0"/>
              </a:spcAft>
              <a:buClr>
                <a:srgbClr val="92D050"/>
              </a:buClr>
              <a:buSzPts val="2800"/>
              <a:buFont typeface="Arial"/>
              <a:buChar char="•"/>
            </a:pPr>
            <a:r>
              <a:rPr b="1" lang="en-US" sz="2800">
                <a:solidFill>
                  <a:srgbClr val="92D050"/>
                </a:solidFill>
                <a:latin typeface="Arial"/>
                <a:ea typeface="Arial"/>
                <a:cs typeface="Arial"/>
                <a:sym typeface="Arial"/>
              </a:rPr>
              <a:t>Dipole-dipole Forces</a:t>
            </a:r>
            <a:r>
              <a:rPr lang="en-US" sz="2800">
                <a:solidFill>
                  <a:srgbClr val="92D050"/>
                </a:solidFill>
                <a:latin typeface="Arial"/>
                <a:ea typeface="Arial"/>
                <a:cs typeface="Arial"/>
                <a:sym typeface="Arial"/>
              </a:rPr>
              <a:t> </a:t>
            </a:r>
            <a:r>
              <a:rPr lang="en-US" sz="2800">
                <a:solidFill>
                  <a:schemeClr val="lt1"/>
                </a:solidFill>
                <a:latin typeface="Arial"/>
                <a:ea typeface="Arial"/>
                <a:cs typeface="Arial"/>
                <a:sym typeface="Arial"/>
              </a:rPr>
              <a:t>– the positive pole of one polar molecule is attracted to the negative pole of another polar molecule.</a:t>
            </a:r>
            <a:endParaRPr/>
          </a:p>
          <a:p>
            <a:pPr indent="-342900" lvl="0" marL="342900" rtl="0" algn="l">
              <a:spcBef>
                <a:spcPts val="560"/>
              </a:spcBef>
              <a:spcAft>
                <a:spcPts val="0"/>
              </a:spcAft>
              <a:buClr>
                <a:srgbClr val="92D050"/>
              </a:buClr>
              <a:buSzPts val="2800"/>
              <a:buFont typeface="Arial"/>
              <a:buChar char="•"/>
            </a:pPr>
            <a:r>
              <a:rPr b="1" lang="en-US" sz="2800">
                <a:solidFill>
                  <a:srgbClr val="92D050"/>
                </a:solidFill>
                <a:latin typeface="Arial"/>
                <a:ea typeface="Arial"/>
                <a:cs typeface="Arial"/>
                <a:sym typeface="Arial"/>
              </a:rPr>
              <a:t>Weak Dispersion Forces </a:t>
            </a:r>
            <a:r>
              <a:rPr lang="en-US" sz="2800">
                <a:solidFill>
                  <a:schemeClr val="lt1"/>
                </a:solidFill>
                <a:latin typeface="Arial"/>
                <a:ea typeface="Arial"/>
                <a:cs typeface="Arial"/>
                <a:sym typeface="Arial"/>
              </a:rPr>
              <a:t>– a temporary force of attraction between non-polar molecules</a:t>
            </a:r>
            <a:endParaRPr/>
          </a:p>
          <a:p>
            <a:pPr indent="-279400" lvl="0" marL="457200" rtl="0" algn="l">
              <a:spcBef>
                <a:spcPts val="560"/>
              </a:spcBef>
              <a:spcAft>
                <a:spcPts val="0"/>
              </a:spcAft>
              <a:buClr>
                <a:schemeClr val="dk1"/>
              </a:buClr>
              <a:buSzPts val="2800"/>
              <a:buFont typeface="Calibri"/>
              <a:buNone/>
            </a:pPr>
            <a:r>
              <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b="1" i="1" lang="en-US" sz="2800">
                <a:solidFill>
                  <a:schemeClr val="lt1"/>
                </a:solidFill>
                <a:latin typeface="Arial"/>
                <a:ea typeface="Arial"/>
                <a:cs typeface="Arial"/>
                <a:sym typeface="Arial"/>
              </a:rPr>
              <a:t>Temperature: </a:t>
            </a:r>
            <a:r>
              <a:rPr lang="en-US" sz="2800">
                <a:solidFill>
                  <a:schemeClr val="lt1"/>
                </a:solidFill>
                <a:latin typeface="Arial"/>
                <a:ea typeface="Arial"/>
                <a:cs typeface="Arial"/>
                <a:sym typeface="Arial"/>
              </a:rPr>
              <a:t>the average kinetic energy of the particles in a substance</a:t>
            </a:r>
            <a:endParaRPr/>
          </a:p>
          <a:p>
            <a:pPr indent="0" lvl="0" marL="0" rtl="0" algn="l">
              <a:spcBef>
                <a:spcPts val="560"/>
              </a:spcBef>
              <a:spcAft>
                <a:spcPts val="0"/>
              </a:spcAft>
              <a:buClr>
                <a:schemeClr val="lt1"/>
              </a:buClr>
              <a:buSzPts val="2800"/>
              <a:buFont typeface="Arial"/>
              <a:buNone/>
            </a:pPr>
            <a:r>
              <a:rPr b="1" i="1" lang="en-US" sz="2800">
                <a:solidFill>
                  <a:schemeClr val="lt1"/>
                </a:solidFill>
                <a:latin typeface="Arial"/>
                <a:ea typeface="Arial"/>
                <a:cs typeface="Arial"/>
                <a:sym typeface="Arial"/>
              </a:rPr>
              <a:t>Kinetic energy:  </a:t>
            </a:r>
            <a:r>
              <a:rPr lang="en-US" sz="2800">
                <a:solidFill>
                  <a:schemeClr val="lt1"/>
                </a:solidFill>
                <a:latin typeface="Arial"/>
                <a:ea typeface="Arial"/>
                <a:cs typeface="Arial"/>
                <a:sym typeface="Arial"/>
              </a:rPr>
              <a:t>the energy of motion</a:t>
            </a:r>
            <a:endParaRPr sz="2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animEffect filter="fade" transition="in">
                                      <p:cBhvr>
                                        <p:cTn dur="500"/>
                                        <p:tgtEl>
                                          <p:spTgt spid="1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animEffect filter="fade" transition="in">
                                      <p:cBhvr>
                                        <p:cTn dur="500"/>
                                        <p:tgtEl>
                                          <p:spTgt spid="1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2" st="2"/>
                                            </p:txEl>
                                          </p:spTgt>
                                        </p:tgtEl>
                                        <p:attrNameLst>
                                          <p:attrName>style.visibility</p:attrName>
                                        </p:attrNameLst>
                                      </p:cBhvr>
                                      <p:to>
                                        <p:strVal val="visible"/>
                                      </p:to>
                                    </p:set>
                                    <p:animEffect filter="fade" transition="in">
                                      <p:cBhvr>
                                        <p:cTn dur="500"/>
                                        <p:tgtEl>
                                          <p:spTgt spid="1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3" st="3"/>
                                            </p:txEl>
                                          </p:spTgt>
                                        </p:tgtEl>
                                        <p:attrNameLst>
                                          <p:attrName>style.visibility</p:attrName>
                                        </p:attrNameLst>
                                      </p:cBhvr>
                                      <p:to>
                                        <p:strVal val="visible"/>
                                      </p:to>
                                    </p:set>
                                    <p:animEffect filter="fade" transition="in">
                                      <p:cBhvr>
                                        <p:cTn dur="500"/>
                                        <p:tgtEl>
                                          <p:spTgt spid="1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4" st="4"/>
                                            </p:txEl>
                                          </p:spTgt>
                                        </p:tgtEl>
                                        <p:attrNameLst>
                                          <p:attrName>style.visibility</p:attrName>
                                        </p:attrNameLst>
                                      </p:cBhvr>
                                      <p:to>
                                        <p:strVal val="visible"/>
                                      </p:to>
                                    </p:set>
                                    <p:animEffect filter="fade" transition="in">
                                      <p:cBhvr>
                                        <p:cTn dur="500"/>
                                        <p:tgtEl>
                                          <p:spTgt spid="1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5" st="5"/>
                                            </p:txEl>
                                          </p:spTgt>
                                        </p:tgtEl>
                                        <p:attrNameLst>
                                          <p:attrName>style.visibility</p:attrName>
                                        </p:attrNameLst>
                                      </p:cBhvr>
                                      <p:to>
                                        <p:strVal val="visible"/>
                                      </p:to>
                                    </p:set>
                                    <p:animEffect filter="fade" transition="in">
                                      <p:cBhvr>
                                        <p:cTn dur="500"/>
                                        <p:tgtEl>
                                          <p:spTgt spid="1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6" st="6"/>
                                            </p:txEl>
                                          </p:spTgt>
                                        </p:tgtEl>
                                        <p:attrNameLst>
                                          <p:attrName>style.visibility</p:attrName>
                                        </p:attrNameLst>
                                      </p:cBhvr>
                                      <p:to>
                                        <p:strVal val="visible"/>
                                      </p:to>
                                    </p:set>
                                    <p:animEffect filter="fade" transition="in">
                                      <p:cBhvr>
                                        <p:cTn dur="500"/>
                                        <p:tgtEl>
                                          <p:spTgt spid="1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7" st="7"/>
                                            </p:txEl>
                                          </p:spTgt>
                                        </p:tgtEl>
                                        <p:attrNameLst>
                                          <p:attrName>style.visibility</p:attrName>
                                        </p:attrNameLst>
                                      </p:cBhvr>
                                      <p:to>
                                        <p:strVal val="visible"/>
                                      </p:to>
                                    </p:set>
                                    <p:animEffect filter="fade" transition="in">
                                      <p:cBhvr>
                                        <p:cTn dur="500"/>
                                        <p:tgtEl>
                                          <p:spTgt spid="11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solidFill>
                  <a:schemeClr val="lt1"/>
                </a:solidFill>
              </a:rPr>
              <a:t>HOMEWORK</a:t>
            </a:r>
            <a:endParaRPr>
              <a:solidFill>
                <a:schemeClr val="lt1"/>
              </a:solidFill>
            </a:endParaRPr>
          </a:p>
        </p:txBody>
      </p:sp>
      <p:sp>
        <p:nvSpPr>
          <p:cNvPr id="118" name="Google Shape;118;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lt1"/>
              </a:buClr>
              <a:buSzPts val="3200"/>
              <a:buChar char="•"/>
            </a:pPr>
            <a:r>
              <a:rPr lang="en-US">
                <a:solidFill>
                  <a:schemeClr val="lt1"/>
                </a:solidFill>
              </a:rPr>
              <a:t>Read text p.416-423 </a:t>
            </a:r>
            <a:endParaRPr/>
          </a:p>
          <a:p>
            <a:pPr indent="-342900" lvl="0" marL="342900" rtl="0" algn="l">
              <a:spcBef>
                <a:spcPts val="640"/>
              </a:spcBef>
              <a:spcAft>
                <a:spcPts val="0"/>
              </a:spcAft>
              <a:buClr>
                <a:schemeClr val="lt1"/>
              </a:buClr>
              <a:buSzPts val="3200"/>
              <a:buChar char="•"/>
            </a:pPr>
            <a:r>
              <a:rPr lang="en-US">
                <a:solidFill>
                  <a:schemeClr val="lt1"/>
                </a:solidFill>
              </a:rPr>
              <a:t>-make notes by following questions on gas handout package </a:t>
            </a:r>
            <a:endParaRPr/>
          </a:p>
          <a:p>
            <a:pPr indent="-342900" lvl="0" marL="342900" rtl="0" algn="l">
              <a:spcBef>
                <a:spcPts val="640"/>
              </a:spcBef>
              <a:spcAft>
                <a:spcPts val="0"/>
              </a:spcAft>
              <a:buClr>
                <a:schemeClr val="lt1"/>
              </a:buClr>
              <a:buSzPts val="3200"/>
              <a:buChar char="•"/>
            </a:pPr>
            <a:r>
              <a:rPr lang="en-US">
                <a:solidFill>
                  <a:schemeClr val="lt1"/>
                </a:solidFill>
              </a:rPr>
              <a:t>   (Kinetic Molecular Theory = KMT) </a:t>
            </a:r>
            <a:endParaRPr/>
          </a:p>
          <a:p>
            <a:pPr indent="-342900" lvl="0" marL="342900" rtl="0" algn="l">
              <a:spcBef>
                <a:spcPts val="640"/>
              </a:spcBef>
              <a:spcAft>
                <a:spcPts val="0"/>
              </a:spcAft>
              <a:buClr>
                <a:schemeClr val="lt1"/>
              </a:buClr>
              <a:buSzPts val="3200"/>
              <a:buChar char="•"/>
            </a:pPr>
            <a:r>
              <a:rPr lang="en-US">
                <a:solidFill>
                  <a:schemeClr val="lt1"/>
                </a:solidFill>
              </a:rPr>
              <a:t>-Text Questions  p.423 #1-8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b="1" lang="en-US" sz="7200">
                <a:solidFill>
                  <a:schemeClr val="accent4"/>
                </a:solidFill>
                <a:latin typeface="Arial"/>
                <a:ea typeface="Arial"/>
                <a:cs typeface="Arial"/>
                <a:sym typeface="Arial"/>
              </a:rPr>
              <a:t>GAS LAWS</a:t>
            </a:r>
            <a:endParaRPr b="1" sz="7200">
              <a:solidFill>
                <a:schemeClr val="accent4"/>
              </a:solidFill>
              <a:latin typeface="Arial"/>
              <a:ea typeface="Arial"/>
              <a:cs typeface="Arial"/>
              <a:sym typeface="Arial"/>
            </a:endParaRPr>
          </a:p>
        </p:txBody>
      </p:sp>
      <p:sp>
        <p:nvSpPr>
          <p:cNvPr id="124" name="Google Shape;124;p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Font typeface="Arial"/>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468313" y="260350"/>
            <a:ext cx="8229600" cy="7064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u="sng">
                <a:solidFill>
                  <a:schemeClr val="lt1"/>
                </a:solidFill>
              </a:rPr>
              <a:t>Introduction to Gas Laws</a:t>
            </a:r>
            <a:br>
              <a:rPr lang="en-US" u="sng">
                <a:solidFill>
                  <a:schemeClr val="lt1"/>
                </a:solidFill>
              </a:rPr>
            </a:br>
            <a:endParaRPr>
              <a:solidFill>
                <a:schemeClr val="lt1"/>
              </a:solidFill>
            </a:endParaRPr>
          </a:p>
        </p:txBody>
      </p:sp>
      <p:sp>
        <p:nvSpPr>
          <p:cNvPr id="130" name="Google Shape;130;p8"/>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4"/>
              </a:buClr>
              <a:buSzPts val="2800"/>
              <a:buFont typeface="Arial"/>
              <a:buNone/>
            </a:pPr>
            <a:r>
              <a:rPr b="1" i="1" lang="en-US" sz="2800">
                <a:solidFill>
                  <a:schemeClr val="accent4"/>
                </a:solidFill>
                <a:latin typeface="Arial"/>
                <a:ea typeface="Arial"/>
                <a:cs typeface="Arial"/>
                <a:sym typeface="Arial"/>
              </a:rPr>
              <a:t>The gas laws look at four factors:</a:t>
            </a:r>
            <a:endParaRPr sz="2800">
              <a:solidFill>
                <a:schemeClr val="lt1"/>
              </a:solidFill>
              <a:latin typeface="Arial"/>
              <a:ea typeface="Arial"/>
              <a:cs typeface="Arial"/>
              <a:sym typeface="Arial"/>
            </a:endParaRPr>
          </a:p>
          <a:p>
            <a:pPr indent="-514350" lvl="0" marL="514350" rtl="0" algn="l">
              <a:spcBef>
                <a:spcPts val="560"/>
              </a:spcBef>
              <a:spcAft>
                <a:spcPts val="0"/>
              </a:spcAft>
              <a:buClr>
                <a:srgbClr val="FF66CC"/>
              </a:buClr>
              <a:buSzPts val="2800"/>
              <a:buFont typeface="Calibri"/>
              <a:buAutoNum type="arabicPeriod"/>
            </a:pPr>
            <a:r>
              <a:rPr b="1" lang="en-US" sz="2800">
                <a:solidFill>
                  <a:srgbClr val="FF66CC"/>
                </a:solidFill>
                <a:latin typeface="Arial"/>
                <a:ea typeface="Arial"/>
                <a:cs typeface="Arial"/>
                <a:sym typeface="Arial"/>
              </a:rPr>
              <a:t>	Volume (L)</a:t>
            </a:r>
            <a:endParaRPr/>
          </a:p>
          <a:p>
            <a:pPr indent="-514350" lvl="2" marL="1314450" rtl="0" algn="l">
              <a:spcBef>
                <a:spcPts val="400"/>
              </a:spcBef>
              <a:spcAft>
                <a:spcPts val="0"/>
              </a:spcAft>
              <a:buClr>
                <a:schemeClr val="lt1"/>
              </a:buClr>
              <a:buSzPts val="2000"/>
              <a:buFont typeface="Arial"/>
              <a:buChar char="•"/>
            </a:pPr>
            <a:r>
              <a:rPr lang="en-US" sz="2000">
                <a:solidFill>
                  <a:schemeClr val="lt1"/>
                </a:solidFill>
                <a:latin typeface="Arial"/>
                <a:ea typeface="Arial"/>
                <a:cs typeface="Arial"/>
                <a:sym typeface="Arial"/>
              </a:rPr>
              <a:t>Volume of a container</a:t>
            </a:r>
            <a:endParaRPr sz="2000">
              <a:solidFill>
                <a:schemeClr val="lt1"/>
              </a:solidFill>
              <a:latin typeface="Arial"/>
              <a:ea typeface="Arial"/>
              <a:cs typeface="Arial"/>
              <a:sym typeface="Arial"/>
            </a:endParaRPr>
          </a:p>
          <a:p>
            <a:pPr indent="-514350" lvl="0" marL="514350" rtl="0" algn="l">
              <a:spcBef>
                <a:spcPts val="560"/>
              </a:spcBef>
              <a:spcAft>
                <a:spcPts val="0"/>
              </a:spcAft>
              <a:buClr>
                <a:srgbClr val="FF66CC"/>
              </a:buClr>
              <a:buSzPts val="2800"/>
              <a:buFont typeface="Calibri"/>
              <a:buAutoNum type="arabicPeriod"/>
            </a:pPr>
            <a:r>
              <a:rPr b="1" lang="en-US" sz="2800">
                <a:solidFill>
                  <a:srgbClr val="FF66CC"/>
                </a:solidFill>
                <a:latin typeface="Arial"/>
                <a:ea typeface="Arial"/>
                <a:cs typeface="Arial"/>
                <a:sym typeface="Arial"/>
              </a:rPr>
              <a:t>	Temperature (K)</a:t>
            </a:r>
            <a:endParaRPr/>
          </a:p>
          <a:p>
            <a:pPr indent="-514350" lvl="2" marL="1314450" rtl="0" algn="l">
              <a:spcBef>
                <a:spcPts val="400"/>
              </a:spcBef>
              <a:spcAft>
                <a:spcPts val="0"/>
              </a:spcAft>
              <a:buClr>
                <a:schemeClr val="lt1"/>
              </a:buClr>
              <a:buSzPts val="2000"/>
              <a:buFont typeface="Arial"/>
              <a:buChar char="•"/>
            </a:pPr>
            <a:r>
              <a:rPr lang="en-US" sz="2000">
                <a:solidFill>
                  <a:schemeClr val="lt1"/>
                </a:solidFill>
                <a:latin typeface="Arial"/>
                <a:ea typeface="Arial"/>
                <a:cs typeface="Arial"/>
                <a:sym typeface="Arial"/>
              </a:rPr>
              <a:t>Measure of kinetic energy</a:t>
            </a:r>
            <a:endParaRPr sz="2000">
              <a:solidFill>
                <a:schemeClr val="lt1"/>
              </a:solidFill>
              <a:latin typeface="Arial"/>
              <a:ea typeface="Arial"/>
              <a:cs typeface="Arial"/>
              <a:sym typeface="Arial"/>
            </a:endParaRPr>
          </a:p>
          <a:p>
            <a:pPr indent="-514350" lvl="0" marL="514350" rtl="0" algn="l">
              <a:spcBef>
                <a:spcPts val="560"/>
              </a:spcBef>
              <a:spcAft>
                <a:spcPts val="0"/>
              </a:spcAft>
              <a:buClr>
                <a:srgbClr val="FF66CC"/>
              </a:buClr>
              <a:buSzPts val="2800"/>
              <a:buFont typeface="Calibri"/>
              <a:buAutoNum type="arabicPeriod"/>
            </a:pPr>
            <a:r>
              <a:rPr b="1" lang="en-US" sz="2800">
                <a:solidFill>
                  <a:srgbClr val="FF66CC"/>
                </a:solidFill>
                <a:latin typeface="Arial"/>
                <a:ea typeface="Arial"/>
                <a:cs typeface="Arial"/>
                <a:sym typeface="Arial"/>
              </a:rPr>
              <a:t>	Pressure (kPa)</a:t>
            </a:r>
            <a:endParaRPr/>
          </a:p>
          <a:p>
            <a:pPr indent="-342900" lvl="2" marL="1143000" rtl="0" algn="l">
              <a:spcBef>
                <a:spcPts val="400"/>
              </a:spcBef>
              <a:spcAft>
                <a:spcPts val="0"/>
              </a:spcAft>
              <a:buClr>
                <a:schemeClr val="lt1"/>
              </a:buClr>
              <a:buSzPts val="2000"/>
              <a:buFont typeface="Arial"/>
              <a:buChar char="•"/>
            </a:pPr>
            <a:r>
              <a:rPr lang="en-US" sz="2000">
                <a:solidFill>
                  <a:schemeClr val="lt1"/>
                </a:solidFill>
                <a:latin typeface="Arial"/>
                <a:ea typeface="Arial"/>
                <a:cs typeface="Arial"/>
                <a:sym typeface="Arial"/>
              </a:rPr>
              <a:t>P = F/A     (N/m</a:t>
            </a:r>
            <a:r>
              <a:rPr baseline="30000" lang="en-US" sz="2000">
                <a:solidFill>
                  <a:schemeClr val="lt1"/>
                </a:solidFill>
                <a:latin typeface="Arial"/>
                <a:ea typeface="Arial"/>
                <a:cs typeface="Arial"/>
                <a:sym typeface="Arial"/>
              </a:rPr>
              <a:t>2</a:t>
            </a:r>
            <a:r>
              <a:rPr lang="en-US" sz="2000">
                <a:solidFill>
                  <a:schemeClr val="lt1"/>
                </a:solidFill>
                <a:latin typeface="Arial"/>
                <a:ea typeface="Arial"/>
                <a:cs typeface="Arial"/>
                <a:sym typeface="Arial"/>
              </a:rPr>
              <a:t>)</a:t>
            </a:r>
            <a:endParaRPr sz="2000">
              <a:solidFill>
                <a:schemeClr val="lt1"/>
              </a:solidFill>
              <a:latin typeface="Arial"/>
              <a:ea typeface="Arial"/>
              <a:cs typeface="Arial"/>
              <a:sym typeface="Arial"/>
            </a:endParaRPr>
          </a:p>
          <a:p>
            <a:pPr indent="-514350" lvl="0" marL="514350" rtl="0" algn="l">
              <a:spcBef>
                <a:spcPts val="560"/>
              </a:spcBef>
              <a:spcAft>
                <a:spcPts val="0"/>
              </a:spcAft>
              <a:buClr>
                <a:srgbClr val="FF66CC"/>
              </a:buClr>
              <a:buSzPts val="2800"/>
              <a:buFont typeface="Calibri"/>
              <a:buAutoNum type="arabicPeriod"/>
            </a:pPr>
            <a:r>
              <a:rPr b="1" lang="en-US" sz="2800">
                <a:solidFill>
                  <a:srgbClr val="FF66CC"/>
                </a:solidFill>
                <a:latin typeface="Arial"/>
                <a:ea typeface="Arial"/>
                <a:cs typeface="Arial"/>
                <a:sym typeface="Arial"/>
              </a:rPr>
              <a:t>	Mass (g)</a:t>
            </a:r>
            <a:endParaRPr b="1" sz="2800">
              <a:solidFill>
                <a:srgbClr val="FF66CC"/>
              </a:solidFill>
              <a:latin typeface="Arial"/>
              <a:ea typeface="Arial"/>
              <a:cs typeface="Arial"/>
              <a:sym typeface="Arial"/>
            </a:endParaRPr>
          </a:p>
          <a:p>
            <a:pPr indent="0" lvl="0" marL="0" rtl="0" algn="l">
              <a:spcBef>
                <a:spcPts val="560"/>
              </a:spcBef>
              <a:spcAft>
                <a:spcPts val="0"/>
              </a:spcAft>
              <a:buClr>
                <a:schemeClr val="dk1"/>
              </a:buClr>
              <a:buSzPts val="2800"/>
              <a:buFont typeface="Arial"/>
              <a:buNone/>
            </a:pPr>
            <a:r>
              <a:t/>
            </a:r>
            <a:endParaRPr sz="2800">
              <a:solidFill>
                <a:schemeClr val="lt1"/>
              </a:solidFill>
              <a:latin typeface="Arial"/>
              <a:ea typeface="Arial"/>
              <a:cs typeface="Arial"/>
              <a:sym typeface="Arial"/>
            </a:endParaRPr>
          </a:p>
          <a:p>
            <a:pPr indent="0" lvl="0" marL="0" rtl="0" algn="l">
              <a:spcBef>
                <a:spcPts val="560"/>
              </a:spcBef>
              <a:spcAft>
                <a:spcPts val="0"/>
              </a:spcAft>
              <a:buClr>
                <a:schemeClr val="accent4"/>
              </a:buClr>
              <a:buSzPts val="2800"/>
              <a:buFont typeface="Arial"/>
              <a:buNone/>
            </a:pPr>
            <a:r>
              <a:rPr b="1" lang="en-US" sz="2800" u="sng">
                <a:solidFill>
                  <a:schemeClr val="accent4"/>
                </a:solidFill>
                <a:latin typeface="Arial"/>
                <a:ea typeface="Arial"/>
                <a:cs typeface="Arial"/>
                <a:sym typeface="Arial"/>
              </a:rPr>
              <a:t>The Law of Proportionality</a:t>
            </a:r>
            <a:endParaRPr b="1" sz="2800">
              <a:solidFill>
                <a:schemeClr val="accent4"/>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If  a  α  b		we will introduce a constant “k”</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Then  a = kb	</a:t>
            </a:r>
            <a:r>
              <a:rPr lang="en-US" sz="2800"/>
              <a:t>	</a:t>
            </a:r>
            <a:endParaRPr sz="2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animEffect filter="fade" transition="in">
                                      <p:cBhvr>
                                        <p:cTn dur="500"/>
                                        <p:tgtEl>
                                          <p:spTgt spid="1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animEffect filter="fade" transition="in">
                                      <p:cBhvr>
                                        <p:cTn dur="500"/>
                                        <p:tgtEl>
                                          <p:spTgt spid="1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animEffect filter="fade" transition="in">
                                      <p:cBhvr>
                                        <p:cTn dur="500"/>
                                        <p:tgtEl>
                                          <p:spTgt spid="1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animEffect filter="fade" transition="in">
                                      <p:cBhvr>
                                        <p:cTn dur="500"/>
                                        <p:tgtEl>
                                          <p:spTgt spid="1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animEffect filter="fade" transition="in">
                                      <p:cBhvr>
                                        <p:cTn dur="500"/>
                                        <p:tgtEl>
                                          <p:spTgt spid="1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5" st="5"/>
                                            </p:txEl>
                                          </p:spTgt>
                                        </p:tgtEl>
                                        <p:attrNameLst>
                                          <p:attrName>style.visibility</p:attrName>
                                        </p:attrNameLst>
                                      </p:cBhvr>
                                      <p:to>
                                        <p:strVal val="visible"/>
                                      </p:to>
                                    </p:set>
                                    <p:animEffect filter="fade" transition="in">
                                      <p:cBhvr>
                                        <p:cTn dur="500"/>
                                        <p:tgtEl>
                                          <p:spTgt spid="1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6" st="6"/>
                                            </p:txEl>
                                          </p:spTgt>
                                        </p:tgtEl>
                                        <p:attrNameLst>
                                          <p:attrName>style.visibility</p:attrName>
                                        </p:attrNameLst>
                                      </p:cBhvr>
                                      <p:to>
                                        <p:strVal val="visible"/>
                                      </p:to>
                                    </p:set>
                                    <p:animEffect filter="fade" transition="in">
                                      <p:cBhvr>
                                        <p:cTn dur="500"/>
                                        <p:tgtEl>
                                          <p:spTgt spid="1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7" st="7"/>
                                            </p:txEl>
                                          </p:spTgt>
                                        </p:tgtEl>
                                        <p:attrNameLst>
                                          <p:attrName>style.visibility</p:attrName>
                                        </p:attrNameLst>
                                      </p:cBhvr>
                                      <p:to>
                                        <p:strVal val="visible"/>
                                      </p:to>
                                    </p:set>
                                    <p:animEffect filter="fade" transition="in">
                                      <p:cBhvr>
                                        <p:cTn dur="500"/>
                                        <p:tgtEl>
                                          <p:spTgt spid="1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8" st="8"/>
                                            </p:txEl>
                                          </p:spTgt>
                                        </p:tgtEl>
                                        <p:attrNameLst>
                                          <p:attrName>style.visibility</p:attrName>
                                        </p:attrNameLst>
                                      </p:cBhvr>
                                      <p:to>
                                        <p:strVal val="visible"/>
                                      </p:to>
                                    </p:set>
                                    <p:animEffect filter="fade" transition="in">
                                      <p:cBhvr>
                                        <p:cTn dur="500"/>
                                        <p:tgtEl>
                                          <p:spTgt spid="13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9" st="9"/>
                                            </p:txEl>
                                          </p:spTgt>
                                        </p:tgtEl>
                                        <p:attrNameLst>
                                          <p:attrName>style.visibility</p:attrName>
                                        </p:attrNameLst>
                                      </p:cBhvr>
                                      <p:to>
                                        <p:strVal val="visible"/>
                                      </p:to>
                                    </p:set>
                                    <p:animEffect filter="fade" transition="in">
                                      <p:cBhvr>
                                        <p:cTn dur="500"/>
                                        <p:tgtEl>
                                          <p:spTgt spid="13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0" st="10"/>
                                            </p:txEl>
                                          </p:spTgt>
                                        </p:tgtEl>
                                        <p:attrNameLst>
                                          <p:attrName>style.visibility</p:attrName>
                                        </p:attrNameLst>
                                      </p:cBhvr>
                                      <p:to>
                                        <p:strVal val="visible"/>
                                      </p:to>
                                    </p:set>
                                    <p:animEffect filter="fade" transition="in">
                                      <p:cBhvr>
                                        <p:cTn dur="500"/>
                                        <p:tgtEl>
                                          <p:spTgt spid="13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1" st="11"/>
                                            </p:txEl>
                                          </p:spTgt>
                                        </p:tgtEl>
                                        <p:attrNameLst>
                                          <p:attrName>style.visibility</p:attrName>
                                        </p:attrNameLst>
                                      </p:cBhvr>
                                      <p:to>
                                        <p:strVal val="visible"/>
                                      </p:to>
                                    </p:set>
                                    <p:animEffect filter="fade" transition="in">
                                      <p:cBhvr>
                                        <p:cTn dur="500"/>
                                        <p:tgtEl>
                                          <p:spTgt spid="130">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ph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92D050"/>
                </a:solidFill>
              </a:rPr>
              <a:t>Boyle’s Law</a:t>
            </a:r>
            <a:br>
              <a:rPr b="1" lang="en-US" sz="4800" u="sng">
                <a:solidFill>
                  <a:srgbClr val="92D050"/>
                </a:solidFill>
              </a:rPr>
            </a:br>
            <a:endParaRPr b="1" sz="4800">
              <a:solidFill>
                <a:srgbClr val="92D050"/>
              </a:solidFill>
            </a:endParaRPr>
          </a:p>
        </p:txBody>
      </p:sp>
      <p:sp>
        <p:nvSpPr>
          <p:cNvPr id="136" name="Google Shape;136;p9"/>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The </a:t>
            </a:r>
            <a:r>
              <a:rPr b="1" lang="en-US" sz="2800" u="sng">
                <a:solidFill>
                  <a:schemeClr val="lt1"/>
                </a:solidFill>
                <a:latin typeface="Arial"/>
                <a:ea typeface="Arial"/>
                <a:cs typeface="Arial"/>
                <a:sym typeface="Arial"/>
              </a:rPr>
              <a:t>volume</a:t>
            </a:r>
            <a:r>
              <a:rPr lang="en-US" sz="2800">
                <a:solidFill>
                  <a:schemeClr val="lt1"/>
                </a:solidFill>
                <a:latin typeface="Arial"/>
                <a:ea typeface="Arial"/>
                <a:cs typeface="Arial"/>
                <a:sym typeface="Arial"/>
              </a:rPr>
              <a:t> of a fixed mass of gas varies </a:t>
            </a:r>
            <a:r>
              <a:rPr i="1" lang="en-US" sz="2800">
                <a:solidFill>
                  <a:schemeClr val="lt1"/>
                </a:solidFill>
                <a:latin typeface="Arial"/>
                <a:ea typeface="Arial"/>
                <a:cs typeface="Arial"/>
                <a:sym typeface="Arial"/>
              </a:rPr>
              <a:t>inversely</a:t>
            </a:r>
            <a:r>
              <a:rPr lang="en-US" sz="2800">
                <a:solidFill>
                  <a:schemeClr val="lt1"/>
                </a:solidFill>
                <a:latin typeface="Arial"/>
                <a:ea typeface="Arial"/>
                <a:cs typeface="Arial"/>
                <a:sym typeface="Arial"/>
              </a:rPr>
              <a:t> with the applied </a:t>
            </a:r>
            <a:r>
              <a:rPr b="1" lang="en-US" sz="2800" u="sng">
                <a:solidFill>
                  <a:schemeClr val="lt1"/>
                </a:solidFill>
                <a:latin typeface="Arial"/>
                <a:ea typeface="Arial"/>
                <a:cs typeface="Arial"/>
                <a:sym typeface="Arial"/>
              </a:rPr>
              <a:t>pressure</a:t>
            </a:r>
            <a:r>
              <a:rPr lang="en-US" sz="2800">
                <a:solidFill>
                  <a:schemeClr val="lt1"/>
                </a:solidFill>
                <a:latin typeface="Arial"/>
                <a:ea typeface="Arial"/>
                <a:cs typeface="Arial"/>
                <a:sym typeface="Arial"/>
              </a:rPr>
              <a:t> when the temperature is kept constant.</a:t>
            </a:r>
            <a:endParaRPr sz="2800">
              <a:solidFill>
                <a:schemeClr val="lt1"/>
              </a:solidFill>
              <a:latin typeface="Arial"/>
              <a:ea typeface="Arial"/>
              <a:cs typeface="Arial"/>
              <a:sym typeface="Arial"/>
            </a:endParaRPr>
          </a:p>
          <a:p>
            <a:pPr indent="0" lvl="0" marL="0" rtl="0" algn="l">
              <a:spcBef>
                <a:spcPts val="560"/>
              </a:spcBef>
              <a:spcAft>
                <a:spcPts val="0"/>
              </a:spcAft>
              <a:buClr>
                <a:schemeClr val="dk1"/>
              </a:buClr>
              <a:buSzPts val="2800"/>
              <a:buFont typeface="Arial"/>
              <a:buNone/>
            </a:pPr>
            <a:r>
              <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 </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Thus  </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	</a:t>
            </a:r>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We can rearrange this formula to yield   </a:t>
            </a:r>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Since k is a constant, it is true for a gas at any pressure!</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Thus for case 1 (initial conditions) and case 2 (final conditions)						</a:t>
            </a:r>
            <a:endParaRPr sz="2800">
              <a:solidFill>
                <a:schemeClr val="lt1"/>
              </a:solidFill>
              <a:latin typeface="Arial"/>
              <a:ea typeface="Arial"/>
              <a:cs typeface="Arial"/>
              <a:sym typeface="Arial"/>
            </a:endParaRPr>
          </a:p>
        </p:txBody>
      </p:sp>
      <p:pic>
        <p:nvPicPr>
          <p:cNvPr id="137" name="Google Shape;137;p9"/>
          <p:cNvPicPr preferRelativeResize="0"/>
          <p:nvPr/>
        </p:nvPicPr>
        <p:blipFill rotWithShape="1">
          <a:blip r:embed="rId3">
            <a:alphaModFix/>
          </a:blip>
          <a:srcRect b="0" l="0" r="0" t="0"/>
          <a:stretch/>
        </p:blipFill>
        <p:spPr>
          <a:xfrm>
            <a:off x="755650" y="2133600"/>
            <a:ext cx="3654425" cy="790575"/>
          </a:xfrm>
          <a:prstGeom prst="rect">
            <a:avLst/>
          </a:prstGeom>
          <a:noFill/>
          <a:ln>
            <a:noFill/>
          </a:ln>
        </p:spPr>
      </p:pic>
      <p:pic>
        <p:nvPicPr>
          <p:cNvPr id="138" name="Google Shape;138;p9"/>
          <p:cNvPicPr preferRelativeResize="0"/>
          <p:nvPr/>
        </p:nvPicPr>
        <p:blipFill rotWithShape="1">
          <a:blip r:embed="rId4">
            <a:alphaModFix/>
          </a:blip>
          <a:srcRect b="0" l="0" r="0" t="0"/>
          <a:stretch/>
        </p:blipFill>
        <p:spPr>
          <a:xfrm>
            <a:off x="1497013" y="3074988"/>
            <a:ext cx="1619250" cy="865187"/>
          </a:xfrm>
          <a:prstGeom prst="rect">
            <a:avLst/>
          </a:prstGeom>
          <a:noFill/>
          <a:ln>
            <a:noFill/>
          </a:ln>
        </p:spPr>
      </p:pic>
      <p:pic>
        <p:nvPicPr>
          <p:cNvPr id="139" name="Google Shape;139;p9"/>
          <p:cNvPicPr preferRelativeResize="0"/>
          <p:nvPr/>
        </p:nvPicPr>
        <p:blipFill rotWithShape="1">
          <a:blip r:embed="rId5">
            <a:alphaModFix/>
          </a:blip>
          <a:srcRect b="0" l="0" r="0" t="0"/>
          <a:stretch/>
        </p:blipFill>
        <p:spPr>
          <a:xfrm>
            <a:off x="3116263" y="6092825"/>
            <a:ext cx="1828800" cy="571500"/>
          </a:xfrm>
          <a:prstGeom prst="rect">
            <a:avLst/>
          </a:prstGeom>
          <a:noFill/>
          <a:ln cap="flat" cmpd="sng" w="57150">
            <a:solidFill>
              <a:schemeClr val="accent4"/>
            </a:solidFill>
            <a:prstDash val="solid"/>
            <a:miter lim="800000"/>
            <a:headEnd len="sm" w="sm" type="none"/>
            <a:tailEnd len="sm" w="sm" type="none"/>
          </a:ln>
        </p:spPr>
      </p:pic>
      <p:pic>
        <p:nvPicPr>
          <p:cNvPr id="140" name="Google Shape;140;p9"/>
          <p:cNvPicPr preferRelativeResize="0"/>
          <p:nvPr/>
        </p:nvPicPr>
        <p:blipFill rotWithShape="1">
          <a:blip r:embed="rId6">
            <a:alphaModFix/>
          </a:blip>
          <a:srcRect b="0" l="0" r="0" t="0"/>
          <a:stretch/>
        </p:blipFill>
        <p:spPr>
          <a:xfrm>
            <a:off x="4691063" y="1733550"/>
            <a:ext cx="2128837" cy="1550988"/>
          </a:xfrm>
          <a:prstGeom prst="rect">
            <a:avLst/>
          </a:prstGeom>
          <a:noFill/>
          <a:ln>
            <a:noFill/>
          </a:ln>
        </p:spPr>
      </p:pic>
      <p:pic>
        <p:nvPicPr>
          <p:cNvPr id="141" name="Google Shape;141;p9"/>
          <p:cNvPicPr preferRelativeResize="0"/>
          <p:nvPr/>
        </p:nvPicPr>
        <p:blipFill rotWithShape="1">
          <a:blip r:embed="rId7">
            <a:alphaModFix/>
          </a:blip>
          <a:srcRect b="0" l="0" r="0" t="0"/>
          <a:stretch/>
        </p:blipFill>
        <p:spPr>
          <a:xfrm>
            <a:off x="7164388" y="1657350"/>
            <a:ext cx="1766887" cy="1743075"/>
          </a:xfrm>
          <a:prstGeom prst="rect">
            <a:avLst/>
          </a:prstGeom>
          <a:noFill/>
          <a:ln>
            <a:noFill/>
          </a:ln>
        </p:spPr>
      </p:pic>
      <p:pic>
        <p:nvPicPr>
          <p:cNvPr id="142" name="Google Shape;142;p9"/>
          <p:cNvPicPr preferRelativeResize="0"/>
          <p:nvPr/>
        </p:nvPicPr>
        <p:blipFill rotWithShape="1">
          <a:blip r:embed="rId8">
            <a:alphaModFix/>
          </a:blip>
          <a:srcRect b="0" l="0" r="0" t="0"/>
          <a:stretch/>
        </p:blipFill>
        <p:spPr>
          <a:xfrm>
            <a:off x="6797675" y="3940175"/>
            <a:ext cx="1819275" cy="715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Effect filter="fade" transition="in">
                                      <p:cBhvr>
                                        <p:cTn dur="500"/>
                                        <p:tgtEl>
                                          <p:spTgt spid="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Effect filter="fade" transition="in">
                                      <p:cBhvr>
                                        <p:cTn dur="500"/>
                                        <p:tgtEl>
                                          <p:spTgt spid="1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Effect filter="fade" transition="in">
                                      <p:cBhvr>
                                        <p:cTn dur="500"/>
                                        <p:tgtEl>
                                          <p:spTgt spid="1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Effect filter="fade" transition="in">
                                      <p:cBhvr>
                                        <p:cTn dur="500"/>
                                        <p:tgtEl>
                                          <p:spTgt spid="1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Effect filter="fade" transition="in">
                                      <p:cBhvr>
                                        <p:cTn dur="500"/>
                                        <p:tgtEl>
                                          <p:spTgt spid="1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Effect filter="fade" transition="in">
                                      <p:cBhvr>
                                        <p:cTn dur="500"/>
                                        <p:tgtEl>
                                          <p:spTgt spid="1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animEffect filter="fade" transition="in">
                                      <p:cBhvr>
                                        <p:cTn dur="500"/>
                                        <p:tgtEl>
                                          <p:spTgt spid="13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7" st="7"/>
                                            </p:txEl>
                                          </p:spTgt>
                                        </p:tgtEl>
                                        <p:attrNameLst>
                                          <p:attrName>style.visibility</p:attrName>
                                        </p:attrNameLst>
                                      </p:cBhvr>
                                      <p:to>
                                        <p:strVal val="visible"/>
                                      </p:to>
                                    </p:set>
                                    <p:animEffect filter="fade" transition="in">
                                      <p:cBhvr>
                                        <p:cTn dur="500"/>
                                        <p:tgtEl>
                                          <p:spTgt spid="13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7"/>
                                        </p:tgtEl>
                                        <p:attrNameLst>
                                          <p:attrName>style.visibility</p:attrName>
                                        </p:attrNameLst>
                                      </p:cBhvr>
                                      <p:to>
                                        <p:strVal val="visible"/>
                                      </p:to>
                                    </p:set>
                                    <p:anim calcmode="lin" valueType="num">
                                      <p:cBhvr additive="base">
                                        <p:cTn dur="500"/>
                                        <p:tgtEl>
                                          <p:spTgt spid="13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822"/>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0"/>
          <p:cNvSpPr txBox="1"/>
          <p:nvPr>
            <p:ph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92D050"/>
                </a:solidFill>
              </a:rPr>
              <a:t>Boyle’s Law</a:t>
            </a:r>
            <a:br>
              <a:rPr b="1" lang="en-US" sz="4800" u="sng">
                <a:solidFill>
                  <a:srgbClr val="92D050"/>
                </a:solidFill>
              </a:rPr>
            </a:br>
            <a:endParaRPr b="1" sz="4800">
              <a:solidFill>
                <a:srgbClr val="92D050"/>
              </a:solidFill>
            </a:endParaRPr>
          </a:p>
        </p:txBody>
      </p:sp>
      <p:sp>
        <p:nvSpPr>
          <p:cNvPr id="148" name="Google Shape;148;p10"/>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					</a:t>
            </a:r>
            <a:endParaRPr sz="2800">
              <a:solidFill>
                <a:schemeClr val="lt1"/>
              </a:solidFill>
              <a:latin typeface="Arial"/>
              <a:ea typeface="Arial"/>
              <a:cs typeface="Arial"/>
              <a:sym typeface="Arial"/>
            </a:endParaRPr>
          </a:p>
        </p:txBody>
      </p:sp>
      <p:pic>
        <p:nvPicPr>
          <p:cNvPr id="149" name="Google Shape;149;p10"/>
          <p:cNvPicPr preferRelativeResize="0"/>
          <p:nvPr/>
        </p:nvPicPr>
        <p:blipFill rotWithShape="1">
          <a:blip r:embed="rId3">
            <a:alphaModFix/>
          </a:blip>
          <a:srcRect b="0" l="0" r="0" t="0"/>
          <a:stretch/>
        </p:blipFill>
        <p:spPr>
          <a:xfrm>
            <a:off x="3419475" y="908050"/>
            <a:ext cx="1828800" cy="571500"/>
          </a:xfrm>
          <a:prstGeom prst="rect">
            <a:avLst/>
          </a:prstGeom>
          <a:noFill/>
          <a:ln>
            <a:noFill/>
          </a:ln>
        </p:spPr>
      </p:pic>
      <p:pic>
        <p:nvPicPr>
          <p:cNvPr id="150" name="Google Shape;150;p10"/>
          <p:cNvPicPr preferRelativeResize="0"/>
          <p:nvPr/>
        </p:nvPicPr>
        <p:blipFill rotWithShape="1">
          <a:blip r:embed="rId4">
            <a:alphaModFix/>
          </a:blip>
          <a:srcRect b="0" l="0" r="0" t="0"/>
          <a:stretch/>
        </p:blipFill>
        <p:spPr>
          <a:xfrm>
            <a:off x="1187450" y="1693863"/>
            <a:ext cx="7056438" cy="46878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animEffect filter="fade" transition="in">
                                      <p:cBhvr>
                                        <p:cTn dur="500"/>
                                        <p:tgtEl>
                                          <p:spTgt spid="14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92D050"/>
                </a:solidFill>
              </a:rPr>
              <a:t>Boyle’s Law</a:t>
            </a:r>
            <a:br>
              <a:rPr b="1" lang="en-US" sz="4800" u="sng">
                <a:solidFill>
                  <a:srgbClr val="92D050"/>
                </a:solidFill>
              </a:rPr>
            </a:br>
            <a:endParaRPr b="1" sz="4800">
              <a:solidFill>
                <a:srgbClr val="92D050"/>
              </a:solidFill>
            </a:endParaRPr>
          </a:p>
        </p:txBody>
      </p:sp>
      <p:sp>
        <p:nvSpPr>
          <p:cNvPr id="156" name="Google Shape;156;p11"/>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	</a:t>
            </a:r>
            <a:endParaRPr sz="2800">
              <a:solidFill>
                <a:schemeClr val="lt1"/>
              </a:solidFill>
              <a:latin typeface="Arial"/>
              <a:ea typeface="Arial"/>
              <a:cs typeface="Arial"/>
              <a:sym typeface="Arial"/>
            </a:endParaRPr>
          </a:p>
        </p:txBody>
      </p:sp>
      <p:sp>
        <p:nvSpPr>
          <p:cNvPr id="157" name="Google Shape;157;p11"/>
          <p:cNvSpPr txBox="1"/>
          <p:nvPr/>
        </p:nvSpPr>
        <p:spPr>
          <a:xfrm>
            <a:off x="395288" y="620713"/>
            <a:ext cx="8497887" cy="606266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4"/>
              </a:buClr>
              <a:buSzPts val="2800"/>
              <a:buFont typeface="Arial"/>
              <a:buChar char="•"/>
            </a:pPr>
            <a:r>
              <a:rPr b="1" i="1" lang="en-US" sz="2800" u="none" cap="none" strike="noStrike">
                <a:solidFill>
                  <a:schemeClr val="accent4"/>
                </a:solidFill>
                <a:latin typeface="Arial"/>
                <a:ea typeface="Arial"/>
                <a:cs typeface="Arial"/>
                <a:sym typeface="Arial"/>
              </a:rPr>
              <a:t>The Units!</a:t>
            </a:r>
            <a:endParaRPr b="1" i="0" sz="2800" u="none" cap="none" strike="noStrike">
              <a:solidFill>
                <a:schemeClr val="accent4"/>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Volume must be measured in litres (L) or cubic centimetres (cm</a:t>
            </a:r>
            <a:r>
              <a:rPr b="0" baseline="30000" i="0" lang="en-US" sz="2400" u="none" cap="none" strike="noStrike">
                <a:solidFill>
                  <a:schemeClr val="lt1"/>
                </a:solidFill>
                <a:latin typeface="Arial"/>
                <a:ea typeface="Arial"/>
                <a:cs typeface="Arial"/>
                <a:sym typeface="Arial"/>
              </a:rPr>
              <a:t>3</a:t>
            </a:r>
            <a:r>
              <a:rPr b="0" i="0" lang="en-US" sz="2400" u="none" cap="none" strike="noStrike">
                <a:solidFill>
                  <a:schemeClr val="lt1"/>
                </a:solidFill>
                <a:latin typeface="Arial"/>
                <a:ea typeface="Arial"/>
                <a:cs typeface="Arial"/>
                <a:sym typeface="Arial"/>
              </a:rPr>
              <a:t>) and pressure usually in kilopascals (kPa), but other units are accepted.</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 </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Standard atmospheric pressure at 0°C </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	is 101.3 kPa</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 </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Numerous units may be used for pressure</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	atm		atmospheres</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	mm Hg	millimeters of mercury</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	torr		torr</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	psi		pounds per square inch</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 </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101.3 kPa  =  1 atm  =  760 mm Hg  </a:t>
            </a:r>
            <a:endParaRPr b="0" i="0" sz="2400" u="none" cap="none" strike="noStrike">
              <a:solidFill>
                <a:schemeClr val="lt1"/>
              </a:solidFill>
              <a:latin typeface="Arial"/>
              <a:ea typeface="Arial"/>
              <a:cs typeface="Arial"/>
              <a:sym typeface="Arial"/>
            </a:endParaRPr>
          </a:p>
          <a:p>
            <a:pPr indent="0" lvl="0" marL="0" marR="0" rtl="0" algn="l">
              <a:spcBef>
                <a:spcPts val="0"/>
              </a:spcBef>
              <a:spcAft>
                <a:spcPts val="0"/>
              </a:spcAft>
              <a:buNone/>
            </a:pPr>
            <a:r>
              <a:rPr b="0" i="0" lang="en-US" sz="2400" u="none" cap="none" strike="noStrike">
                <a:solidFill>
                  <a:schemeClr val="lt1"/>
                </a:solidFill>
                <a:latin typeface="Arial"/>
                <a:ea typeface="Arial"/>
                <a:cs typeface="Arial"/>
                <a:sym typeface="Arial"/>
              </a:rPr>
              <a:t>			=  760 torr  =  14.7 psi</a:t>
            </a:r>
            <a:endParaRPr b="0" i="0" sz="2400" u="none" cap="none" strike="noStrike">
              <a:solidFill>
                <a:schemeClr val="lt1"/>
              </a:solidFill>
              <a:latin typeface="Arial"/>
              <a:ea typeface="Arial"/>
              <a:cs typeface="Arial"/>
              <a:sym typeface="Arial"/>
            </a:endParaRPr>
          </a:p>
        </p:txBody>
      </p:sp>
      <p:pic>
        <p:nvPicPr>
          <p:cNvPr id="158" name="Google Shape;158;p11"/>
          <p:cNvPicPr preferRelativeResize="0"/>
          <p:nvPr/>
        </p:nvPicPr>
        <p:blipFill rotWithShape="1">
          <a:blip r:embed="rId3">
            <a:alphaModFix/>
          </a:blip>
          <a:srcRect b="0" l="0" r="0" t="0"/>
          <a:stretch/>
        </p:blipFill>
        <p:spPr>
          <a:xfrm>
            <a:off x="7092950" y="3429000"/>
            <a:ext cx="1497013" cy="23034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0" st="0"/>
                                            </p:txEl>
                                          </p:spTgt>
                                        </p:tgtEl>
                                        <p:attrNameLst>
                                          <p:attrName>style.visibility</p:attrName>
                                        </p:attrNameLst>
                                      </p:cBhvr>
                                      <p:to>
                                        <p:strVal val="visible"/>
                                      </p:to>
                                    </p:set>
                                    <p:animEffect filter="fade" transition="in">
                                      <p:cBhvr>
                                        <p:cTn dur="500"/>
                                        <p:tgtEl>
                                          <p:spTgt spid="1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animEffect filter="fade" transition="in">
                                      <p:cBhvr>
                                        <p:cTn dur="500"/>
                                        <p:tgtEl>
                                          <p:spTgt spid="1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animEffect filter="fade" transition="in">
                                      <p:cBhvr>
                                        <p:cTn dur="500"/>
                                        <p:tgtEl>
                                          <p:spTgt spid="1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animEffect filter="fade" transition="in">
                                      <p:cBhvr>
                                        <p:cTn dur="500"/>
                                        <p:tgtEl>
                                          <p:spTgt spid="1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3" st="3"/>
                                            </p:txEl>
                                          </p:spTgt>
                                        </p:tgtEl>
                                        <p:attrNameLst>
                                          <p:attrName>style.visibility</p:attrName>
                                        </p:attrNameLst>
                                      </p:cBhvr>
                                      <p:to>
                                        <p:strVal val="visible"/>
                                      </p:to>
                                    </p:set>
                                    <p:animEffect filter="fade" transition="in">
                                      <p:cBhvr>
                                        <p:cTn dur="500"/>
                                        <p:tgtEl>
                                          <p:spTgt spid="1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4" st="4"/>
                                            </p:txEl>
                                          </p:spTgt>
                                        </p:tgtEl>
                                        <p:attrNameLst>
                                          <p:attrName>style.visibility</p:attrName>
                                        </p:attrNameLst>
                                      </p:cBhvr>
                                      <p:to>
                                        <p:strVal val="visible"/>
                                      </p:to>
                                    </p:set>
                                    <p:animEffect filter="fade" transition="in">
                                      <p:cBhvr>
                                        <p:cTn dur="500"/>
                                        <p:tgtEl>
                                          <p:spTgt spid="1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5" st="5"/>
                                            </p:txEl>
                                          </p:spTgt>
                                        </p:tgtEl>
                                        <p:attrNameLst>
                                          <p:attrName>style.visibility</p:attrName>
                                        </p:attrNameLst>
                                      </p:cBhvr>
                                      <p:to>
                                        <p:strVal val="visible"/>
                                      </p:to>
                                    </p:set>
                                    <p:animEffect filter="fade" transition="in">
                                      <p:cBhvr>
                                        <p:cTn dur="500"/>
                                        <p:tgtEl>
                                          <p:spTgt spid="1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6" st="6"/>
                                            </p:txEl>
                                          </p:spTgt>
                                        </p:tgtEl>
                                        <p:attrNameLst>
                                          <p:attrName>style.visibility</p:attrName>
                                        </p:attrNameLst>
                                      </p:cBhvr>
                                      <p:to>
                                        <p:strVal val="visible"/>
                                      </p:to>
                                    </p:set>
                                    <p:animEffect filter="fade" transition="in">
                                      <p:cBhvr>
                                        <p:cTn dur="500"/>
                                        <p:tgtEl>
                                          <p:spTgt spid="15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7" st="7"/>
                                            </p:txEl>
                                          </p:spTgt>
                                        </p:tgtEl>
                                        <p:attrNameLst>
                                          <p:attrName>style.visibility</p:attrName>
                                        </p:attrNameLst>
                                      </p:cBhvr>
                                      <p:to>
                                        <p:strVal val="visible"/>
                                      </p:to>
                                    </p:set>
                                    <p:animEffect filter="fade" transition="in">
                                      <p:cBhvr>
                                        <p:cTn dur="500"/>
                                        <p:tgtEl>
                                          <p:spTgt spid="15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8" st="8"/>
                                            </p:txEl>
                                          </p:spTgt>
                                        </p:tgtEl>
                                        <p:attrNameLst>
                                          <p:attrName>style.visibility</p:attrName>
                                        </p:attrNameLst>
                                      </p:cBhvr>
                                      <p:to>
                                        <p:strVal val="visible"/>
                                      </p:to>
                                    </p:set>
                                    <p:animEffect filter="fade" transition="in">
                                      <p:cBhvr>
                                        <p:cTn dur="500"/>
                                        <p:tgtEl>
                                          <p:spTgt spid="15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9" st="9"/>
                                            </p:txEl>
                                          </p:spTgt>
                                        </p:tgtEl>
                                        <p:attrNameLst>
                                          <p:attrName>style.visibility</p:attrName>
                                        </p:attrNameLst>
                                      </p:cBhvr>
                                      <p:to>
                                        <p:strVal val="visible"/>
                                      </p:to>
                                    </p:set>
                                    <p:animEffect filter="fade" transition="in">
                                      <p:cBhvr>
                                        <p:cTn dur="500"/>
                                        <p:tgtEl>
                                          <p:spTgt spid="15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10" st="10"/>
                                            </p:txEl>
                                          </p:spTgt>
                                        </p:tgtEl>
                                        <p:attrNameLst>
                                          <p:attrName>style.visibility</p:attrName>
                                        </p:attrNameLst>
                                      </p:cBhvr>
                                      <p:to>
                                        <p:strVal val="visible"/>
                                      </p:to>
                                    </p:set>
                                    <p:animEffect filter="fade" transition="in">
                                      <p:cBhvr>
                                        <p:cTn dur="500"/>
                                        <p:tgtEl>
                                          <p:spTgt spid="15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11" st="11"/>
                                            </p:txEl>
                                          </p:spTgt>
                                        </p:tgtEl>
                                        <p:attrNameLst>
                                          <p:attrName>style.visibility</p:attrName>
                                        </p:attrNameLst>
                                      </p:cBhvr>
                                      <p:to>
                                        <p:strVal val="visible"/>
                                      </p:to>
                                    </p:set>
                                    <p:animEffect filter="fade" transition="in">
                                      <p:cBhvr>
                                        <p:cTn dur="500"/>
                                        <p:tgtEl>
                                          <p:spTgt spid="15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12" st="12"/>
                                            </p:txEl>
                                          </p:spTgt>
                                        </p:tgtEl>
                                        <p:attrNameLst>
                                          <p:attrName>style.visibility</p:attrName>
                                        </p:attrNameLst>
                                      </p:cBhvr>
                                      <p:to>
                                        <p:strVal val="visible"/>
                                      </p:to>
                                    </p:set>
                                    <p:animEffect filter="fade" transition="in">
                                      <p:cBhvr>
                                        <p:cTn dur="500"/>
                                        <p:tgtEl>
                                          <p:spTgt spid="15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13" st="13"/>
                                            </p:txEl>
                                          </p:spTgt>
                                        </p:tgtEl>
                                        <p:attrNameLst>
                                          <p:attrName>style.visibility</p:attrName>
                                        </p:attrNameLst>
                                      </p:cBhvr>
                                      <p:to>
                                        <p:strVal val="visible"/>
                                      </p:to>
                                    </p:set>
                                    <p:animEffect filter="fade" transition="in">
                                      <p:cBhvr>
                                        <p:cTn dur="500"/>
                                        <p:tgtEl>
                                          <p:spTgt spid="157">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2000"/>
                                        <p:tgtEl>
                                          <p:spTgt spid="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2"/>
          <p:cNvSpPr txBox="1"/>
          <p:nvPr>
            <p:ph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92D050"/>
                </a:solidFill>
              </a:rPr>
              <a:t>Boyle’s Law</a:t>
            </a:r>
            <a:br>
              <a:rPr b="1" lang="en-US" sz="4800" u="sng">
                <a:solidFill>
                  <a:srgbClr val="92D050"/>
                </a:solidFill>
              </a:rPr>
            </a:br>
            <a:endParaRPr b="1" sz="4800">
              <a:solidFill>
                <a:srgbClr val="92D050"/>
              </a:solidFill>
            </a:endParaRPr>
          </a:p>
        </p:txBody>
      </p:sp>
      <p:sp>
        <p:nvSpPr>
          <p:cNvPr id="164" name="Google Shape;164;p12"/>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4"/>
              </a:buClr>
              <a:buSzPts val="2800"/>
              <a:buFont typeface="Arial"/>
              <a:buNone/>
            </a:pPr>
            <a:r>
              <a:rPr b="1" i="1" lang="en-US" sz="2800">
                <a:solidFill>
                  <a:schemeClr val="accent4"/>
                </a:solidFill>
                <a:latin typeface="Arial"/>
                <a:ea typeface="Arial"/>
                <a:cs typeface="Arial"/>
                <a:sym typeface="Arial"/>
              </a:rPr>
              <a:t>Sample Problem:</a:t>
            </a:r>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A 4.50 L balloon filled with helium is collected at room temperature and standard atmospheric pressure.  The balloon is then submerged in a tub of water, also at room temperature such that the external pressure is increased to 110.2 kPa.  </a:t>
            </a:r>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What is the final volume of the balloon?</a:t>
            </a:r>
            <a:endParaRPr sz="2800">
              <a:solidFill>
                <a:schemeClr val="lt1"/>
              </a:solidFill>
              <a:latin typeface="Arial"/>
              <a:ea typeface="Arial"/>
              <a:cs typeface="Arial"/>
              <a:sym typeface="Arial"/>
            </a:endParaRPr>
          </a:p>
          <a:p>
            <a:pPr indent="0" lvl="0" marL="0" rtl="0" algn="l">
              <a:spcBef>
                <a:spcPts val="560"/>
              </a:spcBef>
              <a:spcAft>
                <a:spcPts val="0"/>
              </a:spcAft>
              <a:buClr>
                <a:schemeClr val="dk1"/>
              </a:buClr>
              <a:buSzPts val="2800"/>
              <a:buFont typeface="Arial"/>
              <a:buNone/>
            </a:pPr>
            <a:r>
              <a:t/>
            </a:r>
            <a:endParaRPr sz="2800">
              <a:solidFill>
                <a:schemeClr val="lt1"/>
              </a:solidFill>
              <a:latin typeface="Arial"/>
              <a:ea typeface="Arial"/>
              <a:cs typeface="Arial"/>
              <a:sym typeface="Arial"/>
            </a:endParaRPr>
          </a:p>
          <a:p>
            <a:pPr indent="0" lvl="0" marL="0" rtl="0" algn="l">
              <a:spcBef>
                <a:spcPts val="560"/>
              </a:spcBef>
              <a:spcAft>
                <a:spcPts val="0"/>
              </a:spcAft>
              <a:buClr>
                <a:schemeClr val="accent4"/>
              </a:buClr>
              <a:buSzPts val="2800"/>
              <a:buFont typeface="Arial"/>
              <a:buNone/>
            </a:pPr>
            <a:r>
              <a:rPr b="1" i="1" lang="en-US" sz="2800">
                <a:solidFill>
                  <a:schemeClr val="accent4"/>
                </a:solidFill>
                <a:latin typeface="Arial"/>
                <a:ea typeface="Arial"/>
                <a:cs typeface="Arial"/>
                <a:sym typeface="Arial"/>
              </a:rPr>
              <a:t>Practice Problems:</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p.434 #1-4</a:t>
            </a:r>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p.435 #1-6</a:t>
            </a:r>
            <a:endParaRPr sz="2800">
              <a:solidFill>
                <a:schemeClr val="lt1"/>
              </a:solidFill>
              <a:latin typeface="Arial"/>
              <a:ea typeface="Arial"/>
              <a:cs typeface="Arial"/>
              <a:sym typeface="Arial"/>
            </a:endParaRPr>
          </a:p>
          <a:p>
            <a:pPr indent="0" lvl="0" marL="0" rtl="0" algn="l">
              <a:spcBef>
                <a:spcPts val="560"/>
              </a:spcBef>
              <a:spcAft>
                <a:spcPts val="0"/>
              </a:spcAft>
              <a:buClr>
                <a:schemeClr val="dk1"/>
              </a:buClr>
              <a:buSzPts val="2800"/>
              <a:buFont typeface="Arial"/>
              <a:buNone/>
            </a:pPr>
            <a:r>
              <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 </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						</a:t>
            </a:r>
            <a:endParaRPr sz="2800">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E2AED7"/>
                </a:solidFill>
              </a:rPr>
              <a:t>Charles’ Law</a:t>
            </a:r>
            <a:br>
              <a:rPr b="1" lang="en-US" sz="4800" u="sng">
                <a:solidFill>
                  <a:srgbClr val="E2AED7"/>
                </a:solidFill>
              </a:rPr>
            </a:br>
            <a:endParaRPr b="1" sz="4800">
              <a:solidFill>
                <a:srgbClr val="E2AED7"/>
              </a:solidFill>
            </a:endParaRPr>
          </a:p>
        </p:txBody>
      </p:sp>
      <p:sp>
        <p:nvSpPr>
          <p:cNvPr id="170" name="Google Shape;170;p14"/>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The </a:t>
            </a:r>
            <a:r>
              <a:rPr b="1" lang="en-US" sz="2800" u="sng">
                <a:solidFill>
                  <a:schemeClr val="lt1"/>
                </a:solidFill>
                <a:latin typeface="Arial"/>
                <a:ea typeface="Arial"/>
                <a:cs typeface="Arial"/>
                <a:sym typeface="Arial"/>
              </a:rPr>
              <a:t>volume</a:t>
            </a:r>
            <a:r>
              <a:rPr lang="en-US" sz="2800">
                <a:solidFill>
                  <a:schemeClr val="lt1"/>
                </a:solidFill>
                <a:latin typeface="Arial"/>
                <a:ea typeface="Arial"/>
                <a:cs typeface="Arial"/>
                <a:sym typeface="Arial"/>
              </a:rPr>
              <a:t> of a fixed mass of gas is </a:t>
            </a:r>
            <a:r>
              <a:rPr b="1" i="1" lang="en-US" sz="2800">
                <a:solidFill>
                  <a:schemeClr val="lt1"/>
                </a:solidFill>
                <a:latin typeface="Arial"/>
                <a:ea typeface="Arial"/>
                <a:cs typeface="Arial"/>
                <a:sym typeface="Arial"/>
              </a:rPr>
              <a:t>proportional</a:t>
            </a:r>
            <a:r>
              <a:rPr lang="en-US" sz="2800">
                <a:solidFill>
                  <a:schemeClr val="lt1"/>
                </a:solidFill>
                <a:latin typeface="Arial"/>
                <a:ea typeface="Arial"/>
                <a:cs typeface="Arial"/>
                <a:sym typeface="Arial"/>
              </a:rPr>
              <a:t> to its </a:t>
            </a:r>
            <a:r>
              <a:rPr b="1" lang="en-US" sz="2800" u="sng">
                <a:solidFill>
                  <a:schemeClr val="lt1"/>
                </a:solidFill>
                <a:latin typeface="Arial"/>
                <a:ea typeface="Arial"/>
                <a:cs typeface="Arial"/>
                <a:sym typeface="Arial"/>
              </a:rPr>
              <a:t>temperature</a:t>
            </a:r>
            <a:r>
              <a:rPr lang="en-US" sz="2800">
                <a:solidFill>
                  <a:schemeClr val="lt1"/>
                </a:solidFill>
                <a:latin typeface="Arial"/>
                <a:ea typeface="Arial"/>
                <a:cs typeface="Arial"/>
                <a:sym typeface="Arial"/>
              </a:rPr>
              <a:t> when the pressure is kept constant.</a:t>
            </a:r>
            <a:endParaRPr sz="2800">
              <a:solidFill>
                <a:schemeClr val="lt1"/>
              </a:solidFill>
              <a:latin typeface="Arial"/>
              <a:ea typeface="Arial"/>
              <a:cs typeface="Arial"/>
              <a:sym typeface="Arial"/>
            </a:endParaRPr>
          </a:p>
          <a:p>
            <a:pPr indent="0" lvl="0" marL="0" rtl="0" algn="l">
              <a:spcBef>
                <a:spcPts val="28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a:p>
            <a:pPr indent="0" lvl="0" marL="0" rtl="0" algn="l">
              <a:spcBef>
                <a:spcPts val="560"/>
              </a:spcBef>
              <a:spcAft>
                <a:spcPts val="0"/>
              </a:spcAft>
              <a:buClr>
                <a:srgbClr val="FFFF00"/>
              </a:buClr>
              <a:buSzPts val="2800"/>
              <a:buFont typeface="Arial"/>
              <a:buNone/>
            </a:pPr>
            <a:r>
              <a:rPr b="1" lang="en-US" sz="2800">
                <a:solidFill>
                  <a:srgbClr val="FFFF00"/>
                </a:solidFill>
                <a:latin typeface="Arial"/>
                <a:ea typeface="Arial"/>
                <a:cs typeface="Arial"/>
                <a:sym typeface="Arial"/>
              </a:rPr>
              <a:t>V  α  T</a:t>
            </a:r>
            <a:endParaRPr b="1" sz="2800">
              <a:solidFill>
                <a:srgbClr val="FFFF00"/>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Thus </a:t>
            </a:r>
            <a:r>
              <a:rPr b="1" lang="en-US" sz="2800">
                <a:solidFill>
                  <a:srgbClr val="FFFF00"/>
                </a:solidFill>
                <a:latin typeface="Arial"/>
                <a:ea typeface="Arial"/>
                <a:cs typeface="Arial"/>
                <a:sym typeface="Arial"/>
              </a:rPr>
              <a:t>V = kT</a:t>
            </a:r>
            <a:endParaRPr b="1" sz="2800">
              <a:solidFill>
                <a:srgbClr val="FFFF00"/>
              </a:solidFill>
              <a:latin typeface="Arial"/>
              <a:ea typeface="Arial"/>
              <a:cs typeface="Arial"/>
              <a:sym typeface="Arial"/>
            </a:endParaRPr>
          </a:p>
          <a:p>
            <a:pPr indent="-190500" lvl="0" marL="34290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342900" lvl="0" marL="342900" rtl="0" algn="l">
              <a:spcBef>
                <a:spcPts val="560"/>
              </a:spcBef>
              <a:spcAft>
                <a:spcPts val="0"/>
              </a:spcAft>
              <a:buClr>
                <a:schemeClr val="lt1"/>
              </a:buClr>
              <a:buSzPts val="2800"/>
              <a:buFont typeface="Arial"/>
              <a:buChar char="•"/>
            </a:pPr>
            <a:r>
              <a:rPr lang="en-US" sz="2800">
                <a:solidFill>
                  <a:schemeClr val="lt1"/>
                </a:solidFill>
                <a:latin typeface="Arial"/>
                <a:ea typeface="Arial"/>
                <a:cs typeface="Arial"/>
                <a:sym typeface="Arial"/>
              </a:rPr>
              <a:t>We can rearrange this formula to yield  </a:t>
            </a:r>
            <a:r>
              <a:rPr b="1" lang="en-US" sz="2800">
                <a:solidFill>
                  <a:srgbClr val="FFFF00"/>
                </a:solidFill>
                <a:latin typeface="Arial"/>
                <a:ea typeface="Arial"/>
                <a:cs typeface="Arial"/>
                <a:sym typeface="Arial"/>
              </a:rPr>
              <a:t>k = V/T</a:t>
            </a:r>
            <a:endParaRPr b="1" sz="2800">
              <a:solidFill>
                <a:srgbClr val="FFFF00"/>
              </a:solidFill>
              <a:latin typeface="Arial"/>
              <a:ea typeface="Arial"/>
              <a:cs typeface="Arial"/>
              <a:sym typeface="Arial"/>
            </a:endParaRPr>
          </a:p>
          <a:p>
            <a:pPr indent="-342900" lvl="0" marL="342900" rtl="0" algn="l">
              <a:spcBef>
                <a:spcPts val="560"/>
              </a:spcBef>
              <a:spcAft>
                <a:spcPts val="0"/>
              </a:spcAft>
              <a:buClr>
                <a:schemeClr val="lt1"/>
              </a:buClr>
              <a:buSzPts val="2800"/>
              <a:buFont typeface="Arial"/>
              <a:buChar char="•"/>
            </a:pPr>
            <a:r>
              <a:rPr lang="en-US" sz="2800">
                <a:solidFill>
                  <a:schemeClr val="lt1"/>
                </a:solidFill>
                <a:latin typeface="Arial"/>
                <a:ea typeface="Arial"/>
                <a:cs typeface="Arial"/>
                <a:sym typeface="Arial"/>
              </a:rPr>
              <a:t>Since k is a constant it is true for a gas at any temperature!</a:t>
            </a:r>
            <a:endParaRPr sz="2800">
              <a:solidFill>
                <a:schemeClr val="lt1"/>
              </a:solidFill>
              <a:latin typeface="Arial"/>
              <a:ea typeface="Arial"/>
              <a:cs typeface="Arial"/>
              <a:sym typeface="Arial"/>
            </a:endParaRPr>
          </a:p>
          <a:p>
            <a:pPr indent="-342900" lvl="0" marL="342900" rtl="0" algn="l">
              <a:spcBef>
                <a:spcPts val="560"/>
              </a:spcBef>
              <a:spcAft>
                <a:spcPts val="0"/>
              </a:spcAft>
              <a:buClr>
                <a:schemeClr val="lt1"/>
              </a:buClr>
              <a:buSzPts val="2800"/>
              <a:buFont typeface="Arial"/>
              <a:buChar char="•"/>
            </a:pPr>
            <a:r>
              <a:rPr lang="en-US" sz="2800">
                <a:solidFill>
                  <a:schemeClr val="lt1"/>
                </a:solidFill>
                <a:latin typeface="Arial"/>
                <a:ea typeface="Arial"/>
                <a:cs typeface="Arial"/>
                <a:sym typeface="Arial"/>
              </a:rPr>
              <a:t>Thus for case 1 (initial conditions) and case 2 (final conditions)</a:t>
            </a:r>
            <a:endParaRPr sz="2800">
              <a:solidFill>
                <a:schemeClr val="lt1"/>
              </a:solidFill>
              <a:latin typeface="Arial"/>
              <a:ea typeface="Arial"/>
              <a:cs typeface="Arial"/>
              <a:sym typeface="Arial"/>
            </a:endParaRPr>
          </a:p>
          <a:p>
            <a:pPr indent="0" lvl="0" marL="0" rtl="0" algn="l">
              <a:spcBef>
                <a:spcPts val="560"/>
              </a:spcBef>
              <a:spcAft>
                <a:spcPts val="0"/>
              </a:spcAft>
              <a:buClr>
                <a:schemeClr val="dk1"/>
              </a:buClr>
              <a:buSzPts val="2800"/>
              <a:buFont typeface="Arial"/>
              <a:buNone/>
            </a:pPr>
            <a:r>
              <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 </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						</a:t>
            </a:r>
            <a:endParaRPr sz="2800">
              <a:solidFill>
                <a:schemeClr val="lt1"/>
              </a:solidFill>
              <a:latin typeface="Arial"/>
              <a:ea typeface="Arial"/>
              <a:cs typeface="Arial"/>
              <a:sym typeface="Arial"/>
            </a:endParaRPr>
          </a:p>
        </p:txBody>
      </p:sp>
      <p:pic>
        <p:nvPicPr>
          <p:cNvPr id="171" name="Google Shape;171;p14"/>
          <p:cNvPicPr preferRelativeResize="0"/>
          <p:nvPr/>
        </p:nvPicPr>
        <p:blipFill rotWithShape="1">
          <a:blip r:embed="rId3">
            <a:alphaModFix/>
          </a:blip>
          <a:srcRect b="0" l="0" r="0" t="0"/>
          <a:stretch/>
        </p:blipFill>
        <p:spPr>
          <a:xfrm>
            <a:off x="4211638" y="5397500"/>
            <a:ext cx="1368425" cy="1282700"/>
          </a:xfrm>
          <a:prstGeom prst="rect">
            <a:avLst/>
          </a:prstGeom>
          <a:noFill/>
          <a:ln cap="flat" cmpd="sng" w="66675">
            <a:solidFill>
              <a:srgbClr val="FFFF00"/>
            </a:solidFill>
            <a:prstDash val="solid"/>
            <a:miter lim="800000"/>
            <a:headEnd len="sm" w="sm" type="none"/>
            <a:tailEnd len="sm" w="sm" type="none"/>
          </a:ln>
        </p:spPr>
      </p:pic>
      <p:sp>
        <p:nvSpPr>
          <p:cNvPr id="172" name="Google Shape;172;p14"/>
          <p:cNvSpPr txBox="1"/>
          <p:nvPr/>
        </p:nvSpPr>
        <p:spPr>
          <a:xfrm>
            <a:off x="4500563" y="3141663"/>
            <a:ext cx="1841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3" name="Google Shape;173;p14"/>
          <p:cNvPicPr preferRelativeResize="0"/>
          <p:nvPr/>
        </p:nvPicPr>
        <p:blipFill rotWithShape="1">
          <a:blip r:embed="rId4">
            <a:alphaModFix/>
          </a:blip>
          <a:srcRect b="0" l="0" r="0" t="0"/>
          <a:stretch/>
        </p:blipFill>
        <p:spPr>
          <a:xfrm>
            <a:off x="4552950" y="1590675"/>
            <a:ext cx="2438400" cy="1828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Effect filter="fade" transition="in">
                                      <p:cBhvr>
                                        <p:cTn dur="500"/>
                                        <p:tgtEl>
                                          <p:spTgt spid="1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Effect filter="fade" transition="in">
                                      <p:cBhvr>
                                        <p:cTn dur="500"/>
                                        <p:tgtEl>
                                          <p:spTgt spid="1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Effect filter="fade" transition="in">
                                      <p:cBhvr>
                                        <p:cTn dur="500"/>
                                        <p:tgtEl>
                                          <p:spTgt spid="1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animEffect filter="fade" transition="in">
                                      <p:cBhvr>
                                        <p:cTn dur="500"/>
                                        <p:tgtEl>
                                          <p:spTgt spid="1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4" st="4"/>
                                            </p:txEl>
                                          </p:spTgt>
                                        </p:tgtEl>
                                        <p:attrNameLst>
                                          <p:attrName>style.visibility</p:attrName>
                                        </p:attrNameLst>
                                      </p:cBhvr>
                                      <p:to>
                                        <p:strVal val="visible"/>
                                      </p:to>
                                    </p:set>
                                    <p:animEffect filter="fade" transition="in">
                                      <p:cBhvr>
                                        <p:cTn dur="500"/>
                                        <p:tgtEl>
                                          <p:spTgt spid="1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5" st="5"/>
                                            </p:txEl>
                                          </p:spTgt>
                                        </p:tgtEl>
                                        <p:attrNameLst>
                                          <p:attrName>style.visibility</p:attrName>
                                        </p:attrNameLst>
                                      </p:cBhvr>
                                      <p:to>
                                        <p:strVal val="visible"/>
                                      </p:to>
                                    </p:set>
                                    <p:animEffect filter="fade" transition="in">
                                      <p:cBhvr>
                                        <p:cTn dur="500"/>
                                        <p:tgtEl>
                                          <p:spTgt spid="1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6" st="6"/>
                                            </p:txEl>
                                          </p:spTgt>
                                        </p:tgtEl>
                                        <p:attrNameLst>
                                          <p:attrName>style.visibility</p:attrName>
                                        </p:attrNameLst>
                                      </p:cBhvr>
                                      <p:to>
                                        <p:strVal val="visible"/>
                                      </p:to>
                                    </p:set>
                                    <p:animEffect filter="fade" transition="in">
                                      <p:cBhvr>
                                        <p:cTn dur="500"/>
                                        <p:tgtEl>
                                          <p:spTgt spid="17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7" st="7"/>
                                            </p:txEl>
                                          </p:spTgt>
                                        </p:tgtEl>
                                        <p:attrNameLst>
                                          <p:attrName>style.visibility</p:attrName>
                                        </p:attrNameLst>
                                      </p:cBhvr>
                                      <p:to>
                                        <p:strVal val="visible"/>
                                      </p:to>
                                    </p:set>
                                    <p:animEffect filter="fade" transition="in">
                                      <p:cBhvr>
                                        <p:cTn dur="500"/>
                                        <p:tgtEl>
                                          <p:spTgt spid="17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8" st="8"/>
                                            </p:txEl>
                                          </p:spTgt>
                                        </p:tgtEl>
                                        <p:attrNameLst>
                                          <p:attrName>style.visibility</p:attrName>
                                        </p:attrNameLst>
                                      </p:cBhvr>
                                      <p:to>
                                        <p:strVal val="visible"/>
                                      </p:to>
                                    </p:set>
                                    <p:animEffect filter="fade" transition="in">
                                      <p:cBhvr>
                                        <p:cTn dur="500"/>
                                        <p:tgtEl>
                                          <p:spTgt spid="17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9" st="9"/>
                                            </p:txEl>
                                          </p:spTgt>
                                        </p:tgtEl>
                                        <p:attrNameLst>
                                          <p:attrName>style.visibility</p:attrName>
                                        </p:attrNameLst>
                                      </p:cBhvr>
                                      <p:to>
                                        <p:strVal val="visible"/>
                                      </p:to>
                                    </p:set>
                                    <p:animEffect filter="fade" transition="in">
                                      <p:cBhvr>
                                        <p:cTn dur="500"/>
                                        <p:tgtEl>
                                          <p:spTgt spid="17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10" st="10"/>
                                            </p:txEl>
                                          </p:spTgt>
                                        </p:tgtEl>
                                        <p:attrNameLst>
                                          <p:attrName>style.visibility</p:attrName>
                                        </p:attrNameLst>
                                      </p:cBhvr>
                                      <p:to>
                                        <p:strVal val="visible"/>
                                      </p:to>
                                    </p:set>
                                    <p:animEffect filter="fade" transition="in">
                                      <p:cBhvr>
                                        <p:cTn dur="500"/>
                                        <p:tgtEl>
                                          <p:spTgt spid="17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822"/>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5"/>
          <p:cNvSpPr txBox="1"/>
          <p:nvPr>
            <p:ph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E2AED7"/>
                </a:solidFill>
              </a:rPr>
              <a:t>Charles’ Law</a:t>
            </a:r>
            <a:br>
              <a:rPr b="1" lang="en-US" sz="4800" u="sng">
                <a:solidFill>
                  <a:srgbClr val="E2AED7"/>
                </a:solidFill>
              </a:rPr>
            </a:br>
            <a:endParaRPr b="1" sz="4800">
              <a:solidFill>
                <a:srgbClr val="E2AED7"/>
              </a:solidFill>
            </a:endParaRPr>
          </a:p>
        </p:txBody>
      </p:sp>
      <p:sp>
        <p:nvSpPr>
          <p:cNvPr id="179" name="Google Shape;179;p15"/>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 </a:t>
            </a:r>
            <a:endParaRPr sz="28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lang="en-US" sz="2800">
                <a:solidFill>
                  <a:schemeClr val="lt1"/>
                </a:solidFill>
                <a:latin typeface="Arial"/>
                <a:ea typeface="Arial"/>
                <a:cs typeface="Arial"/>
                <a:sym typeface="Arial"/>
              </a:rPr>
              <a:t>						</a:t>
            </a:r>
            <a:endParaRPr sz="2800">
              <a:solidFill>
                <a:schemeClr val="lt1"/>
              </a:solidFill>
              <a:latin typeface="Arial"/>
              <a:ea typeface="Arial"/>
              <a:cs typeface="Arial"/>
              <a:sym typeface="Arial"/>
            </a:endParaRPr>
          </a:p>
        </p:txBody>
      </p:sp>
      <p:pic>
        <p:nvPicPr>
          <p:cNvPr id="180" name="Google Shape;180;p15"/>
          <p:cNvPicPr preferRelativeResize="0"/>
          <p:nvPr/>
        </p:nvPicPr>
        <p:blipFill rotWithShape="1">
          <a:blip r:embed="rId3">
            <a:alphaModFix/>
          </a:blip>
          <a:srcRect b="0" l="0" r="0" t="0"/>
          <a:stretch/>
        </p:blipFill>
        <p:spPr>
          <a:xfrm>
            <a:off x="755650" y="620713"/>
            <a:ext cx="1655763" cy="1552575"/>
          </a:xfrm>
          <a:prstGeom prst="rect">
            <a:avLst/>
          </a:prstGeom>
          <a:noFill/>
          <a:ln cap="flat" cmpd="sng" w="66675">
            <a:solidFill>
              <a:srgbClr val="FFFF00"/>
            </a:solidFill>
            <a:prstDash val="solid"/>
            <a:miter lim="800000"/>
            <a:headEnd len="sm" w="sm" type="none"/>
            <a:tailEnd len="sm" w="sm" type="none"/>
          </a:ln>
        </p:spPr>
      </p:pic>
      <p:sp>
        <p:nvSpPr>
          <p:cNvPr id="181" name="Google Shape;181;p15"/>
          <p:cNvSpPr txBox="1"/>
          <p:nvPr/>
        </p:nvSpPr>
        <p:spPr>
          <a:xfrm>
            <a:off x="4500563" y="3141663"/>
            <a:ext cx="1841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2" name="Google Shape;182;p15"/>
          <p:cNvPicPr preferRelativeResize="0"/>
          <p:nvPr/>
        </p:nvPicPr>
        <p:blipFill rotWithShape="1">
          <a:blip r:embed="rId4">
            <a:alphaModFix/>
          </a:blip>
          <a:srcRect b="0" l="0" r="0" t="0"/>
          <a:stretch/>
        </p:blipFill>
        <p:spPr>
          <a:xfrm>
            <a:off x="1544638" y="2420938"/>
            <a:ext cx="6096000" cy="4057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822"/>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ph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E2AED7"/>
                </a:solidFill>
              </a:rPr>
              <a:t>Charles’ Law</a:t>
            </a:r>
            <a:br>
              <a:rPr b="1" lang="en-US" sz="4800" u="sng">
                <a:solidFill>
                  <a:srgbClr val="E2AED7"/>
                </a:solidFill>
              </a:rPr>
            </a:br>
            <a:endParaRPr b="1" sz="4800">
              <a:solidFill>
                <a:srgbClr val="E2AED7"/>
              </a:solidFill>
            </a:endParaRPr>
          </a:p>
        </p:txBody>
      </p:sp>
      <p:sp>
        <p:nvSpPr>
          <p:cNvPr id="188" name="Google Shape;188;p16"/>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4"/>
              </a:buClr>
              <a:buSzPts val="2800"/>
              <a:buFont typeface="Arial"/>
              <a:buNone/>
            </a:pPr>
            <a:r>
              <a:rPr b="1" i="1" lang="en-US" sz="2800">
                <a:solidFill>
                  <a:schemeClr val="accent4"/>
                </a:solidFill>
                <a:latin typeface="Arial"/>
                <a:ea typeface="Arial"/>
                <a:cs typeface="Arial"/>
                <a:sym typeface="Arial"/>
              </a:rPr>
              <a:t>There is a catch!</a:t>
            </a:r>
            <a:endParaRPr b="1" sz="2800">
              <a:solidFill>
                <a:schemeClr val="accent4"/>
              </a:solidFill>
              <a:latin typeface="Arial"/>
              <a:ea typeface="Arial"/>
              <a:cs typeface="Arial"/>
              <a:sym typeface="Arial"/>
            </a:endParaRPr>
          </a:p>
          <a:p>
            <a:pPr indent="-342900" lvl="0" marL="342900" rtl="0" algn="l">
              <a:spcBef>
                <a:spcPts val="400"/>
              </a:spcBef>
              <a:spcAft>
                <a:spcPts val="0"/>
              </a:spcAft>
              <a:buClr>
                <a:schemeClr val="lt1"/>
              </a:buClr>
              <a:buSzPts val="2000"/>
              <a:buFont typeface="Arial"/>
              <a:buChar char="•"/>
            </a:pPr>
            <a:r>
              <a:rPr lang="en-US" sz="2000">
                <a:solidFill>
                  <a:schemeClr val="lt1"/>
                </a:solidFill>
                <a:latin typeface="Arial"/>
                <a:ea typeface="Arial"/>
                <a:cs typeface="Arial"/>
                <a:sym typeface="Arial"/>
              </a:rPr>
              <a:t>Temperature must be measured in </a:t>
            </a:r>
            <a:r>
              <a:rPr b="1" lang="en-US" sz="2000" u="sng">
                <a:solidFill>
                  <a:schemeClr val="lt1"/>
                </a:solidFill>
                <a:latin typeface="Arial"/>
                <a:ea typeface="Arial"/>
                <a:cs typeface="Arial"/>
                <a:sym typeface="Arial"/>
              </a:rPr>
              <a:t>Kelvin</a:t>
            </a:r>
            <a:r>
              <a:rPr lang="en-US" sz="2000">
                <a:solidFill>
                  <a:schemeClr val="lt1"/>
                </a:solidFill>
                <a:latin typeface="Arial"/>
                <a:ea typeface="Arial"/>
                <a:cs typeface="Arial"/>
                <a:sym typeface="Arial"/>
              </a:rPr>
              <a:t> and volume in </a:t>
            </a:r>
            <a:r>
              <a:rPr b="1" lang="en-US" sz="2000" u="sng">
                <a:solidFill>
                  <a:schemeClr val="lt1"/>
                </a:solidFill>
                <a:latin typeface="Arial"/>
                <a:ea typeface="Arial"/>
                <a:cs typeface="Arial"/>
                <a:sym typeface="Arial"/>
              </a:rPr>
              <a:t>litres</a:t>
            </a:r>
            <a:endParaRPr b="1" sz="2000" u="sng">
              <a:solidFill>
                <a:schemeClr val="lt1"/>
              </a:solidFill>
              <a:latin typeface="Arial"/>
              <a:ea typeface="Arial"/>
              <a:cs typeface="Arial"/>
              <a:sym typeface="Arial"/>
            </a:endParaRPr>
          </a:p>
          <a:p>
            <a:pPr indent="-342900" lvl="0" marL="342900" rtl="0" algn="l">
              <a:spcBef>
                <a:spcPts val="400"/>
              </a:spcBef>
              <a:spcAft>
                <a:spcPts val="0"/>
              </a:spcAft>
              <a:buClr>
                <a:schemeClr val="lt1"/>
              </a:buClr>
              <a:buSzPts val="2000"/>
              <a:buFont typeface="Arial"/>
              <a:buChar char="•"/>
            </a:pPr>
            <a:r>
              <a:rPr lang="en-US" sz="2000">
                <a:solidFill>
                  <a:schemeClr val="lt1"/>
                </a:solidFill>
                <a:latin typeface="Arial"/>
                <a:ea typeface="Arial"/>
                <a:cs typeface="Arial"/>
                <a:sym typeface="Arial"/>
              </a:rPr>
              <a:t>The Kelvin scale is similar to the Celsius scale (in graduations)</a:t>
            </a:r>
            <a:endParaRPr sz="2000">
              <a:solidFill>
                <a:schemeClr val="lt1"/>
              </a:solidFill>
              <a:latin typeface="Arial"/>
              <a:ea typeface="Arial"/>
              <a:cs typeface="Arial"/>
              <a:sym typeface="Arial"/>
            </a:endParaRPr>
          </a:p>
          <a:p>
            <a:pPr indent="-342900" lvl="0" marL="342900" rtl="0" algn="l">
              <a:spcBef>
                <a:spcPts val="400"/>
              </a:spcBef>
              <a:spcAft>
                <a:spcPts val="0"/>
              </a:spcAft>
              <a:buClr>
                <a:schemeClr val="lt1"/>
              </a:buClr>
              <a:buSzPts val="2000"/>
              <a:buFont typeface="Arial"/>
              <a:buChar char="•"/>
            </a:pPr>
            <a:r>
              <a:rPr lang="en-US" sz="2000">
                <a:solidFill>
                  <a:schemeClr val="lt1"/>
                </a:solidFill>
                <a:latin typeface="Arial"/>
                <a:ea typeface="Arial"/>
                <a:cs typeface="Arial"/>
                <a:sym typeface="Arial"/>
              </a:rPr>
              <a:t>To determine the Kelvin temperature just add 273.15 to the Celsius scale (we will use 273)</a:t>
            </a:r>
            <a:endParaRPr sz="2000">
              <a:solidFill>
                <a:schemeClr val="lt1"/>
              </a:solidFill>
              <a:latin typeface="Arial"/>
              <a:ea typeface="Arial"/>
              <a:cs typeface="Arial"/>
              <a:sym typeface="Arial"/>
            </a:endParaRPr>
          </a:p>
          <a:p>
            <a:pPr indent="0" lvl="0" marL="0" rtl="0" algn="l">
              <a:spcBef>
                <a:spcPts val="640"/>
              </a:spcBef>
              <a:spcAft>
                <a:spcPts val="0"/>
              </a:spcAft>
              <a:buClr>
                <a:schemeClr val="lt1"/>
              </a:buClr>
              <a:buSzPts val="2000"/>
              <a:buFont typeface="Arial"/>
              <a:buNone/>
            </a:pPr>
            <a:r>
              <a:rPr lang="en-US" sz="2000">
                <a:solidFill>
                  <a:schemeClr val="lt1"/>
                </a:solidFill>
                <a:latin typeface="Arial"/>
                <a:ea typeface="Arial"/>
                <a:cs typeface="Arial"/>
                <a:sym typeface="Arial"/>
              </a:rPr>
              <a:t>		</a:t>
            </a:r>
            <a:r>
              <a:rPr b="1" lang="en-US">
                <a:solidFill>
                  <a:srgbClr val="FFFF00"/>
                </a:solidFill>
                <a:latin typeface="Arial"/>
                <a:ea typeface="Arial"/>
                <a:cs typeface="Arial"/>
                <a:sym typeface="Arial"/>
              </a:rPr>
              <a:t>T</a:t>
            </a:r>
            <a:r>
              <a:rPr b="1" baseline="-25000" lang="en-US">
                <a:solidFill>
                  <a:srgbClr val="FFFF00"/>
                </a:solidFill>
                <a:latin typeface="Arial"/>
                <a:ea typeface="Arial"/>
                <a:cs typeface="Arial"/>
                <a:sym typeface="Arial"/>
              </a:rPr>
              <a:t>K</a:t>
            </a:r>
            <a:r>
              <a:rPr b="1" lang="en-US">
                <a:solidFill>
                  <a:srgbClr val="FFFF00"/>
                </a:solidFill>
                <a:latin typeface="Arial"/>
                <a:ea typeface="Arial"/>
                <a:cs typeface="Arial"/>
                <a:sym typeface="Arial"/>
              </a:rPr>
              <a:t>  =  T</a:t>
            </a:r>
            <a:r>
              <a:rPr b="1" baseline="-25000" lang="en-US">
                <a:solidFill>
                  <a:srgbClr val="FFFF00"/>
                </a:solidFill>
                <a:latin typeface="Arial"/>
                <a:ea typeface="Arial"/>
                <a:cs typeface="Arial"/>
                <a:sym typeface="Arial"/>
              </a:rPr>
              <a:t>°C</a:t>
            </a:r>
            <a:r>
              <a:rPr b="1" lang="en-US">
                <a:solidFill>
                  <a:srgbClr val="FFFF00"/>
                </a:solidFill>
                <a:latin typeface="Arial"/>
                <a:ea typeface="Arial"/>
                <a:cs typeface="Arial"/>
                <a:sym typeface="Arial"/>
              </a:rPr>
              <a:t>  +  273</a:t>
            </a:r>
            <a:endParaRPr b="1">
              <a:solidFill>
                <a:srgbClr val="FFFF00"/>
              </a:solidFill>
              <a:latin typeface="Arial"/>
              <a:ea typeface="Arial"/>
              <a:cs typeface="Arial"/>
              <a:sym typeface="Arial"/>
            </a:endParaRPr>
          </a:p>
          <a:p>
            <a:pPr indent="-342900" lvl="0" marL="342900" rtl="0" algn="l">
              <a:spcBef>
                <a:spcPts val="400"/>
              </a:spcBef>
              <a:spcAft>
                <a:spcPts val="0"/>
              </a:spcAft>
              <a:buClr>
                <a:schemeClr val="lt1"/>
              </a:buClr>
              <a:buSzPts val="2000"/>
              <a:buFont typeface="Arial"/>
              <a:buChar char="•"/>
            </a:pPr>
            <a:r>
              <a:rPr lang="en-US" sz="2000">
                <a:solidFill>
                  <a:schemeClr val="lt1"/>
                </a:solidFill>
                <a:latin typeface="Arial"/>
                <a:ea typeface="Arial"/>
                <a:cs typeface="Arial"/>
                <a:sym typeface="Arial"/>
              </a:rPr>
              <a:t>Unlike other temperature scales  K  has no  °  symbol.</a:t>
            </a:r>
            <a:endParaRPr sz="2000">
              <a:solidFill>
                <a:schemeClr val="lt1"/>
              </a:solidFill>
              <a:latin typeface="Arial"/>
              <a:ea typeface="Arial"/>
              <a:cs typeface="Arial"/>
              <a:sym typeface="Arial"/>
            </a:endParaRPr>
          </a:p>
          <a:p>
            <a:pPr indent="-266700" lvl="0" marL="342900" rtl="0" algn="l">
              <a:spcBef>
                <a:spcPts val="240"/>
              </a:spcBef>
              <a:spcAft>
                <a:spcPts val="0"/>
              </a:spcAft>
              <a:buClr>
                <a:schemeClr val="dk1"/>
              </a:buClr>
              <a:buSzPts val="1200"/>
              <a:buFont typeface="Arial"/>
              <a:buNone/>
            </a:pPr>
            <a:r>
              <a:t/>
            </a:r>
            <a:endParaRPr sz="1200">
              <a:solidFill>
                <a:schemeClr val="lt1"/>
              </a:solidFill>
              <a:latin typeface="Arial"/>
              <a:ea typeface="Arial"/>
              <a:cs typeface="Arial"/>
              <a:sym typeface="Arial"/>
            </a:endParaRPr>
          </a:p>
          <a:p>
            <a:pPr indent="0" lvl="0" marL="0" rtl="0" algn="l">
              <a:spcBef>
                <a:spcPts val="400"/>
              </a:spcBef>
              <a:spcAft>
                <a:spcPts val="0"/>
              </a:spcAft>
              <a:buClr>
                <a:schemeClr val="lt1"/>
              </a:buClr>
              <a:buSzPts val="2000"/>
              <a:buFont typeface="Arial"/>
              <a:buNone/>
            </a:pPr>
            <a:r>
              <a:rPr lang="en-US" sz="2000">
                <a:solidFill>
                  <a:schemeClr val="lt1"/>
                </a:solidFill>
                <a:latin typeface="Arial"/>
                <a:ea typeface="Arial"/>
                <a:cs typeface="Arial"/>
                <a:sym typeface="Arial"/>
              </a:rPr>
              <a:t>	B.P. of water 	100°C		373 K</a:t>
            </a:r>
            <a:endParaRPr sz="2000">
              <a:solidFill>
                <a:schemeClr val="lt1"/>
              </a:solidFill>
              <a:latin typeface="Arial"/>
              <a:ea typeface="Arial"/>
              <a:cs typeface="Arial"/>
              <a:sym typeface="Arial"/>
            </a:endParaRPr>
          </a:p>
          <a:p>
            <a:pPr indent="0" lvl="0" marL="0" rtl="0" algn="l">
              <a:spcBef>
                <a:spcPts val="400"/>
              </a:spcBef>
              <a:spcAft>
                <a:spcPts val="0"/>
              </a:spcAft>
              <a:buClr>
                <a:schemeClr val="lt1"/>
              </a:buClr>
              <a:buSzPts val="2000"/>
              <a:buFont typeface="Arial"/>
              <a:buNone/>
            </a:pPr>
            <a:r>
              <a:rPr lang="en-US" sz="2000">
                <a:solidFill>
                  <a:schemeClr val="lt1"/>
                </a:solidFill>
                <a:latin typeface="Arial"/>
                <a:ea typeface="Arial"/>
                <a:cs typeface="Arial"/>
                <a:sym typeface="Arial"/>
              </a:rPr>
              <a:t>	Body Temp.	  37°C		310 K</a:t>
            </a:r>
            <a:endParaRPr sz="2000">
              <a:solidFill>
                <a:schemeClr val="lt1"/>
              </a:solidFill>
              <a:latin typeface="Arial"/>
              <a:ea typeface="Arial"/>
              <a:cs typeface="Arial"/>
              <a:sym typeface="Arial"/>
            </a:endParaRPr>
          </a:p>
          <a:p>
            <a:pPr indent="0" lvl="0" marL="0" rtl="0" algn="l">
              <a:spcBef>
                <a:spcPts val="400"/>
              </a:spcBef>
              <a:spcAft>
                <a:spcPts val="0"/>
              </a:spcAft>
              <a:buClr>
                <a:schemeClr val="lt1"/>
              </a:buClr>
              <a:buSzPts val="2000"/>
              <a:buFont typeface="Arial"/>
              <a:buNone/>
            </a:pPr>
            <a:r>
              <a:rPr lang="en-US" sz="2000">
                <a:solidFill>
                  <a:schemeClr val="lt1"/>
                </a:solidFill>
                <a:latin typeface="Arial"/>
                <a:ea typeface="Arial"/>
                <a:cs typeface="Arial"/>
                <a:sym typeface="Arial"/>
              </a:rPr>
              <a:t>	F.P. of water	    0°C		273 K</a:t>
            </a:r>
            <a:endParaRPr sz="2000">
              <a:solidFill>
                <a:schemeClr val="lt1"/>
              </a:solidFill>
              <a:latin typeface="Arial"/>
              <a:ea typeface="Arial"/>
              <a:cs typeface="Arial"/>
              <a:sym typeface="Arial"/>
            </a:endParaRPr>
          </a:p>
          <a:p>
            <a:pPr indent="0" lvl="0" marL="0" rtl="0" algn="l">
              <a:spcBef>
                <a:spcPts val="400"/>
              </a:spcBef>
              <a:spcAft>
                <a:spcPts val="0"/>
              </a:spcAft>
              <a:buClr>
                <a:schemeClr val="lt1"/>
              </a:buClr>
              <a:buSzPts val="2000"/>
              <a:buFont typeface="Arial"/>
              <a:buNone/>
            </a:pPr>
            <a:r>
              <a:rPr lang="en-US" sz="2000">
                <a:solidFill>
                  <a:schemeClr val="lt1"/>
                </a:solidFill>
                <a:latin typeface="Arial"/>
                <a:ea typeface="Arial"/>
                <a:cs typeface="Arial"/>
                <a:sym typeface="Arial"/>
              </a:rPr>
              <a:t>	Absolute Zero	-273°C		    0 K</a:t>
            </a:r>
            <a:endParaRPr sz="2000">
              <a:solidFill>
                <a:schemeClr val="lt1"/>
              </a:solidFill>
              <a:latin typeface="Arial"/>
              <a:ea typeface="Arial"/>
              <a:cs typeface="Arial"/>
              <a:sym typeface="Arial"/>
            </a:endParaRPr>
          </a:p>
          <a:p>
            <a:pPr indent="0" lvl="0" marL="0" rtl="0" algn="l">
              <a:spcBef>
                <a:spcPts val="400"/>
              </a:spcBef>
              <a:spcAft>
                <a:spcPts val="0"/>
              </a:spcAft>
              <a:buClr>
                <a:schemeClr val="lt1"/>
              </a:buClr>
              <a:buSzPts val="2000"/>
              <a:buFont typeface="Arial"/>
              <a:buNone/>
            </a:pPr>
            <a:r>
              <a:rPr lang="en-US" sz="2000">
                <a:solidFill>
                  <a:schemeClr val="lt1"/>
                </a:solidFill>
                <a:latin typeface="Arial"/>
                <a:ea typeface="Arial"/>
                <a:cs typeface="Arial"/>
                <a:sym typeface="Arial"/>
              </a:rPr>
              <a:t> </a:t>
            </a:r>
            <a:endParaRPr sz="1100">
              <a:solidFill>
                <a:schemeClr val="lt1"/>
              </a:solidFill>
              <a:latin typeface="Arial"/>
              <a:ea typeface="Arial"/>
              <a:cs typeface="Arial"/>
              <a:sym typeface="Arial"/>
            </a:endParaRPr>
          </a:p>
          <a:p>
            <a:pPr indent="-342900" lvl="0" marL="342900" rtl="0" algn="l">
              <a:spcBef>
                <a:spcPts val="400"/>
              </a:spcBef>
              <a:spcAft>
                <a:spcPts val="0"/>
              </a:spcAft>
              <a:buClr>
                <a:schemeClr val="lt1"/>
              </a:buClr>
              <a:buSzPts val="2000"/>
              <a:buFont typeface="Arial"/>
              <a:buChar char="•"/>
            </a:pPr>
            <a:r>
              <a:rPr lang="en-US" sz="2000" u="sng">
                <a:solidFill>
                  <a:schemeClr val="lt1"/>
                </a:solidFill>
                <a:latin typeface="Arial"/>
                <a:ea typeface="Arial"/>
                <a:cs typeface="Arial"/>
                <a:sym typeface="Arial"/>
              </a:rPr>
              <a:t>Present</a:t>
            </a:r>
            <a:r>
              <a:rPr lang="en-US" sz="2000">
                <a:solidFill>
                  <a:schemeClr val="lt1"/>
                </a:solidFill>
                <a:latin typeface="Arial"/>
                <a:ea typeface="Arial"/>
                <a:cs typeface="Arial"/>
                <a:sym typeface="Arial"/>
              </a:rPr>
              <a:t> and </a:t>
            </a:r>
            <a:r>
              <a:rPr lang="en-US" sz="2000" u="sng">
                <a:solidFill>
                  <a:schemeClr val="lt1"/>
                </a:solidFill>
                <a:latin typeface="Arial"/>
                <a:ea typeface="Arial"/>
                <a:cs typeface="Arial"/>
                <a:sym typeface="Arial"/>
              </a:rPr>
              <a:t>Previous</a:t>
            </a:r>
            <a:r>
              <a:rPr lang="en-US" sz="2000">
                <a:solidFill>
                  <a:schemeClr val="lt1"/>
                </a:solidFill>
                <a:latin typeface="Arial"/>
                <a:ea typeface="Arial"/>
                <a:cs typeface="Arial"/>
                <a:sym typeface="Arial"/>
              </a:rPr>
              <a:t> Names for these scales:</a:t>
            </a:r>
            <a:endParaRPr sz="2000">
              <a:solidFill>
                <a:schemeClr val="lt1"/>
              </a:solidFill>
              <a:latin typeface="Arial"/>
              <a:ea typeface="Arial"/>
              <a:cs typeface="Arial"/>
              <a:sym typeface="Arial"/>
            </a:endParaRPr>
          </a:p>
          <a:p>
            <a:pPr indent="0" lvl="0" marL="0" rtl="0" algn="l">
              <a:spcBef>
                <a:spcPts val="400"/>
              </a:spcBef>
              <a:spcAft>
                <a:spcPts val="0"/>
              </a:spcAft>
              <a:buClr>
                <a:schemeClr val="lt1"/>
              </a:buClr>
              <a:buSzPts val="2000"/>
              <a:buFont typeface="Arial"/>
              <a:buNone/>
            </a:pPr>
            <a:r>
              <a:rPr lang="en-US" sz="2000">
                <a:solidFill>
                  <a:schemeClr val="lt1"/>
                </a:solidFill>
                <a:latin typeface="Arial"/>
                <a:ea typeface="Arial"/>
                <a:cs typeface="Arial"/>
                <a:sym typeface="Arial"/>
              </a:rPr>
              <a:t>     Celsius  ⭢  Centigrade	</a:t>
            </a:r>
            <a:endParaRPr sz="2000">
              <a:solidFill>
                <a:schemeClr val="lt1"/>
              </a:solidFill>
              <a:latin typeface="Arial"/>
              <a:ea typeface="Arial"/>
              <a:cs typeface="Arial"/>
              <a:sym typeface="Arial"/>
            </a:endParaRPr>
          </a:p>
          <a:p>
            <a:pPr indent="0" lvl="0" marL="0" rtl="0" algn="l">
              <a:spcBef>
                <a:spcPts val="400"/>
              </a:spcBef>
              <a:spcAft>
                <a:spcPts val="0"/>
              </a:spcAft>
              <a:buClr>
                <a:schemeClr val="lt1"/>
              </a:buClr>
              <a:buSzPts val="2000"/>
              <a:buFont typeface="Arial"/>
              <a:buNone/>
            </a:pPr>
            <a:r>
              <a:rPr lang="en-US" sz="2000">
                <a:solidFill>
                  <a:schemeClr val="lt1"/>
                </a:solidFill>
                <a:latin typeface="Arial"/>
                <a:ea typeface="Arial"/>
                <a:cs typeface="Arial"/>
                <a:sym typeface="Arial"/>
              </a:rPr>
              <a:t>     Kelvin    ⭢  Absolute</a:t>
            </a:r>
            <a:endParaRPr sz="2400">
              <a:solidFill>
                <a:schemeClr val="lt1"/>
              </a:solidFill>
              <a:latin typeface="Arial"/>
              <a:ea typeface="Arial"/>
              <a:cs typeface="Arial"/>
              <a:sym typeface="Arial"/>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			</a:t>
            </a:r>
            <a:endParaRPr sz="2400">
              <a:solidFill>
                <a:schemeClr val="lt1"/>
              </a:solidFill>
              <a:latin typeface="Arial"/>
              <a:ea typeface="Arial"/>
              <a:cs typeface="Arial"/>
              <a:sym typeface="Arial"/>
            </a:endParaRPr>
          </a:p>
        </p:txBody>
      </p:sp>
      <p:sp>
        <p:nvSpPr>
          <p:cNvPr id="189" name="Google Shape;189;p16"/>
          <p:cNvSpPr txBox="1"/>
          <p:nvPr/>
        </p:nvSpPr>
        <p:spPr>
          <a:xfrm>
            <a:off x="4500563" y="3141663"/>
            <a:ext cx="1841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0" st="0"/>
                                            </p:txEl>
                                          </p:spTgt>
                                        </p:tgtEl>
                                        <p:attrNameLst>
                                          <p:attrName>style.visibility</p:attrName>
                                        </p:attrNameLst>
                                      </p:cBhvr>
                                      <p:to>
                                        <p:strVal val="visible"/>
                                      </p:to>
                                    </p:set>
                                    <p:animEffect filter="fade" transition="in">
                                      <p:cBhvr>
                                        <p:cTn dur="500"/>
                                        <p:tgtEl>
                                          <p:spTgt spid="1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1" st="1"/>
                                            </p:txEl>
                                          </p:spTgt>
                                        </p:tgtEl>
                                        <p:attrNameLst>
                                          <p:attrName>style.visibility</p:attrName>
                                        </p:attrNameLst>
                                      </p:cBhvr>
                                      <p:to>
                                        <p:strVal val="visible"/>
                                      </p:to>
                                    </p:set>
                                    <p:animEffect filter="fade" transition="in">
                                      <p:cBhvr>
                                        <p:cTn dur="500"/>
                                        <p:tgtEl>
                                          <p:spTgt spid="1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2" st="2"/>
                                            </p:txEl>
                                          </p:spTgt>
                                        </p:tgtEl>
                                        <p:attrNameLst>
                                          <p:attrName>style.visibility</p:attrName>
                                        </p:attrNameLst>
                                      </p:cBhvr>
                                      <p:to>
                                        <p:strVal val="visible"/>
                                      </p:to>
                                    </p:set>
                                    <p:animEffect filter="fade" transition="in">
                                      <p:cBhvr>
                                        <p:cTn dur="500"/>
                                        <p:tgtEl>
                                          <p:spTgt spid="1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3" st="3"/>
                                            </p:txEl>
                                          </p:spTgt>
                                        </p:tgtEl>
                                        <p:attrNameLst>
                                          <p:attrName>style.visibility</p:attrName>
                                        </p:attrNameLst>
                                      </p:cBhvr>
                                      <p:to>
                                        <p:strVal val="visible"/>
                                      </p:to>
                                    </p:set>
                                    <p:animEffect filter="fade" transition="in">
                                      <p:cBhvr>
                                        <p:cTn dur="500"/>
                                        <p:tgtEl>
                                          <p:spTgt spid="1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4" st="4"/>
                                            </p:txEl>
                                          </p:spTgt>
                                        </p:tgtEl>
                                        <p:attrNameLst>
                                          <p:attrName>style.visibility</p:attrName>
                                        </p:attrNameLst>
                                      </p:cBhvr>
                                      <p:to>
                                        <p:strVal val="visible"/>
                                      </p:to>
                                    </p:set>
                                    <p:animEffect filter="fade" transition="in">
                                      <p:cBhvr>
                                        <p:cTn dur="500"/>
                                        <p:tgtEl>
                                          <p:spTgt spid="1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5" st="5"/>
                                            </p:txEl>
                                          </p:spTgt>
                                        </p:tgtEl>
                                        <p:attrNameLst>
                                          <p:attrName>style.visibility</p:attrName>
                                        </p:attrNameLst>
                                      </p:cBhvr>
                                      <p:to>
                                        <p:strVal val="visible"/>
                                      </p:to>
                                    </p:set>
                                    <p:animEffect filter="fade" transition="in">
                                      <p:cBhvr>
                                        <p:cTn dur="500"/>
                                        <p:tgtEl>
                                          <p:spTgt spid="18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6" st="6"/>
                                            </p:txEl>
                                          </p:spTgt>
                                        </p:tgtEl>
                                        <p:attrNameLst>
                                          <p:attrName>style.visibility</p:attrName>
                                        </p:attrNameLst>
                                      </p:cBhvr>
                                      <p:to>
                                        <p:strVal val="visible"/>
                                      </p:to>
                                    </p:set>
                                    <p:animEffect filter="fade" transition="in">
                                      <p:cBhvr>
                                        <p:cTn dur="500"/>
                                        <p:tgtEl>
                                          <p:spTgt spid="18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7" st="7"/>
                                            </p:txEl>
                                          </p:spTgt>
                                        </p:tgtEl>
                                        <p:attrNameLst>
                                          <p:attrName>style.visibility</p:attrName>
                                        </p:attrNameLst>
                                      </p:cBhvr>
                                      <p:to>
                                        <p:strVal val="visible"/>
                                      </p:to>
                                    </p:set>
                                    <p:animEffect filter="fade" transition="in">
                                      <p:cBhvr>
                                        <p:cTn dur="500"/>
                                        <p:tgtEl>
                                          <p:spTgt spid="18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8" st="8"/>
                                            </p:txEl>
                                          </p:spTgt>
                                        </p:tgtEl>
                                        <p:attrNameLst>
                                          <p:attrName>style.visibility</p:attrName>
                                        </p:attrNameLst>
                                      </p:cBhvr>
                                      <p:to>
                                        <p:strVal val="visible"/>
                                      </p:to>
                                    </p:set>
                                    <p:animEffect filter="fade" transition="in">
                                      <p:cBhvr>
                                        <p:cTn dur="500"/>
                                        <p:tgtEl>
                                          <p:spTgt spid="18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9" st="9"/>
                                            </p:txEl>
                                          </p:spTgt>
                                        </p:tgtEl>
                                        <p:attrNameLst>
                                          <p:attrName>style.visibility</p:attrName>
                                        </p:attrNameLst>
                                      </p:cBhvr>
                                      <p:to>
                                        <p:strVal val="visible"/>
                                      </p:to>
                                    </p:set>
                                    <p:animEffect filter="fade" transition="in">
                                      <p:cBhvr>
                                        <p:cTn dur="500"/>
                                        <p:tgtEl>
                                          <p:spTgt spid="18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10" st="10"/>
                                            </p:txEl>
                                          </p:spTgt>
                                        </p:tgtEl>
                                        <p:attrNameLst>
                                          <p:attrName>style.visibility</p:attrName>
                                        </p:attrNameLst>
                                      </p:cBhvr>
                                      <p:to>
                                        <p:strVal val="visible"/>
                                      </p:to>
                                    </p:set>
                                    <p:animEffect filter="fade" transition="in">
                                      <p:cBhvr>
                                        <p:cTn dur="500"/>
                                        <p:tgtEl>
                                          <p:spTgt spid="18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11" st="11"/>
                                            </p:txEl>
                                          </p:spTgt>
                                        </p:tgtEl>
                                        <p:attrNameLst>
                                          <p:attrName>style.visibility</p:attrName>
                                        </p:attrNameLst>
                                      </p:cBhvr>
                                      <p:to>
                                        <p:strVal val="visible"/>
                                      </p:to>
                                    </p:set>
                                    <p:animEffect filter="fade" transition="in">
                                      <p:cBhvr>
                                        <p:cTn dur="500"/>
                                        <p:tgtEl>
                                          <p:spTgt spid="18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12" st="12"/>
                                            </p:txEl>
                                          </p:spTgt>
                                        </p:tgtEl>
                                        <p:attrNameLst>
                                          <p:attrName>style.visibility</p:attrName>
                                        </p:attrNameLst>
                                      </p:cBhvr>
                                      <p:to>
                                        <p:strVal val="visible"/>
                                      </p:to>
                                    </p:set>
                                    <p:animEffect filter="fade" transition="in">
                                      <p:cBhvr>
                                        <p:cTn dur="500"/>
                                        <p:tgtEl>
                                          <p:spTgt spid="18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13" st="13"/>
                                            </p:txEl>
                                          </p:spTgt>
                                        </p:tgtEl>
                                        <p:attrNameLst>
                                          <p:attrName>style.visibility</p:attrName>
                                        </p:attrNameLst>
                                      </p:cBhvr>
                                      <p:to>
                                        <p:strVal val="visible"/>
                                      </p:to>
                                    </p:set>
                                    <p:animEffect filter="fade" transition="in">
                                      <p:cBhvr>
                                        <p:cTn dur="500"/>
                                        <p:tgtEl>
                                          <p:spTgt spid="18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14" st="14"/>
                                            </p:txEl>
                                          </p:spTgt>
                                        </p:tgtEl>
                                        <p:attrNameLst>
                                          <p:attrName>style.visibility</p:attrName>
                                        </p:attrNameLst>
                                      </p:cBhvr>
                                      <p:to>
                                        <p:strVal val="visible"/>
                                      </p:to>
                                    </p:set>
                                    <p:animEffect filter="fade" transition="in">
                                      <p:cBhvr>
                                        <p:cTn dur="500"/>
                                        <p:tgtEl>
                                          <p:spTgt spid="18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15" st="15"/>
                                            </p:txEl>
                                          </p:spTgt>
                                        </p:tgtEl>
                                        <p:attrNameLst>
                                          <p:attrName>style.visibility</p:attrName>
                                        </p:attrNameLst>
                                      </p:cBhvr>
                                      <p:to>
                                        <p:strVal val="visible"/>
                                      </p:to>
                                    </p:set>
                                    <p:animEffect filter="fade" transition="in">
                                      <p:cBhvr>
                                        <p:cTn dur="500"/>
                                        <p:tgtEl>
                                          <p:spTgt spid="188">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7"/>
          <p:cNvSpPr txBox="1"/>
          <p:nvPr>
            <p:ph idx="4294967295"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00FFFF"/>
                </a:solidFill>
              </a:rPr>
              <a:t>Gay-Lussac’s Law</a:t>
            </a:r>
            <a:br>
              <a:rPr b="1" lang="en-US" sz="4800" u="sng">
                <a:solidFill>
                  <a:srgbClr val="00FFFF"/>
                </a:solidFill>
              </a:rPr>
            </a:br>
            <a:endParaRPr b="1" sz="4800">
              <a:solidFill>
                <a:srgbClr val="00FFFF"/>
              </a:solidFill>
            </a:endParaRPr>
          </a:p>
        </p:txBody>
      </p:sp>
      <p:sp>
        <p:nvSpPr>
          <p:cNvPr id="195" name="Google Shape;195;p17"/>
          <p:cNvSpPr txBox="1"/>
          <p:nvPr>
            <p:ph idx="4294967295"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The </a:t>
            </a:r>
            <a:r>
              <a:rPr b="1" lang="en-US" sz="2400" u="sng">
                <a:solidFill>
                  <a:schemeClr val="lt1"/>
                </a:solidFill>
                <a:latin typeface="Arial"/>
                <a:ea typeface="Arial"/>
                <a:cs typeface="Arial"/>
                <a:sym typeface="Arial"/>
              </a:rPr>
              <a:t>pressure</a:t>
            </a:r>
            <a:r>
              <a:rPr lang="en-US" sz="2400">
                <a:solidFill>
                  <a:schemeClr val="lt1"/>
                </a:solidFill>
                <a:latin typeface="Arial"/>
                <a:ea typeface="Arial"/>
                <a:cs typeface="Arial"/>
                <a:sym typeface="Arial"/>
              </a:rPr>
              <a:t> of a fixed mass of gas varies </a:t>
            </a:r>
            <a:r>
              <a:rPr b="1" i="1" lang="en-US" sz="2400">
                <a:solidFill>
                  <a:schemeClr val="lt1"/>
                </a:solidFill>
                <a:latin typeface="Arial"/>
                <a:ea typeface="Arial"/>
                <a:cs typeface="Arial"/>
                <a:sym typeface="Arial"/>
              </a:rPr>
              <a:t>directly</a:t>
            </a:r>
            <a:r>
              <a:rPr lang="en-US" sz="2400">
                <a:solidFill>
                  <a:schemeClr val="lt1"/>
                </a:solidFill>
                <a:latin typeface="Arial"/>
                <a:ea typeface="Arial"/>
                <a:cs typeface="Arial"/>
                <a:sym typeface="Arial"/>
              </a:rPr>
              <a:t> with the </a:t>
            </a:r>
            <a:r>
              <a:rPr b="1" lang="en-US" sz="2400" u="sng">
                <a:solidFill>
                  <a:schemeClr val="lt1"/>
                </a:solidFill>
                <a:latin typeface="Arial"/>
                <a:ea typeface="Arial"/>
                <a:cs typeface="Arial"/>
                <a:sym typeface="Arial"/>
              </a:rPr>
              <a:t>temperature</a:t>
            </a:r>
            <a:r>
              <a:rPr lang="en-US" sz="2400">
                <a:solidFill>
                  <a:schemeClr val="lt1"/>
                </a:solidFill>
                <a:latin typeface="Arial"/>
                <a:ea typeface="Arial"/>
                <a:cs typeface="Arial"/>
                <a:sym typeface="Arial"/>
              </a:rPr>
              <a:t> when the volume is kept constant.</a:t>
            </a:r>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Thus  P = kT</a:t>
            </a:r>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We can rearrange this formula to yield k = P/T</a:t>
            </a:r>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Since k is a constant it is true for a gas at any temperature!</a:t>
            </a:r>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Thus for case 1 (initial conditions) and case 2 (final conditions):</a:t>
            </a:r>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		</a:t>
            </a:r>
            <a:endParaRPr sz="2400">
              <a:solidFill>
                <a:schemeClr val="lt1"/>
              </a:solidFill>
              <a:latin typeface="Arial"/>
              <a:ea typeface="Arial"/>
              <a:cs typeface="Arial"/>
              <a:sym typeface="Arial"/>
            </a:endParaRPr>
          </a:p>
        </p:txBody>
      </p:sp>
      <p:sp>
        <p:nvSpPr>
          <p:cNvPr id="196" name="Google Shape;196;p17"/>
          <p:cNvSpPr txBox="1"/>
          <p:nvPr/>
        </p:nvSpPr>
        <p:spPr>
          <a:xfrm>
            <a:off x="4500563" y="3141663"/>
            <a:ext cx="1841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ay-Lussac's%20Law%20graph" id="197" name="Google Shape;197;p17"/>
          <p:cNvPicPr preferRelativeResize="0"/>
          <p:nvPr/>
        </p:nvPicPr>
        <p:blipFill rotWithShape="1">
          <a:blip r:embed="rId4">
            <a:alphaModFix/>
          </a:blip>
          <a:srcRect b="0" l="0" r="0" t="0"/>
          <a:stretch/>
        </p:blipFill>
        <p:spPr>
          <a:xfrm>
            <a:off x="6672263" y="1484313"/>
            <a:ext cx="2471737" cy="1854200"/>
          </a:xfrm>
          <a:prstGeom prst="rect">
            <a:avLst/>
          </a:prstGeom>
          <a:noFill/>
          <a:ln>
            <a:noFill/>
          </a:ln>
        </p:spPr>
      </p:pic>
      <p:pic>
        <p:nvPicPr>
          <p:cNvPr descr="Eqn001" id="198" name="Google Shape;198;p17"/>
          <p:cNvPicPr preferRelativeResize="0"/>
          <p:nvPr/>
        </p:nvPicPr>
        <p:blipFill rotWithShape="1">
          <a:blip r:embed="rId5">
            <a:alphaModFix/>
          </a:blip>
          <a:srcRect b="0" l="0" r="0" t="0"/>
          <a:stretch/>
        </p:blipFill>
        <p:spPr>
          <a:xfrm>
            <a:off x="5292725" y="4797425"/>
            <a:ext cx="1190625" cy="1095375"/>
          </a:xfrm>
          <a:prstGeom prst="rect">
            <a:avLst/>
          </a:prstGeom>
          <a:solidFill>
            <a:schemeClr val="lt2"/>
          </a:solidFill>
          <a:ln cap="flat" cmpd="sng" w="82550">
            <a:solidFill>
              <a:srgbClr val="FFFF00"/>
            </a:solidFill>
            <a:prstDash val="solid"/>
            <a:miter lim="800000"/>
            <a:headEnd len="sm" w="sm" type="none"/>
            <a:tailEnd len="sm" w="sm" type="none"/>
          </a:ln>
        </p:spPr>
      </p:pic>
      <p:pic>
        <p:nvPicPr>
          <p:cNvPr descr="TP" id="199" name="Google Shape;199;p17"/>
          <p:cNvPicPr preferRelativeResize="0"/>
          <p:nvPr/>
        </p:nvPicPr>
        <p:blipFill rotWithShape="1">
          <a:blip r:embed="rId6">
            <a:alphaModFix/>
          </a:blip>
          <a:srcRect b="0" l="0" r="0" t="0"/>
          <a:stretch/>
        </p:blipFill>
        <p:spPr>
          <a:xfrm>
            <a:off x="1258888" y="4221163"/>
            <a:ext cx="2520950" cy="2447925"/>
          </a:xfrm>
          <a:prstGeom prst="rect">
            <a:avLst/>
          </a:prstGeom>
          <a:noFill/>
          <a:ln>
            <a:noFill/>
          </a:ln>
        </p:spPr>
      </p:pic>
      <p:graphicFrame>
        <p:nvGraphicFramePr>
          <p:cNvPr id="200" name="Google Shape;200;p17"/>
          <p:cNvGraphicFramePr/>
          <p:nvPr/>
        </p:nvGraphicFramePr>
        <p:xfrm>
          <a:off x="468313" y="1628775"/>
          <a:ext cx="1600200" cy="600075"/>
        </p:xfrm>
        <a:graphic>
          <a:graphicData uri="http://schemas.openxmlformats.org/presentationml/2006/ole">
            <mc:AlternateContent>
              <mc:Choice Requires="v">
                <p:oleObj r:id="rId7" imgH="600075" imgW="1600200" progId="Paint.Picture" spid="_x0000_s1">
                  <p:embed/>
                </p:oleObj>
              </mc:Choice>
              <mc:Fallback>
                <p:oleObj r:id="rId8" imgH="600075" imgW="1600200" progId="Paint.Picture">
                  <p:embed/>
                  <p:pic>
                    <p:nvPicPr>
                      <p:cNvPr id="200" name="Google Shape;200;p17"/>
                      <p:cNvPicPr preferRelativeResize="0"/>
                      <p:nvPr/>
                    </p:nvPicPr>
                    <p:blipFill rotWithShape="1">
                      <a:blip r:embed="rId9">
                        <a:alphaModFix/>
                      </a:blip>
                      <a:srcRect b="0" l="0" r="0" t="0"/>
                      <a:stretch/>
                    </p:blipFill>
                    <p:spPr>
                      <a:xfrm>
                        <a:off x="468313" y="1628775"/>
                        <a:ext cx="1600200" cy="600075"/>
                      </a:xfrm>
                      <a:prstGeom prst="rect">
                        <a:avLst/>
                      </a:prstGeom>
                      <a:noFill/>
                      <a:ln>
                        <a:noFill/>
                      </a:ln>
                    </p:spPr>
                  </p:pic>
                </p:oleObj>
              </mc:Fallback>
            </mc:AlternateContent>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animEffect filter="fade" transition="in">
                                      <p:cBhvr>
                                        <p:cTn dur="500"/>
                                        <p:tgtEl>
                                          <p:spTgt spid="1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animEffect filter="fade" transition="in">
                                      <p:cBhvr>
                                        <p:cTn dur="500"/>
                                        <p:tgtEl>
                                          <p:spTgt spid="1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2" st="2"/>
                                            </p:txEl>
                                          </p:spTgt>
                                        </p:tgtEl>
                                        <p:attrNameLst>
                                          <p:attrName>style.visibility</p:attrName>
                                        </p:attrNameLst>
                                      </p:cBhvr>
                                      <p:to>
                                        <p:strVal val="visible"/>
                                      </p:to>
                                    </p:set>
                                    <p:animEffect filter="fade" transition="in">
                                      <p:cBhvr>
                                        <p:cTn dur="500"/>
                                        <p:tgtEl>
                                          <p:spTgt spid="1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3" st="3"/>
                                            </p:txEl>
                                          </p:spTgt>
                                        </p:tgtEl>
                                        <p:attrNameLst>
                                          <p:attrName>style.visibility</p:attrName>
                                        </p:attrNameLst>
                                      </p:cBhvr>
                                      <p:to>
                                        <p:strVal val="visible"/>
                                      </p:to>
                                    </p:set>
                                    <p:animEffect filter="fade" transition="in">
                                      <p:cBhvr>
                                        <p:cTn dur="500"/>
                                        <p:tgtEl>
                                          <p:spTgt spid="1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4" st="4"/>
                                            </p:txEl>
                                          </p:spTgt>
                                        </p:tgtEl>
                                        <p:attrNameLst>
                                          <p:attrName>style.visibility</p:attrName>
                                        </p:attrNameLst>
                                      </p:cBhvr>
                                      <p:to>
                                        <p:strVal val="visible"/>
                                      </p:to>
                                    </p:set>
                                    <p:animEffect filter="fade" transition="in">
                                      <p:cBhvr>
                                        <p:cTn dur="500"/>
                                        <p:tgtEl>
                                          <p:spTgt spid="1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5" st="5"/>
                                            </p:txEl>
                                          </p:spTgt>
                                        </p:tgtEl>
                                        <p:attrNameLst>
                                          <p:attrName>style.visibility</p:attrName>
                                        </p:attrNameLst>
                                      </p:cBhvr>
                                      <p:to>
                                        <p:strVal val="visible"/>
                                      </p:to>
                                    </p:set>
                                    <p:animEffect filter="fade" transition="in">
                                      <p:cBhvr>
                                        <p:cTn dur="500"/>
                                        <p:tgtEl>
                                          <p:spTgt spid="1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6" st="6"/>
                                            </p:txEl>
                                          </p:spTgt>
                                        </p:tgtEl>
                                        <p:attrNameLst>
                                          <p:attrName>style.visibility</p:attrName>
                                        </p:attrNameLst>
                                      </p:cBhvr>
                                      <p:to>
                                        <p:strVal val="visible"/>
                                      </p:to>
                                    </p:set>
                                    <p:animEffect filter="fade" transition="in">
                                      <p:cBhvr>
                                        <p:cTn dur="500"/>
                                        <p:tgtEl>
                                          <p:spTgt spid="1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7" st="7"/>
                                            </p:txEl>
                                          </p:spTgt>
                                        </p:tgtEl>
                                        <p:attrNameLst>
                                          <p:attrName>style.visibility</p:attrName>
                                        </p:attrNameLst>
                                      </p:cBhvr>
                                      <p:to>
                                        <p:strVal val="visible"/>
                                      </p:to>
                                    </p:set>
                                    <p:animEffect filter="fade" transition="in">
                                      <p:cBhvr>
                                        <p:cTn dur="500"/>
                                        <p:tgtEl>
                                          <p:spTgt spid="19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8" st="8"/>
                                            </p:txEl>
                                          </p:spTgt>
                                        </p:tgtEl>
                                        <p:attrNameLst>
                                          <p:attrName>style.visibility</p:attrName>
                                        </p:attrNameLst>
                                      </p:cBhvr>
                                      <p:to>
                                        <p:strVal val="visible"/>
                                      </p:to>
                                    </p:set>
                                    <p:animEffect filter="fade" transition="in">
                                      <p:cBhvr>
                                        <p:cTn dur="500"/>
                                        <p:tgtEl>
                                          <p:spTgt spid="19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20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8"/>
          <p:cNvSpPr txBox="1"/>
          <p:nvPr>
            <p:ph idx="4294967295"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00FFFF"/>
                </a:solidFill>
              </a:rPr>
              <a:t>Gay-Lussac’s Law</a:t>
            </a:r>
            <a:br>
              <a:rPr b="1" lang="en-US" sz="4800" u="sng">
                <a:solidFill>
                  <a:srgbClr val="00FFFF"/>
                </a:solidFill>
              </a:rPr>
            </a:br>
            <a:endParaRPr b="1" sz="4800">
              <a:solidFill>
                <a:srgbClr val="00FFFF"/>
              </a:solidFill>
            </a:endParaRPr>
          </a:p>
        </p:txBody>
      </p:sp>
      <p:sp>
        <p:nvSpPr>
          <p:cNvPr id="206" name="Google Shape;206;p18"/>
          <p:cNvSpPr txBox="1"/>
          <p:nvPr>
            <p:ph idx="4294967295"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152400" lvl="0" marL="0" rtl="0" algn="l">
              <a:spcBef>
                <a:spcPts val="0"/>
              </a:spcBef>
              <a:spcAft>
                <a:spcPts val="0"/>
              </a:spcAft>
              <a:buClr>
                <a:srgbClr val="FF9900"/>
              </a:buClr>
              <a:buSzPts val="2400"/>
              <a:buChar char="•"/>
            </a:pPr>
            <a:r>
              <a:rPr b="1" i="1" lang="en-US" sz="2400">
                <a:solidFill>
                  <a:srgbClr val="FF9900"/>
                </a:solidFill>
                <a:latin typeface="Arial"/>
                <a:ea typeface="Arial"/>
                <a:cs typeface="Arial"/>
                <a:sym typeface="Arial"/>
              </a:rPr>
              <a:t>There is a catch!</a:t>
            </a:r>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Temperature must be measured in Kelvin (K) and pressure usually in kilopascals (kPa), but other units are accepted.</a:t>
            </a:r>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Recall:</a:t>
            </a:r>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	101.3 kPa = 1 atm = 760 mmHg = 760 torr = 14.7 psi</a:t>
            </a:r>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	</a:t>
            </a:r>
            <a:r>
              <a:rPr b="1" lang="en-US" sz="2400">
                <a:solidFill>
                  <a:srgbClr val="FF9900"/>
                </a:solidFill>
                <a:latin typeface="Arial"/>
                <a:ea typeface="Arial"/>
                <a:cs typeface="Arial"/>
                <a:sym typeface="Arial"/>
              </a:rPr>
              <a:t>STP  101.3 kPa &amp; 0</a:t>
            </a:r>
            <a:r>
              <a:rPr b="1" baseline="30000" lang="en-US" sz="2400">
                <a:solidFill>
                  <a:srgbClr val="FF9900"/>
                </a:solidFill>
                <a:latin typeface="Arial"/>
                <a:ea typeface="Arial"/>
                <a:cs typeface="Arial"/>
                <a:sym typeface="Arial"/>
              </a:rPr>
              <a:t>o</a:t>
            </a:r>
            <a:r>
              <a:rPr b="1" lang="en-US" sz="2400">
                <a:solidFill>
                  <a:srgbClr val="FF9900"/>
                </a:solidFill>
                <a:latin typeface="Arial"/>
                <a:ea typeface="Arial"/>
                <a:cs typeface="Arial"/>
                <a:sym typeface="Arial"/>
              </a:rPr>
              <a:t> C &amp; 273 K</a:t>
            </a:r>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		</a:t>
            </a:r>
            <a:endParaRPr sz="2400">
              <a:solidFill>
                <a:schemeClr val="lt1"/>
              </a:solidFill>
              <a:latin typeface="Arial"/>
              <a:ea typeface="Arial"/>
              <a:cs typeface="Arial"/>
              <a:sym typeface="Arial"/>
            </a:endParaRPr>
          </a:p>
        </p:txBody>
      </p:sp>
      <p:sp>
        <p:nvSpPr>
          <p:cNvPr id="207" name="Google Shape;207;p18"/>
          <p:cNvSpPr txBox="1"/>
          <p:nvPr/>
        </p:nvSpPr>
        <p:spPr>
          <a:xfrm>
            <a:off x="4500563" y="3141663"/>
            <a:ext cx="1841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Eqn001" id="208" name="Google Shape;208;p18"/>
          <p:cNvPicPr preferRelativeResize="0"/>
          <p:nvPr/>
        </p:nvPicPr>
        <p:blipFill rotWithShape="1">
          <a:blip r:embed="rId3">
            <a:alphaModFix/>
          </a:blip>
          <a:srcRect b="0" l="0" r="0" t="0"/>
          <a:stretch/>
        </p:blipFill>
        <p:spPr>
          <a:xfrm>
            <a:off x="5292725" y="4797425"/>
            <a:ext cx="1190625" cy="1095375"/>
          </a:xfrm>
          <a:prstGeom prst="rect">
            <a:avLst/>
          </a:prstGeom>
          <a:solidFill>
            <a:schemeClr val="lt2"/>
          </a:solidFill>
          <a:ln cap="flat" cmpd="sng" w="82550">
            <a:solidFill>
              <a:srgbClr val="FFFF00"/>
            </a:solidFill>
            <a:prstDash val="solid"/>
            <a:miter lim="800000"/>
            <a:headEnd len="sm" w="sm" type="none"/>
            <a:tailEnd len="sm" w="sm" type="none"/>
          </a:ln>
        </p:spPr>
      </p:pic>
      <p:pic>
        <p:nvPicPr>
          <p:cNvPr descr="TP" id="209" name="Google Shape;209;p18"/>
          <p:cNvPicPr preferRelativeResize="0"/>
          <p:nvPr/>
        </p:nvPicPr>
        <p:blipFill rotWithShape="1">
          <a:blip r:embed="rId4">
            <a:alphaModFix/>
          </a:blip>
          <a:srcRect b="0" l="0" r="0" t="0"/>
          <a:stretch/>
        </p:blipFill>
        <p:spPr>
          <a:xfrm>
            <a:off x="1258888" y="4221163"/>
            <a:ext cx="2520950" cy="2447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500"/>
                                        <p:tgtEl>
                                          <p:spTgt spid="2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animEffect filter="fade" transition="in">
                                      <p:cBhvr>
                                        <p:cTn dur="500"/>
                                        <p:tgtEl>
                                          <p:spTgt spid="2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animEffect filter="fade" transition="in">
                                      <p:cBhvr>
                                        <p:cTn dur="500"/>
                                        <p:tgtEl>
                                          <p:spTgt spid="2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animEffect filter="fade" transition="in">
                                      <p:cBhvr>
                                        <p:cTn dur="500"/>
                                        <p:tgtEl>
                                          <p:spTgt spid="2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animEffect filter="fade" transition="in">
                                      <p:cBhvr>
                                        <p:cTn dur="500"/>
                                        <p:tgtEl>
                                          <p:spTgt spid="2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5" st="5"/>
                                            </p:txEl>
                                          </p:spTgt>
                                        </p:tgtEl>
                                        <p:attrNameLst>
                                          <p:attrName>style.visibility</p:attrName>
                                        </p:attrNameLst>
                                      </p:cBhvr>
                                      <p:to>
                                        <p:strVal val="visible"/>
                                      </p:to>
                                    </p:set>
                                    <p:animEffect filter="fade" transition="in">
                                      <p:cBhvr>
                                        <p:cTn dur="500"/>
                                        <p:tgtEl>
                                          <p:spTgt spid="2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6" st="6"/>
                                            </p:txEl>
                                          </p:spTgt>
                                        </p:tgtEl>
                                        <p:attrNameLst>
                                          <p:attrName>style.visibility</p:attrName>
                                        </p:attrNameLst>
                                      </p:cBhvr>
                                      <p:to>
                                        <p:strVal val="visible"/>
                                      </p:to>
                                    </p:set>
                                    <p:animEffect filter="fade" transition="in">
                                      <p:cBhvr>
                                        <p:cTn dur="500"/>
                                        <p:tgtEl>
                                          <p:spTgt spid="2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7" st="7"/>
                                            </p:txEl>
                                          </p:spTgt>
                                        </p:tgtEl>
                                        <p:attrNameLst>
                                          <p:attrName>style.visibility</p:attrName>
                                        </p:attrNameLst>
                                      </p:cBhvr>
                                      <p:to>
                                        <p:strVal val="visible"/>
                                      </p:to>
                                    </p:set>
                                    <p:animEffect filter="fade" transition="in">
                                      <p:cBhvr>
                                        <p:cTn dur="500"/>
                                        <p:tgtEl>
                                          <p:spTgt spid="20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9"/>
          <p:cNvSpPr txBox="1"/>
          <p:nvPr>
            <p:ph idx="1"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9B639"/>
              </a:buClr>
              <a:buSzPts val="2800"/>
              <a:buFont typeface="Arial"/>
              <a:buNone/>
            </a:pPr>
            <a:r>
              <a:rPr b="1" i="1" lang="en-US" sz="2800">
                <a:solidFill>
                  <a:srgbClr val="F9B639"/>
                </a:solidFill>
                <a:latin typeface="Arial"/>
                <a:ea typeface="Arial"/>
                <a:cs typeface="Arial"/>
                <a:sym typeface="Arial"/>
              </a:rPr>
              <a:t>Sample Problems:</a:t>
            </a:r>
            <a:endParaRPr sz="2400">
              <a:solidFill>
                <a:schemeClr val="lt1"/>
              </a:solidFill>
              <a:latin typeface="Arial"/>
              <a:ea typeface="Arial"/>
              <a:cs typeface="Arial"/>
              <a:sym typeface="Arial"/>
            </a:endParaRPr>
          </a:p>
          <a:p>
            <a:pPr indent="-152400" lvl="0" marL="0" rtl="0" algn="l">
              <a:spcBef>
                <a:spcPts val="480"/>
              </a:spcBef>
              <a:spcAft>
                <a:spcPts val="0"/>
              </a:spcAft>
              <a:buClr>
                <a:schemeClr val="lt1"/>
              </a:buClr>
              <a:buSzPts val="2400"/>
              <a:buFont typeface="Calibri"/>
              <a:buAutoNum type="arabicPeriod"/>
            </a:pPr>
            <a:r>
              <a:rPr lang="en-US" sz="2400">
                <a:solidFill>
                  <a:schemeClr val="lt1"/>
                </a:solidFill>
                <a:latin typeface="Arial"/>
                <a:ea typeface="Arial"/>
                <a:cs typeface="Arial"/>
                <a:sym typeface="Arial"/>
              </a:rPr>
              <a:t>A balloon is filled with helium at standard atmospheric pressure and 22.5</a:t>
            </a:r>
            <a:r>
              <a:rPr baseline="30000" lang="en-US" sz="2400">
                <a:solidFill>
                  <a:schemeClr val="lt1"/>
                </a:solidFill>
                <a:latin typeface="Arial"/>
                <a:ea typeface="Arial"/>
                <a:cs typeface="Arial"/>
                <a:sym typeface="Arial"/>
              </a:rPr>
              <a:t>o</a:t>
            </a:r>
            <a:r>
              <a:rPr lang="en-US" sz="2400">
                <a:solidFill>
                  <a:schemeClr val="lt1"/>
                </a:solidFill>
                <a:latin typeface="Arial"/>
                <a:ea typeface="Arial"/>
                <a:cs typeface="Arial"/>
                <a:sym typeface="Arial"/>
              </a:rPr>
              <a:t>C.  When I took the balloon outside, the pressure was 90.1 kPa.  What was the outside temperature in </a:t>
            </a:r>
            <a:r>
              <a:rPr baseline="30000" lang="en-US" sz="2400">
                <a:solidFill>
                  <a:schemeClr val="lt1"/>
                </a:solidFill>
                <a:latin typeface="Arial"/>
                <a:ea typeface="Arial"/>
                <a:cs typeface="Arial"/>
                <a:sym typeface="Arial"/>
              </a:rPr>
              <a:t>o</a:t>
            </a:r>
            <a:r>
              <a:rPr lang="en-US" sz="2400">
                <a:solidFill>
                  <a:schemeClr val="lt1"/>
                </a:solidFill>
                <a:latin typeface="Arial"/>
                <a:ea typeface="Arial"/>
                <a:cs typeface="Arial"/>
                <a:sym typeface="Arial"/>
              </a:rPr>
              <a:t>C?</a:t>
            </a:r>
            <a:endParaRPr/>
          </a:p>
          <a:p>
            <a:pPr indent="-152400" lvl="0" marL="0" rtl="0" algn="l">
              <a:spcBef>
                <a:spcPts val="480"/>
              </a:spcBef>
              <a:spcAft>
                <a:spcPts val="0"/>
              </a:spcAft>
              <a:buClr>
                <a:schemeClr val="lt1"/>
              </a:buClr>
              <a:buSzPts val="2400"/>
              <a:buFont typeface="Calibri"/>
              <a:buAutoNum type="arabicPeriod"/>
            </a:pPr>
            <a:r>
              <a:rPr lang="en-US" sz="2400">
                <a:solidFill>
                  <a:schemeClr val="lt1"/>
                </a:solidFill>
                <a:latin typeface="Arial"/>
                <a:ea typeface="Arial"/>
                <a:cs typeface="Arial"/>
                <a:sym typeface="Arial"/>
              </a:rPr>
              <a:t>The pressure gauge reading on a cylinder of oxygen gas is 8.5 x 10</a:t>
            </a:r>
            <a:r>
              <a:rPr baseline="30000" lang="en-US" sz="2400">
                <a:solidFill>
                  <a:schemeClr val="lt1"/>
                </a:solidFill>
                <a:latin typeface="Arial"/>
                <a:ea typeface="Arial"/>
                <a:cs typeface="Arial"/>
                <a:sym typeface="Arial"/>
              </a:rPr>
              <a:t>3</a:t>
            </a:r>
            <a:r>
              <a:rPr lang="en-US" sz="2400">
                <a:solidFill>
                  <a:schemeClr val="lt1"/>
                </a:solidFill>
                <a:latin typeface="Arial"/>
                <a:ea typeface="Arial"/>
                <a:cs typeface="Arial"/>
                <a:sym typeface="Arial"/>
              </a:rPr>
              <a:t> kPa, at 22</a:t>
            </a:r>
            <a:r>
              <a:rPr baseline="30000" lang="en-US" sz="2400">
                <a:solidFill>
                  <a:schemeClr val="lt1"/>
                </a:solidFill>
                <a:latin typeface="Arial"/>
                <a:ea typeface="Arial"/>
                <a:cs typeface="Arial"/>
                <a:sym typeface="Arial"/>
              </a:rPr>
              <a:t>o</a:t>
            </a:r>
            <a:r>
              <a:rPr lang="en-US" sz="2400">
                <a:solidFill>
                  <a:schemeClr val="lt1"/>
                </a:solidFill>
                <a:latin typeface="Arial"/>
                <a:ea typeface="Arial"/>
                <a:cs typeface="Arial"/>
                <a:sym typeface="Arial"/>
              </a:rPr>
              <a:t>C.  What will be the pressure if the cylinder is placed in boiling water?</a:t>
            </a:r>
            <a:endParaRPr/>
          </a:p>
          <a:p>
            <a:pPr indent="0" lvl="0" marL="0" rtl="0" algn="l">
              <a:spcBef>
                <a:spcPts val="480"/>
              </a:spcBef>
              <a:spcAft>
                <a:spcPts val="0"/>
              </a:spcAft>
              <a:buClr>
                <a:schemeClr val="dk1"/>
              </a:buClr>
              <a:buSzPts val="2400"/>
              <a:buFont typeface="Calibri"/>
              <a:buNone/>
            </a:pPr>
            <a:r>
              <a:t/>
            </a:r>
            <a:endParaRPr sz="2400">
              <a:solidFill>
                <a:schemeClr val="lt1"/>
              </a:solidFill>
              <a:latin typeface="Arial"/>
              <a:ea typeface="Arial"/>
              <a:cs typeface="Arial"/>
              <a:sym typeface="Arial"/>
            </a:endParaRPr>
          </a:p>
          <a:p>
            <a:pPr indent="0" lvl="0" marL="0" rtl="0" algn="l">
              <a:spcBef>
                <a:spcPts val="560"/>
              </a:spcBef>
              <a:spcAft>
                <a:spcPts val="0"/>
              </a:spcAft>
              <a:buClr>
                <a:srgbClr val="F9B639"/>
              </a:buClr>
              <a:buSzPts val="2800"/>
              <a:buFont typeface="Arial"/>
              <a:buNone/>
            </a:pPr>
            <a:r>
              <a:rPr b="1" i="1" lang="en-US" sz="2800">
                <a:solidFill>
                  <a:srgbClr val="F9B639"/>
                </a:solidFill>
                <a:latin typeface="Arial"/>
                <a:ea typeface="Arial"/>
                <a:cs typeface="Arial"/>
                <a:sym typeface="Arial"/>
              </a:rPr>
              <a:t>Practice problems:</a:t>
            </a:r>
            <a:br>
              <a:rPr lang="en-US" sz="2400">
                <a:solidFill>
                  <a:schemeClr val="lt1"/>
                </a:solidFill>
                <a:latin typeface="Arial"/>
                <a:ea typeface="Arial"/>
                <a:cs typeface="Arial"/>
                <a:sym typeface="Arial"/>
              </a:rPr>
            </a:br>
            <a:r>
              <a:rPr lang="en-US" sz="2400">
                <a:solidFill>
                  <a:schemeClr val="lt1"/>
                </a:solidFill>
                <a:latin typeface="Arial"/>
                <a:ea typeface="Arial"/>
                <a:cs typeface="Arial"/>
                <a:sym typeface="Arial"/>
              </a:rPr>
              <a:t>p.446 #5,6,8-12</a:t>
            </a:r>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p.449 #13 – 16</a:t>
            </a:r>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p.451 #1-5</a:t>
            </a:r>
            <a:endParaRPr sz="2400">
              <a:solidFill>
                <a:schemeClr val="lt1"/>
              </a:solidFill>
              <a:latin typeface="Arial"/>
              <a:ea typeface="Arial"/>
              <a:cs typeface="Arial"/>
              <a:sym typeface="Arial"/>
            </a:endParaRPr>
          </a:p>
        </p:txBody>
      </p:sp>
      <p:sp>
        <p:nvSpPr>
          <p:cNvPr id="215" name="Google Shape;215;p19"/>
          <p:cNvSpPr txBox="1"/>
          <p:nvPr/>
        </p:nvSpPr>
        <p:spPr>
          <a:xfrm>
            <a:off x="4500563" y="3141663"/>
            <a:ext cx="1841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Effect filter="fade" transition="in">
                                      <p:cBhvr>
                                        <p:cTn dur="500"/>
                                        <p:tgtEl>
                                          <p:spTgt spid="2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1" st="1"/>
                                            </p:txEl>
                                          </p:spTgt>
                                        </p:tgtEl>
                                        <p:attrNameLst>
                                          <p:attrName>style.visibility</p:attrName>
                                        </p:attrNameLst>
                                      </p:cBhvr>
                                      <p:to>
                                        <p:strVal val="visible"/>
                                      </p:to>
                                    </p:set>
                                    <p:animEffect filter="fade" transition="in">
                                      <p:cBhvr>
                                        <p:cTn dur="500"/>
                                        <p:tgtEl>
                                          <p:spTgt spid="2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2" st="2"/>
                                            </p:txEl>
                                          </p:spTgt>
                                        </p:tgtEl>
                                        <p:attrNameLst>
                                          <p:attrName>style.visibility</p:attrName>
                                        </p:attrNameLst>
                                      </p:cBhvr>
                                      <p:to>
                                        <p:strVal val="visible"/>
                                      </p:to>
                                    </p:set>
                                    <p:animEffect filter="fade" transition="in">
                                      <p:cBhvr>
                                        <p:cTn dur="500"/>
                                        <p:tgtEl>
                                          <p:spTgt spid="2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3" st="3"/>
                                            </p:txEl>
                                          </p:spTgt>
                                        </p:tgtEl>
                                        <p:attrNameLst>
                                          <p:attrName>style.visibility</p:attrName>
                                        </p:attrNameLst>
                                      </p:cBhvr>
                                      <p:to>
                                        <p:strVal val="visible"/>
                                      </p:to>
                                    </p:set>
                                    <p:animEffect filter="fade" transition="in">
                                      <p:cBhvr>
                                        <p:cTn dur="500"/>
                                        <p:tgtEl>
                                          <p:spTgt spid="2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4" st="4"/>
                                            </p:txEl>
                                          </p:spTgt>
                                        </p:tgtEl>
                                        <p:attrNameLst>
                                          <p:attrName>style.visibility</p:attrName>
                                        </p:attrNameLst>
                                      </p:cBhvr>
                                      <p:to>
                                        <p:strVal val="visible"/>
                                      </p:to>
                                    </p:set>
                                    <p:animEffect filter="fade" transition="in">
                                      <p:cBhvr>
                                        <p:cTn dur="500"/>
                                        <p:tgtEl>
                                          <p:spTgt spid="2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5" st="5"/>
                                            </p:txEl>
                                          </p:spTgt>
                                        </p:tgtEl>
                                        <p:attrNameLst>
                                          <p:attrName>style.visibility</p:attrName>
                                        </p:attrNameLst>
                                      </p:cBhvr>
                                      <p:to>
                                        <p:strVal val="visible"/>
                                      </p:to>
                                    </p:set>
                                    <p:animEffect filter="fade" transition="in">
                                      <p:cBhvr>
                                        <p:cTn dur="500"/>
                                        <p:tgtEl>
                                          <p:spTgt spid="2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6" st="6"/>
                                            </p:txEl>
                                          </p:spTgt>
                                        </p:tgtEl>
                                        <p:attrNameLst>
                                          <p:attrName>style.visibility</p:attrName>
                                        </p:attrNameLst>
                                      </p:cBhvr>
                                      <p:to>
                                        <p:strVal val="visible"/>
                                      </p:to>
                                    </p:set>
                                    <p:animEffect filter="fade" transition="in">
                                      <p:cBhvr>
                                        <p:cTn dur="500"/>
                                        <p:tgtEl>
                                          <p:spTgt spid="21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1"/>
          <p:cNvSpPr txBox="1"/>
          <p:nvPr>
            <p:ph type="title"/>
          </p:nvPr>
        </p:nvSpPr>
        <p:spPr>
          <a:xfrm>
            <a:off x="467544" y="188640"/>
            <a:ext cx="8229600" cy="77809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solidFill>
                  <a:srgbClr val="FFFF00"/>
                </a:solidFill>
              </a:rPr>
              <a:t>Combining The Gas Laws…</a:t>
            </a:r>
            <a:endParaRPr/>
          </a:p>
        </p:txBody>
      </p:sp>
      <p:sp>
        <p:nvSpPr>
          <p:cNvPr id="221" name="Google Shape;221;p21"/>
          <p:cNvSpPr txBox="1"/>
          <p:nvPr>
            <p:ph idx="1" type="body"/>
          </p:nvPr>
        </p:nvSpPr>
        <p:spPr>
          <a:xfrm>
            <a:off x="457200" y="980728"/>
            <a:ext cx="8435280" cy="514543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lt2"/>
              </a:buClr>
              <a:buSzPts val="3200"/>
              <a:buChar char="•"/>
            </a:pPr>
            <a:r>
              <a:rPr b="1" lang="en-US">
                <a:solidFill>
                  <a:schemeClr val="lt2"/>
                </a:solidFill>
              </a:rPr>
              <a:t>Look at all the gas laws we have considered…</a:t>
            </a:r>
            <a:endParaRPr/>
          </a:p>
          <a:p>
            <a:pPr indent="-342900" lvl="0" marL="342900" rtl="0" algn="l">
              <a:spcBef>
                <a:spcPts val="640"/>
              </a:spcBef>
              <a:spcAft>
                <a:spcPts val="0"/>
              </a:spcAft>
              <a:buClr>
                <a:schemeClr val="lt2"/>
              </a:buClr>
              <a:buSzPts val="3200"/>
              <a:buChar char="•"/>
            </a:pPr>
            <a:r>
              <a:rPr b="1" lang="en-US">
                <a:solidFill>
                  <a:schemeClr val="lt2"/>
                </a:solidFill>
              </a:rPr>
              <a:t>Can you create a relationship that accounts for all of them in one formula?</a:t>
            </a:r>
            <a:endParaRPr/>
          </a:p>
          <a:p>
            <a:pPr indent="-342900" lvl="0" marL="342900" rtl="0" algn="l">
              <a:spcBef>
                <a:spcPts val="640"/>
              </a:spcBef>
              <a:spcAft>
                <a:spcPts val="0"/>
              </a:spcAft>
              <a:buClr>
                <a:schemeClr val="lt2"/>
              </a:buClr>
              <a:buSzPts val="3200"/>
              <a:buChar char="•"/>
            </a:pPr>
            <a:r>
              <a:rPr b="1" lang="en-US">
                <a:solidFill>
                  <a:schemeClr val="lt2"/>
                </a:solidFill>
              </a:rPr>
              <a:t>Work with a partner and try to figure it out…</a:t>
            </a:r>
            <a:endParaRPr/>
          </a:p>
          <a:p>
            <a:pPr indent="-228600" lvl="8" marL="3886200" rtl="0" algn="l">
              <a:spcBef>
                <a:spcPts val="560"/>
              </a:spcBef>
              <a:spcAft>
                <a:spcPts val="0"/>
              </a:spcAft>
              <a:buClr>
                <a:schemeClr val="lt2"/>
              </a:buClr>
              <a:buSzPts val="2800"/>
              <a:buChar char="•"/>
            </a:pPr>
            <a:r>
              <a:rPr b="1" lang="en-US" sz="2800">
                <a:solidFill>
                  <a:schemeClr val="lt2"/>
                </a:solidFill>
              </a:rPr>
              <a:t>2 new “</a:t>
            </a:r>
            <a:r>
              <a:rPr b="1" lang="en-US" sz="2800">
                <a:solidFill>
                  <a:srgbClr val="FFFF00"/>
                </a:solidFill>
              </a:rPr>
              <a:t>standard conditions</a:t>
            </a:r>
            <a:r>
              <a:rPr b="1" lang="en-US" sz="2800">
                <a:solidFill>
                  <a:schemeClr val="lt2"/>
                </a:solidFill>
              </a:rPr>
              <a:t>”</a:t>
            </a:r>
            <a:endParaRPr/>
          </a:p>
          <a:p>
            <a:pPr indent="-228600" lvl="8" marL="3886200" rtl="0" algn="l">
              <a:spcBef>
                <a:spcPts val="560"/>
              </a:spcBef>
              <a:spcAft>
                <a:spcPts val="0"/>
              </a:spcAft>
              <a:buClr>
                <a:srgbClr val="FFFF00"/>
              </a:buClr>
              <a:buSzPts val="2800"/>
              <a:buChar char="•"/>
            </a:pPr>
            <a:r>
              <a:rPr b="1" lang="en-US" sz="2800" u="sng">
                <a:solidFill>
                  <a:srgbClr val="FFFF00"/>
                </a:solidFill>
              </a:rPr>
              <a:t>STP</a:t>
            </a:r>
            <a:r>
              <a:rPr b="1" lang="en-US" sz="2800">
                <a:solidFill>
                  <a:schemeClr val="lt2"/>
                </a:solidFill>
              </a:rPr>
              <a:t> – 0</a:t>
            </a:r>
            <a:r>
              <a:rPr b="1" baseline="30000" lang="en-US" sz="2800">
                <a:solidFill>
                  <a:schemeClr val="lt2"/>
                </a:solidFill>
              </a:rPr>
              <a:t>o</a:t>
            </a:r>
            <a:r>
              <a:rPr b="1" lang="en-US" sz="2800">
                <a:solidFill>
                  <a:schemeClr val="lt2"/>
                </a:solidFill>
              </a:rPr>
              <a:t>C and 101.3 kPa (at sea level)</a:t>
            </a:r>
            <a:endParaRPr/>
          </a:p>
          <a:p>
            <a:pPr indent="-228600" lvl="8" marL="3886200" rtl="0" algn="l">
              <a:spcBef>
                <a:spcPts val="560"/>
              </a:spcBef>
              <a:spcAft>
                <a:spcPts val="0"/>
              </a:spcAft>
              <a:buClr>
                <a:srgbClr val="FFFF00"/>
              </a:buClr>
              <a:buSzPts val="2800"/>
              <a:buChar char="•"/>
            </a:pPr>
            <a:r>
              <a:rPr b="1" lang="en-US" sz="2800" u="sng">
                <a:solidFill>
                  <a:srgbClr val="FFFF00"/>
                </a:solidFill>
              </a:rPr>
              <a:t>SATP</a:t>
            </a:r>
            <a:r>
              <a:rPr b="1" lang="en-US" sz="2800">
                <a:solidFill>
                  <a:schemeClr val="lt2"/>
                </a:solidFill>
              </a:rPr>
              <a:t> – standard ambient temperature &amp; pressure  25</a:t>
            </a:r>
            <a:r>
              <a:rPr b="1" baseline="30000" lang="en-US" sz="2800">
                <a:solidFill>
                  <a:schemeClr val="lt2"/>
                </a:solidFill>
              </a:rPr>
              <a:t>o</a:t>
            </a:r>
            <a:r>
              <a:rPr b="1" lang="en-US" sz="2800">
                <a:solidFill>
                  <a:schemeClr val="lt2"/>
                </a:solidFill>
              </a:rPr>
              <a:t>C and 100 kPa (room conditions)</a:t>
            </a:r>
            <a:endParaRPr/>
          </a:p>
        </p:txBody>
      </p:sp>
      <p:pic>
        <p:nvPicPr>
          <p:cNvPr descr="gascombine" id="222" name="Google Shape;222;p21"/>
          <p:cNvPicPr preferRelativeResize="0"/>
          <p:nvPr/>
        </p:nvPicPr>
        <p:blipFill rotWithShape="1">
          <a:blip r:embed="rId3">
            <a:alphaModFix/>
          </a:blip>
          <a:srcRect b="0" l="0" r="0" t="0"/>
          <a:stretch/>
        </p:blipFill>
        <p:spPr>
          <a:xfrm>
            <a:off x="611560" y="3429000"/>
            <a:ext cx="3240088" cy="1268412"/>
          </a:xfrm>
          <a:prstGeom prst="rect">
            <a:avLst/>
          </a:prstGeom>
          <a:noFill/>
          <a:ln cap="flat" cmpd="sng" w="60325">
            <a:solidFill>
              <a:srgbClr val="FFFF00"/>
            </a:solidFill>
            <a:prstDash val="solid"/>
            <a:miter lim="800000"/>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822"/>
                                        <p:tgtEl>
                                          <p:spTgt spid="2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2"/>
          <p:cNvSpPr txBox="1"/>
          <p:nvPr>
            <p:ph type="title"/>
          </p:nvPr>
        </p:nvSpPr>
        <p:spPr>
          <a:xfrm>
            <a:off x="457200" y="274638"/>
            <a:ext cx="8229600" cy="70609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1" lang="en-US" u="sng">
                <a:solidFill>
                  <a:schemeClr val="lt1"/>
                </a:solidFill>
              </a:rPr>
              <a:t>Sample problems…</a:t>
            </a:r>
            <a:endParaRPr b="1" i="1" u="sng">
              <a:solidFill>
                <a:schemeClr val="lt1"/>
              </a:solidFill>
            </a:endParaRPr>
          </a:p>
        </p:txBody>
      </p:sp>
      <p:sp>
        <p:nvSpPr>
          <p:cNvPr id="228" name="Google Shape;228;p22"/>
          <p:cNvSpPr txBox="1"/>
          <p:nvPr>
            <p:ph idx="1" type="body"/>
          </p:nvPr>
        </p:nvSpPr>
        <p:spPr>
          <a:xfrm>
            <a:off x="457200" y="1124744"/>
            <a:ext cx="8229600" cy="5001419"/>
          </a:xfrm>
          <a:prstGeom prst="rect">
            <a:avLst/>
          </a:prstGeom>
          <a:noFill/>
          <a:ln>
            <a:noFill/>
          </a:ln>
        </p:spPr>
        <p:txBody>
          <a:bodyPr anchorCtr="0" anchor="t" bIns="45700" lIns="91425" spcFirstLastPara="1" rIns="91425" wrap="square" tIns="45700">
            <a:noAutofit/>
          </a:bodyPr>
          <a:lstStyle/>
          <a:p>
            <a:pPr indent="-514350" lvl="0" marL="514350" rtl="0" algn="l">
              <a:spcBef>
                <a:spcPts val="0"/>
              </a:spcBef>
              <a:spcAft>
                <a:spcPts val="0"/>
              </a:spcAft>
              <a:buClr>
                <a:schemeClr val="lt1"/>
              </a:buClr>
              <a:buSzPts val="2800"/>
              <a:buFont typeface="Calibri"/>
              <a:buAutoNum type="arabicPeriod"/>
            </a:pPr>
            <a:r>
              <a:rPr lang="en-US" sz="2800">
                <a:solidFill>
                  <a:schemeClr val="lt1"/>
                </a:solidFill>
              </a:rPr>
              <a:t>For my son’s birthday, a party store filled a 745 mL balloon with helium at SATP.  When I took the balloon outside, the temperature was -9.4 </a:t>
            </a:r>
            <a:r>
              <a:rPr baseline="30000" lang="en-US" sz="2800">
                <a:solidFill>
                  <a:schemeClr val="lt1"/>
                </a:solidFill>
              </a:rPr>
              <a:t>o</a:t>
            </a:r>
            <a:r>
              <a:rPr lang="en-US" sz="2800">
                <a:solidFill>
                  <a:schemeClr val="lt1"/>
                </a:solidFill>
              </a:rPr>
              <a:t>C and the atmospheric pressure was 99.7 kPa.  What was the volume of the helium outside?</a:t>
            </a:r>
            <a:endParaRPr/>
          </a:p>
          <a:p>
            <a:pPr indent="-514350" lvl="0" marL="514350" rtl="0" algn="l">
              <a:spcBef>
                <a:spcPts val="560"/>
              </a:spcBef>
              <a:spcAft>
                <a:spcPts val="0"/>
              </a:spcAft>
              <a:buClr>
                <a:schemeClr val="lt1"/>
              </a:buClr>
              <a:buSzPts val="2800"/>
              <a:buFont typeface="Calibri"/>
              <a:buAutoNum type="arabicPeriod"/>
            </a:pPr>
            <a:r>
              <a:rPr lang="en-US" sz="2800">
                <a:solidFill>
                  <a:schemeClr val="lt1"/>
                </a:solidFill>
              </a:rPr>
              <a:t>To what temperature (in </a:t>
            </a:r>
            <a:r>
              <a:rPr baseline="30000" lang="en-US" sz="2800">
                <a:solidFill>
                  <a:schemeClr val="lt1"/>
                </a:solidFill>
              </a:rPr>
              <a:t>o</a:t>
            </a:r>
            <a:r>
              <a:rPr lang="en-US" sz="2800">
                <a:solidFill>
                  <a:schemeClr val="lt1"/>
                </a:solidFill>
              </a:rPr>
              <a:t>C) must 25.0 mL of argon gas at STP be heated such that the new volume is 30.0 mL and the pressure is 110 kPa?</a:t>
            </a:r>
            <a:endParaRPr/>
          </a:p>
          <a:p>
            <a:pPr indent="0" lvl="0" marL="0" rtl="0" algn="l">
              <a:spcBef>
                <a:spcPts val="560"/>
              </a:spcBef>
              <a:spcAft>
                <a:spcPts val="0"/>
              </a:spcAft>
              <a:buClr>
                <a:schemeClr val="lt1"/>
              </a:buClr>
              <a:buSzPts val="2800"/>
              <a:buNone/>
            </a:pPr>
            <a:r>
              <a:rPr b="1" lang="en-US" sz="2800" u="sng">
                <a:solidFill>
                  <a:schemeClr val="lt1"/>
                </a:solidFill>
              </a:rPr>
              <a:t>HW:</a:t>
            </a:r>
            <a:endParaRPr/>
          </a:p>
          <a:p>
            <a:pPr indent="0" lvl="0" marL="0" rtl="0" algn="l">
              <a:spcBef>
                <a:spcPts val="560"/>
              </a:spcBef>
              <a:spcAft>
                <a:spcPts val="0"/>
              </a:spcAft>
              <a:buClr>
                <a:schemeClr val="lt1"/>
              </a:buClr>
              <a:buSzPts val="2800"/>
              <a:buNone/>
            </a:pPr>
            <a:r>
              <a:rPr lang="en-US" sz="2800">
                <a:solidFill>
                  <a:schemeClr val="lt1"/>
                </a:solidFill>
              </a:rPr>
              <a:t>p.457 #17-21</a:t>
            </a:r>
            <a:endParaRPr sz="28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0" st="0"/>
                                            </p:txEl>
                                          </p:spTgt>
                                        </p:tgtEl>
                                        <p:attrNameLst>
                                          <p:attrName>style.visibility</p:attrName>
                                        </p:attrNameLst>
                                      </p:cBhvr>
                                      <p:to>
                                        <p:strVal val="visible"/>
                                      </p:to>
                                    </p:set>
                                    <p:animEffect filter="fade" transition="in">
                                      <p:cBhvr>
                                        <p:cTn dur="500"/>
                                        <p:tgtEl>
                                          <p:spTgt spid="2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1" st="1"/>
                                            </p:txEl>
                                          </p:spTgt>
                                        </p:tgtEl>
                                        <p:attrNameLst>
                                          <p:attrName>style.visibility</p:attrName>
                                        </p:attrNameLst>
                                      </p:cBhvr>
                                      <p:to>
                                        <p:strVal val="visible"/>
                                      </p:to>
                                    </p:set>
                                    <p:animEffect filter="fade" transition="in">
                                      <p:cBhvr>
                                        <p:cTn dur="500"/>
                                        <p:tgtEl>
                                          <p:spTgt spid="2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2" st="2"/>
                                            </p:txEl>
                                          </p:spTgt>
                                        </p:tgtEl>
                                        <p:attrNameLst>
                                          <p:attrName>style.visibility</p:attrName>
                                        </p:attrNameLst>
                                      </p:cBhvr>
                                      <p:to>
                                        <p:strVal val="visible"/>
                                      </p:to>
                                    </p:set>
                                    <p:animEffect filter="fade" transition="in">
                                      <p:cBhvr>
                                        <p:cTn dur="500"/>
                                        <p:tgtEl>
                                          <p:spTgt spid="2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3" st="3"/>
                                            </p:txEl>
                                          </p:spTgt>
                                        </p:tgtEl>
                                        <p:attrNameLst>
                                          <p:attrName>style.visibility</p:attrName>
                                        </p:attrNameLst>
                                      </p:cBhvr>
                                      <p:to>
                                        <p:strVal val="visible"/>
                                      </p:to>
                                    </p:set>
                                    <p:animEffect filter="fade" transition="in">
                                      <p:cBhvr>
                                        <p:cTn dur="500"/>
                                        <p:tgtEl>
                                          <p:spTgt spid="22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3"/>
          <p:cNvSpPr txBox="1"/>
          <p:nvPr>
            <p:ph type="title"/>
          </p:nvPr>
        </p:nvSpPr>
        <p:spPr>
          <a:xfrm>
            <a:off x="467544" y="188640"/>
            <a:ext cx="8229600" cy="63408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u="sng">
                <a:solidFill>
                  <a:srgbClr val="FFFF00"/>
                </a:solidFill>
              </a:rPr>
              <a:t>Dalton’s Law of Partial Pressures</a:t>
            </a:r>
            <a:endParaRPr b="1" u="sng">
              <a:solidFill>
                <a:srgbClr val="FFFF00"/>
              </a:solidFill>
            </a:endParaRPr>
          </a:p>
        </p:txBody>
      </p:sp>
      <p:sp>
        <p:nvSpPr>
          <p:cNvPr id="234" name="Google Shape;234;p23"/>
          <p:cNvSpPr txBox="1"/>
          <p:nvPr>
            <p:ph idx="1" type="body"/>
          </p:nvPr>
        </p:nvSpPr>
        <p:spPr>
          <a:xfrm>
            <a:off x="457200" y="908720"/>
            <a:ext cx="8229600" cy="521744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lt1"/>
              </a:buClr>
              <a:buSzPts val="3200"/>
              <a:buChar char="•"/>
            </a:pPr>
            <a:r>
              <a:rPr lang="en-US">
                <a:solidFill>
                  <a:schemeClr val="lt1"/>
                </a:solidFill>
              </a:rPr>
              <a:t>The total pressure of a mixture of gases is the </a:t>
            </a:r>
            <a:r>
              <a:rPr b="1" lang="en-US" u="sng">
                <a:solidFill>
                  <a:schemeClr val="lt1"/>
                </a:solidFill>
              </a:rPr>
              <a:t>sum</a:t>
            </a:r>
            <a:r>
              <a:rPr lang="en-US">
                <a:solidFill>
                  <a:schemeClr val="lt1"/>
                </a:solidFill>
              </a:rPr>
              <a:t> of the pressures of each of the individual gases</a:t>
            </a:r>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a:p>
            <a:pPr indent="0" lvl="0" marL="0" rtl="0" algn="l">
              <a:spcBef>
                <a:spcPts val="640"/>
              </a:spcBef>
              <a:spcAft>
                <a:spcPts val="0"/>
              </a:spcAft>
              <a:buClr>
                <a:schemeClr val="lt1"/>
              </a:buClr>
              <a:buSzPts val="3200"/>
              <a:buNone/>
            </a:pPr>
            <a:r>
              <a:rPr b="1" i="1" lang="en-US" u="sng">
                <a:solidFill>
                  <a:schemeClr val="lt1"/>
                </a:solidFill>
              </a:rPr>
              <a:t>Sample Problem:</a:t>
            </a:r>
            <a:endParaRPr/>
          </a:p>
          <a:p>
            <a:pPr indent="0" lvl="0" marL="0" rtl="0" algn="l">
              <a:spcBef>
                <a:spcPts val="640"/>
              </a:spcBef>
              <a:spcAft>
                <a:spcPts val="0"/>
              </a:spcAft>
              <a:buClr>
                <a:schemeClr val="lt1"/>
              </a:buClr>
              <a:buSzPts val="3200"/>
              <a:buNone/>
            </a:pPr>
            <a:r>
              <a:rPr lang="en-US">
                <a:solidFill>
                  <a:schemeClr val="lt1"/>
                </a:solidFill>
              </a:rPr>
              <a:t>What is the pressure contribution of CO</a:t>
            </a:r>
            <a:r>
              <a:rPr baseline="-25000" lang="en-US">
                <a:solidFill>
                  <a:schemeClr val="lt1"/>
                </a:solidFill>
              </a:rPr>
              <a:t>2</a:t>
            </a:r>
            <a:r>
              <a:rPr lang="en-US">
                <a:solidFill>
                  <a:schemeClr val="lt1"/>
                </a:solidFill>
              </a:rPr>
              <a:t> to the atmospheric pressure on a very dry day when the barometer reads 0.98 atm?</a:t>
            </a:r>
            <a:endParaRPr/>
          </a:p>
          <a:p>
            <a:pPr indent="-285750" lvl="1" marL="742950" rtl="0" algn="l">
              <a:spcBef>
                <a:spcPts val="560"/>
              </a:spcBef>
              <a:spcAft>
                <a:spcPts val="0"/>
              </a:spcAft>
              <a:buClr>
                <a:schemeClr val="lt1"/>
              </a:buClr>
              <a:buSzPts val="2800"/>
              <a:buFont typeface="Noto Sans Symbols"/>
              <a:buChar char="⮚"/>
            </a:pPr>
            <a:r>
              <a:rPr lang="en-US">
                <a:solidFill>
                  <a:schemeClr val="lt1"/>
                </a:solidFill>
              </a:rPr>
              <a:t>	use table 11.2 p.459</a:t>
            </a:r>
            <a:endParaRPr/>
          </a:p>
          <a:p>
            <a:pPr indent="-139700" lvl="0" marL="342900" rtl="0" algn="l">
              <a:spcBef>
                <a:spcPts val="640"/>
              </a:spcBef>
              <a:spcAft>
                <a:spcPts val="0"/>
              </a:spcAft>
              <a:buClr>
                <a:schemeClr val="dk1"/>
              </a:buClr>
              <a:buSzPts val="3200"/>
              <a:buNone/>
            </a:pPr>
            <a:r>
              <a:t/>
            </a:r>
            <a:endParaRPr>
              <a:solidFill>
                <a:schemeClr val="lt1"/>
              </a:solidFill>
            </a:endParaRPr>
          </a:p>
        </p:txBody>
      </p:sp>
      <p:pic>
        <p:nvPicPr>
          <p:cNvPr id="235" name="Google Shape;235;p23"/>
          <p:cNvPicPr preferRelativeResize="0"/>
          <p:nvPr/>
        </p:nvPicPr>
        <p:blipFill rotWithShape="1">
          <a:blip r:embed="rId3">
            <a:alphaModFix/>
          </a:blip>
          <a:srcRect b="0" l="0" r="0" t="0"/>
          <a:stretch/>
        </p:blipFill>
        <p:spPr>
          <a:xfrm>
            <a:off x="4932040" y="2060848"/>
            <a:ext cx="3429000" cy="1609725"/>
          </a:xfrm>
          <a:prstGeom prst="rect">
            <a:avLst/>
          </a:prstGeom>
          <a:noFill/>
          <a:ln>
            <a:noFill/>
          </a:ln>
        </p:spPr>
      </p:pic>
      <p:pic>
        <p:nvPicPr>
          <p:cNvPr id="236" name="Google Shape;236;p23"/>
          <p:cNvPicPr preferRelativeResize="0"/>
          <p:nvPr/>
        </p:nvPicPr>
        <p:blipFill rotWithShape="1">
          <a:blip r:embed="rId4">
            <a:alphaModFix/>
          </a:blip>
          <a:srcRect b="0" l="0" r="0" t="0"/>
          <a:stretch/>
        </p:blipFill>
        <p:spPr>
          <a:xfrm>
            <a:off x="899592" y="2678112"/>
            <a:ext cx="3496990" cy="750888"/>
          </a:xfrm>
          <a:prstGeom prst="rect">
            <a:avLst/>
          </a:prstGeom>
          <a:noFill/>
          <a:ln cap="flat" cmpd="sng" w="63500">
            <a:solidFill>
              <a:srgbClr val="FFFF00"/>
            </a:solidFill>
            <a:prstDash val="solid"/>
            <a:miter lim="800000"/>
            <a:headEnd len="sm" w="sm" type="none"/>
            <a:tailEnd len="sm" w="sm" type="none"/>
          </a:ln>
        </p:spPr>
      </p:pic>
      <p:pic>
        <p:nvPicPr>
          <p:cNvPr id="237" name="Google Shape;237;p23"/>
          <p:cNvPicPr preferRelativeResize="0"/>
          <p:nvPr/>
        </p:nvPicPr>
        <p:blipFill rotWithShape="1">
          <a:blip r:embed="rId5">
            <a:alphaModFix/>
          </a:blip>
          <a:srcRect b="0" l="0" r="0" t="0"/>
          <a:stretch/>
        </p:blipFill>
        <p:spPr>
          <a:xfrm>
            <a:off x="5759624" y="5517232"/>
            <a:ext cx="3384376" cy="1213058"/>
          </a:xfrm>
          <a:prstGeom prst="rect">
            <a:avLst/>
          </a:prstGeom>
          <a:solidFill>
            <a:schemeClr val="lt1"/>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0" st="0"/>
                                            </p:txEl>
                                          </p:spTgt>
                                        </p:tgtEl>
                                        <p:attrNameLst>
                                          <p:attrName>style.visibility</p:attrName>
                                        </p:attrNameLst>
                                      </p:cBhvr>
                                      <p:to>
                                        <p:strVal val="visible"/>
                                      </p:to>
                                    </p:set>
                                    <p:animEffect filter="fade" transition="in">
                                      <p:cBhvr>
                                        <p:cTn dur="500"/>
                                        <p:tgtEl>
                                          <p:spTgt spid="2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1" st="1"/>
                                            </p:txEl>
                                          </p:spTgt>
                                        </p:tgtEl>
                                        <p:attrNameLst>
                                          <p:attrName>style.visibility</p:attrName>
                                        </p:attrNameLst>
                                      </p:cBhvr>
                                      <p:to>
                                        <p:strVal val="visible"/>
                                      </p:to>
                                    </p:set>
                                    <p:animEffect filter="fade" transition="in">
                                      <p:cBhvr>
                                        <p:cTn dur="500"/>
                                        <p:tgtEl>
                                          <p:spTgt spid="2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2" st="2"/>
                                            </p:txEl>
                                          </p:spTgt>
                                        </p:tgtEl>
                                        <p:attrNameLst>
                                          <p:attrName>style.visibility</p:attrName>
                                        </p:attrNameLst>
                                      </p:cBhvr>
                                      <p:to>
                                        <p:strVal val="visible"/>
                                      </p:to>
                                    </p:set>
                                    <p:animEffect filter="fade" transition="in">
                                      <p:cBhvr>
                                        <p:cTn dur="500"/>
                                        <p:tgtEl>
                                          <p:spTgt spid="2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3" st="3"/>
                                            </p:txEl>
                                          </p:spTgt>
                                        </p:tgtEl>
                                        <p:attrNameLst>
                                          <p:attrName>style.visibility</p:attrName>
                                        </p:attrNameLst>
                                      </p:cBhvr>
                                      <p:to>
                                        <p:strVal val="visible"/>
                                      </p:to>
                                    </p:set>
                                    <p:animEffect filter="fade" transition="in">
                                      <p:cBhvr>
                                        <p:cTn dur="500"/>
                                        <p:tgtEl>
                                          <p:spTgt spid="2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4" st="4"/>
                                            </p:txEl>
                                          </p:spTgt>
                                        </p:tgtEl>
                                        <p:attrNameLst>
                                          <p:attrName>style.visibility</p:attrName>
                                        </p:attrNameLst>
                                      </p:cBhvr>
                                      <p:to>
                                        <p:strVal val="visible"/>
                                      </p:to>
                                    </p:set>
                                    <p:animEffect filter="fade" transition="in">
                                      <p:cBhvr>
                                        <p:cTn dur="500"/>
                                        <p:tgtEl>
                                          <p:spTgt spid="2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5" st="5"/>
                                            </p:txEl>
                                          </p:spTgt>
                                        </p:tgtEl>
                                        <p:attrNameLst>
                                          <p:attrName>style.visibility</p:attrName>
                                        </p:attrNameLst>
                                      </p:cBhvr>
                                      <p:to>
                                        <p:strVal val="visible"/>
                                      </p:to>
                                    </p:set>
                                    <p:animEffect filter="fade" transition="in">
                                      <p:cBhvr>
                                        <p:cTn dur="500"/>
                                        <p:tgtEl>
                                          <p:spTgt spid="2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6" st="6"/>
                                            </p:txEl>
                                          </p:spTgt>
                                        </p:tgtEl>
                                        <p:attrNameLst>
                                          <p:attrName>style.visibility</p:attrName>
                                        </p:attrNameLst>
                                      </p:cBhvr>
                                      <p:to>
                                        <p:strVal val="visible"/>
                                      </p:to>
                                    </p:set>
                                    <p:animEffect filter="fade" transition="in">
                                      <p:cBhvr>
                                        <p:cTn dur="500"/>
                                        <p:tgtEl>
                                          <p:spTgt spid="2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822"/>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txBox="1"/>
          <p:nvPr>
            <p:ph type="title"/>
          </p:nvPr>
        </p:nvSpPr>
        <p:spPr>
          <a:xfrm>
            <a:off x="467544" y="188640"/>
            <a:ext cx="8229600" cy="63408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u="sng">
                <a:solidFill>
                  <a:srgbClr val="FFFF00"/>
                </a:solidFill>
              </a:rPr>
              <a:t>Dalton’s Law of Partial Pressures</a:t>
            </a:r>
            <a:endParaRPr b="1" u="sng">
              <a:solidFill>
                <a:srgbClr val="FFFF00"/>
              </a:solidFill>
            </a:endParaRPr>
          </a:p>
        </p:txBody>
      </p:sp>
      <p:sp>
        <p:nvSpPr>
          <p:cNvPr id="243" name="Google Shape;243;p24"/>
          <p:cNvSpPr txBox="1"/>
          <p:nvPr>
            <p:ph idx="1" type="body"/>
          </p:nvPr>
        </p:nvSpPr>
        <p:spPr>
          <a:xfrm>
            <a:off x="457200" y="908720"/>
            <a:ext cx="8229600" cy="521744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3200"/>
              <a:buNone/>
            </a:pPr>
            <a:r>
              <a:rPr b="1" i="1" lang="en-US">
                <a:solidFill>
                  <a:schemeClr val="lt1"/>
                </a:solidFill>
              </a:rPr>
              <a:t>DEMO…</a:t>
            </a:r>
            <a:endParaRPr/>
          </a:p>
          <a:p>
            <a:pPr indent="-342900" lvl="0" marL="342900" rtl="0" algn="l">
              <a:spcBef>
                <a:spcPts val="640"/>
              </a:spcBef>
              <a:spcAft>
                <a:spcPts val="0"/>
              </a:spcAft>
              <a:buClr>
                <a:schemeClr val="lt1"/>
              </a:buClr>
              <a:buSzPts val="3200"/>
              <a:buChar char="•"/>
            </a:pPr>
            <a:r>
              <a:rPr lang="en-US">
                <a:solidFill>
                  <a:schemeClr val="lt1"/>
                </a:solidFill>
              </a:rPr>
              <a:t>When gas is collected over water, , molecules of water vapour mix with the gas sample.  </a:t>
            </a:r>
            <a:endParaRPr/>
          </a:p>
          <a:p>
            <a:pPr indent="-342900" lvl="0" marL="342900" rtl="0" algn="l">
              <a:spcBef>
                <a:spcPts val="640"/>
              </a:spcBef>
              <a:spcAft>
                <a:spcPts val="0"/>
              </a:spcAft>
              <a:buClr>
                <a:schemeClr val="lt1"/>
              </a:buClr>
              <a:buSzPts val="3200"/>
              <a:buChar char="•"/>
            </a:pPr>
            <a:r>
              <a:rPr lang="en-US">
                <a:solidFill>
                  <a:schemeClr val="lt1"/>
                </a:solidFill>
              </a:rPr>
              <a:t>We must subtract the pressure that the water vapour contributes from the total pressure in order to determine the pressure of the gas collected.</a:t>
            </a:r>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p:txBody>
      </p:sp>
      <p:pic>
        <p:nvPicPr>
          <p:cNvPr id="244" name="Google Shape;244;p24"/>
          <p:cNvPicPr preferRelativeResize="0"/>
          <p:nvPr/>
        </p:nvPicPr>
        <p:blipFill rotWithShape="1">
          <a:blip r:embed="rId3">
            <a:alphaModFix/>
          </a:blip>
          <a:srcRect b="0" l="0" r="0" t="0"/>
          <a:stretch/>
        </p:blipFill>
        <p:spPr>
          <a:xfrm>
            <a:off x="5508104" y="980728"/>
            <a:ext cx="3352974" cy="576064"/>
          </a:xfrm>
          <a:prstGeom prst="rect">
            <a:avLst/>
          </a:prstGeom>
          <a:noFill/>
          <a:ln cap="flat" cmpd="sng" w="63500">
            <a:solidFill>
              <a:srgbClr val="FFFF00"/>
            </a:solidFill>
            <a:prstDash val="solid"/>
            <a:miter lim="800000"/>
            <a:headEnd len="sm" w="sm" type="none"/>
            <a:tailEnd len="sm" w="sm" type="none"/>
          </a:ln>
        </p:spPr>
      </p:pic>
      <p:pic>
        <p:nvPicPr>
          <p:cNvPr id="245" name="Google Shape;245;p24"/>
          <p:cNvPicPr preferRelativeResize="0"/>
          <p:nvPr/>
        </p:nvPicPr>
        <p:blipFill rotWithShape="1">
          <a:blip r:embed="rId4">
            <a:alphaModFix/>
          </a:blip>
          <a:srcRect b="0" l="0" r="0" t="0"/>
          <a:stretch/>
        </p:blipFill>
        <p:spPr>
          <a:xfrm>
            <a:off x="4838696" y="4509120"/>
            <a:ext cx="4181798" cy="20162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822"/>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Effect filter="fade" transition="in">
                                      <p:cBhvr>
                                        <p:cTn dur="500"/>
                                        <p:tgtEl>
                                          <p:spTgt spid="2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Effect filter="fade" transition="in">
                                      <p:cBhvr>
                                        <p:cTn dur="500"/>
                                        <p:tgtEl>
                                          <p:spTgt spid="2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animEffect filter="fade" transition="in">
                                      <p:cBhvr>
                                        <p:cTn dur="500"/>
                                        <p:tgtEl>
                                          <p:spTgt spid="2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3" st="3"/>
                                            </p:txEl>
                                          </p:spTgt>
                                        </p:tgtEl>
                                        <p:attrNameLst>
                                          <p:attrName>style.visibility</p:attrName>
                                        </p:attrNameLst>
                                      </p:cBhvr>
                                      <p:to>
                                        <p:strVal val="visible"/>
                                      </p:to>
                                    </p:set>
                                    <p:animEffect filter="fade" transition="in">
                                      <p:cBhvr>
                                        <p:cTn dur="500"/>
                                        <p:tgtEl>
                                          <p:spTgt spid="2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4" st="4"/>
                                            </p:txEl>
                                          </p:spTgt>
                                        </p:tgtEl>
                                        <p:attrNameLst>
                                          <p:attrName>style.visibility</p:attrName>
                                        </p:attrNameLst>
                                      </p:cBhvr>
                                      <p:to>
                                        <p:strVal val="visible"/>
                                      </p:to>
                                    </p:set>
                                    <p:animEffect filter="fade" transition="in">
                                      <p:cBhvr>
                                        <p:cTn dur="500"/>
                                        <p:tgtEl>
                                          <p:spTgt spid="2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5" st="5"/>
                                            </p:txEl>
                                          </p:spTgt>
                                        </p:tgtEl>
                                        <p:attrNameLst>
                                          <p:attrName>style.visibility</p:attrName>
                                        </p:attrNameLst>
                                      </p:cBhvr>
                                      <p:to>
                                        <p:strVal val="visible"/>
                                      </p:to>
                                    </p:set>
                                    <p:animEffect filter="fade" transition="in">
                                      <p:cBhvr>
                                        <p:cTn dur="500"/>
                                        <p:tgtEl>
                                          <p:spTgt spid="24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ph type="title"/>
          </p:nvPr>
        </p:nvSpPr>
        <p:spPr>
          <a:xfrm>
            <a:off x="467544" y="188640"/>
            <a:ext cx="8229600" cy="63408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u="sng">
                <a:solidFill>
                  <a:srgbClr val="FFFF00"/>
                </a:solidFill>
              </a:rPr>
              <a:t>Dalton’s Law of Partial Pressures</a:t>
            </a:r>
            <a:endParaRPr b="1" u="sng">
              <a:solidFill>
                <a:srgbClr val="FFFF00"/>
              </a:solidFill>
            </a:endParaRPr>
          </a:p>
        </p:txBody>
      </p:sp>
      <p:sp>
        <p:nvSpPr>
          <p:cNvPr id="251" name="Google Shape;251;p25"/>
          <p:cNvSpPr txBox="1"/>
          <p:nvPr>
            <p:ph idx="1" type="body"/>
          </p:nvPr>
        </p:nvSpPr>
        <p:spPr>
          <a:xfrm>
            <a:off x="457200" y="908720"/>
            <a:ext cx="8229600"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3200"/>
              <a:buNone/>
            </a:pPr>
            <a:r>
              <a:rPr b="1" i="1" lang="en-US">
                <a:solidFill>
                  <a:schemeClr val="lt1"/>
                </a:solidFill>
              </a:rPr>
              <a:t>Sample problem:</a:t>
            </a:r>
            <a:endParaRPr/>
          </a:p>
          <a:p>
            <a:pPr indent="0" lvl="0" marL="0" rtl="0" algn="l">
              <a:spcBef>
                <a:spcPts val="560"/>
              </a:spcBef>
              <a:spcAft>
                <a:spcPts val="0"/>
              </a:spcAft>
              <a:buClr>
                <a:schemeClr val="lt1"/>
              </a:buClr>
              <a:buSzPts val="2800"/>
              <a:buNone/>
            </a:pPr>
            <a:r>
              <a:rPr lang="en-US" sz="2800">
                <a:solidFill>
                  <a:schemeClr val="lt1"/>
                </a:solidFill>
              </a:rPr>
              <a:t>A volume of 110 mL of H</a:t>
            </a:r>
            <a:r>
              <a:rPr baseline="-25000" lang="en-US" sz="2800">
                <a:solidFill>
                  <a:schemeClr val="lt1"/>
                </a:solidFill>
              </a:rPr>
              <a:t>2</a:t>
            </a:r>
            <a:r>
              <a:rPr lang="en-US" sz="2800">
                <a:solidFill>
                  <a:schemeClr val="lt1"/>
                </a:solidFill>
              </a:rPr>
              <a:t> </a:t>
            </a:r>
            <a:r>
              <a:rPr baseline="-25000" lang="en-US" sz="2800">
                <a:solidFill>
                  <a:schemeClr val="lt1"/>
                </a:solidFill>
              </a:rPr>
              <a:t>(g) </a:t>
            </a:r>
            <a:r>
              <a:rPr lang="en-US" sz="2800">
                <a:solidFill>
                  <a:schemeClr val="lt1"/>
                </a:solidFill>
              </a:rPr>
              <a:t>is collected over water at a temperature of 17</a:t>
            </a:r>
            <a:r>
              <a:rPr baseline="30000" lang="en-US" sz="2800">
                <a:solidFill>
                  <a:schemeClr val="lt1"/>
                </a:solidFill>
              </a:rPr>
              <a:t>o</a:t>
            </a:r>
            <a:r>
              <a:rPr lang="en-US" sz="2800">
                <a:solidFill>
                  <a:schemeClr val="lt1"/>
                </a:solidFill>
              </a:rPr>
              <a:t>C and an atmospheric pressure of 95.0 kPa.  What is the volume of dry hydrogen at STP?</a:t>
            </a:r>
            <a:endParaRPr/>
          </a:p>
          <a:p>
            <a:pPr indent="-285750" lvl="1" marL="742950" rtl="0" algn="l">
              <a:spcBef>
                <a:spcPts val="480"/>
              </a:spcBef>
              <a:spcAft>
                <a:spcPts val="0"/>
              </a:spcAft>
              <a:buClr>
                <a:schemeClr val="lt1"/>
              </a:buClr>
              <a:buSzPts val="2400"/>
              <a:buChar char="–"/>
            </a:pPr>
            <a:r>
              <a:rPr lang="en-US" sz="2400">
                <a:solidFill>
                  <a:schemeClr val="lt1"/>
                </a:solidFill>
              </a:rPr>
              <a:t>See table 12.3 p.507 pressure of water vapour</a:t>
            </a:r>
            <a:endParaRPr/>
          </a:p>
          <a:p>
            <a:pPr indent="0" lvl="0" marL="57150" rtl="0" algn="l">
              <a:spcBef>
                <a:spcPts val="400"/>
              </a:spcBef>
              <a:spcAft>
                <a:spcPts val="0"/>
              </a:spcAft>
              <a:buClr>
                <a:schemeClr val="lt1"/>
              </a:buClr>
              <a:buSzPts val="2000"/>
              <a:buNone/>
            </a:pPr>
            <a:r>
              <a:rPr lang="en-US" sz="2000">
                <a:solidFill>
                  <a:schemeClr val="lt1"/>
                </a:solidFill>
              </a:rPr>
              <a:t>P</a:t>
            </a:r>
            <a:r>
              <a:rPr baseline="-25000" lang="en-US" sz="2000">
                <a:solidFill>
                  <a:schemeClr val="lt1"/>
                </a:solidFill>
              </a:rPr>
              <a:t>T</a:t>
            </a:r>
            <a:r>
              <a:rPr lang="en-US" sz="2000">
                <a:solidFill>
                  <a:schemeClr val="lt1"/>
                </a:solidFill>
              </a:rPr>
              <a:t> = P</a:t>
            </a:r>
            <a:r>
              <a:rPr lang="en-US" sz="1400">
                <a:solidFill>
                  <a:schemeClr val="lt1"/>
                </a:solidFill>
              </a:rPr>
              <a:t>H</a:t>
            </a:r>
            <a:r>
              <a:rPr baseline="-25000" lang="en-US" sz="1400">
                <a:solidFill>
                  <a:schemeClr val="lt1"/>
                </a:solidFill>
              </a:rPr>
              <a:t>2</a:t>
            </a:r>
            <a:r>
              <a:rPr lang="en-US" sz="2000">
                <a:solidFill>
                  <a:schemeClr val="lt1"/>
                </a:solidFill>
              </a:rPr>
              <a:t> + P</a:t>
            </a:r>
            <a:r>
              <a:rPr lang="en-US" sz="1400">
                <a:solidFill>
                  <a:schemeClr val="lt1"/>
                </a:solidFill>
              </a:rPr>
              <a:t>H</a:t>
            </a:r>
            <a:r>
              <a:rPr baseline="-25000" lang="en-US" sz="1400">
                <a:solidFill>
                  <a:schemeClr val="lt1"/>
                </a:solidFill>
              </a:rPr>
              <a:t>2</a:t>
            </a:r>
            <a:r>
              <a:rPr lang="en-US" sz="1400">
                <a:solidFill>
                  <a:schemeClr val="lt1"/>
                </a:solidFill>
              </a:rPr>
              <a:t>O</a:t>
            </a:r>
            <a:endParaRPr/>
          </a:p>
          <a:p>
            <a:pPr indent="0" lvl="0" marL="57150" rtl="0" algn="l">
              <a:spcBef>
                <a:spcPts val="400"/>
              </a:spcBef>
              <a:spcAft>
                <a:spcPts val="0"/>
              </a:spcAft>
              <a:buClr>
                <a:schemeClr val="lt1"/>
              </a:buClr>
              <a:buSzPts val="2000"/>
              <a:buNone/>
            </a:pPr>
            <a:r>
              <a:rPr lang="en-US" sz="2000">
                <a:solidFill>
                  <a:schemeClr val="lt1"/>
                </a:solidFill>
              </a:rPr>
              <a:t>P</a:t>
            </a:r>
            <a:r>
              <a:rPr baseline="-25000" lang="en-US" sz="2000">
                <a:solidFill>
                  <a:schemeClr val="lt1"/>
                </a:solidFill>
              </a:rPr>
              <a:t>1</a:t>
            </a:r>
            <a:r>
              <a:rPr lang="en-US" sz="1400">
                <a:solidFill>
                  <a:schemeClr val="lt1"/>
                </a:solidFill>
              </a:rPr>
              <a:t>H</a:t>
            </a:r>
            <a:r>
              <a:rPr baseline="-25000" lang="en-US" sz="1400">
                <a:solidFill>
                  <a:schemeClr val="lt1"/>
                </a:solidFill>
              </a:rPr>
              <a:t>2</a:t>
            </a:r>
            <a:r>
              <a:rPr lang="en-US" sz="1400">
                <a:solidFill>
                  <a:schemeClr val="lt1"/>
                </a:solidFill>
              </a:rPr>
              <a:t> </a:t>
            </a:r>
            <a:r>
              <a:rPr lang="en-US" sz="2000">
                <a:solidFill>
                  <a:schemeClr val="lt1"/>
                </a:solidFill>
              </a:rPr>
              <a:t>= P</a:t>
            </a:r>
            <a:r>
              <a:rPr baseline="-25000" lang="en-US" sz="2000">
                <a:solidFill>
                  <a:schemeClr val="lt1"/>
                </a:solidFill>
              </a:rPr>
              <a:t>T</a:t>
            </a:r>
            <a:r>
              <a:rPr lang="en-US" sz="2000">
                <a:solidFill>
                  <a:schemeClr val="lt1"/>
                </a:solidFill>
              </a:rPr>
              <a:t> – P</a:t>
            </a:r>
            <a:r>
              <a:rPr lang="en-US" sz="1400">
                <a:solidFill>
                  <a:schemeClr val="lt1"/>
                </a:solidFill>
              </a:rPr>
              <a:t>H</a:t>
            </a:r>
            <a:r>
              <a:rPr baseline="-25000" lang="en-US" sz="1400">
                <a:solidFill>
                  <a:schemeClr val="lt1"/>
                </a:solidFill>
              </a:rPr>
              <a:t>2</a:t>
            </a:r>
            <a:r>
              <a:rPr lang="en-US" sz="1400">
                <a:solidFill>
                  <a:schemeClr val="lt1"/>
                </a:solidFill>
              </a:rPr>
              <a:t>O</a:t>
            </a:r>
            <a:endParaRPr/>
          </a:p>
          <a:p>
            <a:pPr indent="0" lvl="0" marL="57150" rtl="0" algn="l">
              <a:spcBef>
                <a:spcPts val="400"/>
              </a:spcBef>
              <a:spcAft>
                <a:spcPts val="0"/>
              </a:spcAft>
              <a:buClr>
                <a:schemeClr val="lt1"/>
              </a:buClr>
              <a:buSzPts val="2000"/>
              <a:buNone/>
            </a:pPr>
            <a:r>
              <a:rPr lang="en-US" sz="2000">
                <a:solidFill>
                  <a:schemeClr val="lt1"/>
                </a:solidFill>
              </a:rPr>
              <a:t>        = 95.0 kPa – 1.94 kPa</a:t>
            </a:r>
            <a:endParaRPr sz="2000">
              <a:solidFill>
                <a:schemeClr val="lt1"/>
              </a:solidFill>
            </a:endParaRPr>
          </a:p>
          <a:p>
            <a:pPr indent="0" lvl="0" marL="57150" rtl="0" algn="l">
              <a:spcBef>
                <a:spcPts val="400"/>
              </a:spcBef>
              <a:spcAft>
                <a:spcPts val="0"/>
              </a:spcAft>
              <a:buClr>
                <a:schemeClr val="lt1"/>
              </a:buClr>
              <a:buSzPts val="2000"/>
              <a:buNone/>
            </a:pPr>
            <a:r>
              <a:rPr lang="en-US" sz="2000">
                <a:solidFill>
                  <a:schemeClr val="lt1"/>
                </a:solidFill>
              </a:rPr>
              <a:t>        = 93.1 kPa</a:t>
            </a:r>
            <a:endParaRPr sz="2000">
              <a:solidFill>
                <a:schemeClr val="lt1"/>
              </a:solidFill>
            </a:endParaRPr>
          </a:p>
          <a:p>
            <a:pPr indent="0" lvl="0" marL="57150" rtl="0" algn="l">
              <a:spcBef>
                <a:spcPts val="400"/>
              </a:spcBef>
              <a:spcAft>
                <a:spcPts val="0"/>
              </a:spcAft>
              <a:buClr>
                <a:schemeClr val="lt1"/>
              </a:buClr>
              <a:buSzPts val="2000"/>
              <a:buNone/>
            </a:pPr>
            <a:r>
              <a:rPr lang="en-US" sz="2000">
                <a:solidFill>
                  <a:schemeClr val="lt1"/>
                </a:solidFill>
              </a:rPr>
              <a:t>V</a:t>
            </a:r>
            <a:r>
              <a:rPr baseline="-25000" lang="en-US" sz="2000">
                <a:solidFill>
                  <a:schemeClr val="lt1"/>
                </a:solidFill>
              </a:rPr>
              <a:t>1</a:t>
            </a:r>
            <a:r>
              <a:rPr lang="en-US" sz="2000">
                <a:solidFill>
                  <a:schemeClr val="lt1"/>
                </a:solidFill>
              </a:rPr>
              <a:t> = 110 mL</a:t>
            </a:r>
            <a:endParaRPr/>
          </a:p>
          <a:p>
            <a:pPr indent="0" lvl="0" marL="57150" rtl="0" algn="l">
              <a:spcBef>
                <a:spcPts val="400"/>
              </a:spcBef>
              <a:spcAft>
                <a:spcPts val="0"/>
              </a:spcAft>
              <a:buClr>
                <a:schemeClr val="lt1"/>
              </a:buClr>
              <a:buSzPts val="2000"/>
              <a:buNone/>
            </a:pPr>
            <a:r>
              <a:rPr lang="en-US" sz="2000">
                <a:solidFill>
                  <a:schemeClr val="lt1"/>
                </a:solidFill>
              </a:rPr>
              <a:t>T</a:t>
            </a:r>
            <a:r>
              <a:rPr baseline="-25000" lang="en-US" sz="2000">
                <a:solidFill>
                  <a:schemeClr val="lt1"/>
                </a:solidFill>
              </a:rPr>
              <a:t>1</a:t>
            </a:r>
            <a:r>
              <a:rPr lang="en-US" sz="2000">
                <a:solidFill>
                  <a:schemeClr val="lt1"/>
                </a:solidFill>
              </a:rPr>
              <a:t> = 17 </a:t>
            </a:r>
            <a:r>
              <a:rPr baseline="-25000" lang="en-US" sz="2000">
                <a:solidFill>
                  <a:schemeClr val="lt1"/>
                </a:solidFill>
              </a:rPr>
              <a:t>o</a:t>
            </a:r>
            <a:r>
              <a:rPr lang="en-US" sz="2000">
                <a:solidFill>
                  <a:schemeClr val="lt1"/>
                </a:solidFill>
              </a:rPr>
              <a:t>C = 290 K</a:t>
            </a:r>
            <a:endParaRPr/>
          </a:p>
          <a:p>
            <a:pPr indent="0" lvl="0" marL="57150" rtl="0" algn="l">
              <a:spcBef>
                <a:spcPts val="400"/>
              </a:spcBef>
              <a:spcAft>
                <a:spcPts val="0"/>
              </a:spcAft>
              <a:buClr>
                <a:schemeClr val="lt1"/>
              </a:buClr>
              <a:buSzPts val="2000"/>
              <a:buNone/>
            </a:pPr>
            <a:r>
              <a:rPr lang="en-US" sz="2000">
                <a:solidFill>
                  <a:schemeClr val="lt1"/>
                </a:solidFill>
              </a:rPr>
              <a:t>P</a:t>
            </a:r>
            <a:r>
              <a:rPr baseline="-25000" lang="en-US" sz="2000">
                <a:solidFill>
                  <a:schemeClr val="lt1"/>
                </a:solidFill>
              </a:rPr>
              <a:t>2</a:t>
            </a:r>
            <a:r>
              <a:rPr lang="en-US" sz="2000">
                <a:solidFill>
                  <a:schemeClr val="lt1"/>
                </a:solidFill>
              </a:rPr>
              <a:t> = 101.3 kPa</a:t>
            </a:r>
            <a:endParaRPr sz="2000">
              <a:solidFill>
                <a:schemeClr val="lt1"/>
              </a:solidFill>
            </a:endParaRPr>
          </a:p>
          <a:p>
            <a:pPr indent="0" lvl="0" marL="57150" rtl="0" algn="l">
              <a:spcBef>
                <a:spcPts val="400"/>
              </a:spcBef>
              <a:spcAft>
                <a:spcPts val="0"/>
              </a:spcAft>
              <a:buClr>
                <a:schemeClr val="lt1"/>
              </a:buClr>
              <a:buSzPts val="2000"/>
              <a:buNone/>
            </a:pPr>
            <a:r>
              <a:rPr lang="en-US" sz="2000">
                <a:solidFill>
                  <a:schemeClr val="lt1"/>
                </a:solidFill>
              </a:rPr>
              <a:t>T</a:t>
            </a:r>
            <a:r>
              <a:rPr baseline="-25000" lang="en-US" sz="2000">
                <a:solidFill>
                  <a:schemeClr val="lt1"/>
                </a:solidFill>
              </a:rPr>
              <a:t>2</a:t>
            </a:r>
            <a:r>
              <a:rPr lang="en-US" sz="2000">
                <a:solidFill>
                  <a:schemeClr val="lt1"/>
                </a:solidFill>
              </a:rPr>
              <a:t> = 273K</a:t>
            </a:r>
            <a:endParaRPr/>
          </a:p>
          <a:p>
            <a:pPr indent="0" lvl="0" marL="57150" rtl="0" algn="l">
              <a:spcBef>
                <a:spcPts val="400"/>
              </a:spcBef>
              <a:spcAft>
                <a:spcPts val="0"/>
              </a:spcAft>
              <a:buClr>
                <a:schemeClr val="lt1"/>
              </a:buClr>
              <a:buSzPts val="2000"/>
              <a:buNone/>
            </a:pPr>
            <a:r>
              <a:rPr lang="en-US" sz="2000">
                <a:solidFill>
                  <a:schemeClr val="lt1"/>
                </a:solidFill>
              </a:rPr>
              <a:t>V</a:t>
            </a:r>
            <a:r>
              <a:rPr baseline="-25000" lang="en-US" sz="2000">
                <a:solidFill>
                  <a:schemeClr val="lt1"/>
                </a:solidFill>
              </a:rPr>
              <a:t>2</a:t>
            </a:r>
            <a:r>
              <a:rPr lang="en-US" sz="2000">
                <a:solidFill>
                  <a:schemeClr val="lt1"/>
                </a:solidFill>
              </a:rPr>
              <a:t> = ?</a:t>
            </a:r>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p:txBody>
      </p:sp>
      <p:pic>
        <p:nvPicPr>
          <p:cNvPr id="252" name="Google Shape;252;p25"/>
          <p:cNvPicPr preferRelativeResize="0"/>
          <p:nvPr/>
        </p:nvPicPr>
        <p:blipFill rotWithShape="1">
          <a:blip r:embed="rId3">
            <a:alphaModFix/>
          </a:blip>
          <a:srcRect b="0" l="0" r="0" t="0"/>
          <a:stretch/>
        </p:blipFill>
        <p:spPr>
          <a:xfrm>
            <a:off x="5508104" y="980728"/>
            <a:ext cx="3352974" cy="576064"/>
          </a:xfrm>
          <a:prstGeom prst="rect">
            <a:avLst/>
          </a:prstGeom>
          <a:noFill/>
          <a:ln cap="flat" cmpd="sng" w="63500">
            <a:solidFill>
              <a:srgbClr val="FFFF00"/>
            </a:solidFill>
            <a:prstDash val="solid"/>
            <a:miter lim="800000"/>
            <a:headEnd len="sm" w="sm" type="none"/>
            <a:tailEnd len="sm" w="sm" type="none"/>
          </a:ln>
        </p:spPr>
      </p:pic>
      <p:pic>
        <p:nvPicPr>
          <p:cNvPr id="253" name="Google Shape;253;p25"/>
          <p:cNvPicPr preferRelativeResize="0"/>
          <p:nvPr/>
        </p:nvPicPr>
        <p:blipFill rotWithShape="1">
          <a:blip r:embed="rId4">
            <a:alphaModFix/>
          </a:blip>
          <a:srcRect b="0" l="0" r="0" t="0"/>
          <a:stretch/>
        </p:blipFill>
        <p:spPr>
          <a:xfrm>
            <a:off x="4955662" y="4509120"/>
            <a:ext cx="4181798" cy="2016224"/>
          </a:xfrm>
          <a:prstGeom prst="rect">
            <a:avLst/>
          </a:prstGeom>
          <a:noFill/>
          <a:ln>
            <a:noFill/>
          </a:ln>
        </p:spPr>
      </p:pic>
      <p:pic>
        <p:nvPicPr>
          <p:cNvPr id="254" name="Google Shape;254;p25"/>
          <p:cNvPicPr preferRelativeResize="0"/>
          <p:nvPr/>
        </p:nvPicPr>
        <p:blipFill rotWithShape="1">
          <a:blip r:embed="rId5">
            <a:alphaModFix/>
          </a:blip>
          <a:srcRect b="0" l="0" r="0" t="0"/>
          <a:stretch/>
        </p:blipFill>
        <p:spPr>
          <a:xfrm>
            <a:off x="4474898" y="3429000"/>
            <a:ext cx="2066412" cy="853857"/>
          </a:xfrm>
          <a:prstGeom prst="rect">
            <a:avLst/>
          </a:prstGeom>
          <a:noFill/>
          <a:ln>
            <a:noFill/>
          </a:ln>
        </p:spPr>
      </p:pic>
      <p:sp>
        <p:nvSpPr>
          <p:cNvPr id="255" name="Google Shape;255;p25"/>
          <p:cNvSpPr txBox="1"/>
          <p:nvPr/>
        </p:nvSpPr>
        <p:spPr>
          <a:xfrm>
            <a:off x="6770179" y="3408218"/>
            <a:ext cx="2090899" cy="1015663"/>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HW:  complete Q#1-4 on handout</a:t>
            </a:r>
            <a:endParaRPr b="1" sz="20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822"/>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5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5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5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animEffect filter="fade" transition="in">
                                      <p:cBhvr>
                                        <p:cTn dur="500"/>
                                        <p:tgtEl>
                                          <p:spTgt spid="2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4" st="4"/>
                                            </p:txEl>
                                          </p:spTgt>
                                        </p:tgtEl>
                                        <p:attrNameLst>
                                          <p:attrName>style.visibility</p:attrName>
                                        </p:attrNameLst>
                                      </p:cBhvr>
                                      <p:to>
                                        <p:strVal val="visible"/>
                                      </p:to>
                                    </p:set>
                                    <p:animEffect filter="fade" transition="in">
                                      <p:cBhvr>
                                        <p:cTn dur="500"/>
                                        <p:tgtEl>
                                          <p:spTgt spid="2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5" st="5"/>
                                            </p:txEl>
                                          </p:spTgt>
                                        </p:tgtEl>
                                        <p:attrNameLst>
                                          <p:attrName>style.visibility</p:attrName>
                                        </p:attrNameLst>
                                      </p:cBhvr>
                                      <p:to>
                                        <p:strVal val="visible"/>
                                      </p:to>
                                    </p:set>
                                    <p:animEffect filter="fade" transition="in">
                                      <p:cBhvr>
                                        <p:cTn dur="500"/>
                                        <p:tgtEl>
                                          <p:spTgt spid="2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6" st="6"/>
                                            </p:txEl>
                                          </p:spTgt>
                                        </p:tgtEl>
                                        <p:attrNameLst>
                                          <p:attrName>style.visibility</p:attrName>
                                        </p:attrNameLst>
                                      </p:cBhvr>
                                      <p:to>
                                        <p:strVal val="visible"/>
                                      </p:to>
                                    </p:set>
                                    <p:animEffect filter="fade" transition="in">
                                      <p:cBhvr>
                                        <p:cTn dur="500"/>
                                        <p:tgtEl>
                                          <p:spTgt spid="2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7" st="7"/>
                                            </p:txEl>
                                          </p:spTgt>
                                        </p:tgtEl>
                                        <p:attrNameLst>
                                          <p:attrName>style.visibility</p:attrName>
                                        </p:attrNameLst>
                                      </p:cBhvr>
                                      <p:to>
                                        <p:strVal val="visible"/>
                                      </p:to>
                                    </p:set>
                                    <p:animEffect filter="fade" transition="in">
                                      <p:cBhvr>
                                        <p:cTn dur="500"/>
                                        <p:tgtEl>
                                          <p:spTgt spid="2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8" st="8"/>
                                            </p:txEl>
                                          </p:spTgt>
                                        </p:tgtEl>
                                        <p:attrNameLst>
                                          <p:attrName>style.visibility</p:attrName>
                                        </p:attrNameLst>
                                      </p:cBhvr>
                                      <p:to>
                                        <p:strVal val="visible"/>
                                      </p:to>
                                    </p:set>
                                    <p:animEffect filter="fade" transition="in">
                                      <p:cBhvr>
                                        <p:cTn dur="500"/>
                                        <p:tgtEl>
                                          <p:spTgt spid="25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9" st="9"/>
                                            </p:txEl>
                                          </p:spTgt>
                                        </p:tgtEl>
                                        <p:attrNameLst>
                                          <p:attrName>style.visibility</p:attrName>
                                        </p:attrNameLst>
                                      </p:cBhvr>
                                      <p:to>
                                        <p:strVal val="visible"/>
                                      </p:to>
                                    </p:set>
                                    <p:animEffect filter="fade" transition="in">
                                      <p:cBhvr>
                                        <p:cTn dur="500"/>
                                        <p:tgtEl>
                                          <p:spTgt spid="25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0" st="10"/>
                                            </p:txEl>
                                          </p:spTgt>
                                        </p:tgtEl>
                                        <p:attrNameLst>
                                          <p:attrName>style.visibility</p:attrName>
                                        </p:attrNameLst>
                                      </p:cBhvr>
                                      <p:to>
                                        <p:strVal val="visible"/>
                                      </p:to>
                                    </p:set>
                                    <p:animEffect filter="fade" transition="in">
                                      <p:cBhvr>
                                        <p:cTn dur="500"/>
                                        <p:tgtEl>
                                          <p:spTgt spid="25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1" st="11"/>
                                            </p:txEl>
                                          </p:spTgt>
                                        </p:tgtEl>
                                        <p:attrNameLst>
                                          <p:attrName>style.visibility</p:attrName>
                                        </p:attrNameLst>
                                      </p:cBhvr>
                                      <p:to>
                                        <p:strVal val="visible"/>
                                      </p:to>
                                    </p:set>
                                    <p:animEffect filter="fade" transition="in">
                                      <p:cBhvr>
                                        <p:cTn dur="500"/>
                                        <p:tgtEl>
                                          <p:spTgt spid="25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2" st="12"/>
                                            </p:txEl>
                                          </p:spTgt>
                                        </p:tgtEl>
                                        <p:attrNameLst>
                                          <p:attrName>style.visibility</p:attrName>
                                        </p:attrNameLst>
                                      </p:cBhvr>
                                      <p:to>
                                        <p:strVal val="visible"/>
                                      </p:to>
                                    </p:set>
                                    <p:animEffect filter="fade" transition="in">
                                      <p:cBhvr>
                                        <p:cTn dur="500"/>
                                        <p:tgtEl>
                                          <p:spTgt spid="25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3" st="13"/>
                                            </p:txEl>
                                          </p:spTgt>
                                        </p:tgtEl>
                                        <p:attrNameLst>
                                          <p:attrName>style.visibility</p:attrName>
                                        </p:attrNameLst>
                                      </p:cBhvr>
                                      <p:to>
                                        <p:strVal val="visible"/>
                                      </p:to>
                                    </p:set>
                                    <p:animEffect filter="fade" transition="in">
                                      <p:cBhvr>
                                        <p:cTn dur="500"/>
                                        <p:tgtEl>
                                          <p:spTgt spid="25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4" st="14"/>
                                            </p:txEl>
                                          </p:spTgt>
                                        </p:tgtEl>
                                        <p:attrNameLst>
                                          <p:attrName>style.visibility</p:attrName>
                                        </p:attrNameLst>
                                      </p:cBhvr>
                                      <p:to>
                                        <p:strVal val="visible"/>
                                      </p:to>
                                    </p:set>
                                    <p:animEffect filter="fade" transition="in">
                                      <p:cBhvr>
                                        <p:cTn dur="500"/>
                                        <p:tgtEl>
                                          <p:spTgt spid="25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500"/>
                                        <p:tgtEl>
                                          <p:spTgt spid="25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7"/>
          <p:cNvSpPr txBox="1"/>
          <p:nvPr>
            <p:ph idx="1" type="body"/>
          </p:nvPr>
        </p:nvSpPr>
        <p:spPr>
          <a:xfrm>
            <a:off x="457200" y="404664"/>
            <a:ext cx="8229600" cy="604867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lt1"/>
              </a:buClr>
              <a:buSzPts val="2800"/>
              <a:buChar char="•"/>
            </a:pPr>
            <a:r>
              <a:rPr lang="en-US" sz="2800">
                <a:solidFill>
                  <a:schemeClr val="lt1"/>
                </a:solidFill>
              </a:rPr>
              <a:t>Our friend Gay-Lussac was confused!</a:t>
            </a:r>
            <a:endParaRPr/>
          </a:p>
          <a:p>
            <a:pPr indent="-342900" lvl="0" marL="342900" rtl="0" algn="l">
              <a:spcBef>
                <a:spcPts val="560"/>
              </a:spcBef>
              <a:spcAft>
                <a:spcPts val="0"/>
              </a:spcAft>
              <a:buClr>
                <a:schemeClr val="lt1"/>
              </a:buClr>
              <a:buSzPts val="2800"/>
              <a:buChar char="•"/>
            </a:pPr>
            <a:r>
              <a:rPr lang="en-US" sz="2800">
                <a:solidFill>
                  <a:schemeClr val="lt1"/>
                </a:solidFill>
              </a:rPr>
              <a:t>When he combined 2 volumes of hydrogen and 1 volume of oxygen, he got only two volumes of water vapour.  What was going on? (see p.472 – 474)</a:t>
            </a:r>
            <a:endParaRPr/>
          </a:p>
          <a:p>
            <a:pPr indent="-165100" lvl="0" marL="342900" rtl="0" algn="l">
              <a:spcBef>
                <a:spcPts val="560"/>
              </a:spcBef>
              <a:spcAft>
                <a:spcPts val="0"/>
              </a:spcAft>
              <a:buClr>
                <a:schemeClr val="dk1"/>
              </a:buClr>
              <a:buSzPts val="2800"/>
              <a:buNone/>
            </a:pPr>
            <a:r>
              <a:t/>
            </a:r>
            <a:endParaRPr sz="2800">
              <a:solidFill>
                <a:schemeClr val="lt1"/>
              </a:solidFill>
            </a:endParaRPr>
          </a:p>
          <a:p>
            <a:pPr indent="-165100" lvl="0" marL="342900" rtl="0" algn="l">
              <a:spcBef>
                <a:spcPts val="560"/>
              </a:spcBef>
              <a:spcAft>
                <a:spcPts val="0"/>
              </a:spcAft>
              <a:buClr>
                <a:schemeClr val="dk1"/>
              </a:buClr>
              <a:buSzPts val="2800"/>
              <a:buNone/>
            </a:pPr>
            <a:r>
              <a:t/>
            </a:r>
            <a:endParaRPr sz="2800">
              <a:solidFill>
                <a:schemeClr val="lt1"/>
              </a:solidFill>
            </a:endParaRPr>
          </a:p>
          <a:p>
            <a:pPr indent="-165100" lvl="0" marL="342900" rtl="0" algn="l">
              <a:spcBef>
                <a:spcPts val="560"/>
              </a:spcBef>
              <a:spcAft>
                <a:spcPts val="0"/>
              </a:spcAft>
              <a:buClr>
                <a:schemeClr val="dk1"/>
              </a:buClr>
              <a:buSzPts val="2800"/>
              <a:buNone/>
            </a:pPr>
            <a:r>
              <a:t/>
            </a:r>
            <a:endParaRPr sz="2800">
              <a:solidFill>
                <a:schemeClr val="lt1"/>
              </a:solidFill>
            </a:endParaRPr>
          </a:p>
          <a:p>
            <a:pPr indent="-342900" lvl="0" marL="342900" rtl="0" algn="l">
              <a:spcBef>
                <a:spcPts val="560"/>
              </a:spcBef>
              <a:spcAft>
                <a:spcPts val="0"/>
              </a:spcAft>
              <a:buClr>
                <a:schemeClr val="lt1"/>
              </a:buClr>
              <a:buSzPts val="2800"/>
              <a:buChar char="•"/>
            </a:pPr>
            <a:r>
              <a:rPr lang="en-US" sz="2800">
                <a:solidFill>
                  <a:schemeClr val="lt1"/>
                </a:solidFill>
              </a:rPr>
              <a:t>Gay-Lussac did not know that gas molecules could contain more than one atom!</a:t>
            </a:r>
            <a:endParaRPr/>
          </a:p>
          <a:p>
            <a:pPr indent="-342900" lvl="0" marL="342900" rtl="0" algn="l">
              <a:spcBef>
                <a:spcPts val="560"/>
              </a:spcBef>
              <a:spcAft>
                <a:spcPts val="0"/>
              </a:spcAft>
              <a:buClr>
                <a:schemeClr val="lt1"/>
              </a:buClr>
              <a:buSzPts val="2800"/>
              <a:buChar char="•"/>
            </a:pPr>
            <a:r>
              <a:rPr lang="en-US" sz="2800">
                <a:solidFill>
                  <a:schemeClr val="lt1"/>
                </a:solidFill>
              </a:rPr>
              <a:t>He consulted with Dalton (law of multiple proportions) and they published their results.  </a:t>
            </a:r>
            <a:endParaRPr/>
          </a:p>
          <a:p>
            <a:pPr indent="-342900" lvl="0" marL="342900" rtl="0" algn="l">
              <a:spcBef>
                <a:spcPts val="560"/>
              </a:spcBef>
              <a:spcAft>
                <a:spcPts val="0"/>
              </a:spcAft>
              <a:buClr>
                <a:schemeClr val="lt1"/>
              </a:buClr>
              <a:buSzPts val="2800"/>
              <a:buChar char="•"/>
            </a:pPr>
            <a:r>
              <a:rPr b="1" lang="en-US" sz="2800">
                <a:solidFill>
                  <a:schemeClr val="lt1"/>
                </a:solidFill>
              </a:rPr>
              <a:t>Avogadro figured it out!</a:t>
            </a:r>
            <a:endParaRPr b="1" sz="2800">
              <a:solidFill>
                <a:schemeClr val="lt1"/>
              </a:solidFill>
            </a:endParaRPr>
          </a:p>
        </p:txBody>
      </p:sp>
      <p:pic>
        <p:nvPicPr>
          <p:cNvPr id="261" name="Google Shape;261;p27"/>
          <p:cNvPicPr preferRelativeResize="0"/>
          <p:nvPr/>
        </p:nvPicPr>
        <p:blipFill rotWithShape="1">
          <a:blip r:embed="rId3">
            <a:alphaModFix/>
          </a:blip>
          <a:srcRect b="0" l="0" r="0" t="0"/>
          <a:stretch/>
        </p:blipFill>
        <p:spPr>
          <a:xfrm>
            <a:off x="3851920" y="2348880"/>
            <a:ext cx="3168352" cy="15121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xEl>
                                              <p:pRg end="0" st="0"/>
                                            </p:txEl>
                                          </p:spTgt>
                                        </p:tgtEl>
                                        <p:attrNameLst>
                                          <p:attrName>style.visibility</p:attrName>
                                        </p:attrNameLst>
                                      </p:cBhvr>
                                      <p:to>
                                        <p:strVal val="visible"/>
                                      </p:to>
                                    </p:set>
                                    <p:animEffect filter="fade" transition="in">
                                      <p:cBhvr>
                                        <p:cTn dur="1000"/>
                                        <p:tgtEl>
                                          <p:spTgt spid="2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xEl>
                                              <p:pRg end="1" st="1"/>
                                            </p:txEl>
                                          </p:spTgt>
                                        </p:tgtEl>
                                        <p:attrNameLst>
                                          <p:attrName>style.visibility</p:attrName>
                                        </p:attrNameLst>
                                      </p:cBhvr>
                                      <p:to>
                                        <p:strVal val="visible"/>
                                      </p:to>
                                    </p:set>
                                    <p:animEffect filter="fade" transition="in">
                                      <p:cBhvr>
                                        <p:cTn dur="1000"/>
                                        <p:tgtEl>
                                          <p:spTgt spid="2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xEl>
                                              <p:pRg end="2" st="2"/>
                                            </p:txEl>
                                          </p:spTgt>
                                        </p:tgtEl>
                                        <p:attrNameLst>
                                          <p:attrName>style.visibility</p:attrName>
                                        </p:attrNameLst>
                                      </p:cBhvr>
                                      <p:to>
                                        <p:strVal val="visible"/>
                                      </p:to>
                                    </p:set>
                                    <p:animEffect filter="fade" transition="in">
                                      <p:cBhvr>
                                        <p:cTn dur="1000"/>
                                        <p:tgtEl>
                                          <p:spTgt spid="2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xEl>
                                              <p:pRg end="3" st="3"/>
                                            </p:txEl>
                                          </p:spTgt>
                                        </p:tgtEl>
                                        <p:attrNameLst>
                                          <p:attrName>style.visibility</p:attrName>
                                        </p:attrNameLst>
                                      </p:cBhvr>
                                      <p:to>
                                        <p:strVal val="visible"/>
                                      </p:to>
                                    </p:set>
                                    <p:animEffect filter="fade" transition="in">
                                      <p:cBhvr>
                                        <p:cTn dur="1000"/>
                                        <p:tgtEl>
                                          <p:spTgt spid="26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xEl>
                                              <p:pRg end="4" st="4"/>
                                            </p:txEl>
                                          </p:spTgt>
                                        </p:tgtEl>
                                        <p:attrNameLst>
                                          <p:attrName>style.visibility</p:attrName>
                                        </p:attrNameLst>
                                      </p:cBhvr>
                                      <p:to>
                                        <p:strVal val="visible"/>
                                      </p:to>
                                    </p:set>
                                    <p:animEffect filter="fade" transition="in">
                                      <p:cBhvr>
                                        <p:cTn dur="1000"/>
                                        <p:tgtEl>
                                          <p:spTgt spid="26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xEl>
                                              <p:pRg end="5" st="5"/>
                                            </p:txEl>
                                          </p:spTgt>
                                        </p:tgtEl>
                                        <p:attrNameLst>
                                          <p:attrName>style.visibility</p:attrName>
                                        </p:attrNameLst>
                                      </p:cBhvr>
                                      <p:to>
                                        <p:strVal val="visible"/>
                                      </p:to>
                                    </p:set>
                                    <p:animEffect filter="fade" transition="in">
                                      <p:cBhvr>
                                        <p:cTn dur="1000"/>
                                        <p:tgtEl>
                                          <p:spTgt spid="26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xEl>
                                              <p:pRg end="6" st="6"/>
                                            </p:txEl>
                                          </p:spTgt>
                                        </p:tgtEl>
                                        <p:attrNameLst>
                                          <p:attrName>style.visibility</p:attrName>
                                        </p:attrNameLst>
                                      </p:cBhvr>
                                      <p:to>
                                        <p:strVal val="visible"/>
                                      </p:to>
                                    </p:set>
                                    <p:animEffect filter="fade" transition="in">
                                      <p:cBhvr>
                                        <p:cTn dur="1000"/>
                                        <p:tgtEl>
                                          <p:spTgt spid="26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xEl>
                                              <p:pRg end="7" st="7"/>
                                            </p:txEl>
                                          </p:spTgt>
                                        </p:tgtEl>
                                        <p:attrNameLst>
                                          <p:attrName>style.visibility</p:attrName>
                                        </p:attrNameLst>
                                      </p:cBhvr>
                                      <p:to>
                                        <p:strVal val="visible"/>
                                      </p:to>
                                    </p:set>
                                    <p:animEffect filter="fade" transition="in">
                                      <p:cBhvr>
                                        <p:cTn dur="1000"/>
                                        <p:tgtEl>
                                          <p:spTgt spid="26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8"/>
          <p:cNvSpPr txBox="1"/>
          <p:nvPr>
            <p:ph idx="4294967295"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FF3300"/>
                </a:solidFill>
              </a:rPr>
              <a:t>Avogadro’s Hypothesis</a:t>
            </a:r>
            <a:br>
              <a:rPr b="1" lang="en-US" sz="4800" u="sng">
                <a:solidFill>
                  <a:srgbClr val="FF3300"/>
                </a:solidFill>
              </a:rPr>
            </a:br>
            <a:endParaRPr b="1" sz="4800">
              <a:solidFill>
                <a:srgbClr val="FF3300"/>
              </a:solidFill>
            </a:endParaRPr>
          </a:p>
        </p:txBody>
      </p:sp>
      <p:sp>
        <p:nvSpPr>
          <p:cNvPr id="267" name="Google Shape;267;p28"/>
          <p:cNvSpPr txBox="1"/>
          <p:nvPr>
            <p:ph idx="4294967295"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Equal volumes of gases at the same temperature and pressure contain the same </a:t>
            </a:r>
            <a:r>
              <a:rPr b="1" lang="en-US" sz="2400" u="sng">
                <a:solidFill>
                  <a:schemeClr val="lt1"/>
                </a:solidFill>
                <a:latin typeface="Arial"/>
                <a:ea typeface="Arial"/>
                <a:cs typeface="Arial"/>
                <a:sym typeface="Arial"/>
              </a:rPr>
              <a:t>number of molecules</a:t>
            </a:r>
            <a:r>
              <a:rPr lang="en-US" sz="2400">
                <a:solidFill>
                  <a:schemeClr val="lt1"/>
                </a:solidFill>
                <a:latin typeface="Arial"/>
                <a:ea typeface="Arial"/>
                <a:cs typeface="Arial"/>
                <a:sym typeface="Arial"/>
              </a:rPr>
              <a:t>.</a:t>
            </a:r>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560"/>
              </a:spcBef>
              <a:spcAft>
                <a:spcPts val="0"/>
              </a:spcAft>
              <a:buClr>
                <a:schemeClr val="lt1"/>
              </a:buClr>
              <a:buSzPts val="2400"/>
              <a:buFont typeface="Arial"/>
              <a:buNone/>
            </a:pPr>
            <a:r>
              <a:rPr lang="en-US" sz="2400">
                <a:solidFill>
                  <a:schemeClr val="lt1"/>
                </a:solidFill>
                <a:latin typeface="Arial"/>
                <a:ea typeface="Arial"/>
                <a:cs typeface="Arial"/>
                <a:sym typeface="Arial"/>
              </a:rPr>
              <a:t>Thus </a:t>
            </a:r>
            <a:r>
              <a:rPr b="1" lang="en-US" sz="2800">
                <a:solidFill>
                  <a:schemeClr val="lt1"/>
                </a:solidFill>
                <a:latin typeface="Arial"/>
                <a:ea typeface="Arial"/>
                <a:cs typeface="Arial"/>
                <a:sym typeface="Arial"/>
              </a:rPr>
              <a:t>V = kn</a:t>
            </a:r>
            <a:endParaRPr b="1" sz="2800">
              <a:solidFill>
                <a:schemeClr val="lt1"/>
              </a:solidFill>
              <a:latin typeface="Arial"/>
              <a:ea typeface="Arial"/>
              <a:cs typeface="Arial"/>
              <a:sym typeface="Arial"/>
            </a:endParaRPr>
          </a:p>
          <a:p>
            <a:pPr indent="0" lvl="0" marL="0" rtl="0" algn="l">
              <a:spcBef>
                <a:spcPts val="360"/>
              </a:spcBef>
              <a:spcAft>
                <a:spcPts val="0"/>
              </a:spcAft>
              <a:buClr>
                <a:schemeClr val="dk1"/>
              </a:buClr>
              <a:buSzPts val="1800"/>
              <a:buFont typeface="Arial"/>
              <a:buNone/>
            </a:pPr>
            <a:r>
              <a:t/>
            </a:r>
            <a:endParaRPr b="1" sz="1800">
              <a:solidFill>
                <a:schemeClr val="lt1"/>
              </a:solidFill>
              <a:latin typeface="Arial"/>
              <a:ea typeface="Arial"/>
              <a:cs typeface="Arial"/>
              <a:sym typeface="Arial"/>
            </a:endParaRPr>
          </a:p>
          <a:p>
            <a:pPr indent="0" lvl="0" marL="0" rtl="0" algn="l">
              <a:spcBef>
                <a:spcPts val="560"/>
              </a:spcBef>
              <a:spcAft>
                <a:spcPts val="0"/>
              </a:spcAft>
              <a:buClr>
                <a:schemeClr val="lt1"/>
              </a:buClr>
              <a:buSzPts val="2400"/>
              <a:buFont typeface="Arial"/>
              <a:buNone/>
            </a:pPr>
            <a:r>
              <a:rPr lang="en-US" sz="2400">
                <a:solidFill>
                  <a:schemeClr val="lt1"/>
                </a:solidFill>
                <a:latin typeface="Arial"/>
                <a:ea typeface="Arial"/>
                <a:cs typeface="Arial"/>
                <a:sym typeface="Arial"/>
              </a:rPr>
              <a:t>We can rearrange this formula to yield </a:t>
            </a:r>
            <a:r>
              <a:rPr b="1" lang="en-US" sz="2800">
                <a:solidFill>
                  <a:schemeClr val="lt1"/>
                </a:solidFill>
                <a:latin typeface="Arial"/>
                <a:ea typeface="Arial"/>
                <a:cs typeface="Arial"/>
                <a:sym typeface="Arial"/>
              </a:rPr>
              <a:t>k = V/n</a:t>
            </a:r>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Since k is constant it is true for a gas at any pressure!</a:t>
            </a:r>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Thus for case 1 (initial conditions) and case 2 (final conditions)</a:t>
            </a:r>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152400" lvl="0" marL="0" rtl="0" algn="l">
              <a:spcBef>
                <a:spcPts val="480"/>
              </a:spcBef>
              <a:spcAft>
                <a:spcPts val="0"/>
              </a:spcAft>
              <a:buClr>
                <a:srgbClr val="FF9900"/>
              </a:buClr>
              <a:buSzPts val="2400"/>
              <a:buChar char="•"/>
            </a:pPr>
            <a:r>
              <a:rPr b="1" i="1" lang="en-US" sz="2400">
                <a:solidFill>
                  <a:srgbClr val="FF9900"/>
                </a:solidFill>
                <a:latin typeface="Arial"/>
                <a:ea typeface="Arial"/>
                <a:cs typeface="Arial"/>
                <a:sym typeface="Arial"/>
              </a:rPr>
              <a:t>The Units!</a:t>
            </a:r>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Volume must be measured in litres (L) or cubic centimetres (cm</a:t>
            </a:r>
            <a:r>
              <a:rPr baseline="30000" lang="en-US" sz="2400">
                <a:solidFill>
                  <a:schemeClr val="lt1"/>
                </a:solidFill>
                <a:latin typeface="Arial"/>
                <a:ea typeface="Arial"/>
                <a:cs typeface="Arial"/>
                <a:sym typeface="Arial"/>
              </a:rPr>
              <a:t>3</a:t>
            </a:r>
            <a:r>
              <a:rPr lang="en-US" sz="2400">
                <a:solidFill>
                  <a:schemeClr val="lt1"/>
                </a:solidFill>
                <a:latin typeface="Arial"/>
                <a:ea typeface="Arial"/>
                <a:cs typeface="Arial"/>
                <a:sym typeface="Arial"/>
              </a:rPr>
              <a:t>)</a:t>
            </a:r>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		</a:t>
            </a:r>
            <a:endParaRPr sz="2400">
              <a:solidFill>
                <a:schemeClr val="lt1"/>
              </a:solidFill>
              <a:latin typeface="Arial"/>
              <a:ea typeface="Arial"/>
              <a:cs typeface="Arial"/>
              <a:sym typeface="Arial"/>
            </a:endParaRPr>
          </a:p>
        </p:txBody>
      </p:sp>
      <p:sp>
        <p:nvSpPr>
          <p:cNvPr id="268" name="Google Shape;268;p28"/>
          <p:cNvSpPr txBox="1"/>
          <p:nvPr/>
        </p:nvSpPr>
        <p:spPr>
          <a:xfrm>
            <a:off x="4500563" y="3141663"/>
            <a:ext cx="1841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equation-avogadro" id="269" name="Google Shape;269;p28"/>
          <p:cNvPicPr preferRelativeResize="0"/>
          <p:nvPr/>
        </p:nvPicPr>
        <p:blipFill rotWithShape="1">
          <a:blip r:embed="rId4">
            <a:alphaModFix/>
          </a:blip>
          <a:srcRect b="0" l="0" r="0" t="0"/>
          <a:stretch/>
        </p:blipFill>
        <p:spPr>
          <a:xfrm>
            <a:off x="3924300" y="4652963"/>
            <a:ext cx="1152525" cy="1001712"/>
          </a:xfrm>
          <a:prstGeom prst="rect">
            <a:avLst/>
          </a:prstGeom>
          <a:solidFill>
            <a:schemeClr val="lt1"/>
          </a:solidFill>
          <a:ln cap="flat" cmpd="sng" w="63500">
            <a:solidFill>
              <a:srgbClr val="FFFF00"/>
            </a:solidFill>
            <a:prstDash val="solid"/>
            <a:miter lim="800000"/>
            <a:headEnd len="sm" w="sm" type="none"/>
            <a:tailEnd len="sm" w="sm" type="none"/>
          </a:ln>
        </p:spPr>
      </p:pic>
      <p:pic>
        <p:nvPicPr>
          <p:cNvPr descr="gasavo" id="270" name="Google Shape;270;p28"/>
          <p:cNvPicPr preferRelativeResize="0"/>
          <p:nvPr/>
        </p:nvPicPr>
        <p:blipFill rotWithShape="1">
          <a:blip r:embed="rId5">
            <a:alphaModFix/>
          </a:blip>
          <a:srcRect b="0" l="0" r="0" t="0"/>
          <a:stretch/>
        </p:blipFill>
        <p:spPr>
          <a:xfrm>
            <a:off x="6084888" y="1196975"/>
            <a:ext cx="2374900" cy="2049463"/>
          </a:xfrm>
          <a:prstGeom prst="rect">
            <a:avLst/>
          </a:prstGeom>
          <a:noFill/>
          <a:ln>
            <a:noFill/>
          </a:ln>
        </p:spPr>
      </p:pic>
      <p:graphicFrame>
        <p:nvGraphicFramePr>
          <p:cNvPr id="271" name="Google Shape;271;p28"/>
          <p:cNvGraphicFramePr/>
          <p:nvPr/>
        </p:nvGraphicFramePr>
        <p:xfrm>
          <a:off x="395288" y="1700213"/>
          <a:ext cx="1209675" cy="571500"/>
        </p:xfrm>
        <a:graphic>
          <a:graphicData uri="http://schemas.openxmlformats.org/presentationml/2006/ole">
            <mc:AlternateContent>
              <mc:Choice Requires="v">
                <p:oleObj r:id="rId6" imgH="571500" imgW="1209675" progId="Paint.Picture" spid="_x0000_s1">
                  <p:embed/>
                </p:oleObj>
              </mc:Choice>
              <mc:Fallback>
                <p:oleObj r:id="rId7" imgH="571500" imgW="1209675" progId="Paint.Picture">
                  <p:embed/>
                  <p:pic>
                    <p:nvPicPr>
                      <p:cNvPr id="271" name="Google Shape;271;p28"/>
                      <p:cNvPicPr preferRelativeResize="0"/>
                      <p:nvPr/>
                    </p:nvPicPr>
                    <p:blipFill rotWithShape="1">
                      <a:blip r:embed="rId8">
                        <a:alphaModFix/>
                      </a:blip>
                      <a:srcRect b="0" l="0" r="0" t="0"/>
                      <a:stretch/>
                    </p:blipFill>
                    <p:spPr>
                      <a:xfrm>
                        <a:off x="395288" y="1700213"/>
                        <a:ext cx="1209675" cy="571500"/>
                      </a:xfrm>
                      <a:prstGeom prst="rect">
                        <a:avLst/>
                      </a:prstGeom>
                      <a:noFill/>
                      <a:ln>
                        <a:noFill/>
                      </a:ln>
                    </p:spPr>
                  </p:pic>
                </p:oleObj>
              </mc:Fallback>
            </mc:AlternateContent>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animEffect filter="fade" transition="in">
                                      <p:cBhvr>
                                        <p:cTn dur="500"/>
                                        <p:tgtEl>
                                          <p:spTgt spid="2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1" st="1"/>
                                            </p:txEl>
                                          </p:spTgt>
                                        </p:tgtEl>
                                        <p:attrNameLst>
                                          <p:attrName>style.visibility</p:attrName>
                                        </p:attrNameLst>
                                      </p:cBhvr>
                                      <p:to>
                                        <p:strVal val="visible"/>
                                      </p:to>
                                    </p:set>
                                    <p:animEffect filter="fade" transition="in">
                                      <p:cBhvr>
                                        <p:cTn dur="500"/>
                                        <p:tgtEl>
                                          <p:spTgt spid="2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2" st="2"/>
                                            </p:txEl>
                                          </p:spTgt>
                                        </p:tgtEl>
                                        <p:attrNameLst>
                                          <p:attrName>style.visibility</p:attrName>
                                        </p:attrNameLst>
                                      </p:cBhvr>
                                      <p:to>
                                        <p:strVal val="visible"/>
                                      </p:to>
                                    </p:set>
                                    <p:animEffect filter="fade" transition="in">
                                      <p:cBhvr>
                                        <p:cTn dur="500"/>
                                        <p:tgtEl>
                                          <p:spTgt spid="2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3" st="3"/>
                                            </p:txEl>
                                          </p:spTgt>
                                        </p:tgtEl>
                                        <p:attrNameLst>
                                          <p:attrName>style.visibility</p:attrName>
                                        </p:attrNameLst>
                                      </p:cBhvr>
                                      <p:to>
                                        <p:strVal val="visible"/>
                                      </p:to>
                                    </p:set>
                                    <p:animEffect filter="fade" transition="in">
                                      <p:cBhvr>
                                        <p:cTn dur="500"/>
                                        <p:tgtEl>
                                          <p:spTgt spid="2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4" st="4"/>
                                            </p:txEl>
                                          </p:spTgt>
                                        </p:tgtEl>
                                        <p:attrNameLst>
                                          <p:attrName>style.visibility</p:attrName>
                                        </p:attrNameLst>
                                      </p:cBhvr>
                                      <p:to>
                                        <p:strVal val="visible"/>
                                      </p:to>
                                    </p:set>
                                    <p:animEffect filter="fade" transition="in">
                                      <p:cBhvr>
                                        <p:cTn dur="500"/>
                                        <p:tgtEl>
                                          <p:spTgt spid="2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5" st="5"/>
                                            </p:txEl>
                                          </p:spTgt>
                                        </p:tgtEl>
                                        <p:attrNameLst>
                                          <p:attrName>style.visibility</p:attrName>
                                        </p:attrNameLst>
                                      </p:cBhvr>
                                      <p:to>
                                        <p:strVal val="visible"/>
                                      </p:to>
                                    </p:set>
                                    <p:animEffect filter="fade" transition="in">
                                      <p:cBhvr>
                                        <p:cTn dur="500"/>
                                        <p:tgtEl>
                                          <p:spTgt spid="2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6" st="6"/>
                                            </p:txEl>
                                          </p:spTgt>
                                        </p:tgtEl>
                                        <p:attrNameLst>
                                          <p:attrName>style.visibility</p:attrName>
                                        </p:attrNameLst>
                                      </p:cBhvr>
                                      <p:to>
                                        <p:strVal val="visible"/>
                                      </p:to>
                                    </p:set>
                                    <p:animEffect filter="fade" transition="in">
                                      <p:cBhvr>
                                        <p:cTn dur="500"/>
                                        <p:tgtEl>
                                          <p:spTgt spid="2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7" st="7"/>
                                            </p:txEl>
                                          </p:spTgt>
                                        </p:tgtEl>
                                        <p:attrNameLst>
                                          <p:attrName>style.visibility</p:attrName>
                                        </p:attrNameLst>
                                      </p:cBhvr>
                                      <p:to>
                                        <p:strVal val="visible"/>
                                      </p:to>
                                    </p:set>
                                    <p:animEffect filter="fade" transition="in">
                                      <p:cBhvr>
                                        <p:cTn dur="500"/>
                                        <p:tgtEl>
                                          <p:spTgt spid="2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8" st="8"/>
                                            </p:txEl>
                                          </p:spTgt>
                                        </p:tgtEl>
                                        <p:attrNameLst>
                                          <p:attrName>style.visibility</p:attrName>
                                        </p:attrNameLst>
                                      </p:cBhvr>
                                      <p:to>
                                        <p:strVal val="visible"/>
                                      </p:to>
                                    </p:set>
                                    <p:animEffect filter="fade" transition="in">
                                      <p:cBhvr>
                                        <p:cTn dur="500"/>
                                        <p:tgtEl>
                                          <p:spTgt spid="26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9" st="9"/>
                                            </p:txEl>
                                          </p:spTgt>
                                        </p:tgtEl>
                                        <p:attrNameLst>
                                          <p:attrName>style.visibility</p:attrName>
                                        </p:attrNameLst>
                                      </p:cBhvr>
                                      <p:to>
                                        <p:strVal val="visible"/>
                                      </p:to>
                                    </p:set>
                                    <p:animEffect filter="fade" transition="in">
                                      <p:cBhvr>
                                        <p:cTn dur="500"/>
                                        <p:tgtEl>
                                          <p:spTgt spid="26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10" st="10"/>
                                            </p:txEl>
                                          </p:spTgt>
                                        </p:tgtEl>
                                        <p:attrNameLst>
                                          <p:attrName>style.visibility</p:attrName>
                                        </p:attrNameLst>
                                      </p:cBhvr>
                                      <p:to>
                                        <p:strVal val="visible"/>
                                      </p:to>
                                    </p:set>
                                    <p:animEffect filter="fade" transition="in">
                                      <p:cBhvr>
                                        <p:cTn dur="500"/>
                                        <p:tgtEl>
                                          <p:spTgt spid="26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11" st="11"/>
                                            </p:txEl>
                                          </p:spTgt>
                                        </p:tgtEl>
                                        <p:attrNameLst>
                                          <p:attrName>style.visibility</p:attrName>
                                        </p:attrNameLst>
                                      </p:cBhvr>
                                      <p:to>
                                        <p:strVal val="visible"/>
                                      </p:to>
                                    </p:set>
                                    <p:animEffect filter="fade" transition="in">
                                      <p:cBhvr>
                                        <p:cTn dur="500"/>
                                        <p:tgtEl>
                                          <p:spTgt spid="26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12" st="12"/>
                                            </p:txEl>
                                          </p:spTgt>
                                        </p:tgtEl>
                                        <p:attrNameLst>
                                          <p:attrName>style.visibility</p:attrName>
                                        </p:attrNameLst>
                                      </p:cBhvr>
                                      <p:to>
                                        <p:strVal val="visible"/>
                                      </p:to>
                                    </p:set>
                                    <p:animEffect filter="fade" transition="in">
                                      <p:cBhvr>
                                        <p:cTn dur="500"/>
                                        <p:tgtEl>
                                          <p:spTgt spid="26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13" st="13"/>
                                            </p:txEl>
                                          </p:spTgt>
                                        </p:tgtEl>
                                        <p:attrNameLst>
                                          <p:attrName>style.visibility</p:attrName>
                                        </p:attrNameLst>
                                      </p:cBhvr>
                                      <p:to>
                                        <p:strVal val="visible"/>
                                      </p:to>
                                    </p:set>
                                    <p:animEffect filter="fade" transition="in">
                                      <p:cBhvr>
                                        <p:cTn dur="500"/>
                                        <p:tgtEl>
                                          <p:spTgt spid="267">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14" st="14"/>
                                            </p:txEl>
                                          </p:spTgt>
                                        </p:tgtEl>
                                        <p:attrNameLst>
                                          <p:attrName>style.visibility</p:attrName>
                                        </p:attrNameLst>
                                      </p:cBhvr>
                                      <p:to>
                                        <p:strVal val="visible"/>
                                      </p:to>
                                    </p:set>
                                    <p:animEffect filter="fade" transition="in">
                                      <p:cBhvr>
                                        <p:cTn dur="500"/>
                                        <p:tgtEl>
                                          <p:spTgt spid="267">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15" st="15"/>
                                            </p:txEl>
                                          </p:spTgt>
                                        </p:tgtEl>
                                        <p:attrNameLst>
                                          <p:attrName>style.visibility</p:attrName>
                                        </p:attrNameLst>
                                      </p:cBhvr>
                                      <p:to>
                                        <p:strVal val="visible"/>
                                      </p:to>
                                    </p:set>
                                    <p:animEffect filter="fade" transition="in">
                                      <p:cBhvr>
                                        <p:cTn dur="500"/>
                                        <p:tgtEl>
                                          <p:spTgt spid="267">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16" st="16"/>
                                            </p:txEl>
                                          </p:spTgt>
                                        </p:tgtEl>
                                        <p:attrNameLst>
                                          <p:attrName>style.visibility</p:attrName>
                                        </p:attrNameLst>
                                      </p:cBhvr>
                                      <p:to>
                                        <p:strVal val="visible"/>
                                      </p:to>
                                    </p:set>
                                    <p:animEffect filter="fade" transition="in">
                                      <p:cBhvr>
                                        <p:cTn dur="500"/>
                                        <p:tgtEl>
                                          <p:spTgt spid="267">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20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822"/>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9"/>
          <p:cNvSpPr txBox="1"/>
          <p:nvPr>
            <p:ph idx="4294967295"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FF3300"/>
                </a:solidFill>
              </a:rPr>
              <a:t>Avogadro’s Hypothesis</a:t>
            </a:r>
            <a:br>
              <a:rPr b="1" lang="en-US" sz="4800" u="sng">
                <a:solidFill>
                  <a:srgbClr val="FF3300"/>
                </a:solidFill>
              </a:rPr>
            </a:br>
            <a:endParaRPr b="1" sz="4800">
              <a:solidFill>
                <a:srgbClr val="FF3300"/>
              </a:solidFill>
            </a:endParaRPr>
          </a:p>
        </p:txBody>
      </p:sp>
      <p:sp>
        <p:nvSpPr>
          <p:cNvPr id="277" name="Google Shape;277;p29"/>
          <p:cNvSpPr txBox="1"/>
          <p:nvPr>
            <p:ph idx="4294967295"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2800"/>
              <a:buFont typeface="Arial"/>
              <a:buNone/>
            </a:pPr>
            <a:r>
              <a:rPr b="1" i="1" lang="en-US" sz="2800">
                <a:solidFill>
                  <a:schemeClr val="lt1"/>
                </a:solidFill>
                <a:latin typeface="Arial"/>
                <a:ea typeface="Arial"/>
                <a:cs typeface="Arial"/>
                <a:sym typeface="Arial"/>
              </a:rPr>
              <a:t>Sample Problem:</a:t>
            </a:r>
            <a:endParaRPr/>
          </a:p>
          <a:p>
            <a:pPr indent="-457200" lvl="0" marL="457200" rtl="0" algn="l">
              <a:spcBef>
                <a:spcPts val="560"/>
              </a:spcBef>
              <a:spcAft>
                <a:spcPts val="0"/>
              </a:spcAft>
              <a:buClr>
                <a:schemeClr val="lt1"/>
              </a:buClr>
              <a:buSzPts val="2800"/>
              <a:buFont typeface="Calibri"/>
              <a:buAutoNum type="arabicPeriod"/>
            </a:pPr>
            <a:r>
              <a:rPr lang="en-US" sz="2800">
                <a:solidFill>
                  <a:schemeClr val="lt1"/>
                </a:solidFill>
                <a:latin typeface="Arial"/>
                <a:ea typeface="Arial"/>
                <a:cs typeface="Arial"/>
                <a:sym typeface="Arial"/>
              </a:rPr>
              <a:t>For my son’s birthday, a party store filled a 745 mL birthday balloon with 3.2 g helium @ SATP.  When I took the balloon home it had a slow leak and lost 0.5 g helium, the temperature was 25 </a:t>
            </a:r>
            <a:r>
              <a:rPr baseline="30000" lang="en-US" sz="2800">
                <a:solidFill>
                  <a:schemeClr val="lt1"/>
                </a:solidFill>
                <a:latin typeface="Arial"/>
                <a:ea typeface="Arial"/>
                <a:cs typeface="Arial"/>
                <a:sym typeface="Arial"/>
              </a:rPr>
              <a:t>o</a:t>
            </a:r>
            <a:r>
              <a:rPr lang="en-US" sz="2800">
                <a:solidFill>
                  <a:schemeClr val="lt1"/>
                </a:solidFill>
                <a:latin typeface="Arial"/>
                <a:ea typeface="Arial"/>
                <a:cs typeface="Arial"/>
                <a:sym typeface="Arial"/>
              </a:rPr>
              <a:t>C and the atmospheric pressure was 100 kPa.  What was the volume of the balloon at home?</a:t>
            </a:r>
            <a:endParaRPr b="1" sz="3200">
              <a:solidFill>
                <a:srgbClr val="FFFF00"/>
              </a:solidFill>
              <a:latin typeface="Arial"/>
              <a:ea typeface="Arial"/>
              <a:cs typeface="Arial"/>
              <a:sym typeface="Arial"/>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		</a:t>
            </a:r>
            <a:endParaRPr sz="2400">
              <a:solidFill>
                <a:schemeClr val="lt1"/>
              </a:solidFill>
              <a:latin typeface="Arial"/>
              <a:ea typeface="Arial"/>
              <a:cs typeface="Arial"/>
              <a:sym typeface="Arial"/>
            </a:endParaRPr>
          </a:p>
        </p:txBody>
      </p:sp>
      <p:sp>
        <p:nvSpPr>
          <p:cNvPr id="278" name="Google Shape;278;p29"/>
          <p:cNvSpPr txBox="1"/>
          <p:nvPr/>
        </p:nvSpPr>
        <p:spPr>
          <a:xfrm>
            <a:off x="4500563" y="3141663"/>
            <a:ext cx="1841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equation-avogadro" id="279" name="Google Shape;279;p29"/>
          <p:cNvPicPr preferRelativeResize="0"/>
          <p:nvPr/>
        </p:nvPicPr>
        <p:blipFill rotWithShape="1">
          <a:blip r:embed="rId3">
            <a:alphaModFix/>
          </a:blip>
          <a:srcRect b="0" l="0" r="0" t="0"/>
          <a:stretch/>
        </p:blipFill>
        <p:spPr>
          <a:xfrm>
            <a:off x="6660232" y="4797152"/>
            <a:ext cx="1656984" cy="1440160"/>
          </a:xfrm>
          <a:prstGeom prst="rect">
            <a:avLst/>
          </a:prstGeom>
          <a:solidFill>
            <a:schemeClr val="lt1"/>
          </a:solidFill>
          <a:ln cap="flat" cmpd="sng" w="63500">
            <a:solidFill>
              <a:srgbClr val="FFFF00"/>
            </a:solidFill>
            <a:prstDash val="solid"/>
            <a:miter lim="800000"/>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822"/>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Effect filter="fade" transition="in">
                                      <p:cBhvr>
                                        <p:cTn dur="500"/>
                                        <p:tgtEl>
                                          <p:spTgt spid="2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Effect filter="fade" transition="in">
                                      <p:cBhvr>
                                        <p:cTn dur="500"/>
                                        <p:tgtEl>
                                          <p:spTgt spid="2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Effect filter="fade" transition="in">
                                      <p:cBhvr>
                                        <p:cTn dur="500"/>
                                        <p:tgtEl>
                                          <p:spTgt spid="2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Effect filter="fade" transition="in">
                                      <p:cBhvr>
                                        <p:cTn dur="500"/>
                                        <p:tgtEl>
                                          <p:spTgt spid="2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Effect filter="fade" transition="in">
                                      <p:cBhvr>
                                        <p:cTn dur="500"/>
                                        <p:tgtEl>
                                          <p:spTgt spid="2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5" st="5"/>
                                            </p:txEl>
                                          </p:spTgt>
                                        </p:tgtEl>
                                        <p:attrNameLst>
                                          <p:attrName>style.visibility</p:attrName>
                                        </p:attrNameLst>
                                      </p:cBhvr>
                                      <p:to>
                                        <p:strVal val="visible"/>
                                      </p:to>
                                    </p:set>
                                    <p:animEffect filter="fade" transition="in">
                                      <p:cBhvr>
                                        <p:cTn dur="500"/>
                                        <p:tgtEl>
                                          <p:spTgt spid="27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0"/>
          <p:cNvSpPr txBox="1"/>
          <p:nvPr>
            <p:ph idx="4294967295" type="title"/>
          </p:nvPr>
        </p:nvSpPr>
        <p:spPr>
          <a:xfrm>
            <a:off x="468313" y="260350"/>
            <a:ext cx="8229600" cy="7064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FF3300"/>
                </a:solidFill>
              </a:rPr>
              <a:t>Avogadro’s Hypothesis</a:t>
            </a:r>
            <a:br>
              <a:rPr b="1" lang="en-US" sz="4800" u="sng">
                <a:solidFill>
                  <a:srgbClr val="FF3300"/>
                </a:solidFill>
              </a:rPr>
            </a:br>
            <a:endParaRPr b="1" sz="4800">
              <a:solidFill>
                <a:srgbClr val="FF3300"/>
              </a:solidFill>
            </a:endParaRPr>
          </a:p>
        </p:txBody>
      </p:sp>
      <p:sp>
        <p:nvSpPr>
          <p:cNvPr id="285" name="Google Shape;285;p30"/>
          <p:cNvSpPr txBox="1"/>
          <p:nvPr>
            <p:ph idx="4294967295" type="body"/>
          </p:nvPr>
        </p:nvSpPr>
        <p:spPr>
          <a:xfrm>
            <a:off x="250825" y="692150"/>
            <a:ext cx="8713788" cy="5976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2800"/>
              <a:buFont typeface="Arial"/>
              <a:buNone/>
            </a:pPr>
            <a:r>
              <a:rPr b="1" i="1" lang="en-US" sz="2800">
                <a:solidFill>
                  <a:schemeClr val="lt1"/>
                </a:solidFill>
                <a:latin typeface="Arial"/>
                <a:ea typeface="Arial"/>
                <a:cs typeface="Arial"/>
                <a:sym typeface="Arial"/>
              </a:rPr>
              <a:t>Sample Problem:</a:t>
            </a:r>
            <a:endParaRPr/>
          </a:p>
          <a:p>
            <a:pPr indent="-514350" lvl="0" marL="514350" rtl="0" algn="l">
              <a:spcBef>
                <a:spcPts val="560"/>
              </a:spcBef>
              <a:spcAft>
                <a:spcPts val="0"/>
              </a:spcAft>
              <a:buClr>
                <a:schemeClr val="lt1"/>
              </a:buClr>
              <a:buSzPts val="2800"/>
              <a:buFont typeface="Calibri"/>
              <a:buAutoNum type="arabicPeriod" startAt="2"/>
            </a:pPr>
            <a:r>
              <a:rPr lang="en-US" sz="2800">
                <a:solidFill>
                  <a:schemeClr val="lt1"/>
                </a:solidFill>
                <a:latin typeface="Arial"/>
                <a:ea typeface="Arial"/>
                <a:cs typeface="Arial"/>
                <a:sym typeface="Arial"/>
              </a:rPr>
              <a:t>1.30 L of N</a:t>
            </a:r>
            <a:r>
              <a:rPr baseline="-25000" lang="en-US" sz="2800">
                <a:solidFill>
                  <a:schemeClr val="lt1"/>
                </a:solidFill>
                <a:latin typeface="Arial"/>
                <a:ea typeface="Arial"/>
                <a:cs typeface="Arial"/>
                <a:sym typeface="Arial"/>
              </a:rPr>
              <a:t>2</a:t>
            </a:r>
            <a:r>
              <a:rPr lang="en-US" sz="2800">
                <a:solidFill>
                  <a:schemeClr val="lt1"/>
                </a:solidFill>
                <a:latin typeface="Arial"/>
                <a:ea typeface="Arial"/>
                <a:cs typeface="Arial"/>
                <a:sym typeface="Arial"/>
              </a:rPr>
              <a:t> </a:t>
            </a:r>
            <a:r>
              <a:rPr baseline="-25000" lang="en-US" sz="2800">
                <a:solidFill>
                  <a:schemeClr val="lt1"/>
                </a:solidFill>
                <a:latin typeface="Arial"/>
                <a:ea typeface="Arial"/>
                <a:cs typeface="Arial"/>
                <a:sym typeface="Arial"/>
              </a:rPr>
              <a:t>(g) </a:t>
            </a:r>
            <a:r>
              <a:rPr lang="en-US" sz="2800">
                <a:solidFill>
                  <a:schemeClr val="lt1"/>
                </a:solidFill>
                <a:latin typeface="Arial"/>
                <a:ea typeface="Arial"/>
                <a:cs typeface="Arial"/>
                <a:sym typeface="Arial"/>
              </a:rPr>
              <a:t>at 22.0 </a:t>
            </a:r>
            <a:r>
              <a:rPr baseline="30000" lang="en-US" sz="2800">
                <a:solidFill>
                  <a:schemeClr val="lt1"/>
                </a:solidFill>
                <a:latin typeface="Arial"/>
                <a:ea typeface="Arial"/>
                <a:cs typeface="Arial"/>
                <a:sym typeface="Arial"/>
              </a:rPr>
              <a:t>o</a:t>
            </a:r>
            <a:r>
              <a:rPr lang="en-US" sz="2800">
                <a:solidFill>
                  <a:schemeClr val="lt1"/>
                </a:solidFill>
                <a:latin typeface="Arial"/>
                <a:ea typeface="Arial"/>
                <a:cs typeface="Arial"/>
                <a:sym typeface="Arial"/>
              </a:rPr>
              <a:t>C and 98.0 kPa have a mass of 1.45 g.  Use this information to calculate the molar volume of N</a:t>
            </a:r>
            <a:r>
              <a:rPr baseline="-25000" lang="en-US" sz="2800">
                <a:solidFill>
                  <a:schemeClr val="lt1"/>
                </a:solidFill>
                <a:latin typeface="Arial"/>
                <a:ea typeface="Arial"/>
                <a:cs typeface="Arial"/>
                <a:sym typeface="Arial"/>
              </a:rPr>
              <a:t>2</a:t>
            </a:r>
            <a:r>
              <a:rPr lang="en-US" sz="2800">
                <a:solidFill>
                  <a:schemeClr val="lt1"/>
                </a:solidFill>
                <a:latin typeface="Arial"/>
                <a:ea typeface="Arial"/>
                <a:cs typeface="Arial"/>
                <a:sym typeface="Arial"/>
              </a:rPr>
              <a:t> </a:t>
            </a:r>
            <a:r>
              <a:rPr baseline="-25000" lang="en-US" sz="2800">
                <a:solidFill>
                  <a:schemeClr val="lt1"/>
                </a:solidFill>
                <a:latin typeface="Arial"/>
                <a:ea typeface="Arial"/>
                <a:cs typeface="Arial"/>
                <a:sym typeface="Arial"/>
              </a:rPr>
              <a:t>(g) </a:t>
            </a:r>
            <a:r>
              <a:rPr lang="en-US" sz="2800">
                <a:solidFill>
                  <a:schemeClr val="lt1"/>
                </a:solidFill>
                <a:latin typeface="Arial"/>
                <a:ea typeface="Arial"/>
                <a:cs typeface="Arial"/>
                <a:sym typeface="Arial"/>
              </a:rPr>
              <a:t>at STP.</a:t>
            </a:r>
            <a:endParaRPr/>
          </a:p>
          <a:p>
            <a:pPr indent="0" lvl="1" marL="400050" rtl="0" algn="l">
              <a:spcBef>
                <a:spcPts val="480"/>
              </a:spcBef>
              <a:spcAft>
                <a:spcPts val="0"/>
              </a:spcAft>
              <a:buClr>
                <a:schemeClr val="dk1"/>
              </a:buClr>
              <a:buSzPts val="2400"/>
              <a:buNone/>
            </a:pPr>
            <a:r>
              <a:t/>
            </a:r>
            <a:endParaRPr sz="2400">
              <a:solidFill>
                <a:schemeClr val="lt1"/>
              </a:solidFill>
              <a:latin typeface="Arial"/>
              <a:ea typeface="Arial"/>
              <a:cs typeface="Arial"/>
              <a:sym typeface="Arial"/>
            </a:endParaRPr>
          </a:p>
          <a:p>
            <a:pPr indent="0" lvl="1" marL="400050" rtl="0" algn="l">
              <a:spcBef>
                <a:spcPts val="480"/>
              </a:spcBef>
              <a:spcAft>
                <a:spcPts val="0"/>
              </a:spcAft>
              <a:buClr>
                <a:schemeClr val="lt1"/>
              </a:buClr>
              <a:buSzPts val="2400"/>
              <a:buNone/>
            </a:pPr>
            <a:r>
              <a:rPr b="1" i="1" lang="en-US" sz="2400" u="sng">
                <a:solidFill>
                  <a:schemeClr val="lt1"/>
                </a:solidFill>
                <a:latin typeface="Arial"/>
                <a:ea typeface="Arial"/>
                <a:cs typeface="Arial"/>
                <a:sym typeface="Arial"/>
              </a:rPr>
              <a:t>Note:</a:t>
            </a:r>
            <a:r>
              <a:rPr lang="en-US" sz="2400">
                <a:solidFill>
                  <a:schemeClr val="lt1"/>
                </a:solidFill>
                <a:latin typeface="Arial"/>
                <a:ea typeface="Arial"/>
                <a:cs typeface="Arial"/>
                <a:sym typeface="Arial"/>
              </a:rPr>
              <a:t>  Molar volume is the volume occupied by one mole of a gas.</a:t>
            </a:r>
            <a:endParaRPr/>
          </a:p>
          <a:p>
            <a:pPr indent="0" lvl="1" marL="400050" rtl="0" algn="l">
              <a:spcBef>
                <a:spcPts val="640"/>
              </a:spcBef>
              <a:spcAft>
                <a:spcPts val="0"/>
              </a:spcAft>
              <a:buClr>
                <a:schemeClr val="lt1"/>
              </a:buClr>
              <a:buSzPts val="2800"/>
              <a:buNone/>
            </a:pPr>
            <a:r>
              <a:rPr b="1" lang="en-US">
                <a:solidFill>
                  <a:schemeClr val="lt1"/>
                </a:solidFill>
                <a:latin typeface="Arial"/>
                <a:ea typeface="Arial"/>
                <a:cs typeface="Arial"/>
                <a:sym typeface="Arial"/>
              </a:rPr>
              <a:t>This is the same for ANY gas at STP  </a:t>
            </a:r>
            <a:r>
              <a:rPr b="1" lang="en-US" sz="3200">
                <a:solidFill>
                  <a:srgbClr val="FFFF00"/>
                </a:solidFill>
                <a:latin typeface="Arial"/>
                <a:ea typeface="Arial"/>
                <a:cs typeface="Arial"/>
                <a:sym typeface="Arial"/>
              </a:rPr>
              <a:t>22.4 L</a:t>
            </a:r>
            <a:endParaRPr b="1">
              <a:solidFill>
                <a:srgbClr val="FFFF00"/>
              </a:solidFill>
              <a:latin typeface="Arial"/>
              <a:ea typeface="Arial"/>
              <a:cs typeface="Arial"/>
              <a:sym typeface="Arial"/>
            </a:endParaRPr>
          </a:p>
          <a:p>
            <a:pPr indent="0" lvl="1" marL="400050" rtl="0" algn="l">
              <a:spcBef>
                <a:spcPts val="640"/>
              </a:spcBef>
              <a:spcAft>
                <a:spcPts val="0"/>
              </a:spcAft>
              <a:buClr>
                <a:schemeClr val="lt1"/>
              </a:buClr>
              <a:buSzPts val="2800"/>
              <a:buNone/>
            </a:pPr>
            <a:r>
              <a:rPr b="1" lang="en-US">
                <a:solidFill>
                  <a:schemeClr val="lt1"/>
                </a:solidFill>
                <a:latin typeface="Arial"/>
                <a:ea typeface="Arial"/>
                <a:cs typeface="Arial"/>
                <a:sym typeface="Arial"/>
              </a:rPr>
              <a:t>At SATP, the molar volume of any gas is </a:t>
            </a:r>
            <a:r>
              <a:rPr b="1" lang="en-US" sz="3200">
                <a:solidFill>
                  <a:srgbClr val="FFFF00"/>
                </a:solidFill>
                <a:latin typeface="Arial"/>
                <a:ea typeface="Arial"/>
                <a:cs typeface="Arial"/>
                <a:sym typeface="Arial"/>
              </a:rPr>
              <a:t>24.8 L</a:t>
            </a:r>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560"/>
              </a:spcBef>
              <a:spcAft>
                <a:spcPts val="0"/>
              </a:spcAft>
              <a:buClr>
                <a:schemeClr val="lt1"/>
              </a:buClr>
              <a:buSzPts val="2800"/>
              <a:buFont typeface="Arial"/>
              <a:buNone/>
            </a:pPr>
            <a:r>
              <a:rPr b="1" i="1" lang="en-US" sz="2800">
                <a:solidFill>
                  <a:schemeClr val="lt1"/>
                </a:solidFill>
                <a:latin typeface="Arial"/>
                <a:ea typeface="Arial"/>
                <a:cs typeface="Arial"/>
                <a:sym typeface="Arial"/>
              </a:rPr>
              <a:t>HW: 	p.477 #1,3 &amp; 4</a:t>
            </a:r>
            <a:endParaRPr/>
          </a:p>
          <a:p>
            <a:pPr indent="0" lvl="0" marL="0" rtl="0" algn="l">
              <a:spcBef>
                <a:spcPts val="560"/>
              </a:spcBef>
              <a:spcAft>
                <a:spcPts val="0"/>
              </a:spcAft>
              <a:buClr>
                <a:schemeClr val="lt1"/>
              </a:buClr>
              <a:buSzPts val="2800"/>
              <a:buFont typeface="Arial"/>
              <a:buNone/>
            </a:pPr>
            <a:r>
              <a:rPr b="1" i="1" lang="en-US" sz="2800">
                <a:solidFill>
                  <a:schemeClr val="lt1"/>
                </a:solidFill>
                <a:latin typeface="Arial"/>
                <a:ea typeface="Arial"/>
                <a:cs typeface="Arial"/>
                <a:sym typeface="Arial"/>
              </a:rPr>
              <a:t>	p.482 #5,6,6,10</a:t>
            </a:r>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dk1"/>
              </a:buClr>
              <a:buSzPts val="2400"/>
              <a:buFont typeface="Arial"/>
              <a:buNone/>
            </a:pPr>
            <a:r>
              <a:t/>
            </a:r>
            <a:endParaRPr sz="2400">
              <a:solidFill>
                <a:schemeClr val="lt1"/>
              </a:solidFill>
              <a:latin typeface="Arial"/>
              <a:ea typeface="Arial"/>
              <a:cs typeface="Arial"/>
              <a:sym typeface="Arial"/>
            </a:endParaRPr>
          </a:p>
          <a:p>
            <a:pPr indent="0" lvl="0" marL="0" rtl="0" algn="l">
              <a:spcBef>
                <a:spcPts val="480"/>
              </a:spcBef>
              <a:spcAft>
                <a:spcPts val="0"/>
              </a:spcAft>
              <a:buClr>
                <a:schemeClr val="lt1"/>
              </a:buClr>
              <a:buSzPts val="2400"/>
              <a:buFont typeface="Arial"/>
              <a:buNone/>
            </a:pPr>
            <a:r>
              <a:rPr lang="en-US" sz="2400">
                <a:solidFill>
                  <a:schemeClr val="lt1"/>
                </a:solidFill>
                <a:latin typeface="Arial"/>
                <a:ea typeface="Arial"/>
                <a:cs typeface="Arial"/>
                <a:sym typeface="Arial"/>
              </a:rPr>
              <a:t>		</a:t>
            </a:r>
            <a:endParaRPr sz="2400">
              <a:solidFill>
                <a:schemeClr val="lt1"/>
              </a:solidFill>
              <a:latin typeface="Arial"/>
              <a:ea typeface="Arial"/>
              <a:cs typeface="Arial"/>
              <a:sym typeface="Arial"/>
            </a:endParaRPr>
          </a:p>
        </p:txBody>
      </p:sp>
      <p:sp>
        <p:nvSpPr>
          <p:cNvPr id="286" name="Google Shape;286;p30"/>
          <p:cNvSpPr txBox="1"/>
          <p:nvPr/>
        </p:nvSpPr>
        <p:spPr>
          <a:xfrm>
            <a:off x="4500563" y="3141663"/>
            <a:ext cx="1841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equation-avogadro" id="287" name="Google Shape;287;p30"/>
          <p:cNvPicPr preferRelativeResize="0"/>
          <p:nvPr/>
        </p:nvPicPr>
        <p:blipFill rotWithShape="1">
          <a:blip r:embed="rId3">
            <a:alphaModFix/>
          </a:blip>
          <a:srcRect b="0" l="0" r="0" t="0"/>
          <a:stretch/>
        </p:blipFill>
        <p:spPr>
          <a:xfrm>
            <a:off x="6660232" y="5157192"/>
            <a:ext cx="1656984" cy="1440160"/>
          </a:xfrm>
          <a:prstGeom prst="rect">
            <a:avLst/>
          </a:prstGeom>
          <a:solidFill>
            <a:schemeClr val="lt1"/>
          </a:solidFill>
          <a:ln cap="flat" cmpd="sng" w="63500">
            <a:solidFill>
              <a:srgbClr val="FFFF00"/>
            </a:solidFill>
            <a:prstDash val="solid"/>
            <a:miter lim="800000"/>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822"/>
                                        <p:tgtEl>
                                          <p:spTgt spid="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0" st="0"/>
                                            </p:txEl>
                                          </p:spTgt>
                                        </p:tgtEl>
                                        <p:attrNameLst>
                                          <p:attrName>style.visibility</p:attrName>
                                        </p:attrNameLst>
                                      </p:cBhvr>
                                      <p:to>
                                        <p:strVal val="visible"/>
                                      </p:to>
                                    </p:set>
                                    <p:animEffect filter="fade" transition="in">
                                      <p:cBhvr>
                                        <p:cTn dur="500"/>
                                        <p:tgtEl>
                                          <p:spTgt spid="2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1" st="1"/>
                                            </p:txEl>
                                          </p:spTgt>
                                        </p:tgtEl>
                                        <p:attrNameLst>
                                          <p:attrName>style.visibility</p:attrName>
                                        </p:attrNameLst>
                                      </p:cBhvr>
                                      <p:to>
                                        <p:strVal val="visible"/>
                                      </p:to>
                                    </p:set>
                                    <p:animEffect filter="fade" transition="in">
                                      <p:cBhvr>
                                        <p:cTn dur="500"/>
                                        <p:tgtEl>
                                          <p:spTgt spid="2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2" st="2"/>
                                            </p:txEl>
                                          </p:spTgt>
                                        </p:tgtEl>
                                        <p:attrNameLst>
                                          <p:attrName>style.visibility</p:attrName>
                                        </p:attrNameLst>
                                      </p:cBhvr>
                                      <p:to>
                                        <p:strVal val="visible"/>
                                      </p:to>
                                    </p:set>
                                    <p:animEffect filter="fade" transition="in">
                                      <p:cBhvr>
                                        <p:cTn dur="500"/>
                                        <p:tgtEl>
                                          <p:spTgt spid="28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3" st="3"/>
                                            </p:txEl>
                                          </p:spTgt>
                                        </p:tgtEl>
                                        <p:attrNameLst>
                                          <p:attrName>style.visibility</p:attrName>
                                        </p:attrNameLst>
                                      </p:cBhvr>
                                      <p:to>
                                        <p:strVal val="visible"/>
                                      </p:to>
                                    </p:set>
                                    <p:animEffect filter="fade" transition="in">
                                      <p:cBhvr>
                                        <p:cTn dur="500"/>
                                        <p:tgtEl>
                                          <p:spTgt spid="28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4" st="4"/>
                                            </p:txEl>
                                          </p:spTgt>
                                        </p:tgtEl>
                                        <p:attrNameLst>
                                          <p:attrName>style.visibility</p:attrName>
                                        </p:attrNameLst>
                                      </p:cBhvr>
                                      <p:to>
                                        <p:strVal val="visible"/>
                                      </p:to>
                                    </p:set>
                                    <p:animEffect filter="fade" transition="in">
                                      <p:cBhvr>
                                        <p:cTn dur="500"/>
                                        <p:tgtEl>
                                          <p:spTgt spid="28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5" st="5"/>
                                            </p:txEl>
                                          </p:spTgt>
                                        </p:tgtEl>
                                        <p:attrNameLst>
                                          <p:attrName>style.visibility</p:attrName>
                                        </p:attrNameLst>
                                      </p:cBhvr>
                                      <p:to>
                                        <p:strVal val="visible"/>
                                      </p:to>
                                    </p:set>
                                    <p:animEffect filter="fade" transition="in">
                                      <p:cBhvr>
                                        <p:cTn dur="500"/>
                                        <p:tgtEl>
                                          <p:spTgt spid="28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6" st="6"/>
                                            </p:txEl>
                                          </p:spTgt>
                                        </p:tgtEl>
                                        <p:attrNameLst>
                                          <p:attrName>style.visibility</p:attrName>
                                        </p:attrNameLst>
                                      </p:cBhvr>
                                      <p:to>
                                        <p:strVal val="visible"/>
                                      </p:to>
                                    </p:set>
                                    <p:animEffect filter="fade" transition="in">
                                      <p:cBhvr>
                                        <p:cTn dur="500"/>
                                        <p:tgtEl>
                                          <p:spTgt spid="28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7" st="7"/>
                                            </p:txEl>
                                          </p:spTgt>
                                        </p:tgtEl>
                                        <p:attrNameLst>
                                          <p:attrName>style.visibility</p:attrName>
                                        </p:attrNameLst>
                                      </p:cBhvr>
                                      <p:to>
                                        <p:strVal val="visible"/>
                                      </p:to>
                                    </p:set>
                                    <p:animEffect filter="fade" transition="in">
                                      <p:cBhvr>
                                        <p:cTn dur="500"/>
                                        <p:tgtEl>
                                          <p:spTgt spid="28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8" st="8"/>
                                            </p:txEl>
                                          </p:spTgt>
                                        </p:tgtEl>
                                        <p:attrNameLst>
                                          <p:attrName>style.visibility</p:attrName>
                                        </p:attrNameLst>
                                      </p:cBhvr>
                                      <p:to>
                                        <p:strVal val="visible"/>
                                      </p:to>
                                    </p:set>
                                    <p:animEffect filter="fade" transition="in">
                                      <p:cBhvr>
                                        <p:cTn dur="500"/>
                                        <p:tgtEl>
                                          <p:spTgt spid="28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9" st="9"/>
                                            </p:txEl>
                                          </p:spTgt>
                                        </p:tgtEl>
                                        <p:attrNameLst>
                                          <p:attrName>style.visibility</p:attrName>
                                        </p:attrNameLst>
                                      </p:cBhvr>
                                      <p:to>
                                        <p:strVal val="visible"/>
                                      </p:to>
                                    </p:set>
                                    <p:animEffect filter="fade" transition="in">
                                      <p:cBhvr>
                                        <p:cTn dur="500"/>
                                        <p:tgtEl>
                                          <p:spTgt spid="28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10" st="10"/>
                                            </p:txEl>
                                          </p:spTgt>
                                        </p:tgtEl>
                                        <p:attrNameLst>
                                          <p:attrName>style.visibility</p:attrName>
                                        </p:attrNameLst>
                                      </p:cBhvr>
                                      <p:to>
                                        <p:strVal val="visible"/>
                                      </p:to>
                                    </p:set>
                                    <p:animEffect filter="fade" transition="in">
                                      <p:cBhvr>
                                        <p:cTn dur="500"/>
                                        <p:tgtEl>
                                          <p:spTgt spid="28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11" st="11"/>
                                            </p:txEl>
                                          </p:spTgt>
                                        </p:tgtEl>
                                        <p:attrNameLst>
                                          <p:attrName>style.visibility</p:attrName>
                                        </p:attrNameLst>
                                      </p:cBhvr>
                                      <p:to>
                                        <p:strVal val="visible"/>
                                      </p:to>
                                    </p:set>
                                    <p:animEffect filter="fade" transition="in">
                                      <p:cBhvr>
                                        <p:cTn dur="500"/>
                                        <p:tgtEl>
                                          <p:spTgt spid="285">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93" name="Google Shape;293;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pic>
        <p:nvPicPr>
          <p:cNvPr descr="gfgg-gif" id="294" name="Google Shape;294;p31"/>
          <p:cNvPicPr preferRelativeResize="0"/>
          <p:nvPr/>
        </p:nvPicPr>
        <p:blipFill rotWithShape="1">
          <a:blip r:embed="rId3">
            <a:alphaModFix/>
          </a:blip>
          <a:srcRect b="0" l="0" r="0" t="0"/>
          <a:stretch/>
        </p:blipFill>
        <p:spPr>
          <a:xfrm>
            <a:off x="611188" y="333374"/>
            <a:ext cx="7562588" cy="424775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Gay-Lussac’s Law</a:t>
            </a:r>
            <a:endParaRPr/>
          </a:p>
        </p:txBody>
      </p:sp>
      <p:sp>
        <p:nvSpPr>
          <p:cNvPr id="300" name="Google Shape;300;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pic>
        <p:nvPicPr>
          <p:cNvPr descr="avogadrohypo" id="301" name="Google Shape;301;p32"/>
          <p:cNvPicPr preferRelativeResize="0"/>
          <p:nvPr/>
        </p:nvPicPr>
        <p:blipFill rotWithShape="1">
          <a:blip r:embed="rId3">
            <a:alphaModFix/>
          </a:blip>
          <a:srcRect b="0" l="0" r="0" t="0"/>
          <a:stretch/>
        </p:blipFill>
        <p:spPr>
          <a:xfrm>
            <a:off x="684213" y="0"/>
            <a:ext cx="7561262" cy="68484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000">
                <a:solidFill>
                  <a:srgbClr val="FFFF00"/>
                </a:solidFill>
              </a:rPr>
              <a:t>What if we consider Avagadro’s law too…</a:t>
            </a:r>
            <a:endParaRPr/>
          </a:p>
        </p:txBody>
      </p:sp>
      <p:graphicFrame>
        <p:nvGraphicFramePr>
          <p:cNvPr id="307" name="Google Shape;307;p33"/>
          <p:cNvGraphicFramePr/>
          <p:nvPr/>
        </p:nvGraphicFramePr>
        <p:xfrm>
          <a:off x="457200" y="2155825"/>
          <a:ext cx="8229600" cy="3413125"/>
        </p:xfrm>
        <a:graphic>
          <a:graphicData uri="http://schemas.openxmlformats.org/presentationml/2006/ole">
            <mc:AlternateContent>
              <mc:Choice Requires="v">
                <p:oleObj r:id="rId4" imgH="3413125" imgW="8229600" progId="Paint.Picture" spid="_x0000_s1">
                  <p:embed/>
                </p:oleObj>
              </mc:Choice>
              <mc:Fallback>
                <p:oleObj r:id="rId5" imgH="3413125" imgW="8229600" progId="Paint.Picture">
                  <p:embed/>
                  <p:pic>
                    <p:nvPicPr>
                      <p:cNvPr id="307" name="Google Shape;307;p33"/>
                      <p:cNvPicPr preferRelativeResize="0"/>
                      <p:nvPr/>
                    </p:nvPicPr>
                    <p:blipFill rotWithShape="1">
                      <a:blip r:embed="rId6">
                        <a:alphaModFix/>
                      </a:blip>
                      <a:srcRect b="0" l="0" r="0" t="0"/>
                      <a:stretch/>
                    </p:blipFill>
                    <p:spPr>
                      <a:xfrm>
                        <a:off x="457200" y="2155825"/>
                        <a:ext cx="8229600" cy="3413125"/>
                      </a:xfrm>
                      <a:prstGeom prst="rect">
                        <a:avLst/>
                      </a:prstGeom>
                      <a:noFill/>
                      <a:ln cap="flat" cmpd="sng" w="92075">
                        <a:solidFill>
                          <a:srgbClr val="00FFFF"/>
                        </a:solidFill>
                        <a:prstDash val="solid"/>
                        <a:miter lim="800000"/>
                        <a:headEnd len="sm" w="sm" type="none"/>
                        <a:tailEnd len="sm" w="sm" type="none"/>
                      </a:ln>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4"/>
          <p:cNvSpPr txBox="1"/>
          <p:nvPr>
            <p:ph type="title"/>
          </p:nvPr>
        </p:nvSpPr>
        <p:spPr>
          <a:xfrm>
            <a:off x="467544" y="188640"/>
            <a:ext cx="8229600" cy="63408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66FFFF"/>
                </a:solidFill>
              </a:rPr>
              <a:t>Ideal Gas Law</a:t>
            </a:r>
            <a:endParaRPr b="1" sz="4800" u="sng">
              <a:solidFill>
                <a:srgbClr val="66FFFF"/>
              </a:solidFill>
            </a:endParaRPr>
          </a:p>
        </p:txBody>
      </p:sp>
      <p:sp>
        <p:nvSpPr>
          <p:cNvPr id="313" name="Google Shape;313;p34"/>
          <p:cNvSpPr txBox="1"/>
          <p:nvPr>
            <p:ph idx="1" type="body"/>
          </p:nvPr>
        </p:nvSpPr>
        <p:spPr>
          <a:xfrm>
            <a:off x="457200" y="980728"/>
            <a:ext cx="8229600" cy="547260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3200"/>
              <a:buNone/>
            </a:pPr>
            <a:r>
              <a:rPr lang="en-US">
                <a:solidFill>
                  <a:schemeClr val="lt1"/>
                </a:solidFill>
              </a:rPr>
              <a:t>How did we get there??</a:t>
            </a:r>
            <a:endParaRPr/>
          </a:p>
          <a:p>
            <a:pPr indent="-342900" lvl="0" marL="342900" rtl="0" algn="l">
              <a:spcBef>
                <a:spcPts val="640"/>
              </a:spcBef>
              <a:spcAft>
                <a:spcPts val="0"/>
              </a:spcAft>
              <a:buClr>
                <a:schemeClr val="lt1"/>
              </a:buClr>
              <a:buSzPts val="3200"/>
              <a:buChar char="•"/>
            </a:pPr>
            <a:r>
              <a:rPr lang="en-US">
                <a:solidFill>
                  <a:schemeClr val="lt1"/>
                </a:solidFill>
              </a:rPr>
              <a:t>Recall: (for constant T &amp; P)</a:t>
            </a:r>
            <a:endParaRPr/>
          </a:p>
          <a:p>
            <a:pPr indent="-342900" lvl="0" marL="342900" rtl="0" algn="l">
              <a:spcBef>
                <a:spcPts val="640"/>
              </a:spcBef>
              <a:spcAft>
                <a:spcPts val="0"/>
              </a:spcAft>
              <a:buClr>
                <a:schemeClr val="lt1"/>
              </a:buClr>
              <a:buSzPts val="3200"/>
              <a:buChar char="•"/>
            </a:pPr>
            <a:r>
              <a:rPr lang="en-US">
                <a:solidFill>
                  <a:schemeClr val="lt1"/>
                </a:solidFill>
              </a:rPr>
              <a:t>And (for a fixed amount of gas)</a:t>
            </a:r>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a:p>
            <a:pPr indent="-342900" lvl="0" marL="342900" rtl="0" algn="l">
              <a:spcBef>
                <a:spcPts val="640"/>
              </a:spcBef>
              <a:spcAft>
                <a:spcPts val="0"/>
              </a:spcAft>
              <a:buClr>
                <a:schemeClr val="lt1"/>
              </a:buClr>
              <a:buSzPts val="3200"/>
              <a:buChar char="•"/>
            </a:pPr>
            <a:r>
              <a:rPr lang="en-US">
                <a:solidFill>
                  <a:schemeClr val="lt1"/>
                </a:solidFill>
              </a:rPr>
              <a:t>Therefore</a:t>
            </a:r>
            <a:endParaRPr/>
          </a:p>
          <a:p>
            <a:pPr indent="-139700" lvl="0" marL="342900" rtl="0" algn="l">
              <a:spcBef>
                <a:spcPts val="640"/>
              </a:spcBef>
              <a:spcAft>
                <a:spcPts val="0"/>
              </a:spcAft>
              <a:buClr>
                <a:schemeClr val="dk1"/>
              </a:buClr>
              <a:buSzPts val="3200"/>
              <a:buNone/>
            </a:pPr>
            <a:r>
              <a:t/>
            </a:r>
            <a:endParaRPr>
              <a:solidFill>
                <a:schemeClr val="lt1"/>
              </a:solidFill>
            </a:endParaRPr>
          </a:p>
          <a:p>
            <a:pPr indent="-342900" lvl="0" marL="342900" rtl="0" algn="l">
              <a:spcBef>
                <a:spcPts val="640"/>
              </a:spcBef>
              <a:spcAft>
                <a:spcPts val="0"/>
              </a:spcAft>
              <a:buClr>
                <a:schemeClr val="lt1"/>
              </a:buClr>
              <a:buSzPts val="3200"/>
              <a:buChar char="•"/>
            </a:pPr>
            <a:r>
              <a:rPr lang="en-US">
                <a:solidFill>
                  <a:schemeClr val="lt1"/>
                </a:solidFill>
              </a:rPr>
              <a:t>This means </a:t>
            </a:r>
            <a:endParaRPr/>
          </a:p>
          <a:p>
            <a:pPr indent="0" lvl="0" marL="0" rtl="0" algn="l">
              <a:spcBef>
                <a:spcPts val="400"/>
              </a:spcBef>
              <a:spcAft>
                <a:spcPts val="0"/>
              </a:spcAft>
              <a:buClr>
                <a:schemeClr val="lt1"/>
              </a:buClr>
              <a:buSzPts val="2000"/>
              <a:buNone/>
            </a:pPr>
            <a:r>
              <a:rPr lang="en-US" sz="2000">
                <a:solidFill>
                  <a:schemeClr val="lt1"/>
                </a:solidFill>
              </a:rPr>
              <a:t>	</a:t>
            </a:r>
            <a:endParaRPr/>
          </a:p>
          <a:p>
            <a:pPr indent="0" lvl="2" marL="857250" rtl="0" algn="l">
              <a:spcBef>
                <a:spcPts val="640"/>
              </a:spcBef>
              <a:spcAft>
                <a:spcPts val="0"/>
              </a:spcAft>
              <a:buClr>
                <a:schemeClr val="lt1"/>
              </a:buClr>
              <a:buSzPts val="3200"/>
              <a:buNone/>
            </a:pPr>
            <a:r>
              <a:rPr lang="en-US" sz="3200">
                <a:solidFill>
                  <a:schemeClr val="lt1"/>
                </a:solidFill>
              </a:rPr>
              <a:t>Where: </a:t>
            </a:r>
            <a:r>
              <a:rPr b="1" lang="en-US" sz="3200">
                <a:solidFill>
                  <a:srgbClr val="FFFF00"/>
                </a:solidFill>
              </a:rPr>
              <a:t>R = Universal Gas Law Constant</a:t>
            </a:r>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p:txBody>
      </p:sp>
      <p:pic>
        <p:nvPicPr>
          <p:cNvPr id="314" name="Google Shape;314;p34"/>
          <p:cNvPicPr preferRelativeResize="0"/>
          <p:nvPr/>
        </p:nvPicPr>
        <p:blipFill rotWithShape="1">
          <a:blip r:embed="rId3">
            <a:alphaModFix/>
          </a:blip>
          <a:srcRect b="0" l="0" r="0" t="0"/>
          <a:stretch/>
        </p:blipFill>
        <p:spPr>
          <a:xfrm>
            <a:off x="5436096" y="1052736"/>
            <a:ext cx="1342777" cy="1180635"/>
          </a:xfrm>
          <a:prstGeom prst="rect">
            <a:avLst/>
          </a:prstGeom>
          <a:noFill/>
          <a:ln>
            <a:noFill/>
          </a:ln>
        </p:spPr>
      </p:pic>
      <p:pic>
        <p:nvPicPr>
          <p:cNvPr id="315" name="Google Shape;315;p34"/>
          <p:cNvPicPr preferRelativeResize="0"/>
          <p:nvPr/>
        </p:nvPicPr>
        <p:blipFill rotWithShape="1">
          <a:blip r:embed="rId4">
            <a:alphaModFix/>
          </a:blip>
          <a:srcRect b="0" l="0" r="0" t="0"/>
          <a:stretch/>
        </p:blipFill>
        <p:spPr>
          <a:xfrm>
            <a:off x="1907703" y="2749087"/>
            <a:ext cx="2066925" cy="854075"/>
          </a:xfrm>
          <a:prstGeom prst="rect">
            <a:avLst/>
          </a:prstGeom>
          <a:noFill/>
          <a:ln>
            <a:noFill/>
          </a:ln>
        </p:spPr>
      </p:pic>
      <p:pic>
        <p:nvPicPr>
          <p:cNvPr id="316" name="Google Shape;316;p34"/>
          <p:cNvPicPr preferRelativeResize="0"/>
          <p:nvPr/>
        </p:nvPicPr>
        <p:blipFill rotWithShape="1">
          <a:blip r:embed="rId5">
            <a:alphaModFix/>
          </a:blip>
          <a:srcRect b="0" l="0" r="0" t="0"/>
          <a:stretch/>
        </p:blipFill>
        <p:spPr>
          <a:xfrm>
            <a:off x="2811083" y="3717032"/>
            <a:ext cx="2327090" cy="936104"/>
          </a:xfrm>
          <a:prstGeom prst="rect">
            <a:avLst/>
          </a:prstGeom>
          <a:noFill/>
          <a:ln cap="flat" cmpd="sng" w="63500">
            <a:solidFill>
              <a:srgbClr val="FFFF00"/>
            </a:solidFill>
            <a:prstDash val="solid"/>
            <a:miter lim="800000"/>
            <a:headEnd len="sm" w="sm" type="none"/>
            <a:tailEnd len="sm" w="sm" type="none"/>
          </a:ln>
        </p:spPr>
      </p:pic>
      <p:pic>
        <p:nvPicPr>
          <p:cNvPr id="317" name="Google Shape;317;p34"/>
          <p:cNvPicPr preferRelativeResize="0"/>
          <p:nvPr/>
        </p:nvPicPr>
        <p:blipFill rotWithShape="1">
          <a:blip r:embed="rId6">
            <a:alphaModFix/>
          </a:blip>
          <a:srcRect b="0" l="0" r="0" t="0"/>
          <a:stretch/>
        </p:blipFill>
        <p:spPr>
          <a:xfrm>
            <a:off x="3059832" y="4869160"/>
            <a:ext cx="1513856" cy="936104"/>
          </a:xfrm>
          <a:prstGeom prst="rect">
            <a:avLst/>
          </a:prstGeom>
          <a:noFill/>
          <a:ln cap="flat" cmpd="sng" w="66675">
            <a:solidFill>
              <a:srgbClr val="FFFF00"/>
            </a:solidFill>
            <a:prstDash val="solid"/>
            <a:miter lim="800000"/>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animEffect filter="fade" transition="in">
                                      <p:cBhvr>
                                        <p:cTn dur="500"/>
                                        <p:tgtEl>
                                          <p:spTgt spid="3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animEffect filter="fade" transition="in">
                                      <p:cBhvr>
                                        <p:cTn dur="500"/>
                                        <p:tgtEl>
                                          <p:spTgt spid="3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2" st="2"/>
                                            </p:txEl>
                                          </p:spTgt>
                                        </p:tgtEl>
                                        <p:attrNameLst>
                                          <p:attrName>style.visibility</p:attrName>
                                        </p:attrNameLst>
                                      </p:cBhvr>
                                      <p:to>
                                        <p:strVal val="visible"/>
                                      </p:to>
                                    </p:set>
                                    <p:animEffect filter="fade" transition="in">
                                      <p:cBhvr>
                                        <p:cTn dur="500"/>
                                        <p:tgtEl>
                                          <p:spTgt spid="3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3" st="3"/>
                                            </p:txEl>
                                          </p:spTgt>
                                        </p:tgtEl>
                                        <p:attrNameLst>
                                          <p:attrName>style.visibility</p:attrName>
                                        </p:attrNameLst>
                                      </p:cBhvr>
                                      <p:to>
                                        <p:strVal val="visible"/>
                                      </p:to>
                                    </p:set>
                                    <p:animEffect filter="fade" transition="in">
                                      <p:cBhvr>
                                        <p:cTn dur="500"/>
                                        <p:tgtEl>
                                          <p:spTgt spid="3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4" st="4"/>
                                            </p:txEl>
                                          </p:spTgt>
                                        </p:tgtEl>
                                        <p:attrNameLst>
                                          <p:attrName>style.visibility</p:attrName>
                                        </p:attrNameLst>
                                      </p:cBhvr>
                                      <p:to>
                                        <p:strVal val="visible"/>
                                      </p:to>
                                    </p:set>
                                    <p:animEffect filter="fade" transition="in">
                                      <p:cBhvr>
                                        <p:cTn dur="500"/>
                                        <p:tgtEl>
                                          <p:spTgt spid="3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5" st="5"/>
                                            </p:txEl>
                                          </p:spTgt>
                                        </p:tgtEl>
                                        <p:attrNameLst>
                                          <p:attrName>style.visibility</p:attrName>
                                        </p:attrNameLst>
                                      </p:cBhvr>
                                      <p:to>
                                        <p:strVal val="visible"/>
                                      </p:to>
                                    </p:set>
                                    <p:animEffect filter="fade" transition="in">
                                      <p:cBhvr>
                                        <p:cTn dur="500"/>
                                        <p:tgtEl>
                                          <p:spTgt spid="3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6" st="6"/>
                                            </p:txEl>
                                          </p:spTgt>
                                        </p:tgtEl>
                                        <p:attrNameLst>
                                          <p:attrName>style.visibility</p:attrName>
                                        </p:attrNameLst>
                                      </p:cBhvr>
                                      <p:to>
                                        <p:strVal val="visible"/>
                                      </p:to>
                                    </p:set>
                                    <p:animEffect filter="fade" transition="in">
                                      <p:cBhvr>
                                        <p:cTn dur="500"/>
                                        <p:tgtEl>
                                          <p:spTgt spid="31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7" st="7"/>
                                            </p:txEl>
                                          </p:spTgt>
                                        </p:tgtEl>
                                        <p:attrNameLst>
                                          <p:attrName>style.visibility</p:attrName>
                                        </p:attrNameLst>
                                      </p:cBhvr>
                                      <p:to>
                                        <p:strVal val="visible"/>
                                      </p:to>
                                    </p:set>
                                    <p:animEffect filter="fade" transition="in">
                                      <p:cBhvr>
                                        <p:cTn dur="500"/>
                                        <p:tgtEl>
                                          <p:spTgt spid="31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8" st="8"/>
                                            </p:txEl>
                                          </p:spTgt>
                                        </p:tgtEl>
                                        <p:attrNameLst>
                                          <p:attrName>style.visibility</p:attrName>
                                        </p:attrNameLst>
                                      </p:cBhvr>
                                      <p:to>
                                        <p:strVal val="visible"/>
                                      </p:to>
                                    </p:set>
                                    <p:animEffect filter="fade" transition="in">
                                      <p:cBhvr>
                                        <p:cTn dur="500"/>
                                        <p:tgtEl>
                                          <p:spTgt spid="31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9" st="9"/>
                                            </p:txEl>
                                          </p:spTgt>
                                        </p:tgtEl>
                                        <p:attrNameLst>
                                          <p:attrName>style.visibility</p:attrName>
                                        </p:attrNameLst>
                                      </p:cBhvr>
                                      <p:to>
                                        <p:strVal val="visible"/>
                                      </p:to>
                                    </p:set>
                                    <p:animEffect filter="fade" transition="in">
                                      <p:cBhvr>
                                        <p:cTn dur="500"/>
                                        <p:tgtEl>
                                          <p:spTgt spid="31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10" st="10"/>
                                            </p:txEl>
                                          </p:spTgt>
                                        </p:tgtEl>
                                        <p:attrNameLst>
                                          <p:attrName>style.visibility</p:attrName>
                                        </p:attrNameLst>
                                      </p:cBhvr>
                                      <p:to>
                                        <p:strVal val="visible"/>
                                      </p:to>
                                    </p:set>
                                    <p:animEffect filter="fade" transition="in">
                                      <p:cBhvr>
                                        <p:cTn dur="500"/>
                                        <p:tgtEl>
                                          <p:spTgt spid="31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11" st="11"/>
                                            </p:txEl>
                                          </p:spTgt>
                                        </p:tgtEl>
                                        <p:attrNameLst>
                                          <p:attrName>style.visibility</p:attrName>
                                        </p:attrNameLst>
                                      </p:cBhvr>
                                      <p:to>
                                        <p:strVal val="visible"/>
                                      </p:to>
                                    </p:set>
                                    <p:animEffect filter="fade" transition="in">
                                      <p:cBhvr>
                                        <p:cTn dur="500"/>
                                        <p:tgtEl>
                                          <p:spTgt spid="31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14"/>
                                        </p:tgtEl>
                                        <p:attrNameLst>
                                          <p:attrName>style.visibility</p:attrName>
                                        </p:attrNameLst>
                                      </p:cBhvr>
                                      <p:to>
                                        <p:strVal val="visible"/>
                                      </p:to>
                                    </p:set>
                                    <p:anim calcmode="lin" valueType="num">
                                      <p:cBhvr additive="base">
                                        <p:cTn dur="500"/>
                                        <p:tgtEl>
                                          <p:spTgt spid="31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15"/>
                                        </p:tgtEl>
                                        <p:attrNameLst>
                                          <p:attrName>style.visibility</p:attrName>
                                        </p:attrNameLst>
                                      </p:cBhvr>
                                      <p:to>
                                        <p:strVal val="visible"/>
                                      </p:to>
                                    </p:set>
                                    <p:anim calcmode="lin" valueType="num">
                                      <p:cBhvr additive="base">
                                        <p:cTn dur="500"/>
                                        <p:tgtEl>
                                          <p:spTgt spid="31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16"/>
                                        </p:tgtEl>
                                        <p:attrNameLst>
                                          <p:attrName>style.visibility</p:attrName>
                                        </p:attrNameLst>
                                      </p:cBhvr>
                                      <p:to>
                                        <p:strVal val="visible"/>
                                      </p:to>
                                    </p:set>
                                    <p:anim calcmode="lin" valueType="num">
                                      <p:cBhvr additive="base">
                                        <p:cTn dur="500"/>
                                        <p:tgtEl>
                                          <p:spTgt spid="31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17"/>
                                        </p:tgtEl>
                                        <p:attrNameLst>
                                          <p:attrName>style.visibility</p:attrName>
                                        </p:attrNameLst>
                                      </p:cBhvr>
                                      <p:to>
                                        <p:strVal val="visible"/>
                                      </p:to>
                                    </p:set>
                                    <p:anim calcmode="lin" valueType="num">
                                      <p:cBhvr additive="base">
                                        <p:cTn dur="500"/>
                                        <p:tgtEl>
                                          <p:spTgt spid="31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5"/>
          <p:cNvSpPr txBox="1"/>
          <p:nvPr>
            <p:ph type="title"/>
          </p:nvPr>
        </p:nvSpPr>
        <p:spPr>
          <a:xfrm>
            <a:off x="467544" y="188640"/>
            <a:ext cx="8229600" cy="43204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66FFFF"/>
                </a:solidFill>
              </a:rPr>
              <a:t>Ideal Gas Law</a:t>
            </a:r>
            <a:endParaRPr b="1" sz="4800" u="sng">
              <a:solidFill>
                <a:srgbClr val="66FFFF"/>
              </a:solidFill>
            </a:endParaRPr>
          </a:p>
        </p:txBody>
      </p:sp>
      <p:sp>
        <p:nvSpPr>
          <p:cNvPr id="323" name="Google Shape;323;p35"/>
          <p:cNvSpPr txBox="1"/>
          <p:nvPr>
            <p:ph idx="1" type="body"/>
          </p:nvPr>
        </p:nvSpPr>
        <p:spPr>
          <a:xfrm>
            <a:off x="457200" y="764704"/>
            <a:ext cx="8435280" cy="568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3200"/>
              <a:buNone/>
            </a:pPr>
            <a:r>
              <a:rPr lang="en-US">
                <a:solidFill>
                  <a:schemeClr val="lt1"/>
                </a:solidFill>
              </a:rPr>
              <a:t>The value of R can be calculated using one mole of a gas at STP:</a:t>
            </a:r>
            <a:endParaRPr/>
          </a:p>
          <a:p>
            <a:pPr indent="0" lvl="1" marL="400050" rtl="0" algn="l">
              <a:spcBef>
                <a:spcPts val="560"/>
              </a:spcBef>
              <a:spcAft>
                <a:spcPts val="0"/>
              </a:spcAft>
              <a:buClr>
                <a:schemeClr val="lt1"/>
              </a:buClr>
              <a:buSzPts val="2800"/>
              <a:buNone/>
            </a:pPr>
            <a:r>
              <a:rPr lang="en-US">
                <a:solidFill>
                  <a:schemeClr val="lt1"/>
                </a:solidFill>
              </a:rPr>
              <a:t>P = 101.3 kPa</a:t>
            </a:r>
            <a:endParaRPr>
              <a:solidFill>
                <a:schemeClr val="lt1"/>
              </a:solidFill>
            </a:endParaRPr>
          </a:p>
          <a:p>
            <a:pPr indent="0" lvl="1" marL="400050" rtl="0" algn="l">
              <a:spcBef>
                <a:spcPts val="560"/>
              </a:spcBef>
              <a:spcAft>
                <a:spcPts val="0"/>
              </a:spcAft>
              <a:buClr>
                <a:schemeClr val="lt1"/>
              </a:buClr>
              <a:buSzPts val="2800"/>
              <a:buNone/>
            </a:pPr>
            <a:r>
              <a:rPr lang="en-US">
                <a:solidFill>
                  <a:schemeClr val="lt1"/>
                </a:solidFill>
              </a:rPr>
              <a:t>V = 22.4 L</a:t>
            </a:r>
            <a:endParaRPr/>
          </a:p>
          <a:p>
            <a:pPr indent="0" lvl="1" marL="400050" rtl="0" algn="l">
              <a:spcBef>
                <a:spcPts val="560"/>
              </a:spcBef>
              <a:spcAft>
                <a:spcPts val="0"/>
              </a:spcAft>
              <a:buClr>
                <a:schemeClr val="lt1"/>
              </a:buClr>
              <a:buSzPts val="2800"/>
              <a:buNone/>
            </a:pPr>
            <a:r>
              <a:rPr lang="en-US">
                <a:solidFill>
                  <a:schemeClr val="lt1"/>
                </a:solidFill>
              </a:rPr>
              <a:t>T = 273 K</a:t>
            </a:r>
            <a:endParaRPr/>
          </a:p>
          <a:p>
            <a:pPr indent="0" lvl="1" marL="400050" rtl="0" algn="l">
              <a:spcBef>
                <a:spcPts val="560"/>
              </a:spcBef>
              <a:spcAft>
                <a:spcPts val="0"/>
              </a:spcAft>
              <a:buClr>
                <a:schemeClr val="lt1"/>
              </a:buClr>
              <a:buSzPts val="2800"/>
              <a:buNone/>
            </a:pPr>
            <a:r>
              <a:rPr lang="en-US">
                <a:solidFill>
                  <a:schemeClr val="lt1"/>
                </a:solidFill>
              </a:rPr>
              <a:t>n = 1.00 mol</a:t>
            </a:r>
            <a:endParaRPr>
              <a:solidFill>
                <a:schemeClr val="lt1"/>
              </a:solidFill>
            </a:endParaRPr>
          </a:p>
          <a:p>
            <a:pPr indent="0" lvl="0" marL="0" rtl="0" algn="l">
              <a:spcBef>
                <a:spcPts val="640"/>
              </a:spcBef>
              <a:spcAft>
                <a:spcPts val="0"/>
              </a:spcAft>
              <a:buClr>
                <a:schemeClr val="lt1"/>
              </a:buClr>
              <a:buSzPts val="3200"/>
              <a:buNone/>
            </a:pPr>
            <a:r>
              <a:rPr lang="en-US">
                <a:solidFill>
                  <a:schemeClr val="lt1"/>
                </a:solidFill>
              </a:rPr>
              <a:t>R can also be expressed in other units:</a:t>
            </a:r>
            <a:endParaRPr/>
          </a:p>
          <a:p>
            <a:pPr indent="0" lvl="0" marL="0" rtl="0" algn="l">
              <a:spcBef>
                <a:spcPts val="640"/>
              </a:spcBef>
              <a:spcAft>
                <a:spcPts val="0"/>
              </a:spcAft>
              <a:buClr>
                <a:schemeClr val="dk1"/>
              </a:buClr>
              <a:buSzPts val="3200"/>
              <a:buNone/>
            </a:pPr>
            <a:r>
              <a:t/>
            </a:r>
            <a:endParaRPr>
              <a:solidFill>
                <a:schemeClr val="lt1"/>
              </a:solidFill>
            </a:endParaRPr>
          </a:p>
          <a:p>
            <a:pPr indent="0" lvl="0" marL="0" rtl="0" algn="l">
              <a:spcBef>
                <a:spcPts val="210"/>
              </a:spcBef>
              <a:spcAft>
                <a:spcPts val="0"/>
              </a:spcAft>
              <a:buClr>
                <a:schemeClr val="dk1"/>
              </a:buClr>
              <a:buSzPts val="1050"/>
              <a:buNone/>
            </a:pPr>
            <a:r>
              <a:t/>
            </a:r>
            <a:endParaRPr sz="1050">
              <a:solidFill>
                <a:schemeClr val="lt1"/>
              </a:solidFill>
            </a:endParaRPr>
          </a:p>
          <a:p>
            <a:pPr indent="0" lvl="0" marL="0" rtl="0" algn="l">
              <a:spcBef>
                <a:spcPts val="640"/>
              </a:spcBef>
              <a:spcAft>
                <a:spcPts val="0"/>
              </a:spcAft>
              <a:buClr>
                <a:schemeClr val="lt1"/>
              </a:buClr>
              <a:buSzPts val="3200"/>
              <a:buNone/>
            </a:pPr>
            <a:r>
              <a:rPr lang="en-US">
                <a:solidFill>
                  <a:schemeClr val="lt1"/>
                </a:solidFill>
              </a:rPr>
              <a:t>The Ideal Gas Law Equation can be rearranged as:</a:t>
            </a:r>
            <a:endParaRPr/>
          </a:p>
          <a:p>
            <a:pPr indent="0" lvl="0" marL="0" rtl="0" algn="l">
              <a:spcBef>
                <a:spcPts val="640"/>
              </a:spcBef>
              <a:spcAft>
                <a:spcPts val="0"/>
              </a:spcAft>
              <a:buClr>
                <a:schemeClr val="dk1"/>
              </a:buClr>
              <a:buSzPts val="3200"/>
              <a:buNone/>
            </a:pPr>
            <a:r>
              <a:t/>
            </a:r>
            <a:endParaRPr>
              <a:solidFill>
                <a:schemeClr val="lt1"/>
              </a:solidFill>
            </a:endParaRPr>
          </a:p>
          <a:p>
            <a:pPr indent="0" lvl="0" marL="0" rtl="0" algn="l">
              <a:spcBef>
                <a:spcPts val="640"/>
              </a:spcBef>
              <a:spcAft>
                <a:spcPts val="0"/>
              </a:spcAft>
              <a:buClr>
                <a:schemeClr val="dk1"/>
              </a:buClr>
              <a:buSzPts val="3200"/>
              <a:buNone/>
            </a:pPr>
            <a:r>
              <a:t/>
            </a:r>
            <a:endParaRPr>
              <a:solidFill>
                <a:schemeClr val="lt1"/>
              </a:solidFill>
            </a:endParaRPr>
          </a:p>
          <a:p>
            <a:pPr indent="0" lvl="0" marL="0" rtl="0" algn="l">
              <a:spcBef>
                <a:spcPts val="640"/>
              </a:spcBef>
              <a:spcAft>
                <a:spcPts val="0"/>
              </a:spcAft>
              <a:buClr>
                <a:schemeClr val="dk1"/>
              </a:buClr>
              <a:buSzPts val="3200"/>
              <a:buNone/>
            </a:pPr>
            <a:r>
              <a:t/>
            </a:r>
            <a:endParaRPr>
              <a:solidFill>
                <a:schemeClr val="lt1"/>
              </a:solidFill>
            </a:endParaRPr>
          </a:p>
          <a:p>
            <a:pPr indent="0" lvl="0" marL="0" rtl="0" algn="l">
              <a:spcBef>
                <a:spcPts val="640"/>
              </a:spcBef>
              <a:spcAft>
                <a:spcPts val="0"/>
              </a:spcAft>
              <a:buClr>
                <a:schemeClr val="dk1"/>
              </a:buClr>
              <a:buSzPts val="3200"/>
              <a:buNone/>
            </a:pPr>
            <a:r>
              <a:t/>
            </a:r>
            <a:endParaRPr>
              <a:solidFill>
                <a:schemeClr val="lt1"/>
              </a:solidFill>
            </a:endParaRPr>
          </a:p>
          <a:p>
            <a:pPr indent="0" lvl="0" marL="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p:txBody>
      </p:sp>
      <p:pic>
        <p:nvPicPr>
          <p:cNvPr id="324" name="Google Shape;324;p35"/>
          <p:cNvPicPr preferRelativeResize="0"/>
          <p:nvPr/>
        </p:nvPicPr>
        <p:blipFill rotWithShape="1">
          <a:blip r:embed="rId3">
            <a:alphaModFix/>
          </a:blip>
          <a:srcRect b="0" l="0" r="0" t="0"/>
          <a:stretch/>
        </p:blipFill>
        <p:spPr>
          <a:xfrm>
            <a:off x="4355976" y="1340768"/>
            <a:ext cx="1513856" cy="936104"/>
          </a:xfrm>
          <a:prstGeom prst="rect">
            <a:avLst/>
          </a:prstGeom>
          <a:noFill/>
          <a:ln cap="flat" cmpd="sng" w="66675">
            <a:solidFill>
              <a:srgbClr val="FFFF00"/>
            </a:solidFill>
            <a:prstDash val="solid"/>
            <a:miter lim="800000"/>
            <a:headEnd len="sm" w="sm" type="none"/>
            <a:tailEnd len="sm" w="sm" type="none"/>
          </a:ln>
        </p:spPr>
      </p:pic>
      <p:pic>
        <p:nvPicPr>
          <p:cNvPr id="325" name="Google Shape;325;p35"/>
          <p:cNvPicPr preferRelativeResize="0"/>
          <p:nvPr/>
        </p:nvPicPr>
        <p:blipFill rotWithShape="1">
          <a:blip r:embed="rId4">
            <a:alphaModFix/>
          </a:blip>
          <a:srcRect b="0" l="0" r="0" t="0"/>
          <a:stretch/>
        </p:blipFill>
        <p:spPr>
          <a:xfrm>
            <a:off x="4067943" y="2636912"/>
            <a:ext cx="2833671" cy="1080120"/>
          </a:xfrm>
          <a:prstGeom prst="rect">
            <a:avLst/>
          </a:prstGeom>
          <a:noFill/>
          <a:ln cap="flat" cmpd="sng" w="76200">
            <a:solidFill>
              <a:srgbClr val="66FFFF"/>
            </a:solidFill>
            <a:prstDash val="solid"/>
            <a:miter lim="800000"/>
            <a:headEnd len="sm" w="sm" type="none"/>
            <a:tailEnd len="sm" w="sm" type="none"/>
          </a:ln>
        </p:spPr>
      </p:pic>
      <p:pic>
        <p:nvPicPr>
          <p:cNvPr id="326" name="Google Shape;326;p35"/>
          <p:cNvPicPr preferRelativeResize="0"/>
          <p:nvPr/>
        </p:nvPicPr>
        <p:blipFill rotWithShape="1">
          <a:blip r:embed="rId5">
            <a:alphaModFix/>
          </a:blip>
          <a:srcRect b="0" l="0" r="0" t="0"/>
          <a:stretch/>
        </p:blipFill>
        <p:spPr>
          <a:xfrm>
            <a:off x="1187623" y="4443237"/>
            <a:ext cx="2332259" cy="792088"/>
          </a:xfrm>
          <a:prstGeom prst="rect">
            <a:avLst/>
          </a:prstGeom>
          <a:noFill/>
          <a:ln>
            <a:noFill/>
          </a:ln>
        </p:spPr>
      </p:pic>
      <p:pic>
        <p:nvPicPr>
          <p:cNvPr id="327" name="Google Shape;327;p35"/>
          <p:cNvPicPr preferRelativeResize="0"/>
          <p:nvPr/>
        </p:nvPicPr>
        <p:blipFill rotWithShape="1">
          <a:blip r:embed="rId6">
            <a:alphaModFix/>
          </a:blip>
          <a:srcRect b="0" l="0" r="0" t="0"/>
          <a:stretch/>
        </p:blipFill>
        <p:spPr>
          <a:xfrm>
            <a:off x="4424905" y="4437112"/>
            <a:ext cx="2492797" cy="767519"/>
          </a:xfrm>
          <a:prstGeom prst="rect">
            <a:avLst/>
          </a:prstGeom>
          <a:noFill/>
          <a:ln>
            <a:noFill/>
          </a:ln>
        </p:spPr>
      </p:pic>
      <p:pic>
        <p:nvPicPr>
          <p:cNvPr id="328" name="Google Shape;328;p35"/>
          <p:cNvPicPr preferRelativeResize="0"/>
          <p:nvPr/>
        </p:nvPicPr>
        <p:blipFill rotWithShape="1">
          <a:blip r:embed="rId7">
            <a:alphaModFix/>
          </a:blip>
          <a:srcRect b="0" l="0" r="0" t="0"/>
          <a:stretch/>
        </p:blipFill>
        <p:spPr>
          <a:xfrm>
            <a:off x="2627784" y="5805264"/>
            <a:ext cx="3494506" cy="7920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animEffect filter="fade" transition="in">
                                      <p:cBhvr>
                                        <p:cTn dur="500"/>
                                        <p:tgtEl>
                                          <p:spTgt spid="3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1" st="1"/>
                                            </p:txEl>
                                          </p:spTgt>
                                        </p:tgtEl>
                                        <p:attrNameLst>
                                          <p:attrName>style.visibility</p:attrName>
                                        </p:attrNameLst>
                                      </p:cBhvr>
                                      <p:to>
                                        <p:strVal val="visible"/>
                                      </p:to>
                                    </p:set>
                                    <p:animEffect filter="fade" transition="in">
                                      <p:cBhvr>
                                        <p:cTn dur="500"/>
                                        <p:tgtEl>
                                          <p:spTgt spid="3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2" st="2"/>
                                            </p:txEl>
                                          </p:spTgt>
                                        </p:tgtEl>
                                        <p:attrNameLst>
                                          <p:attrName>style.visibility</p:attrName>
                                        </p:attrNameLst>
                                      </p:cBhvr>
                                      <p:to>
                                        <p:strVal val="visible"/>
                                      </p:to>
                                    </p:set>
                                    <p:animEffect filter="fade" transition="in">
                                      <p:cBhvr>
                                        <p:cTn dur="500"/>
                                        <p:tgtEl>
                                          <p:spTgt spid="3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3" st="3"/>
                                            </p:txEl>
                                          </p:spTgt>
                                        </p:tgtEl>
                                        <p:attrNameLst>
                                          <p:attrName>style.visibility</p:attrName>
                                        </p:attrNameLst>
                                      </p:cBhvr>
                                      <p:to>
                                        <p:strVal val="visible"/>
                                      </p:to>
                                    </p:set>
                                    <p:animEffect filter="fade" transition="in">
                                      <p:cBhvr>
                                        <p:cTn dur="500"/>
                                        <p:tgtEl>
                                          <p:spTgt spid="3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4" st="4"/>
                                            </p:txEl>
                                          </p:spTgt>
                                        </p:tgtEl>
                                        <p:attrNameLst>
                                          <p:attrName>style.visibility</p:attrName>
                                        </p:attrNameLst>
                                      </p:cBhvr>
                                      <p:to>
                                        <p:strVal val="visible"/>
                                      </p:to>
                                    </p:set>
                                    <p:animEffect filter="fade" transition="in">
                                      <p:cBhvr>
                                        <p:cTn dur="500"/>
                                        <p:tgtEl>
                                          <p:spTgt spid="32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5" st="5"/>
                                            </p:txEl>
                                          </p:spTgt>
                                        </p:tgtEl>
                                        <p:attrNameLst>
                                          <p:attrName>style.visibility</p:attrName>
                                        </p:attrNameLst>
                                      </p:cBhvr>
                                      <p:to>
                                        <p:strVal val="visible"/>
                                      </p:to>
                                    </p:set>
                                    <p:animEffect filter="fade" transition="in">
                                      <p:cBhvr>
                                        <p:cTn dur="500"/>
                                        <p:tgtEl>
                                          <p:spTgt spid="32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6" st="6"/>
                                            </p:txEl>
                                          </p:spTgt>
                                        </p:tgtEl>
                                        <p:attrNameLst>
                                          <p:attrName>style.visibility</p:attrName>
                                        </p:attrNameLst>
                                      </p:cBhvr>
                                      <p:to>
                                        <p:strVal val="visible"/>
                                      </p:to>
                                    </p:set>
                                    <p:animEffect filter="fade" transition="in">
                                      <p:cBhvr>
                                        <p:cTn dur="500"/>
                                        <p:tgtEl>
                                          <p:spTgt spid="32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7" st="7"/>
                                            </p:txEl>
                                          </p:spTgt>
                                        </p:tgtEl>
                                        <p:attrNameLst>
                                          <p:attrName>style.visibility</p:attrName>
                                        </p:attrNameLst>
                                      </p:cBhvr>
                                      <p:to>
                                        <p:strVal val="visible"/>
                                      </p:to>
                                    </p:set>
                                    <p:animEffect filter="fade" transition="in">
                                      <p:cBhvr>
                                        <p:cTn dur="500"/>
                                        <p:tgtEl>
                                          <p:spTgt spid="32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8" st="8"/>
                                            </p:txEl>
                                          </p:spTgt>
                                        </p:tgtEl>
                                        <p:attrNameLst>
                                          <p:attrName>style.visibility</p:attrName>
                                        </p:attrNameLst>
                                      </p:cBhvr>
                                      <p:to>
                                        <p:strVal val="visible"/>
                                      </p:to>
                                    </p:set>
                                    <p:animEffect filter="fade" transition="in">
                                      <p:cBhvr>
                                        <p:cTn dur="500"/>
                                        <p:tgtEl>
                                          <p:spTgt spid="32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9" st="9"/>
                                            </p:txEl>
                                          </p:spTgt>
                                        </p:tgtEl>
                                        <p:attrNameLst>
                                          <p:attrName>style.visibility</p:attrName>
                                        </p:attrNameLst>
                                      </p:cBhvr>
                                      <p:to>
                                        <p:strVal val="visible"/>
                                      </p:to>
                                    </p:set>
                                    <p:animEffect filter="fade" transition="in">
                                      <p:cBhvr>
                                        <p:cTn dur="500"/>
                                        <p:tgtEl>
                                          <p:spTgt spid="32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10" st="10"/>
                                            </p:txEl>
                                          </p:spTgt>
                                        </p:tgtEl>
                                        <p:attrNameLst>
                                          <p:attrName>style.visibility</p:attrName>
                                        </p:attrNameLst>
                                      </p:cBhvr>
                                      <p:to>
                                        <p:strVal val="visible"/>
                                      </p:to>
                                    </p:set>
                                    <p:animEffect filter="fade" transition="in">
                                      <p:cBhvr>
                                        <p:cTn dur="500"/>
                                        <p:tgtEl>
                                          <p:spTgt spid="32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11" st="11"/>
                                            </p:txEl>
                                          </p:spTgt>
                                        </p:tgtEl>
                                        <p:attrNameLst>
                                          <p:attrName>style.visibility</p:attrName>
                                        </p:attrNameLst>
                                      </p:cBhvr>
                                      <p:to>
                                        <p:strVal val="visible"/>
                                      </p:to>
                                    </p:set>
                                    <p:animEffect filter="fade" transition="in">
                                      <p:cBhvr>
                                        <p:cTn dur="500"/>
                                        <p:tgtEl>
                                          <p:spTgt spid="32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12" st="12"/>
                                            </p:txEl>
                                          </p:spTgt>
                                        </p:tgtEl>
                                        <p:attrNameLst>
                                          <p:attrName>style.visibility</p:attrName>
                                        </p:attrNameLst>
                                      </p:cBhvr>
                                      <p:to>
                                        <p:strVal val="visible"/>
                                      </p:to>
                                    </p:set>
                                    <p:animEffect filter="fade" transition="in">
                                      <p:cBhvr>
                                        <p:cTn dur="500"/>
                                        <p:tgtEl>
                                          <p:spTgt spid="32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13" st="13"/>
                                            </p:txEl>
                                          </p:spTgt>
                                        </p:tgtEl>
                                        <p:attrNameLst>
                                          <p:attrName>style.visibility</p:attrName>
                                        </p:attrNameLst>
                                      </p:cBhvr>
                                      <p:to>
                                        <p:strVal val="visible"/>
                                      </p:to>
                                    </p:set>
                                    <p:animEffect filter="fade" transition="in">
                                      <p:cBhvr>
                                        <p:cTn dur="500"/>
                                        <p:tgtEl>
                                          <p:spTgt spid="32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14" st="14"/>
                                            </p:txEl>
                                          </p:spTgt>
                                        </p:tgtEl>
                                        <p:attrNameLst>
                                          <p:attrName>style.visibility</p:attrName>
                                        </p:attrNameLst>
                                      </p:cBhvr>
                                      <p:to>
                                        <p:strVal val="visible"/>
                                      </p:to>
                                    </p:set>
                                    <p:animEffect filter="fade" transition="in">
                                      <p:cBhvr>
                                        <p:cTn dur="500"/>
                                        <p:tgtEl>
                                          <p:spTgt spid="32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15" st="15"/>
                                            </p:txEl>
                                          </p:spTgt>
                                        </p:tgtEl>
                                        <p:attrNameLst>
                                          <p:attrName>style.visibility</p:attrName>
                                        </p:attrNameLst>
                                      </p:cBhvr>
                                      <p:to>
                                        <p:strVal val="visible"/>
                                      </p:to>
                                    </p:set>
                                    <p:animEffect filter="fade" transition="in">
                                      <p:cBhvr>
                                        <p:cTn dur="500"/>
                                        <p:tgtEl>
                                          <p:spTgt spid="323">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16" st="16"/>
                                            </p:txEl>
                                          </p:spTgt>
                                        </p:tgtEl>
                                        <p:attrNameLst>
                                          <p:attrName>style.visibility</p:attrName>
                                        </p:attrNameLst>
                                      </p:cBhvr>
                                      <p:to>
                                        <p:strVal val="visible"/>
                                      </p:to>
                                    </p:set>
                                    <p:animEffect filter="fade" transition="in">
                                      <p:cBhvr>
                                        <p:cTn dur="500"/>
                                        <p:tgtEl>
                                          <p:spTgt spid="323">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17" st="17"/>
                                            </p:txEl>
                                          </p:spTgt>
                                        </p:tgtEl>
                                        <p:attrNameLst>
                                          <p:attrName>style.visibility</p:attrName>
                                        </p:attrNameLst>
                                      </p:cBhvr>
                                      <p:to>
                                        <p:strVal val="visible"/>
                                      </p:to>
                                    </p:set>
                                    <p:animEffect filter="fade" transition="in">
                                      <p:cBhvr>
                                        <p:cTn dur="500"/>
                                        <p:tgtEl>
                                          <p:spTgt spid="323">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24"/>
                                        </p:tgtEl>
                                        <p:attrNameLst>
                                          <p:attrName>style.visibility</p:attrName>
                                        </p:attrNameLst>
                                      </p:cBhvr>
                                      <p:to>
                                        <p:strVal val="visible"/>
                                      </p:to>
                                    </p:set>
                                    <p:anim calcmode="lin" valueType="num">
                                      <p:cBhvr additive="base">
                                        <p:cTn dur="500"/>
                                        <p:tgtEl>
                                          <p:spTgt spid="32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500"/>
                                        <p:tgtEl>
                                          <p:spTgt spid="32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10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1000"/>
                                        <p:tgtEl>
                                          <p:spTgt spid="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200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6"/>
          <p:cNvSpPr txBox="1"/>
          <p:nvPr>
            <p:ph type="title"/>
          </p:nvPr>
        </p:nvSpPr>
        <p:spPr>
          <a:xfrm>
            <a:off x="467544" y="188640"/>
            <a:ext cx="8229600" cy="43204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800" u="sng">
                <a:solidFill>
                  <a:srgbClr val="66FFFF"/>
                </a:solidFill>
              </a:rPr>
              <a:t>Ideal Gas Law</a:t>
            </a:r>
            <a:endParaRPr b="1" sz="4800" u="sng">
              <a:solidFill>
                <a:srgbClr val="66FFFF"/>
              </a:solidFill>
            </a:endParaRPr>
          </a:p>
        </p:txBody>
      </p:sp>
      <p:sp>
        <p:nvSpPr>
          <p:cNvPr id="334" name="Google Shape;334;p36"/>
          <p:cNvSpPr txBox="1"/>
          <p:nvPr>
            <p:ph idx="1" type="body"/>
          </p:nvPr>
        </p:nvSpPr>
        <p:spPr>
          <a:xfrm>
            <a:off x="395536" y="764704"/>
            <a:ext cx="8435280" cy="568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3200"/>
              <a:buNone/>
            </a:pPr>
            <a:r>
              <a:rPr b="1" i="1" lang="en-US">
                <a:solidFill>
                  <a:schemeClr val="lt1"/>
                </a:solidFill>
              </a:rPr>
              <a:t>Sample Problems:</a:t>
            </a:r>
            <a:endParaRPr/>
          </a:p>
          <a:p>
            <a:pPr indent="-514350" lvl="0" marL="514350" rtl="0" algn="l">
              <a:spcBef>
                <a:spcPts val="640"/>
              </a:spcBef>
              <a:spcAft>
                <a:spcPts val="0"/>
              </a:spcAft>
              <a:buClr>
                <a:schemeClr val="lt1"/>
              </a:buClr>
              <a:buSzPts val="3200"/>
              <a:buFont typeface="Calibri"/>
              <a:buAutoNum type="arabicPeriod"/>
            </a:pPr>
            <a:r>
              <a:rPr lang="en-US">
                <a:solidFill>
                  <a:schemeClr val="lt1"/>
                </a:solidFill>
              </a:rPr>
              <a:t>The pressure gauge on a 15.0 L cylinder of oxygen gas has a reading of 2.70 x 10</a:t>
            </a:r>
            <a:r>
              <a:rPr baseline="30000" lang="en-US">
                <a:solidFill>
                  <a:schemeClr val="lt1"/>
                </a:solidFill>
              </a:rPr>
              <a:t>3</a:t>
            </a:r>
            <a:r>
              <a:rPr lang="en-US">
                <a:solidFill>
                  <a:schemeClr val="lt1"/>
                </a:solidFill>
              </a:rPr>
              <a:t> kPa and a temperature of 22.5 </a:t>
            </a:r>
            <a:r>
              <a:rPr baseline="30000" lang="en-US">
                <a:solidFill>
                  <a:schemeClr val="lt1"/>
                </a:solidFill>
              </a:rPr>
              <a:t>o</a:t>
            </a:r>
            <a:r>
              <a:rPr lang="en-US">
                <a:solidFill>
                  <a:schemeClr val="lt1"/>
                </a:solidFill>
              </a:rPr>
              <a:t>C.  What is the mass of oxygen in the cylinder?</a:t>
            </a:r>
            <a:endParaRPr/>
          </a:p>
          <a:p>
            <a:pPr indent="-514350" lvl="0" marL="514350" rtl="0" algn="l">
              <a:spcBef>
                <a:spcPts val="640"/>
              </a:spcBef>
              <a:spcAft>
                <a:spcPts val="0"/>
              </a:spcAft>
              <a:buClr>
                <a:schemeClr val="lt1"/>
              </a:buClr>
              <a:buSzPts val="3200"/>
              <a:buFont typeface="Calibri"/>
              <a:buAutoNum type="arabicPeriod"/>
            </a:pPr>
            <a:r>
              <a:rPr lang="en-US">
                <a:solidFill>
                  <a:schemeClr val="lt1"/>
                </a:solidFill>
              </a:rPr>
              <a:t>What volume of carbon dioxide did a swimmer breathe out when he exhaled 10.5 g of CO</a:t>
            </a:r>
            <a:r>
              <a:rPr baseline="-25000" lang="en-US">
                <a:solidFill>
                  <a:schemeClr val="lt1"/>
                </a:solidFill>
              </a:rPr>
              <a:t>2</a:t>
            </a:r>
            <a:r>
              <a:rPr lang="en-US">
                <a:solidFill>
                  <a:schemeClr val="lt1"/>
                </a:solidFill>
              </a:rPr>
              <a:t> @ SATP into a flask to measure his lung capacity?</a:t>
            </a:r>
            <a:endParaRPr/>
          </a:p>
          <a:p>
            <a:pPr indent="0" lvl="0" marL="0" rtl="0" algn="l">
              <a:spcBef>
                <a:spcPts val="560"/>
              </a:spcBef>
              <a:spcAft>
                <a:spcPts val="0"/>
              </a:spcAft>
              <a:buClr>
                <a:schemeClr val="lt1"/>
              </a:buClr>
              <a:buSzPts val="2800"/>
              <a:buNone/>
            </a:pPr>
            <a:r>
              <a:rPr b="1" i="1" lang="en-US" sz="2800" u="sng">
                <a:solidFill>
                  <a:schemeClr val="lt1"/>
                </a:solidFill>
              </a:rPr>
              <a:t>HW:</a:t>
            </a:r>
            <a:endParaRPr/>
          </a:p>
          <a:p>
            <a:pPr indent="0" lvl="0" marL="0" rtl="0" algn="l">
              <a:spcBef>
                <a:spcPts val="560"/>
              </a:spcBef>
              <a:spcAft>
                <a:spcPts val="0"/>
              </a:spcAft>
              <a:buClr>
                <a:schemeClr val="lt1"/>
              </a:buClr>
              <a:buSzPts val="2800"/>
              <a:buNone/>
            </a:pPr>
            <a:r>
              <a:rPr lang="en-US" sz="2800">
                <a:solidFill>
                  <a:schemeClr val="lt1"/>
                </a:solidFill>
              </a:rPr>
              <a:t>-p.487 # 12-14</a:t>
            </a:r>
            <a:endParaRPr/>
          </a:p>
          <a:p>
            <a:pPr indent="0" lvl="0" marL="0" rtl="0" algn="l">
              <a:spcBef>
                <a:spcPts val="560"/>
              </a:spcBef>
              <a:spcAft>
                <a:spcPts val="0"/>
              </a:spcAft>
              <a:buClr>
                <a:schemeClr val="lt1"/>
              </a:buClr>
              <a:buSzPts val="2800"/>
              <a:buNone/>
            </a:pPr>
            <a:r>
              <a:rPr lang="en-US" sz="2800">
                <a:solidFill>
                  <a:schemeClr val="lt1"/>
                </a:solidFill>
              </a:rPr>
              <a:t>-p.488 #1-5</a:t>
            </a:r>
            <a:endParaRPr/>
          </a:p>
          <a:p>
            <a:pPr indent="0" lvl="0" marL="0" rtl="0" algn="l">
              <a:spcBef>
                <a:spcPts val="640"/>
              </a:spcBef>
              <a:spcAft>
                <a:spcPts val="0"/>
              </a:spcAft>
              <a:buClr>
                <a:schemeClr val="dk1"/>
              </a:buClr>
              <a:buSzPts val="3200"/>
              <a:buNone/>
            </a:pPr>
            <a:r>
              <a:t/>
            </a:r>
            <a:endParaRPr>
              <a:solidFill>
                <a:schemeClr val="lt1"/>
              </a:solidFill>
            </a:endParaRPr>
          </a:p>
          <a:p>
            <a:pPr indent="0" lvl="0" marL="0" rtl="0" algn="l">
              <a:spcBef>
                <a:spcPts val="640"/>
              </a:spcBef>
              <a:spcAft>
                <a:spcPts val="0"/>
              </a:spcAft>
              <a:buClr>
                <a:schemeClr val="dk1"/>
              </a:buClr>
              <a:buSzPts val="3200"/>
              <a:buNone/>
            </a:pPr>
            <a:r>
              <a:t/>
            </a:r>
            <a:endParaRPr>
              <a:solidFill>
                <a:schemeClr val="lt1"/>
              </a:solidFill>
            </a:endParaRPr>
          </a:p>
          <a:p>
            <a:pPr indent="0" lvl="0" marL="0" rtl="0" algn="l">
              <a:spcBef>
                <a:spcPts val="640"/>
              </a:spcBef>
              <a:spcAft>
                <a:spcPts val="0"/>
              </a:spcAft>
              <a:buClr>
                <a:schemeClr val="dk1"/>
              </a:buClr>
              <a:buSzPts val="3200"/>
              <a:buNone/>
            </a:pPr>
            <a:r>
              <a:t/>
            </a:r>
            <a:endParaRPr>
              <a:solidFill>
                <a:schemeClr val="lt1"/>
              </a:solidFill>
            </a:endParaRPr>
          </a:p>
          <a:p>
            <a:pPr indent="0" lvl="0" marL="0" rtl="0" algn="l">
              <a:spcBef>
                <a:spcPts val="640"/>
              </a:spcBef>
              <a:spcAft>
                <a:spcPts val="0"/>
              </a:spcAft>
              <a:buClr>
                <a:schemeClr val="dk1"/>
              </a:buClr>
              <a:buSzPts val="3200"/>
              <a:buNone/>
            </a:pPr>
            <a:r>
              <a:t/>
            </a:r>
            <a:endParaRPr>
              <a:solidFill>
                <a:schemeClr val="lt1"/>
              </a:solidFill>
            </a:endParaRPr>
          </a:p>
          <a:p>
            <a:pPr indent="0" lvl="0" marL="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a:p>
            <a:pPr indent="-139700" lvl="0" marL="342900" rtl="0" algn="l">
              <a:spcBef>
                <a:spcPts val="640"/>
              </a:spcBef>
              <a:spcAft>
                <a:spcPts val="0"/>
              </a:spcAft>
              <a:buClr>
                <a:schemeClr val="dk1"/>
              </a:buClr>
              <a:buSzPts val="3200"/>
              <a:buNone/>
            </a:pPr>
            <a:r>
              <a:t/>
            </a:r>
            <a:endParaRPr>
              <a:solidFill>
                <a:schemeClr val="lt1"/>
              </a:solidFill>
            </a:endParaRPr>
          </a:p>
        </p:txBody>
      </p:sp>
      <p:pic>
        <p:nvPicPr>
          <p:cNvPr id="335" name="Google Shape;335;p36"/>
          <p:cNvPicPr preferRelativeResize="0"/>
          <p:nvPr/>
        </p:nvPicPr>
        <p:blipFill rotWithShape="1">
          <a:blip r:embed="rId3">
            <a:alphaModFix/>
          </a:blip>
          <a:srcRect b="0" l="0" r="0" t="0"/>
          <a:stretch/>
        </p:blipFill>
        <p:spPr>
          <a:xfrm>
            <a:off x="4716016" y="5229200"/>
            <a:ext cx="3494506" cy="7920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0" st="0"/>
                                            </p:txEl>
                                          </p:spTgt>
                                        </p:tgtEl>
                                        <p:attrNameLst>
                                          <p:attrName>style.visibility</p:attrName>
                                        </p:attrNameLst>
                                      </p:cBhvr>
                                      <p:to>
                                        <p:strVal val="visible"/>
                                      </p:to>
                                    </p:set>
                                    <p:animEffect filter="fade" transition="in">
                                      <p:cBhvr>
                                        <p:cTn dur="500"/>
                                        <p:tgtEl>
                                          <p:spTgt spid="3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1" st="1"/>
                                            </p:txEl>
                                          </p:spTgt>
                                        </p:tgtEl>
                                        <p:attrNameLst>
                                          <p:attrName>style.visibility</p:attrName>
                                        </p:attrNameLst>
                                      </p:cBhvr>
                                      <p:to>
                                        <p:strVal val="visible"/>
                                      </p:to>
                                    </p:set>
                                    <p:animEffect filter="fade" transition="in">
                                      <p:cBhvr>
                                        <p:cTn dur="500"/>
                                        <p:tgtEl>
                                          <p:spTgt spid="3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2" st="2"/>
                                            </p:txEl>
                                          </p:spTgt>
                                        </p:tgtEl>
                                        <p:attrNameLst>
                                          <p:attrName>style.visibility</p:attrName>
                                        </p:attrNameLst>
                                      </p:cBhvr>
                                      <p:to>
                                        <p:strVal val="visible"/>
                                      </p:to>
                                    </p:set>
                                    <p:animEffect filter="fade" transition="in">
                                      <p:cBhvr>
                                        <p:cTn dur="500"/>
                                        <p:tgtEl>
                                          <p:spTgt spid="3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3" st="3"/>
                                            </p:txEl>
                                          </p:spTgt>
                                        </p:tgtEl>
                                        <p:attrNameLst>
                                          <p:attrName>style.visibility</p:attrName>
                                        </p:attrNameLst>
                                      </p:cBhvr>
                                      <p:to>
                                        <p:strVal val="visible"/>
                                      </p:to>
                                    </p:set>
                                    <p:animEffect filter="fade" transition="in">
                                      <p:cBhvr>
                                        <p:cTn dur="500"/>
                                        <p:tgtEl>
                                          <p:spTgt spid="3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4" st="4"/>
                                            </p:txEl>
                                          </p:spTgt>
                                        </p:tgtEl>
                                        <p:attrNameLst>
                                          <p:attrName>style.visibility</p:attrName>
                                        </p:attrNameLst>
                                      </p:cBhvr>
                                      <p:to>
                                        <p:strVal val="visible"/>
                                      </p:to>
                                    </p:set>
                                    <p:animEffect filter="fade" transition="in">
                                      <p:cBhvr>
                                        <p:cTn dur="500"/>
                                        <p:tgtEl>
                                          <p:spTgt spid="3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5" st="5"/>
                                            </p:txEl>
                                          </p:spTgt>
                                        </p:tgtEl>
                                        <p:attrNameLst>
                                          <p:attrName>style.visibility</p:attrName>
                                        </p:attrNameLst>
                                      </p:cBhvr>
                                      <p:to>
                                        <p:strVal val="visible"/>
                                      </p:to>
                                    </p:set>
                                    <p:animEffect filter="fade" transition="in">
                                      <p:cBhvr>
                                        <p:cTn dur="500"/>
                                        <p:tgtEl>
                                          <p:spTgt spid="3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6" st="6"/>
                                            </p:txEl>
                                          </p:spTgt>
                                        </p:tgtEl>
                                        <p:attrNameLst>
                                          <p:attrName>style.visibility</p:attrName>
                                        </p:attrNameLst>
                                      </p:cBhvr>
                                      <p:to>
                                        <p:strVal val="visible"/>
                                      </p:to>
                                    </p:set>
                                    <p:animEffect filter="fade" transition="in">
                                      <p:cBhvr>
                                        <p:cTn dur="500"/>
                                        <p:tgtEl>
                                          <p:spTgt spid="3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7" st="7"/>
                                            </p:txEl>
                                          </p:spTgt>
                                        </p:tgtEl>
                                        <p:attrNameLst>
                                          <p:attrName>style.visibility</p:attrName>
                                        </p:attrNameLst>
                                      </p:cBhvr>
                                      <p:to>
                                        <p:strVal val="visible"/>
                                      </p:to>
                                    </p:set>
                                    <p:animEffect filter="fade" transition="in">
                                      <p:cBhvr>
                                        <p:cTn dur="500"/>
                                        <p:tgtEl>
                                          <p:spTgt spid="33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8" st="8"/>
                                            </p:txEl>
                                          </p:spTgt>
                                        </p:tgtEl>
                                        <p:attrNameLst>
                                          <p:attrName>style.visibility</p:attrName>
                                        </p:attrNameLst>
                                      </p:cBhvr>
                                      <p:to>
                                        <p:strVal val="visible"/>
                                      </p:to>
                                    </p:set>
                                    <p:animEffect filter="fade" transition="in">
                                      <p:cBhvr>
                                        <p:cTn dur="500"/>
                                        <p:tgtEl>
                                          <p:spTgt spid="33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9" st="9"/>
                                            </p:txEl>
                                          </p:spTgt>
                                        </p:tgtEl>
                                        <p:attrNameLst>
                                          <p:attrName>style.visibility</p:attrName>
                                        </p:attrNameLst>
                                      </p:cBhvr>
                                      <p:to>
                                        <p:strVal val="visible"/>
                                      </p:to>
                                    </p:set>
                                    <p:animEffect filter="fade" transition="in">
                                      <p:cBhvr>
                                        <p:cTn dur="500"/>
                                        <p:tgtEl>
                                          <p:spTgt spid="33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10" st="10"/>
                                            </p:txEl>
                                          </p:spTgt>
                                        </p:tgtEl>
                                        <p:attrNameLst>
                                          <p:attrName>style.visibility</p:attrName>
                                        </p:attrNameLst>
                                      </p:cBhvr>
                                      <p:to>
                                        <p:strVal val="visible"/>
                                      </p:to>
                                    </p:set>
                                    <p:animEffect filter="fade" transition="in">
                                      <p:cBhvr>
                                        <p:cTn dur="500"/>
                                        <p:tgtEl>
                                          <p:spTgt spid="33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11" st="11"/>
                                            </p:txEl>
                                          </p:spTgt>
                                        </p:tgtEl>
                                        <p:attrNameLst>
                                          <p:attrName>style.visibility</p:attrName>
                                        </p:attrNameLst>
                                      </p:cBhvr>
                                      <p:to>
                                        <p:strVal val="visible"/>
                                      </p:to>
                                    </p:set>
                                    <p:animEffect filter="fade" transition="in">
                                      <p:cBhvr>
                                        <p:cTn dur="500"/>
                                        <p:tgtEl>
                                          <p:spTgt spid="33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12" st="12"/>
                                            </p:txEl>
                                          </p:spTgt>
                                        </p:tgtEl>
                                        <p:attrNameLst>
                                          <p:attrName>style.visibility</p:attrName>
                                        </p:attrNameLst>
                                      </p:cBhvr>
                                      <p:to>
                                        <p:strVal val="visible"/>
                                      </p:to>
                                    </p:set>
                                    <p:animEffect filter="fade" transition="in">
                                      <p:cBhvr>
                                        <p:cTn dur="500"/>
                                        <p:tgtEl>
                                          <p:spTgt spid="33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13" st="13"/>
                                            </p:txEl>
                                          </p:spTgt>
                                        </p:tgtEl>
                                        <p:attrNameLst>
                                          <p:attrName>style.visibility</p:attrName>
                                        </p:attrNameLst>
                                      </p:cBhvr>
                                      <p:to>
                                        <p:strVal val="visible"/>
                                      </p:to>
                                    </p:set>
                                    <p:animEffect filter="fade" transition="in">
                                      <p:cBhvr>
                                        <p:cTn dur="500"/>
                                        <p:tgtEl>
                                          <p:spTgt spid="334">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14" st="14"/>
                                            </p:txEl>
                                          </p:spTgt>
                                        </p:tgtEl>
                                        <p:attrNameLst>
                                          <p:attrName>style.visibility</p:attrName>
                                        </p:attrNameLst>
                                      </p:cBhvr>
                                      <p:to>
                                        <p:strVal val="visible"/>
                                      </p:to>
                                    </p:set>
                                    <p:animEffect filter="fade" transition="in">
                                      <p:cBhvr>
                                        <p:cTn dur="500"/>
                                        <p:tgtEl>
                                          <p:spTgt spid="334">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20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41" name="Google Shape;341;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pic>
        <p:nvPicPr>
          <p:cNvPr id="342" name="Google Shape;342;p37"/>
          <p:cNvPicPr preferRelativeResize="0"/>
          <p:nvPr/>
        </p:nvPicPr>
        <p:blipFill rotWithShape="1">
          <a:blip r:embed="rId3">
            <a:alphaModFix/>
          </a:blip>
          <a:srcRect b="0" l="0" r="0" t="0"/>
          <a:stretch/>
        </p:blipFill>
        <p:spPr>
          <a:xfrm>
            <a:off x="1259632" y="949743"/>
            <a:ext cx="6768752" cy="506630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2015-01-08T01:06:18Z</dcterms:created>
  <dc:creator>User</dc:creator>
</cp:coreProperties>
</file>