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2.xml"/>
  <Override ContentType="application/vnd.openxmlformats-officedocument.themeOverride+xml" PartName="/ppt/theme/themeOverr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Cabin"/>
      <p:regular r:id="rId53"/>
      <p:bold r:id="rId54"/>
      <p:italic r:id="rId55"/>
      <p:boldItalic r:id="rId56"/>
    </p:embeddedFont>
    <p:embeddedFont>
      <p:font typeface="Corbel"/>
      <p:regular r:id="rId57"/>
      <p:bold r:id="rId58"/>
      <p:italic r:id="rId59"/>
      <p:boldItalic r:id="rId60"/>
    </p:embeddedFont>
    <p:embeddedFont>
      <p:font typeface="Arial Black"/>
      <p:regular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C5BE9C-2EB1-47B3-A75C-D5379C695DFD}">
  <a:tblStyle styleId="{F3C5BE9C-2EB1-47B3-A75C-D5379C695DFD}" styleName="Table_0">
    <a:wholeTbl>
      <a:tcTxStyle b="off" i="off">
        <a:font>
          <a:latin typeface="Arial"/>
          <a:ea typeface="Arial"/>
          <a:cs typeface="Arial"/>
        </a:font>
        <a:srgbClr val="000000"/>
      </a:tcTxStyle>
      <a:tcStyle>
        <a:tcBdr>
          <a:left>
            <a:ln cap="flat" cmpd="sng" w="12700">
              <a:solidFill>
                <a:srgbClr val="7A7A7A"/>
              </a:solidFill>
              <a:prstDash val="solid"/>
              <a:round/>
              <a:headEnd len="sm" w="sm" type="none"/>
              <a:tailEnd len="sm" w="sm" type="none"/>
            </a:ln>
          </a:left>
          <a:right>
            <a:ln cap="flat" cmpd="sng" w="12700">
              <a:solidFill>
                <a:srgbClr val="7A7A7A"/>
              </a:solidFill>
              <a:prstDash val="solid"/>
              <a:round/>
              <a:headEnd len="sm" w="sm" type="none"/>
              <a:tailEnd len="sm" w="sm" type="none"/>
            </a:ln>
          </a:right>
          <a:top>
            <a:ln cap="flat" cmpd="sng" w="12700">
              <a:solidFill>
                <a:srgbClr val="7A7A7A"/>
              </a:solidFill>
              <a:prstDash val="solid"/>
              <a:round/>
              <a:headEnd len="sm" w="sm" type="none"/>
              <a:tailEnd len="sm" w="sm" type="none"/>
            </a:ln>
          </a:top>
          <a:bottom>
            <a:ln cap="flat" cmpd="sng" w="12700">
              <a:solidFill>
                <a:srgbClr val="7A7A7A"/>
              </a:solidFill>
              <a:prstDash val="solid"/>
              <a:round/>
              <a:headEnd len="sm" w="sm" type="none"/>
              <a:tailEnd len="sm" w="sm" type="none"/>
            </a:ln>
          </a:bottom>
          <a:insideH>
            <a:ln cap="flat" cmpd="sng" w="12700">
              <a:solidFill>
                <a:srgbClr val="7A7A7A"/>
              </a:solidFill>
              <a:prstDash val="solid"/>
              <a:round/>
              <a:headEnd len="sm" w="sm" type="none"/>
              <a:tailEnd len="sm" w="sm" type="none"/>
            </a:ln>
          </a:insideH>
          <a:insideV>
            <a:ln cap="flat" cmpd="sng" w="12700">
              <a:solidFill>
                <a:srgbClr val="7A7A7A"/>
              </a:solidFill>
              <a:prstDash val="solid"/>
              <a:round/>
              <a:headEnd len="sm" w="sm" type="none"/>
              <a:tailEnd len="sm" w="sm" type="none"/>
            </a:ln>
          </a:insideV>
        </a:tcBdr>
        <a:fill>
          <a:solidFill>
            <a:srgbClr val="FFFFFF">
              <a:alpha val="0"/>
            </a:srgbClr>
          </a:solidFill>
        </a:fill>
      </a:tcStyle>
    </a:wholeTbl>
    <a:band1H>
      <a:tcTxStyle/>
      <a:tcStyle>
        <a:fill>
          <a:solidFill>
            <a:srgbClr val="7A7A7A">
              <a:alpha val="20000"/>
            </a:srgbClr>
          </a:solidFill>
        </a:fill>
      </a:tcStyle>
    </a:band1H>
    <a:band2H>
      <a:tcTxStyle/>
    </a:band2H>
    <a:band1V>
      <a:tcTxStyle/>
      <a:tcStyle>
        <a:fill>
          <a:solidFill>
            <a:srgbClr val="7A7A7A">
              <a:alpha val="20000"/>
            </a:srgbClr>
          </a:solidFill>
        </a:fill>
      </a:tcStyle>
    </a:band1V>
    <a:band2V>
      <a:tcTxStyle/>
    </a:band2V>
    <a:lastCol>
      <a:tcTxStyle b="on" i="off"/>
    </a:lastCol>
    <a:firstCol>
      <a:tcTxStyle b="on" i="off"/>
    </a:firstCol>
    <a:lastRow>
      <a:tcTxStyle b="on" i="off"/>
      <a:tcStyle>
        <a:tcBdr>
          <a:top>
            <a:ln cap="flat" cmpd="sng" w="50800">
              <a:solidFill>
                <a:srgbClr val="7A7A7A"/>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rgbClr val="7A7A7A"/>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F53ED398-9A39-416C-955E-110304B8F22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ArialBlack-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Corbel-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Cabin-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Cabin-italic.fntdata"/><Relationship Id="rId10" Type="http://schemas.openxmlformats.org/officeDocument/2006/relationships/slide" Target="slides/slide4.xml"/><Relationship Id="rId54" Type="http://schemas.openxmlformats.org/officeDocument/2006/relationships/font" Target="fonts/Cabin-bold.fntdata"/><Relationship Id="rId13" Type="http://schemas.openxmlformats.org/officeDocument/2006/relationships/slide" Target="slides/slide7.xml"/><Relationship Id="rId57" Type="http://schemas.openxmlformats.org/officeDocument/2006/relationships/font" Target="fonts/Corbel-regular.fntdata"/><Relationship Id="rId12" Type="http://schemas.openxmlformats.org/officeDocument/2006/relationships/slide" Target="slides/slide6.xml"/><Relationship Id="rId56" Type="http://schemas.openxmlformats.org/officeDocument/2006/relationships/font" Target="fonts/Cabin-boldItalic.fntdata"/><Relationship Id="rId15" Type="http://schemas.openxmlformats.org/officeDocument/2006/relationships/slide" Target="slides/slide9.xml"/><Relationship Id="rId59" Type="http://schemas.openxmlformats.org/officeDocument/2006/relationships/font" Target="fonts/Corbel-italic.fntdata"/><Relationship Id="rId14" Type="http://schemas.openxmlformats.org/officeDocument/2006/relationships/slide" Target="slides/slide8.xml"/><Relationship Id="rId58" Type="http://schemas.openxmlformats.org/officeDocument/2006/relationships/font" Target="fonts/Corbel-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SLIDES_API90430981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SLIDES_API90430981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SLIDES_API90430981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SLIDES_API90430981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SLIDES_API90430981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SLIDES_API90430981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SLIDES_API90430981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SLIDES_API90430981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SLIDES_API90430981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SLIDES_API90430981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SLIDES_API90430981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SLIDES_API90430981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SLIDES_API90430981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SLIDES_API90430981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SLIDES_API90430981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SLIDES_API90430981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SLIDES_API90430981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SLIDES_API90430981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SLIDES_API90430981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SLIDES_API90430981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45a53b46ac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45a53b46a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SLIDES_API90430981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SLIDES_API90430981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SLIDES_API90430981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SLIDES_API90430981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SLIDES_API90430981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SLIDES_API90430981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SLIDES_API90430981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SLIDES_API90430981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SLIDES_API90430981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SLIDES_API90430981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SLIDES_API90430981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SLIDES_API90430981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SLIDES_API90430981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SLIDES_API90430981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SLIDES_API90430981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SLIDES_API90430981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SLIDES_API90430981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SLIDES_API90430981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SLIDES_API90430981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SLIDES_API90430981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SLIDES_API90430981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SLIDES_API90430981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SLIDES_API90430981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SLIDES_API90430981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SLIDES_API90430981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SLIDES_API90430981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SLIDES_API90430981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SLIDES_API90430981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SLIDES_API90430981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SLIDES_API90430981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45a53b46ac_1_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45a53b46ac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45a53b46ac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45a53b46ac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SLIDES_API90430981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SLIDES_API90430981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SLIDES_API90430981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SLIDES_API90430981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SLIDES_API90430981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SLIDES_API90430981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SLIDES_API90430981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SLIDES_API90430981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SLIDES_API90430981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SLIDES_API90430981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45a53b46ac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45a53b46ac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SLIDES_API90430981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SLIDES_API90430981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SLIDES_API90430981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SLIDES_API90430981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SLIDES_API90430981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SLIDES_API90430981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SLIDES_API90430981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SLIDES_API90430981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SLIDES_API90430981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SLIDES_API90430981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SLIDES_API90430981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SLIDES_API90430981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SLIDES_API90430981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SLIDES_API90430981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SLIDES_API90430981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SLIDES_API90430981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SLIDES_API90430981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SLIDES_API90430981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SLIDES_API90430981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SLIDES_API90430981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SLIDES_API90430981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SLIDES_API90430981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SLIDES_API90430981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SLIDES_API90430981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457200" y="116586"/>
            <a:ext cx="8229600" cy="9396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5" name="Google Shape;15;p2"/>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16" name="Google Shape;16;p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7" name="Google Shape;17;p2"/>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8" name="Google Shape;18;p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 name="Shape 19"/>
        <p:cNvGrpSpPr/>
        <p:nvPr/>
      </p:nvGrpSpPr>
      <p:grpSpPr>
        <a:xfrm>
          <a:off x="0" y="0"/>
          <a:ext cx="0" cy="0"/>
          <a:chOff x="0" y="0"/>
          <a:chExt cx="0" cy="0"/>
        </a:xfrm>
      </p:grpSpPr>
      <p:sp>
        <p:nvSpPr>
          <p:cNvPr id="20" name="Google Shape;20;p3"/>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21" name="Google Shape;21;p3"/>
          <p:cNvSpPr txBox="1"/>
          <p:nvPr>
            <p:ph idx="1" type="body"/>
          </p:nvPr>
        </p:nvSpPr>
        <p:spPr>
          <a:xfrm>
            <a:off x="457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2" name="Google Shape;22;p3"/>
          <p:cNvSpPr txBox="1"/>
          <p:nvPr>
            <p:ph idx="2" type="body"/>
          </p:nvPr>
        </p:nvSpPr>
        <p:spPr>
          <a:xfrm>
            <a:off x="4648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3" name="Google Shape;23;p3"/>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4" name="Google Shape;24;p3"/>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5" name="Google Shape;25;p3"/>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stretch>
            <a:fillRect b="0" l="0" r="0" t="0"/>
          </a:stretch>
        </a:blipFill>
      </p:bgPr>
    </p:bg>
    <p:spTree>
      <p:nvGrpSpPr>
        <p:cNvPr id="26" name="Shape 26"/>
        <p:cNvGrpSpPr/>
        <p:nvPr/>
      </p:nvGrpSpPr>
      <p:grpSpPr>
        <a:xfrm>
          <a:off x="0" y="0"/>
          <a:ext cx="0" cy="0"/>
          <a:chOff x="0" y="0"/>
          <a:chExt cx="0" cy="0"/>
        </a:xfrm>
      </p:grpSpPr>
      <p:sp>
        <p:nvSpPr>
          <p:cNvPr id="27" name="Google Shape;27;p4"/>
          <p:cNvSpPr/>
          <p:nvPr/>
        </p:nvSpPr>
        <p:spPr>
          <a:xfrm>
            <a:off x="0" y="1"/>
            <a:ext cx="9144000" cy="3851700"/>
          </a:xfrm>
          <a:prstGeom prst="rect">
            <a:avLst/>
          </a:prstGeom>
          <a:solidFill>
            <a:srgbClr val="1155CC"/>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28" name="Google Shape;28;p4"/>
          <p:cNvSpPr/>
          <p:nvPr/>
        </p:nvSpPr>
        <p:spPr>
          <a:xfrm>
            <a:off x="0" y="3846284"/>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29" name="Google Shape;29;p4"/>
          <p:cNvSpPr txBox="1"/>
          <p:nvPr>
            <p:ph type="ctrTitle"/>
          </p:nvPr>
        </p:nvSpPr>
        <p:spPr>
          <a:xfrm>
            <a:off x="685800" y="2516887"/>
            <a:ext cx="8077200" cy="12549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30" name="Google Shape;30;p4"/>
          <p:cNvSpPr txBox="1"/>
          <p:nvPr>
            <p:ph idx="1" type="subTitle"/>
          </p:nvPr>
        </p:nvSpPr>
        <p:spPr>
          <a:xfrm>
            <a:off x="685800" y="1371600"/>
            <a:ext cx="8077200" cy="11247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12653" lvl="1" marL="457153" marR="0" rtl="0" algn="ctr">
              <a:spcBef>
                <a:spcPts val="560"/>
              </a:spcBef>
              <a:spcAft>
                <a:spcPts val="0"/>
              </a:spcAft>
              <a:buClr>
                <a:schemeClr val="accent2"/>
              </a:buClr>
              <a:buSzPts val="2520"/>
              <a:buFont typeface="Noto Sans Symbols"/>
              <a:buNone/>
              <a:defRPr b="0" i="0" sz="2800" u="none" cap="none" strike="noStrike">
                <a:solidFill>
                  <a:schemeClr val="lt1"/>
                </a:solidFill>
                <a:latin typeface="Corbel"/>
                <a:ea typeface="Corbel"/>
                <a:cs typeface="Corbel"/>
                <a:sym typeface="Corbel"/>
              </a:defRPr>
            </a:lvl2pPr>
            <a:lvl3pPr indent="-12605" lvl="2" marL="914305" marR="0" rtl="0" algn="ctr">
              <a:spcBef>
                <a:spcPts val="480"/>
              </a:spcBef>
              <a:spcAft>
                <a:spcPts val="0"/>
              </a:spcAft>
              <a:buClr>
                <a:srgbClr val="E66C7D"/>
              </a:buClr>
              <a:buSzPts val="2400"/>
              <a:buFont typeface="Arial"/>
              <a:buNone/>
              <a:defRPr b="0" i="0" sz="2400" u="none" cap="none" strike="noStrike">
                <a:solidFill>
                  <a:schemeClr val="lt1"/>
                </a:solidFill>
                <a:latin typeface="Corbel"/>
                <a:ea typeface="Corbel"/>
                <a:cs typeface="Corbel"/>
                <a:sym typeface="Corbel"/>
              </a:defRPr>
            </a:lvl3pPr>
            <a:lvl4pPr indent="-12557" lvl="3" marL="1371458" marR="0" rtl="0" algn="ctr">
              <a:spcBef>
                <a:spcPts val="400"/>
              </a:spcBef>
              <a:spcAft>
                <a:spcPts val="0"/>
              </a:spcAft>
              <a:buClr>
                <a:srgbClr val="6BB76D"/>
              </a:buClr>
              <a:buSzPts val="2000"/>
              <a:buFont typeface="Arial"/>
              <a:buNone/>
              <a:defRPr b="0" i="0" sz="2000" u="none" cap="none" strike="noStrike">
                <a:solidFill>
                  <a:schemeClr val="lt1"/>
                </a:solidFill>
                <a:latin typeface="Corbel"/>
                <a:ea typeface="Corbel"/>
                <a:cs typeface="Corbel"/>
                <a:sym typeface="Corbel"/>
              </a:defRPr>
            </a:lvl4pPr>
            <a:lvl5pPr indent="-12510" lvl="4" marL="1828610" marR="0" rtl="0" algn="ctr">
              <a:spcBef>
                <a:spcPts val="400"/>
              </a:spcBef>
              <a:spcAft>
                <a:spcPts val="0"/>
              </a:spcAft>
              <a:buClr>
                <a:srgbClr val="E88651"/>
              </a:buClr>
              <a:buSzPts val="2000"/>
              <a:buFont typeface="Noto Sans Symbols"/>
              <a:buNone/>
              <a:defRPr b="0" i="0" sz="2000" u="none" cap="none" strike="noStrike">
                <a:solidFill>
                  <a:schemeClr val="lt1"/>
                </a:solidFill>
                <a:latin typeface="Corbel"/>
                <a:ea typeface="Corbel"/>
                <a:cs typeface="Corbel"/>
                <a:sym typeface="Corbel"/>
              </a:defRPr>
            </a:lvl5pPr>
            <a:lvl6pPr indent="-12462" lvl="5" marL="2285763" marR="0" rtl="0" algn="ctr">
              <a:spcBef>
                <a:spcPts val="400"/>
              </a:spcBef>
              <a:spcAft>
                <a:spcPts val="0"/>
              </a:spcAft>
              <a:buClr>
                <a:schemeClr val="accent6"/>
              </a:buClr>
              <a:buSzPts val="2000"/>
              <a:buFont typeface="Noto Sans Symbols"/>
              <a:buNone/>
              <a:defRPr b="0" i="0" sz="2000" u="none" cap="none" strike="noStrike">
                <a:solidFill>
                  <a:schemeClr val="lt1"/>
                </a:solidFill>
                <a:latin typeface="Corbel"/>
                <a:ea typeface="Corbel"/>
                <a:cs typeface="Corbel"/>
                <a:sym typeface="Corbel"/>
              </a:defRPr>
            </a:lvl6pPr>
            <a:lvl7pPr indent="-12414" lvl="6" marL="2742915" marR="0" rtl="0" algn="ctr">
              <a:spcBef>
                <a:spcPts val="360"/>
              </a:spcBef>
              <a:spcAft>
                <a:spcPts val="0"/>
              </a:spcAft>
              <a:buClr>
                <a:schemeClr val="accent1"/>
              </a:buClr>
              <a:buSzPts val="1800"/>
              <a:buFont typeface="Noto Sans Symbols"/>
              <a:buNone/>
              <a:defRPr b="0" i="0" sz="1800" u="none" cap="none" strike="noStrike">
                <a:solidFill>
                  <a:schemeClr val="lt1"/>
                </a:solidFill>
                <a:latin typeface="Corbel"/>
                <a:ea typeface="Corbel"/>
                <a:cs typeface="Corbel"/>
                <a:sym typeface="Corbel"/>
              </a:defRPr>
            </a:lvl7pPr>
            <a:lvl8pPr indent="-12368" lvl="7" marL="3200068" marR="0" rtl="0" algn="ctr">
              <a:spcBef>
                <a:spcPts val="360"/>
              </a:spcBef>
              <a:spcAft>
                <a:spcPts val="0"/>
              </a:spcAft>
              <a:buClr>
                <a:schemeClr val="accent2"/>
              </a:buClr>
              <a:buSzPts val="1800"/>
              <a:buFont typeface="Noto Sans Symbols"/>
              <a:buNone/>
              <a:defRPr b="0" i="0" sz="1800" u="none" cap="none" strike="noStrike">
                <a:solidFill>
                  <a:schemeClr val="lt1"/>
                </a:solidFill>
                <a:latin typeface="Corbel"/>
                <a:ea typeface="Corbel"/>
                <a:cs typeface="Corbel"/>
                <a:sym typeface="Corbel"/>
              </a:defRPr>
            </a:lvl8pPr>
            <a:lvl9pPr indent="-12320" lvl="8" marL="3657220" marR="0" rtl="0" algn="ctr">
              <a:spcBef>
                <a:spcPts val="360"/>
              </a:spcBef>
              <a:spcAft>
                <a:spcPts val="0"/>
              </a:spcAft>
              <a:buClr>
                <a:schemeClr val="accent3"/>
              </a:buClr>
              <a:buSzPts val="1800"/>
              <a:buFont typeface="Noto Sans Symbols"/>
              <a:buNone/>
              <a:defRPr b="0" i="0" sz="1800" u="none" cap="none" strike="noStrike">
                <a:solidFill>
                  <a:schemeClr val="lt1"/>
                </a:solidFill>
                <a:latin typeface="Corbel"/>
                <a:ea typeface="Corbel"/>
                <a:cs typeface="Corbel"/>
                <a:sym typeface="Corbel"/>
              </a:defRPr>
            </a:lvl9pPr>
          </a:lstStyle>
          <a:p/>
        </p:txBody>
      </p:sp>
      <p:sp>
        <p:nvSpPr>
          <p:cNvPr id="31" name="Google Shape;31;p4"/>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2" name="Google Shape;32;p4"/>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3" name="Google Shape;33;p4"/>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stretch>
            <a:fillRect b="0" l="0" r="0" t="0"/>
          </a:stretch>
        </a:blipFill>
      </p:bgPr>
    </p:bg>
    <p:spTree>
      <p:nvGrpSpPr>
        <p:cNvPr id="34" name="Shape 34"/>
        <p:cNvGrpSpPr/>
        <p:nvPr/>
      </p:nvGrpSpPr>
      <p:grpSpPr>
        <a:xfrm>
          <a:off x="0" y="0"/>
          <a:ext cx="0" cy="0"/>
          <a:chOff x="0" y="0"/>
          <a:chExt cx="0" cy="0"/>
        </a:xfrm>
      </p:grpSpPr>
      <p:sp>
        <p:nvSpPr>
          <p:cNvPr id="35" name="Google Shape;35;p5"/>
          <p:cNvSpPr/>
          <p:nvPr/>
        </p:nvSpPr>
        <p:spPr>
          <a:xfrm>
            <a:off x="0" y="0"/>
            <a:ext cx="9144000" cy="19518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6" name="Google Shape;36;p5"/>
          <p:cNvSpPr/>
          <p:nvPr/>
        </p:nvSpPr>
        <p:spPr>
          <a:xfrm>
            <a:off x="0" y="1951765"/>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7" name="Google Shape;37;p5"/>
          <p:cNvSpPr txBox="1"/>
          <p:nvPr>
            <p:ph type="title"/>
          </p:nvPr>
        </p:nvSpPr>
        <p:spPr>
          <a:xfrm>
            <a:off x="749808" y="89154"/>
            <a:ext cx="8013300" cy="1227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38" name="Google Shape;38;p5"/>
          <p:cNvSpPr txBox="1"/>
          <p:nvPr>
            <p:ph idx="1" type="body"/>
          </p:nvPr>
        </p:nvSpPr>
        <p:spPr>
          <a:xfrm>
            <a:off x="740664" y="1371600"/>
            <a:ext cx="8022300" cy="5142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228600" lvl="1" marL="914400" marR="0" rtl="0" algn="l">
              <a:spcBef>
                <a:spcPts val="360"/>
              </a:spcBef>
              <a:spcAft>
                <a:spcPts val="0"/>
              </a:spcAft>
              <a:buClr>
                <a:schemeClr val="accent2"/>
              </a:buClr>
              <a:buSzPts val="2520"/>
              <a:buFont typeface="Noto Sans Symbols"/>
              <a:buNone/>
              <a:defRPr b="0" i="0" sz="1800" u="none" cap="none" strike="noStrike">
                <a:solidFill>
                  <a:schemeClr val="lt1"/>
                </a:solidFill>
                <a:latin typeface="Corbel"/>
                <a:ea typeface="Corbel"/>
                <a:cs typeface="Corbel"/>
                <a:sym typeface="Corbel"/>
              </a:defRPr>
            </a:lvl2pPr>
            <a:lvl3pPr indent="-228600" lvl="2" marL="1371600" marR="0" rtl="0" algn="l">
              <a:spcBef>
                <a:spcPts val="320"/>
              </a:spcBef>
              <a:spcAft>
                <a:spcPts val="0"/>
              </a:spcAft>
              <a:buClr>
                <a:srgbClr val="E66C7D"/>
              </a:buClr>
              <a:buSzPts val="2400"/>
              <a:buFont typeface="Arial"/>
              <a:buNone/>
              <a:defRPr b="0" i="0" sz="1600" u="none" cap="none" strike="noStrike">
                <a:solidFill>
                  <a:schemeClr val="lt1"/>
                </a:solidFill>
                <a:latin typeface="Corbel"/>
                <a:ea typeface="Corbel"/>
                <a:cs typeface="Corbel"/>
                <a:sym typeface="Corbel"/>
              </a:defRPr>
            </a:lvl3pPr>
            <a:lvl4pPr indent="-228600" lvl="3" marL="1828800" marR="0" rtl="0" algn="l">
              <a:spcBef>
                <a:spcPts val="280"/>
              </a:spcBef>
              <a:spcAft>
                <a:spcPts val="0"/>
              </a:spcAft>
              <a:buClr>
                <a:srgbClr val="6BB76D"/>
              </a:buClr>
              <a:buSzPts val="2000"/>
              <a:buFont typeface="Arial"/>
              <a:buNone/>
              <a:defRPr b="0" i="0" sz="1400" u="none" cap="none" strike="noStrike">
                <a:solidFill>
                  <a:schemeClr val="lt1"/>
                </a:solidFill>
                <a:latin typeface="Corbel"/>
                <a:ea typeface="Corbel"/>
                <a:cs typeface="Corbel"/>
                <a:sym typeface="Corbel"/>
              </a:defRPr>
            </a:lvl4pPr>
            <a:lvl5pPr indent="-228600" lvl="4" marL="2286000" marR="0" rtl="0" algn="l">
              <a:spcBef>
                <a:spcPts val="280"/>
              </a:spcBef>
              <a:spcAft>
                <a:spcPts val="0"/>
              </a:spcAft>
              <a:buClr>
                <a:srgbClr val="E88651"/>
              </a:buClr>
              <a:buSzPts val="2000"/>
              <a:buFont typeface="Noto Sans Symbols"/>
              <a:buNone/>
              <a:defRPr b="0" i="0" sz="1400" u="none" cap="none" strike="noStrike">
                <a:solidFill>
                  <a:schemeClr val="lt1"/>
                </a:solidFill>
                <a:latin typeface="Corbel"/>
                <a:ea typeface="Corbel"/>
                <a:cs typeface="Corbel"/>
                <a:sym typeface="Corbel"/>
              </a:defRPr>
            </a:lvl5pPr>
            <a:lvl6pPr indent="-228600" lvl="5" marL="2743200" marR="0" rtl="0" algn="l">
              <a:spcBef>
                <a:spcPts val="280"/>
              </a:spcBef>
              <a:spcAft>
                <a:spcPts val="0"/>
              </a:spcAft>
              <a:buClr>
                <a:schemeClr val="accent6"/>
              </a:buClr>
              <a:buSzPts val="2000"/>
              <a:buFont typeface="Noto Sans Symbols"/>
              <a:buNone/>
              <a:defRPr b="0" i="0" sz="1400" u="none" cap="none" strike="noStrike">
                <a:solidFill>
                  <a:schemeClr val="lt1"/>
                </a:solidFill>
                <a:latin typeface="Corbel"/>
                <a:ea typeface="Corbel"/>
                <a:cs typeface="Corbel"/>
                <a:sym typeface="Corbel"/>
              </a:defRPr>
            </a:lvl6pPr>
            <a:lvl7pPr indent="-228600" lvl="6" marL="3200400" marR="0" rtl="0" algn="l">
              <a:spcBef>
                <a:spcPts val="280"/>
              </a:spcBef>
              <a:spcAft>
                <a:spcPts val="0"/>
              </a:spcAft>
              <a:buClr>
                <a:schemeClr val="accent1"/>
              </a:buClr>
              <a:buSzPts val="1800"/>
              <a:buFont typeface="Noto Sans Symbols"/>
              <a:buNone/>
              <a:defRPr b="0" i="0" sz="1400" u="none" cap="none" strike="noStrike">
                <a:solidFill>
                  <a:schemeClr val="lt1"/>
                </a:solidFill>
                <a:latin typeface="Corbel"/>
                <a:ea typeface="Corbel"/>
                <a:cs typeface="Corbel"/>
                <a:sym typeface="Corbel"/>
              </a:defRPr>
            </a:lvl7pPr>
            <a:lvl8pPr indent="-228600" lvl="7" marL="3657600" marR="0" rtl="0" algn="l">
              <a:spcBef>
                <a:spcPts val="280"/>
              </a:spcBef>
              <a:spcAft>
                <a:spcPts val="0"/>
              </a:spcAft>
              <a:buClr>
                <a:schemeClr val="accent2"/>
              </a:buClr>
              <a:buSzPts val="1800"/>
              <a:buFont typeface="Noto Sans Symbols"/>
              <a:buNone/>
              <a:defRPr b="0" i="0" sz="1400" u="none" cap="none" strike="noStrike">
                <a:solidFill>
                  <a:schemeClr val="lt1"/>
                </a:solidFill>
                <a:latin typeface="Corbel"/>
                <a:ea typeface="Corbel"/>
                <a:cs typeface="Corbel"/>
                <a:sym typeface="Corbel"/>
              </a:defRPr>
            </a:lvl8pPr>
            <a:lvl9pPr indent="-228600" lvl="8" marL="4114800" marR="0" rtl="0" algn="l">
              <a:spcBef>
                <a:spcPts val="280"/>
              </a:spcBef>
              <a:spcAft>
                <a:spcPts val="0"/>
              </a:spcAft>
              <a:buClr>
                <a:schemeClr val="accent3"/>
              </a:buClr>
              <a:buSzPts val="1800"/>
              <a:buFont typeface="Noto Sans Symbols"/>
              <a:buNone/>
              <a:defRPr b="0" i="0" sz="1400" u="none" cap="none" strike="noStrike">
                <a:solidFill>
                  <a:schemeClr val="lt1"/>
                </a:solidFill>
                <a:latin typeface="Corbel"/>
                <a:ea typeface="Corbel"/>
                <a:cs typeface="Corbel"/>
                <a:sym typeface="Corbel"/>
              </a:defRPr>
            </a:lvl9pPr>
          </a:lstStyle>
          <a:p/>
        </p:txBody>
      </p:sp>
      <p:sp>
        <p:nvSpPr>
          <p:cNvPr id="39" name="Google Shape;39;p5"/>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0" name="Google Shape;40;p5"/>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1" name="Google Shape;41;p5"/>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6"/>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4" name="Google Shape;44;p6"/>
          <p:cNvSpPr txBox="1"/>
          <p:nvPr>
            <p:ph idx="1" type="body"/>
          </p:nvPr>
        </p:nvSpPr>
        <p:spPr>
          <a:xfrm>
            <a:off x="457200" y="1274240"/>
            <a:ext cx="40401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45" name="Google Shape;45;p6"/>
          <p:cNvSpPr txBox="1"/>
          <p:nvPr>
            <p:ph idx="2" type="body"/>
          </p:nvPr>
        </p:nvSpPr>
        <p:spPr>
          <a:xfrm>
            <a:off x="457200" y="1837135"/>
            <a:ext cx="40401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46" name="Google Shape;46;p6"/>
          <p:cNvSpPr txBox="1"/>
          <p:nvPr>
            <p:ph idx="3" type="body"/>
          </p:nvPr>
        </p:nvSpPr>
        <p:spPr>
          <a:xfrm>
            <a:off x="4645025" y="1274240"/>
            <a:ext cx="40419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47" name="Google Shape;47;p6"/>
          <p:cNvSpPr txBox="1"/>
          <p:nvPr>
            <p:ph idx="4" type="body"/>
          </p:nvPr>
        </p:nvSpPr>
        <p:spPr>
          <a:xfrm>
            <a:off x="4645025" y="1837135"/>
            <a:ext cx="40419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48" name="Google Shape;48;p6"/>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49" name="Google Shape;49;p6"/>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0" name="Google Shape;50;p6"/>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7"/>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53" name="Google Shape;53;p7"/>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4" name="Google Shape;54;p7"/>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5" name="Google Shape;55;p7"/>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6" name="Shape 56"/>
        <p:cNvGrpSpPr/>
        <p:nvPr/>
      </p:nvGrpSpPr>
      <p:grpSpPr>
        <a:xfrm>
          <a:off x="0" y="0"/>
          <a:ext cx="0" cy="0"/>
          <a:chOff x="0" y="0"/>
          <a:chExt cx="0" cy="0"/>
        </a:xfrm>
      </p:grpSpPr>
      <p:sp>
        <p:nvSpPr>
          <p:cNvPr id="57" name="Google Shape;57;p8"/>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8" name="Google Shape;58;p8"/>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9" name="Google Shape;59;p8"/>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2" name="Google Shape;62;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3" name="Google Shape;63;p9"/>
          <p:cNvSpPr txBox="1"/>
          <p:nvPr>
            <p:ph type="title"/>
          </p:nvPr>
        </p:nvSpPr>
        <p:spPr>
          <a:xfrm>
            <a:off x="167838" y="114300"/>
            <a:ext cx="25236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64" name="Google Shape;64;p9"/>
          <p:cNvSpPr txBox="1"/>
          <p:nvPr>
            <p:ph idx="1" type="body"/>
          </p:nvPr>
        </p:nvSpPr>
        <p:spPr>
          <a:xfrm>
            <a:off x="3019378" y="1307350"/>
            <a:ext cx="5920500" cy="3419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55600" lvl="6" marL="32004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Corbel"/>
                <a:ea typeface="Corbel"/>
                <a:cs typeface="Corbel"/>
                <a:sym typeface="Corbel"/>
              </a:defRPr>
            </a:lvl7pPr>
            <a:lvl8pPr indent="-355600" lvl="7" marL="3657600" marR="0" rtl="0" algn="l">
              <a:spcBef>
                <a:spcPts val="400"/>
              </a:spcBef>
              <a:spcAft>
                <a:spcPts val="0"/>
              </a:spcAft>
              <a:buClr>
                <a:schemeClr val="accent2"/>
              </a:buClr>
              <a:buSzPts val="2000"/>
              <a:buFont typeface="Noto Sans Symbols"/>
              <a:buChar char="⚫"/>
              <a:defRPr b="0" i="0" sz="2000" u="none" cap="none" strike="noStrike">
                <a:solidFill>
                  <a:schemeClr val="dk1"/>
                </a:solidFill>
                <a:latin typeface="Corbel"/>
                <a:ea typeface="Corbel"/>
                <a:cs typeface="Corbel"/>
                <a:sym typeface="Corbel"/>
              </a:defRPr>
            </a:lvl8pPr>
            <a:lvl9pPr indent="-355600" lvl="8" marL="4114800" marR="0" rtl="0" algn="l">
              <a:spcBef>
                <a:spcPts val="400"/>
              </a:spcBef>
              <a:spcAft>
                <a:spcPts val="0"/>
              </a:spcAft>
              <a:buClr>
                <a:schemeClr val="accent3"/>
              </a:buClr>
              <a:buSzPts val="2000"/>
              <a:buFont typeface="Noto Sans Symbols"/>
              <a:buChar char="⚫"/>
              <a:defRPr b="0" i="0" sz="2000" u="none" cap="none" strike="noStrike">
                <a:solidFill>
                  <a:schemeClr val="dk1"/>
                </a:solidFill>
                <a:latin typeface="Corbel"/>
                <a:ea typeface="Corbel"/>
                <a:cs typeface="Corbel"/>
                <a:sym typeface="Corbel"/>
              </a:defRPr>
            </a:lvl9pPr>
          </a:lstStyle>
          <a:p/>
        </p:txBody>
      </p:sp>
      <p:sp>
        <p:nvSpPr>
          <p:cNvPr id="65" name="Google Shape;65;p9"/>
          <p:cNvSpPr txBox="1"/>
          <p:nvPr>
            <p:ph idx="2" type="body"/>
          </p:nvPr>
        </p:nvSpPr>
        <p:spPr>
          <a:xfrm>
            <a:off x="167839" y="1297514"/>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66" name="Google Shape;66;p9"/>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7" name="Google Shape;67;p9"/>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8" name="Google Shape;68;p9"/>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lt2"/>
        </a:solidFill>
      </p:bgPr>
    </p:bg>
    <p:spTree>
      <p:nvGrpSpPr>
        <p:cNvPr id="69" name="Shape 69"/>
        <p:cNvGrpSpPr/>
        <p:nvPr/>
      </p:nvGrpSpPr>
      <p:grpSpPr>
        <a:xfrm>
          <a:off x="0" y="0"/>
          <a:ext cx="0" cy="0"/>
          <a:chOff x="0" y="0"/>
          <a:chExt cx="0" cy="0"/>
        </a:xfrm>
      </p:grpSpPr>
      <p:sp>
        <p:nvSpPr>
          <p:cNvPr id="70" name="Google Shape;70;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1" name="Google Shape;71;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2" name="Google Shape;72;p10"/>
          <p:cNvSpPr txBox="1"/>
          <p:nvPr>
            <p:ph type="title"/>
          </p:nvPr>
        </p:nvSpPr>
        <p:spPr>
          <a:xfrm>
            <a:off x="164592" y="116586"/>
            <a:ext cx="25251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73" name="Google Shape;73;p10"/>
          <p:cNvSpPr/>
          <p:nvPr>
            <p:ph idx="2" type="pic"/>
          </p:nvPr>
        </p:nvSpPr>
        <p:spPr>
          <a:xfrm>
            <a:off x="2903806" y="1113607"/>
            <a:ext cx="6247500" cy="4029900"/>
          </a:xfrm>
          <a:prstGeom prst="rect">
            <a:avLst/>
          </a:prstGeom>
          <a:solidFill>
            <a:srgbClr val="BABABB"/>
          </a:solid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accent1"/>
              </a:buClr>
              <a:buSzPts val="1400"/>
              <a:buFont typeface="Noto Sans Symbols"/>
              <a:buNone/>
              <a:defRPr b="0" i="0" sz="3200" u="none" cap="none" strike="noStrike">
                <a:solidFill>
                  <a:schemeClr val="dk1"/>
                </a:solidFill>
                <a:latin typeface="Corbel"/>
                <a:ea typeface="Corbel"/>
                <a:cs typeface="Corbel"/>
                <a:sym typeface="Corbel"/>
              </a:defRPr>
            </a:lvl1pPr>
            <a:lvl2pPr indent="-12653" lvl="1" marL="457153" marR="0" rtl="0" algn="l">
              <a:spcBef>
                <a:spcPts val="560"/>
              </a:spcBef>
              <a:spcAft>
                <a:spcPts val="0"/>
              </a:spcAft>
              <a:buClr>
                <a:schemeClr val="accent2"/>
              </a:buClr>
              <a:buSzPts val="1400"/>
              <a:buFont typeface="Noto Sans Symbols"/>
              <a:buNone/>
              <a:defRPr b="0" i="0" sz="2800" u="none" cap="none" strike="noStrike">
                <a:solidFill>
                  <a:schemeClr val="dk1"/>
                </a:solidFill>
                <a:latin typeface="Corbel"/>
                <a:ea typeface="Corbel"/>
                <a:cs typeface="Corbel"/>
                <a:sym typeface="Corbel"/>
              </a:defRPr>
            </a:lvl2pPr>
            <a:lvl3pPr indent="-12605" lvl="2" marL="914305" marR="0" rtl="0" algn="l">
              <a:spcBef>
                <a:spcPts val="480"/>
              </a:spcBef>
              <a:spcAft>
                <a:spcPts val="0"/>
              </a:spcAft>
              <a:buClr>
                <a:srgbClr val="E66C7D"/>
              </a:buClr>
              <a:buSzPts val="1400"/>
              <a:buFont typeface="Arial"/>
              <a:buNone/>
              <a:defRPr b="0" i="0" sz="2400" u="none" cap="none" strike="noStrike">
                <a:solidFill>
                  <a:schemeClr val="dk1"/>
                </a:solidFill>
                <a:latin typeface="Corbel"/>
                <a:ea typeface="Corbel"/>
                <a:cs typeface="Corbel"/>
                <a:sym typeface="Corbel"/>
              </a:defRPr>
            </a:lvl3pPr>
            <a:lvl4pPr indent="-12557" lvl="3" marL="1371458" marR="0" rtl="0" algn="l">
              <a:spcBef>
                <a:spcPts val="400"/>
              </a:spcBef>
              <a:spcAft>
                <a:spcPts val="0"/>
              </a:spcAft>
              <a:buClr>
                <a:srgbClr val="6BB76D"/>
              </a:buClr>
              <a:buSzPts val="1400"/>
              <a:buFont typeface="Arial"/>
              <a:buNone/>
              <a:defRPr b="0" i="0" sz="2000" u="none" cap="none" strike="noStrike">
                <a:solidFill>
                  <a:schemeClr val="dk1"/>
                </a:solidFill>
                <a:latin typeface="Corbel"/>
                <a:ea typeface="Corbel"/>
                <a:cs typeface="Corbel"/>
                <a:sym typeface="Corbel"/>
              </a:defRPr>
            </a:lvl4pPr>
            <a:lvl5pPr indent="-12510" lvl="4" marL="1828610" marR="0" rtl="0" algn="l">
              <a:spcBef>
                <a:spcPts val="400"/>
              </a:spcBef>
              <a:spcAft>
                <a:spcPts val="0"/>
              </a:spcAft>
              <a:buClr>
                <a:srgbClr val="E88651"/>
              </a:buClr>
              <a:buSzPts val="1400"/>
              <a:buFont typeface="Noto Sans Symbols"/>
              <a:buNone/>
              <a:defRPr b="0" i="0" sz="2000" u="none" cap="none" strike="noStrike">
                <a:solidFill>
                  <a:schemeClr val="dk1"/>
                </a:solidFill>
                <a:latin typeface="Corbel"/>
                <a:ea typeface="Corbel"/>
                <a:cs typeface="Corbel"/>
                <a:sym typeface="Corbel"/>
              </a:defRPr>
            </a:lvl5pPr>
            <a:lvl6pPr indent="-12462" lvl="5" marL="2285763" marR="0" rtl="0" algn="l">
              <a:spcBef>
                <a:spcPts val="400"/>
              </a:spcBef>
              <a:spcAft>
                <a:spcPts val="0"/>
              </a:spcAft>
              <a:buClr>
                <a:schemeClr val="accent6"/>
              </a:buClr>
              <a:buSzPts val="1400"/>
              <a:buFont typeface="Noto Sans Symbols"/>
              <a:buNone/>
              <a:defRPr b="0" i="0" sz="2000" u="none" cap="none" strike="noStrike">
                <a:solidFill>
                  <a:schemeClr val="dk1"/>
                </a:solidFill>
                <a:latin typeface="Corbel"/>
                <a:ea typeface="Corbel"/>
                <a:cs typeface="Corbel"/>
                <a:sym typeface="Corbel"/>
              </a:defRPr>
            </a:lvl6pPr>
            <a:lvl7pPr indent="-12414" lvl="6" marL="2742915" marR="0" rtl="0" algn="l">
              <a:spcBef>
                <a:spcPts val="400"/>
              </a:spcBef>
              <a:spcAft>
                <a:spcPts val="0"/>
              </a:spcAft>
              <a:buClr>
                <a:schemeClr val="accent1"/>
              </a:buClr>
              <a:buSzPts val="1400"/>
              <a:buFont typeface="Noto Sans Symbols"/>
              <a:buNone/>
              <a:defRPr b="0" i="0" sz="2000" u="none" cap="none" strike="noStrike">
                <a:solidFill>
                  <a:schemeClr val="dk1"/>
                </a:solidFill>
                <a:latin typeface="Corbel"/>
                <a:ea typeface="Corbel"/>
                <a:cs typeface="Corbel"/>
                <a:sym typeface="Corbel"/>
              </a:defRPr>
            </a:lvl7pPr>
            <a:lvl8pPr indent="-12368" lvl="7" marL="3200068" marR="0" rtl="0" algn="l">
              <a:spcBef>
                <a:spcPts val="400"/>
              </a:spcBef>
              <a:spcAft>
                <a:spcPts val="0"/>
              </a:spcAft>
              <a:buClr>
                <a:schemeClr val="accent2"/>
              </a:buClr>
              <a:buSzPts val="1400"/>
              <a:buFont typeface="Noto Sans Symbols"/>
              <a:buNone/>
              <a:defRPr b="0" i="0" sz="2000" u="none" cap="none" strike="noStrike">
                <a:solidFill>
                  <a:schemeClr val="dk1"/>
                </a:solidFill>
                <a:latin typeface="Corbel"/>
                <a:ea typeface="Corbel"/>
                <a:cs typeface="Corbel"/>
                <a:sym typeface="Corbel"/>
              </a:defRPr>
            </a:lvl8pPr>
            <a:lvl9pPr indent="-12320" lvl="8" marL="3657220" marR="0" rtl="0" algn="l">
              <a:spcBef>
                <a:spcPts val="400"/>
              </a:spcBef>
              <a:spcAft>
                <a:spcPts val="0"/>
              </a:spcAft>
              <a:buClr>
                <a:schemeClr val="accent3"/>
              </a:buClr>
              <a:buSzPts val="1400"/>
              <a:buFont typeface="Noto Sans Symbols"/>
              <a:buNone/>
              <a:defRPr b="0" i="0" sz="2000" u="none" cap="none" strike="noStrike">
                <a:solidFill>
                  <a:schemeClr val="dk1"/>
                </a:solidFill>
                <a:latin typeface="Corbel"/>
                <a:ea typeface="Corbel"/>
                <a:cs typeface="Corbel"/>
                <a:sym typeface="Corbel"/>
              </a:defRPr>
            </a:lvl9pPr>
          </a:lstStyle>
          <a:p/>
        </p:txBody>
      </p:sp>
      <p:sp>
        <p:nvSpPr>
          <p:cNvPr id="74" name="Google Shape;74;p10"/>
          <p:cNvSpPr txBox="1"/>
          <p:nvPr>
            <p:ph idx="1" type="body"/>
          </p:nvPr>
        </p:nvSpPr>
        <p:spPr>
          <a:xfrm>
            <a:off x="164592" y="1296162"/>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5" name="Google Shape;75;p10"/>
          <p:cNvSpPr txBox="1"/>
          <p:nvPr>
            <p:ph idx="10" type="dt"/>
          </p:nvPr>
        </p:nvSpPr>
        <p:spPr>
          <a:xfrm>
            <a:off x="164160" y="878132"/>
            <a:ext cx="252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6" name="Google Shape;76;p10"/>
          <p:cNvSpPr txBox="1"/>
          <p:nvPr>
            <p:ph idx="11" type="ftr"/>
          </p:nvPr>
        </p:nvSpPr>
        <p:spPr>
          <a:xfrm>
            <a:off x="3035521" y="878132"/>
            <a:ext cx="519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BABABA"/>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7" name="Google Shape;77;p10"/>
          <p:cNvSpPr txBox="1"/>
          <p:nvPr>
            <p:ph idx="12" type="sldNum"/>
          </p:nvPr>
        </p:nvSpPr>
        <p:spPr>
          <a:xfrm>
            <a:off x="8339041" y="878132"/>
            <a:ext cx="734400" cy="1500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80" name="Google Shape;80;p11"/>
          <p:cNvSpPr txBox="1"/>
          <p:nvPr>
            <p:ph idx="1" type="body"/>
          </p:nvPr>
        </p:nvSpPr>
        <p:spPr>
          <a:xfrm rot="5400000">
            <a:off x="2837370" y="-1049170"/>
            <a:ext cx="3469200" cy="8231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81" name="Google Shape;81;p1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2" name="Google Shape;82;p1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3" name="Google Shape;83;p1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a:off x="6599520" y="0"/>
            <a:ext cx="44700" cy="5143500"/>
          </a:xfrm>
          <a:prstGeom prst="rect">
            <a:avLst/>
          </a:prstGeom>
          <a:solidFill>
            <a:srgbClr val="FFFFFF"/>
          </a:solidFill>
          <a:ln>
            <a:noFill/>
          </a:ln>
          <a:effectLst>
            <a:outerShdw blurRad="31750" rotWithShape="0" algn="tl" dir="108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86" name="Google Shape;86;p12"/>
          <p:cNvSpPr/>
          <p:nvPr/>
        </p:nvSpPr>
        <p:spPr>
          <a:xfrm>
            <a:off x="6647041" y="0"/>
            <a:ext cx="2515800" cy="51435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87" name="Google Shape;87;p12"/>
          <p:cNvSpPr txBox="1"/>
          <p:nvPr>
            <p:ph type="title"/>
          </p:nvPr>
        </p:nvSpPr>
        <p:spPr>
          <a:xfrm rot="5400000">
            <a:off x="5539950" y="1447831"/>
            <a:ext cx="4388700" cy="19050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88" name="Google Shape;88;p12"/>
          <p:cNvSpPr txBox="1"/>
          <p:nvPr>
            <p:ph idx="1" type="body"/>
          </p:nvPr>
        </p:nvSpPr>
        <p:spPr>
          <a:xfrm rot="5400000">
            <a:off x="1272750" y="-586949"/>
            <a:ext cx="4388700" cy="60198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89" name="Google Shape;89;p1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0" name="Google Shape;90;p12"/>
          <p:cNvSpPr txBox="1"/>
          <p:nvPr>
            <p:ph idx="11" type="ftr"/>
          </p:nvPr>
        </p:nvSpPr>
        <p:spPr>
          <a:xfrm>
            <a:off x="2640960" y="4782742"/>
            <a:ext cx="3836100" cy="274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1" name="Google Shape;91;p1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 name="Shape 92"/>
        <p:cNvGrpSpPr/>
        <p:nvPr/>
      </p:nvGrpSpPr>
      <p:grpSpPr>
        <a:xfrm>
          <a:off x="0" y="0"/>
          <a:ext cx="0" cy="0"/>
          <a:chOff x="0" y="0"/>
          <a:chExt cx="0" cy="0"/>
        </a:xfrm>
      </p:grpSpPr>
      <p:sp>
        <p:nvSpPr>
          <p:cNvPr id="93" name="Google Shape;93;p13"/>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91160" lvl="0" marL="457200">
              <a:spcBef>
                <a:spcPts val="0"/>
              </a:spcBef>
              <a:spcAft>
                <a:spcPts val="0"/>
              </a:spcAft>
              <a:buSzPts val="2560"/>
              <a:buChar char="◼"/>
              <a:defRPr/>
            </a:lvl1pPr>
            <a:lvl2pPr indent="-388619" lvl="1" marL="914400">
              <a:spcBef>
                <a:spcPts val="560"/>
              </a:spcBef>
              <a:spcAft>
                <a:spcPts val="0"/>
              </a:spcAft>
              <a:buSzPts val="252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42900" lvl="6" marL="3200400">
              <a:spcBef>
                <a:spcPts val="360"/>
              </a:spcBef>
              <a:spcAft>
                <a:spcPts val="0"/>
              </a:spcAft>
              <a:buSzPts val="1800"/>
              <a:buChar char="⚫"/>
              <a:defRPr/>
            </a:lvl7pPr>
            <a:lvl8pPr indent="-342900" lvl="7" marL="3657600">
              <a:spcBef>
                <a:spcPts val="360"/>
              </a:spcBef>
              <a:spcAft>
                <a:spcPts val="0"/>
              </a:spcAft>
              <a:buSzPts val="1800"/>
              <a:buChar char="⚫"/>
              <a:defRPr/>
            </a:lvl8pPr>
            <a:lvl9pPr indent="-342900" lvl="8" marL="4114800">
              <a:spcBef>
                <a:spcPts val="360"/>
              </a:spcBef>
              <a:spcAft>
                <a:spcPts val="0"/>
              </a:spcAft>
              <a:buSzPts val="1800"/>
              <a:buChar char="⚫"/>
              <a:defRPr/>
            </a:lvl9pPr>
          </a:lstStyle>
          <a:p/>
        </p:txBody>
      </p:sp>
      <p:sp>
        <p:nvSpPr>
          <p:cNvPr id="95" name="Google Shape;95;p13"/>
          <p:cNvSpPr txBox="1"/>
          <p:nvPr>
            <p:ph idx="12" type="sldNum"/>
          </p:nvPr>
        </p:nvSpPr>
        <p:spPr>
          <a:xfrm>
            <a:off x="8497999" y="4688759"/>
            <a:ext cx="548700" cy="393600"/>
          </a:xfrm>
          <a:prstGeom prst="rect">
            <a:avLst/>
          </a:prstGeom>
        </p:spPr>
        <p:txBody>
          <a:bodyPr anchorCtr="0" anchor="b" bIns="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96" name="Shape 96"/>
        <p:cNvGrpSpPr/>
        <p:nvPr/>
      </p:nvGrpSpPr>
      <p:grpSpPr>
        <a:xfrm>
          <a:off x="0" y="0"/>
          <a:ext cx="0" cy="0"/>
          <a:chOff x="0" y="0"/>
          <a:chExt cx="0" cy="0"/>
        </a:xfrm>
      </p:grpSpPr>
      <p:sp>
        <p:nvSpPr>
          <p:cNvPr id="97" name="Google Shape;97;p14"/>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txBox="1"/>
          <p:nvPr>
            <p:ph type="title"/>
          </p:nvPr>
        </p:nvSpPr>
        <p:spPr>
          <a:xfrm>
            <a:off x="485875" y="1714500"/>
            <a:ext cx="8183700" cy="7857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99" name="Google Shape;99;p14"/>
          <p:cNvSpPr txBox="1"/>
          <p:nvPr>
            <p:ph idx="12" type="sldNum"/>
          </p:nvPr>
        </p:nvSpPr>
        <p:spPr>
          <a:xfrm>
            <a:off x="8497999" y="4688759"/>
            <a:ext cx="548700" cy="393600"/>
          </a:xfrm>
          <a:prstGeom prst="rect">
            <a:avLst/>
          </a:prstGeom>
        </p:spPr>
        <p:txBody>
          <a:bodyPr anchorCtr="0" anchor="b" bIns="0" lIns="91425" spcFirstLastPara="1" rIns="91425" wrap="square" tIns="457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0" name="Shape 100"/>
        <p:cNvGrpSpPr/>
        <p:nvPr/>
      </p:nvGrpSpPr>
      <p:grpSpPr>
        <a:xfrm>
          <a:off x="0" y="0"/>
          <a:ext cx="0" cy="0"/>
          <a:chOff x="0" y="0"/>
          <a:chExt cx="0" cy="0"/>
        </a:xfrm>
      </p:grpSpPr>
      <p:sp>
        <p:nvSpPr>
          <p:cNvPr id="101" name="Google Shape;101;p1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1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560"/>
              </a:spcBef>
              <a:spcAft>
                <a:spcPts val="0"/>
              </a:spcAft>
              <a:buSzPts val="1200"/>
              <a:buChar char="▪"/>
              <a:defRPr sz="1200"/>
            </a:lvl2pPr>
            <a:lvl3pPr indent="-304800" lvl="2" marL="1371600">
              <a:spcBef>
                <a:spcPts val="480"/>
              </a:spcBef>
              <a:spcAft>
                <a:spcPts val="0"/>
              </a:spcAft>
              <a:buSzPts val="1200"/>
              <a:buChar char="▪"/>
              <a:defRPr sz="1200"/>
            </a:lvl3pPr>
            <a:lvl4pPr indent="-304800" lvl="3" marL="1828800">
              <a:spcBef>
                <a:spcPts val="400"/>
              </a:spcBef>
              <a:spcAft>
                <a:spcPts val="0"/>
              </a:spcAft>
              <a:buSzPts val="1200"/>
              <a:buChar char="▪"/>
              <a:defRPr sz="1200"/>
            </a:lvl4pPr>
            <a:lvl5pPr indent="-304800" lvl="4" marL="2286000">
              <a:spcBef>
                <a:spcPts val="400"/>
              </a:spcBef>
              <a:spcAft>
                <a:spcPts val="0"/>
              </a:spcAft>
              <a:buSzPts val="1200"/>
              <a:buChar char="•"/>
              <a:defRPr sz="1200"/>
            </a:lvl5pPr>
            <a:lvl6pPr indent="-304800" lvl="5" marL="2743200">
              <a:spcBef>
                <a:spcPts val="400"/>
              </a:spcBef>
              <a:spcAft>
                <a:spcPts val="0"/>
              </a:spcAft>
              <a:buSzPts val="1200"/>
              <a:buChar char="⚫"/>
              <a:defRPr sz="1200"/>
            </a:lvl6pPr>
            <a:lvl7pPr indent="-304800" lvl="6" marL="3200400">
              <a:spcBef>
                <a:spcPts val="360"/>
              </a:spcBef>
              <a:spcAft>
                <a:spcPts val="0"/>
              </a:spcAft>
              <a:buSzPts val="1200"/>
              <a:buChar char="⚫"/>
              <a:defRPr sz="1200"/>
            </a:lvl7pPr>
            <a:lvl8pPr indent="-304800" lvl="7" marL="3657600">
              <a:spcBef>
                <a:spcPts val="360"/>
              </a:spcBef>
              <a:spcAft>
                <a:spcPts val="0"/>
              </a:spcAft>
              <a:buSzPts val="1200"/>
              <a:buChar char="⚫"/>
              <a:defRPr sz="1200"/>
            </a:lvl8pPr>
            <a:lvl9pPr indent="-304800" lvl="8" marL="4114800">
              <a:spcBef>
                <a:spcPts val="360"/>
              </a:spcBef>
              <a:spcAft>
                <a:spcPts val="0"/>
              </a:spcAft>
              <a:buSzPts val="1200"/>
              <a:buChar char="⚫"/>
              <a:defRPr sz="1200"/>
            </a:lvl9pPr>
          </a:lstStyle>
          <a:p/>
        </p:txBody>
      </p:sp>
      <p:sp>
        <p:nvSpPr>
          <p:cNvPr id="103" name="Google Shape;103;p15"/>
          <p:cNvSpPr txBox="1"/>
          <p:nvPr>
            <p:ph idx="12" type="sldNum"/>
          </p:nvPr>
        </p:nvSpPr>
        <p:spPr>
          <a:xfrm>
            <a:off x="8497999" y="4688759"/>
            <a:ext cx="548700" cy="393600"/>
          </a:xfrm>
          <a:prstGeom prst="rect">
            <a:avLst/>
          </a:prstGeom>
        </p:spPr>
        <p:txBody>
          <a:bodyPr anchorCtr="0" anchor="b" bIns="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5"/>
          <p:cNvSpPr/>
          <p:nvPr>
            <p:ph idx="2" type="pic"/>
          </p:nvPr>
        </p:nvSpPr>
        <p:spPr>
          <a:xfrm>
            <a:off x="3475675" y="1800"/>
            <a:ext cx="56685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105" name="Shape 105"/>
        <p:cNvGrpSpPr/>
        <p:nvPr/>
      </p:nvGrpSpPr>
      <p:grpSpPr>
        <a:xfrm>
          <a:off x="0" y="0"/>
          <a:ext cx="0" cy="0"/>
          <a:chOff x="0" y="0"/>
          <a:chExt cx="0" cy="0"/>
        </a:xfrm>
      </p:grpSpPr>
      <p:sp>
        <p:nvSpPr>
          <p:cNvPr id="106" name="Google Shape;106;p16"/>
          <p:cNvSpPr txBox="1"/>
          <p:nvPr>
            <p:ph type="ctrTitle"/>
          </p:nvPr>
        </p:nvSpPr>
        <p:spPr>
          <a:xfrm>
            <a:off x="311700" y="744575"/>
            <a:ext cx="5402400" cy="2052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7" name="Google Shape;107;p16"/>
          <p:cNvSpPr txBox="1"/>
          <p:nvPr>
            <p:ph idx="1" type="subTitle"/>
          </p:nvPr>
        </p:nvSpPr>
        <p:spPr>
          <a:xfrm>
            <a:off x="311700" y="2834125"/>
            <a:ext cx="54024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2800"/>
            </a:lvl1pPr>
            <a:lvl2pPr lvl="1" algn="ctr">
              <a:lnSpc>
                <a:spcPct val="100000"/>
              </a:lnSpc>
              <a:spcBef>
                <a:spcPts val="560"/>
              </a:spcBef>
              <a:spcAft>
                <a:spcPts val="0"/>
              </a:spcAft>
              <a:buSzPts val="2800"/>
              <a:buNone/>
              <a:defRPr sz="2800"/>
            </a:lvl2pPr>
            <a:lvl3pPr lvl="2" algn="ctr">
              <a:lnSpc>
                <a:spcPct val="100000"/>
              </a:lnSpc>
              <a:spcBef>
                <a:spcPts val="48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360"/>
              </a:spcBef>
              <a:spcAft>
                <a:spcPts val="0"/>
              </a:spcAft>
              <a:buSzPts val="2800"/>
              <a:buNone/>
              <a:defRPr sz="2800"/>
            </a:lvl7pPr>
            <a:lvl8pPr lvl="7" algn="ctr">
              <a:lnSpc>
                <a:spcPct val="100000"/>
              </a:lnSpc>
              <a:spcBef>
                <a:spcPts val="360"/>
              </a:spcBef>
              <a:spcAft>
                <a:spcPts val="0"/>
              </a:spcAft>
              <a:buSzPts val="2800"/>
              <a:buNone/>
              <a:defRPr sz="2800"/>
            </a:lvl8pPr>
            <a:lvl9pPr lvl="8" algn="ctr">
              <a:lnSpc>
                <a:spcPct val="100000"/>
              </a:lnSpc>
              <a:spcBef>
                <a:spcPts val="360"/>
              </a:spcBef>
              <a:spcAft>
                <a:spcPts val="0"/>
              </a:spcAft>
              <a:buSzPts val="2800"/>
              <a:buNone/>
              <a:defRPr sz="2800"/>
            </a:lvl9pPr>
          </a:lstStyle>
          <a:p/>
        </p:txBody>
      </p:sp>
      <p:sp>
        <p:nvSpPr>
          <p:cNvPr id="108" name="Google Shape;108;p16"/>
          <p:cNvSpPr txBox="1"/>
          <p:nvPr>
            <p:ph idx="12" type="sldNum"/>
          </p:nvPr>
        </p:nvSpPr>
        <p:spPr>
          <a:xfrm>
            <a:off x="8472458" y="4663217"/>
            <a:ext cx="548700" cy="393600"/>
          </a:xfrm>
          <a:prstGeom prst="rect">
            <a:avLst/>
          </a:prstGeom>
        </p:spPr>
        <p:txBody>
          <a:bodyPr anchorCtr="0" anchor="b" bIns="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6"/>
          <p:cNvSpPr/>
          <p:nvPr>
            <p:ph idx="2" type="pic"/>
          </p:nvPr>
        </p:nvSpPr>
        <p:spPr>
          <a:xfrm>
            <a:off x="6000000" y="1027850"/>
            <a:ext cx="2832300" cy="28323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2">
  <p:cSld name="SECTION_HEADER_2">
    <p:spTree>
      <p:nvGrpSpPr>
        <p:cNvPr id="110" name="Shape 110"/>
        <p:cNvGrpSpPr/>
        <p:nvPr/>
      </p:nvGrpSpPr>
      <p:grpSpPr>
        <a:xfrm>
          <a:off x="0" y="0"/>
          <a:ext cx="0" cy="0"/>
          <a:chOff x="0" y="0"/>
          <a:chExt cx="0" cy="0"/>
        </a:xfrm>
      </p:grpSpPr>
      <p:sp>
        <p:nvSpPr>
          <p:cNvPr id="111" name="Google Shape;111;p1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b="1"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2" name="Google Shape;112;p17"/>
          <p:cNvSpPr txBox="1"/>
          <p:nvPr>
            <p:ph idx="12" type="sldNum"/>
          </p:nvPr>
        </p:nvSpPr>
        <p:spPr>
          <a:xfrm>
            <a:off x="8472458" y="4663217"/>
            <a:ext cx="548700" cy="393600"/>
          </a:xfrm>
          <a:prstGeom prst="rect">
            <a:avLst/>
          </a:prstGeom>
        </p:spPr>
        <p:txBody>
          <a:bodyPr anchorCtr="0" anchor="b" bIns="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
  <p:cSld name="TITLE_ONLY_1">
    <p:spTree>
      <p:nvGrpSpPr>
        <p:cNvPr id="113" name="Shape 113"/>
        <p:cNvGrpSpPr/>
        <p:nvPr/>
      </p:nvGrpSpPr>
      <p:grpSpPr>
        <a:xfrm>
          <a:off x="0" y="0"/>
          <a:ext cx="0" cy="0"/>
          <a:chOff x="0" y="0"/>
          <a:chExt cx="0" cy="0"/>
        </a:xfrm>
      </p:grpSpPr>
      <p:sp>
        <p:nvSpPr>
          <p:cNvPr id="114" name="Google Shape;114;p18"/>
          <p:cNvSpPr txBox="1"/>
          <p:nvPr>
            <p:ph type="title"/>
          </p:nvPr>
        </p:nvSpPr>
        <p:spPr>
          <a:xfrm>
            <a:off x="311700" y="216425"/>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8"/>
          <p:cNvSpPr txBox="1"/>
          <p:nvPr>
            <p:ph idx="12" type="sldNum"/>
          </p:nvPr>
        </p:nvSpPr>
        <p:spPr>
          <a:xfrm>
            <a:off x="8472458" y="4663217"/>
            <a:ext cx="548700" cy="393600"/>
          </a:xfrm>
          <a:prstGeom prst="rect">
            <a:avLst/>
          </a:prstGeom>
        </p:spPr>
        <p:txBody>
          <a:bodyPr anchorCtr="0" anchor="b" bIns="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18"/>
          <p:cNvSpPr/>
          <p:nvPr>
            <p:ph idx="2" type="pic"/>
          </p:nvPr>
        </p:nvSpPr>
        <p:spPr>
          <a:xfrm>
            <a:off x="311700" y="938550"/>
            <a:ext cx="8542800" cy="38982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1076873"/>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 name="Google Shape;7;p1"/>
          <p:cNvSpPr/>
          <p:nvPr/>
        </p:nvSpPr>
        <p:spPr>
          <a:xfrm>
            <a:off x="25" y="0"/>
            <a:ext cx="9144000" cy="1075800"/>
          </a:xfrm>
          <a:prstGeom prst="rect">
            <a:avLst/>
          </a:prstGeom>
          <a:solidFill>
            <a:srgbClr val="1155CC"/>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8" name="Google Shape;8;p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9" name="Google Shape;9;p1"/>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10" name="Google Shape;10;p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1" name="Google Shape;11;p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2" name="Google Shape;12;p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slide" Target="/ppt/slides/slide7.xml"/><Relationship Id="rId4" Type="http://schemas.openxmlformats.org/officeDocument/2006/relationships/slide" Target="/ppt/slides/slide12.xml"/><Relationship Id="rId5" Type="http://schemas.openxmlformats.org/officeDocument/2006/relationships/slide" Target="/ppt/slides/slide36.xml"/><Relationship Id="rId6" Type="http://schemas.openxmlformats.org/officeDocument/2006/relationships/slide" Target="/ppt/slides/slide4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www.youtube.com/watch?v=90qXw0Htj-o" TargetMode="External"/><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hyperlink" Target="http://www.youtube.com/watch?v=Cz1j10JyDuw" TargetMode="External"/><Relationship Id="rId4"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hyperlink" Target="http://www.youtube.com/watch?v=Ik4zE8lXWs8" TargetMode="External"/><Relationship Id="rId4" Type="http://schemas.openxmlformats.org/officeDocument/2006/relationships/image" Target="../media/image1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hyperlink" Target="http://www.youtube.com/watch?v=F9NkYSKJifs" TargetMode="External"/><Relationship Id="rId4" Type="http://schemas.openxmlformats.org/officeDocument/2006/relationships/image" Target="../media/image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hyperlink" Target="https://drive.google.com/file/d/0BzCIvA_rN_d3SjRQRHpneFNQajg/view?resourcekey=0-AT_tdmhLYtJnpmawMNtjeA"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hyperlink" Target="http://www.youtube.com/watch?v=TEl4jeETVmg" TargetMode="External"/><Relationship Id="rId4" Type="http://schemas.openxmlformats.org/officeDocument/2006/relationships/image" Target="../media/image1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hyperlink" Target="http://www.youtube.com/watch?v=Z_TjGRPPR9Q" TargetMode="External"/><Relationship Id="rId4" Type="http://schemas.openxmlformats.org/officeDocument/2006/relationships/image" Target="../media/image1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ctrTitle"/>
          </p:nvPr>
        </p:nvSpPr>
        <p:spPr>
          <a:xfrm>
            <a:off x="685800" y="2516887"/>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Measuring with the Mole</a:t>
            </a:r>
            <a:endParaRPr/>
          </a:p>
        </p:txBody>
      </p:sp>
      <p:pic>
        <p:nvPicPr>
          <p:cNvPr descr="Mole | Photo by fihu | Andi | Flickr" id="122" name="Google Shape;122;p19"/>
          <p:cNvPicPr preferRelativeResize="0"/>
          <p:nvPr/>
        </p:nvPicPr>
        <p:blipFill>
          <a:blip r:embed="rId3">
            <a:alphaModFix/>
          </a:blip>
          <a:stretch>
            <a:fillRect/>
          </a:stretch>
        </p:blipFill>
        <p:spPr>
          <a:xfrm>
            <a:off x="3039650" y="241700"/>
            <a:ext cx="2583459" cy="2212087"/>
          </a:xfrm>
          <a:prstGeom prst="rect">
            <a:avLst/>
          </a:prstGeom>
          <a:noFill/>
          <a:ln>
            <a:noFill/>
          </a:ln>
        </p:spPr>
      </p:pic>
      <p:sp>
        <p:nvSpPr>
          <p:cNvPr id="123" name="Google Shape;123;p19"/>
          <p:cNvSpPr txBox="1"/>
          <p:nvPr/>
        </p:nvSpPr>
        <p:spPr>
          <a:xfrm>
            <a:off x="739525" y="4066050"/>
            <a:ext cx="73704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600">
                <a:solidFill>
                  <a:schemeClr val="accent1"/>
                </a:solidFill>
                <a:latin typeface="Corbel"/>
                <a:ea typeface="Corbel"/>
                <a:cs typeface="Corbel"/>
                <a:sym typeface="Corbel"/>
              </a:rPr>
              <a:t>Share one copy of this with your group. </a:t>
            </a:r>
            <a:endParaRPr sz="2600">
              <a:solidFill>
                <a:schemeClr val="accent1"/>
              </a:solidFill>
              <a:latin typeface="Corbel"/>
              <a:ea typeface="Corbel"/>
              <a:cs typeface="Corbel"/>
              <a:sym typeface="Corbel"/>
            </a:endParaRPr>
          </a:p>
          <a:p>
            <a:pPr indent="0" lvl="0" marL="0" rtl="0" algn="ctr">
              <a:spcBef>
                <a:spcPts val="0"/>
              </a:spcBef>
              <a:spcAft>
                <a:spcPts val="0"/>
              </a:spcAft>
              <a:buNone/>
            </a:pPr>
            <a:r>
              <a:rPr lang="en" sz="2600">
                <a:solidFill>
                  <a:schemeClr val="accent1"/>
                </a:solidFill>
                <a:latin typeface="Corbel"/>
                <a:ea typeface="Corbel"/>
                <a:cs typeface="Corbel"/>
                <a:sym typeface="Corbel"/>
              </a:rPr>
              <a:t>Make your own copy at the end of the lesson.</a:t>
            </a:r>
            <a:endParaRPr sz="2600">
              <a:solidFill>
                <a:schemeClr val="accent1"/>
              </a:solidFill>
              <a:latin typeface="Corbel"/>
              <a:ea typeface="Corbel"/>
              <a:cs typeface="Corbel"/>
              <a:sym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RECALL  </a:t>
            </a:r>
            <a:endParaRPr/>
          </a:p>
        </p:txBody>
      </p:sp>
      <p:sp>
        <p:nvSpPr>
          <p:cNvPr id="129" name="Google Shape;129;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2200"/>
              <a:t>In your group, answer the following:</a:t>
            </a:r>
            <a:endParaRPr sz="2200"/>
          </a:p>
          <a:p>
            <a:pPr indent="0" lvl="0" marL="0" rtl="0" algn="l">
              <a:lnSpc>
                <a:spcPct val="150000"/>
              </a:lnSpc>
              <a:spcBef>
                <a:spcPts val="0"/>
              </a:spcBef>
              <a:spcAft>
                <a:spcPts val="0"/>
              </a:spcAft>
              <a:buNone/>
            </a:pPr>
            <a:r>
              <a:rPr lang="en" sz="2200"/>
              <a:t>- What is atomic mass?</a:t>
            </a:r>
            <a:endParaRPr sz="2200"/>
          </a:p>
          <a:p>
            <a:pPr indent="0" lvl="0" marL="0" rtl="0" algn="l">
              <a:lnSpc>
                <a:spcPct val="150000"/>
              </a:lnSpc>
              <a:spcBef>
                <a:spcPts val="0"/>
              </a:spcBef>
              <a:spcAft>
                <a:spcPts val="0"/>
              </a:spcAft>
              <a:buNone/>
            </a:pPr>
            <a:r>
              <a:rPr lang="en" sz="2200"/>
              <a:t>- How many atoms of each element are in MgCl</a:t>
            </a:r>
            <a:r>
              <a:rPr baseline="-25000" lang="en" sz="2200"/>
              <a:t>2</a:t>
            </a:r>
            <a:r>
              <a:rPr lang="en" sz="2200"/>
              <a:t>? How about Mg</a:t>
            </a:r>
            <a:r>
              <a:rPr baseline="-25000" lang="en" sz="2200"/>
              <a:t>3</a:t>
            </a:r>
            <a:r>
              <a:rPr lang="en" sz="2200"/>
              <a:t>(PO</a:t>
            </a:r>
            <a:r>
              <a:rPr baseline="-25000" lang="en" sz="2200"/>
              <a:t>4</a:t>
            </a:r>
            <a:r>
              <a:rPr lang="en" sz="2200"/>
              <a:t>)</a:t>
            </a:r>
            <a:r>
              <a:rPr baseline="-25000" lang="en" sz="2200"/>
              <a:t>2</a:t>
            </a:r>
            <a:r>
              <a:rPr lang="en" sz="2200"/>
              <a:t>?</a:t>
            </a:r>
            <a:endParaRPr sz="2200"/>
          </a:p>
          <a:p>
            <a:pPr indent="0" lvl="0" marL="0" rtl="0" algn="l">
              <a:lnSpc>
                <a:spcPct val="150000"/>
              </a:lnSpc>
              <a:spcBef>
                <a:spcPts val="0"/>
              </a:spcBef>
              <a:spcAft>
                <a:spcPts val="0"/>
              </a:spcAft>
              <a:buNone/>
            </a:pPr>
            <a:r>
              <a:rPr lang="en" sz="2200"/>
              <a:t>- How can you calculate the mass of MgCl</a:t>
            </a:r>
            <a:r>
              <a:rPr baseline="-25000" lang="en" sz="2200"/>
              <a:t>2</a:t>
            </a:r>
            <a:r>
              <a:rPr baseline="30000" lang="en" sz="2200"/>
              <a:t> </a:t>
            </a:r>
            <a:r>
              <a:rPr lang="en" sz="2200"/>
              <a:t> in atomic mass units?</a:t>
            </a:r>
            <a:endParaRPr sz="2200"/>
          </a:p>
          <a:p>
            <a:pPr indent="0" lvl="0" marL="0" rtl="0" algn="l">
              <a:lnSpc>
                <a:spcPct val="150000"/>
              </a:lnSpc>
              <a:spcBef>
                <a:spcPts val="0"/>
              </a:spcBef>
              <a:spcAft>
                <a:spcPts val="0"/>
              </a:spcAft>
              <a:buNone/>
            </a:pPr>
            <a:r>
              <a:rPr lang="en" sz="2200"/>
              <a:t>If you are unsure of how to answer these, seek teacher assistance before continuing! </a:t>
            </a:r>
            <a:endParaRPr sz="2200"/>
          </a:p>
          <a:p>
            <a:pPr indent="0" lvl="0" marL="0" rtl="0" algn="l">
              <a:lnSpc>
                <a:spcPct val="150000"/>
              </a:lnSpc>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ESSENTIAL QUESTIONS</a:t>
            </a:r>
            <a:endParaRPr/>
          </a:p>
        </p:txBody>
      </p:sp>
      <p:sp>
        <p:nvSpPr>
          <p:cNvPr id="135" name="Google Shape;135;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9900FF"/>
                </a:solidFill>
                <a:latin typeface="Cabin"/>
                <a:ea typeface="Cabin"/>
                <a:cs typeface="Cabin"/>
                <a:sym typeface="Cabin"/>
              </a:rPr>
              <a:t>Remember, you should be able to thoroughly answer these </a:t>
            </a:r>
            <a:r>
              <a:rPr b="1" lang="en" sz="2400" u="sng">
                <a:solidFill>
                  <a:srgbClr val="9900FF"/>
                </a:solidFill>
                <a:latin typeface="Cabin"/>
                <a:ea typeface="Cabin"/>
                <a:cs typeface="Cabin"/>
                <a:sym typeface="Cabin"/>
              </a:rPr>
              <a:t>AFTER</a:t>
            </a:r>
            <a:r>
              <a:rPr b="1" lang="en" sz="2400">
                <a:solidFill>
                  <a:srgbClr val="9900FF"/>
                </a:solidFill>
                <a:latin typeface="Cabin"/>
                <a:ea typeface="Cabin"/>
                <a:cs typeface="Cabin"/>
                <a:sym typeface="Cabin"/>
              </a:rPr>
              <a:t> learning through following resources.</a:t>
            </a:r>
            <a:endParaRPr b="1" sz="2400">
              <a:solidFill>
                <a:srgbClr val="9900FF"/>
              </a:solidFill>
              <a:latin typeface="Cabin"/>
              <a:ea typeface="Cabin"/>
              <a:cs typeface="Cabin"/>
              <a:sym typeface="Cabin"/>
            </a:endParaRPr>
          </a:p>
          <a:p>
            <a:pPr indent="0" lvl="0" marL="437766" rtl="0" algn="l">
              <a:lnSpc>
                <a:spcPct val="150000"/>
              </a:lnSpc>
              <a:spcBef>
                <a:spcPts val="0"/>
              </a:spcBef>
              <a:spcAft>
                <a:spcPts val="0"/>
              </a:spcAft>
              <a:buNone/>
            </a:pPr>
            <a:r>
              <a:t/>
            </a:r>
            <a:endParaRPr sz="1800"/>
          </a:p>
          <a:p>
            <a:pPr indent="-342900" lvl="0" marL="457200" rtl="0" algn="l">
              <a:lnSpc>
                <a:spcPct val="150000"/>
              </a:lnSpc>
              <a:spcBef>
                <a:spcPts val="0"/>
              </a:spcBef>
              <a:spcAft>
                <a:spcPts val="0"/>
              </a:spcAft>
              <a:buClr>
                <a:schemeClr val="dk1"/>
              </a:buClr>
              <a:buSzPts val="1800"/>
              <a:buChar char="●"/>
            </a:pPr>
            <a:r>
              <a:rPr lang="en" sz="1800">
                <a:solidFill>
                  <a:schemeClr val="dk1"/>
                </a:solidFill>
              </a:rPr>
              <a:t>Why is the mole a fundamental unit in chemistry, and how does it help us "count" atoms and molecules?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How can we use the mole to compare masses of different substances, even if their particles have vastly different sizes?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What are similarities and differences to other units of measurement (eg. Dozens)?  </a:t>
            </a:r>
            <a:endParaRPr sz="1800">
              <a:solidFill>
                <a:schemeClr val="dk1"/>
              </a:solidFill>
            </a:endParaRPr>
          </a:p>
          <a:p>
            <a:pPr indent="0" lvl="0" marL="0" rtl="0" algn="l">
              <a:lnSpc>
                <a:spcPct val="150000"/>
              </a:lnSpc>
              <a:spcBef>
                <a:spcPts val="0"/>
              </a:spcBef>
              <a:spcAft>
                <a:spcPts val="0"/>
              </a:spcAft>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Instructions</a:t>
            </a:r>
            <a:endParaRPr/>
          </a:p>
        </p:txBody>
      </p:sp>
      <p:sp>
        <p:nvSpPr>
          <p:cNvPr id="141" name="Google Shape;141;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Follow through the Engage to Apply resources in order .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Once confident, attempt Taking it Further work if available. This is Level 4 for course.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Record your learning in  these slides. Remember to keep track of where to find these slides for studying!</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Submit work from the Apply Section, IF INDICATED. Otherwise, it is regular practice work.</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Try the Extend section as desired to deepen your understanding</a:t>
            </a:r>
            <a:endParaRPr sz="1400">
              <a:solidFill>
                <a:schemeClr val="dk1"/>
              </a:solidFill>
            </a:endParaRPr>
          </a:p>
          <a:p>
            <a:pPr indent="0" lvl="0" marL="0" rtl="0" algn="l">
              <a:lnSpc>
                <a:spcPct val="150000"/>
              </a:lnSpc>
              <a:spcBef>
                <a:spcPts val="0"/>
              </a:spcBef>
              <a:spcAft>
                <a:spcPts val="0"/>
              </a:spcAft>
              <a:buNone/>
            </a:pPr>
            <a:r>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Links To sections</a:t>
            </a:r>
            <a:endParaRPr/>
          </a:p>
        </p:txBody>
      </p:sp>
      <p:sp>
        <p:nvSpPr>
          <p:cNvPr id="147" name="Google Shape;147;p23"/>
          <p:cNvSpPr txBox="1"/>
          <p:nvPr>
            <p:ph idx="1" type="body"/>
          </p:nvPr>
        </p:nvSpPr>
        <p:spPr>
          <a:xfrm>
            <a:off x="311700" y="1152475"/>
            <a:ext cx="8520600" cy="3653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Click for quick access to:</a:t>
            </a:r>
            <a:endParaRPr/>
          </a:p>
          <a:p>
            <a:pPr indent="-391160" lvl="0" marL="457200" rtl="0" algn="l">
              <a:lnSpc>
                <a:spcPct val="150000"/>
              </a:lnSpc>
              <a:spcBef>
                <a:spcPts val="0"/>
              </a:spcBef>
              <a:spcAft>
                <a:spcPts val="0"/>
              </a:spcAft>
              <a:buClr>
                <a:schemeClr val="dk1"/>
              </a:buClr>
              <a:buSzPts val="2560"/>
              <a:buChar char="●"/>
            </a:pPr>
            <a:r>
              <a:rPr lang="en" u="sng">
                <a:solidFill>
                  <a:schemeClr val="hlink"/>
                </a:solidFill>
                <a:hlinkClick action="ppaction://hlinksldjump" r:id="rId3"/>
              </a:rPr>
              <a:t>Engage</a:t>
            </a:r>
            <a:endParaRPr>
              <a:solidFill>
                <a:schemeClr val="dk1"/>
              </a:solidFill>
            </a:endParaRPr>
          </a:p>
          <a:p>
            <a:pPr indent="-391160" lvl="0" marL="457200" rtl="0" algn="l">
              <a:lnSpc>
                <a:spcPct val="150000"/>
              </a:lnSpc>
              <a:spcBef>
                <a:spcPts val="0"/>
              </a:spcBef>
              <a:spcAft>
                <a:spcPts val="0"/>
              </a:spcAft>
              <a:buClr>
                <a:schemeClr val="dk1"/>
              </a:buClr>
              <a:buSzPts val="2560"/>
              <a:buChar char="●"/>
            </a:pPr>
            <a:r>
              <a:rPr lang="en" u="sng">
                <a:solidFill>
                  <a:schemeClr val="hlink"/>
                </a:solidFill>
                <a:hlinkClick action="ppaction://hlinksldjump" r:id="rId4"/>
              </a:rPr>
              <a:t>Explore</a:t>
            </a:r>
            <a:endParaRPr>
              <a:solidFill>
                <a:schemeClr val="dk1"/>
              </a:solidFill>
            </a:endParaRPr>
          </a:p>
          <a:p>
            <a:pPr indent="-391160" lvl="0" marL="457200" rtl="0" algn="l">
              <a:lnSpc>
                <a:spcPct val="150000"/>
              </a:lnSpc>
              <a:spcBef>
                <a:spcPts val="0"/>
              </a:spcBef>
              <a:spcAft>
                <a:spcPts val="0"/>
              </a:spcAft>
              <a:buClr>
                <a:schemeClr val="dk1"/>
              </a:buClr>
              <a:buSzPts val="2560"/>
              <a:buChar char="●"/>
            </a:pPr>
            <a:r>
              <a:rPr lang="en" u="sng">
                <a:solidFill>
                  <a:schemeClr val="hlink"/>
                </a:solidFill>
                <a:hlinkClick action="ppaction://hlinksldjump" r:id="rId5"/>
              </a:rPr>
              <a:t>Apply</a:t>
            </a:r>
            <a:endParaRPr>
              <a:solidFill>
                <a:schemeClr val="dk1"/>
              </a:solidFill>
            </a:endParaRPr>
          </a:p>
          <a:p>
            <a:pPr indent="-391160" lvl="0" marL="457200" rtl="0" algn="l">
              <a:lnSpc>
                <a:spcPct val="150000"/>
              </a:lnSpc>
              <a:spcBef>
                <a:spcPts val="0"/>
              </a:spcBef>
              <a:spcAft>
                <a:spcPts val="0"/>
              </a:spcAft>
              <a:buClr>
                <a:schemeClr val="dk1"/>
              </a:buClr>
              <a:buSzPts val="2560"/>
              <a:buChar char="●"/>
            </a:pPr>
            <a:r>
              <a:rPr lang="en" u="sng">
                <a:solidFill>
                  <a:schemeClr val="hlink"/>
                </a:solidFill>
                <a:hlinkClick action="ppaction://hlinksldjump" r:id="rId6"/>
              </a:rPr>
              <a:t>Extend</a:t>
            </a:r>
            <a:endParaRPr>
              <a:solidFill>
                <a:schemeClr val="dk1"/>
              </a:solidFill>
            </a:endParaRPr>
          </a:p>
          <a:p>
            <a:pPr indent="0" lvl="0" marL="0" rtl="0" algn="l">
              <a:lnSpc>
                <a:spcPct val="150000"/>
              </a:lnSpc>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700"/>
              <a:t>Terminology - As you encounter terms new to you, define in your own words here, include examples </a:t>
            </a:r>
            <a:endParaRPr sz="1700"/>
          </a:p>
        </p:txBody>
      </p:sp>
      <p:sp>
        <p:nvSpPr>
          <p:cNvPr id="153" name="Google Shape;153;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 </a:t>
            </a:r>
            <a:endParaRPr sz="1400">
              <a:solidFill>
                <a:schemeClr val="dk1"/>
              </a:solidFill>
            </a:endParaRPr>
          </a:p>
          <a:p>
            <a:pPr indent="0" lvl="0" marL="0" rtl="0" algn="l">
              <a:lnSpc>
                <a:spcPct val="150000"/>
              </a:lnSpc>
              <a:spcBef>
                <a:spcPts val="0"/>
              </a:spcBef>
              <a:spcAft>
                <a:spcPts val="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485875" y="1714500"/>
            <a:ext cx="8183700" cy="7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Part 1: ENGAGE   (10 minutes)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277775"/>
            <a:ext cx="30618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50"/>
              <a:t>Engage: Discuss </a:t>
            </a:r>
            <a:endParaRPr sz="2250"/>
          </a:p>
          <a:p>
            <a:pPr indent="0" lvl="0" marL="0" rtl="0" algn="l">
              <a:spcBef>
                <a:spcPts val="0"/>
              </a:spcBef>
              <a:spcAft>
                <a:spcPts val="0"/>
              </a:spcAft>
              <a:buNone/>
            </a:pPr>
            <a:r>
              <a:rPr lang="en" sz="2250"/>
              <a:t>(1 min)</a:t>
            </a:r>
            <a:endParaRPr sz="2250"/>
          </a:p>
        </p:txBody>
      </p:sp>
      <p:sp>
        <p:nvSpPr>
          <p:cNvPr id="164" name="Google Shape;164;p2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Write down your own guess before comparing with your group. How different are your guesses? What would be a good way to count atoms in a useful quantity? </a:t>
            </a:r>
            <a:endParaRPr sz="1600"/>
          </a:p>
          <a:p>
            <a:pPr indent="0" lvl="0" marL="0" rtl="0" algn="l">
              <a:lnSpc>
                <a:spcPct val="150000"/>
              </a:lnSpc>
              <a:spcBef>
                <a:spcPts val="0"/>
              </a:spcBef>
              <a:spcAft>
                <a:spcPts val="0"/>
              </a:spcAft>
              <a:buNone/>
            </a:pPr>
            <a:r>
              <a:t/>
            </a:r>
            <a:endParaRPr/>
          </a:p>
        </p:txBody>
      </p:sp>
      <p:pic>
        <p:nvPicPr>
          <p:cNvPr id="165" name="Google Shape;165;p26"/>
          <p:cNvPicPr preferRelativeResize="0"/>
          <p:nvPr>
            <p:ph idx="2" type="pic"/>
          </p:nvPr>
        </p:nvPicPr>
        <p:blipFill rotWithShape="1">
          <a:blip r:embed="rId3">
            <a:alphaModFix/>
          </a:blip>
          <a:srcRect b="0" l="10918" r="10926" t="0"/>
          <a:stretch/>
        </p:blipFill>
        <p:spPr>
          <a:xfrm>
            <a:off x="3475675" y="1800"/>
            <a:ext cx="56685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t>Engage: Counting things in Groups (1 min)</a:t>
            </a:r>
            <a:endParaRPr sz="2700"/>
          </a:p>
        </p:txBody>
      </p:sp>
      <p:sp>
        <p:nvSpPr>
          <p:cNvPr id="171" name="Google Shape;17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2200"/>
              <a:t>How would you count the following (besides just the total number)?</a:t>
            </a:r>
            <a:endParaRPr sz="2200"/>
          </a:p>
          <a:p>
            <a:pPr indent="-368300" lvl="0" marL="457200" rtl="0" algn="l">
              <a:lnSpc>
                <a:spcPct val="150000"/>
              </a:lnSpc>
              <a:spcBef>
                <a:spcPts val="0"/>
              </a:spcBef>
              <a:spcAft>
                <a:spcPts val="0"/>
              </a:spcAft>
              <a:buSzPts val="2200"/>
              <a:buChar char="◼"/>
            </a:pPr>
            <a:r>
              <a:rPr lang="en" sz="2200"/>
              <a:t>Shoes   </a:t>
            </a:r>
            <a:endParaRPr sz="2200"/>
          </a:p>
          <a:p>
            <a:pPr indent="-368300" lvl="0" marL="457200" rtl="0" algn="l">
              <a:lnSpc>
                <a:spcPct val="150000"/>
              </a:lnSpc>
              <a:spcBef>
                <a:spcPts val="0"/>
              </a:spcBef>
              <a:spcAft>
                <a:spcPts val="0"/>
              </a:spcAft>
              <a:buSzPts val="2200"/>
              <a:buChar char="◼"/>
            </a:pPr>
            <a:r>
              <a:rPr lang="en" sz="2200"/>
              <a:t>Eggs/Doughnuts</a:t>
            </a:r>
            <a:endParaRPr sz="2200"/>
          </a:p>
          <a:p>
            <a:pPr indent="-368300" lvl="0" marL="457200" rtl="0" algn="l">
              <a:lnSpc>
                <a:spcPct val="150000"/>
              </a:lnSpc>
              <a:spcBef>
                <a:spcPts val="0"/>
              </a:spcBef>
              <a:spcAft>
                <a:spcPts val="0"/>
              </a:spcAft>
              <a:buSzPts val="2200"/>
              <a:buChar char="◼"/>
            </a:pPr>
            <a:r>
              <a:rPr lang="en" sz="2200"/>
              <a:t>Years (think of several terms for different numbers of groups) </a:t>
            </a:r>
            <a:endParaRPr sz="2200"/>
          </a:p>
          <a:p>
            <a:pPr indent="0" lvl="0" marL="0" rtl="0" algn="l">
              <a:lnSpc>
                <a:spcPct val="150000"/>
              </a:lnSpc>
              <a:spcBef>
                <a:spcPts val="0"/>
              </a:spcBef>
              <a:spcAft>
                <a:spcPts val="0"/>
              </a:spcAft>
              <a:buNone/>
            </a:pPr>
            <a:r>
              <a:t/>
            </a:r>
            <a:endParaRPr sz="2200"/>
          </a:p>
          <a:p>
            <a:pPr indent="0" lvl="0" marL="0" rtl="0" algn="l">
              <a:lnSpc>
                <a:spcPct val="150000"/>
              </a:lnSpc>
              <a:spcBef>
                <a:spcPts val="0"/>
              </a:spcBef>
              <a:spcAft>
                <a:spcPts val="0"/>
              </a:spcAft>
              <a:buNone/>
            </a:pPr>
            <a:r>
              <a:rPr b="1" lang="en" sz="2200"/>
              <a:t>Why do we use units like these instead of counting each item individually?</a:t>
            </a:r>
            <a:endParaRPr b="1" sz="2200"/>
          </a:p>
          <a:p>
            <a:pPr indent="0" lvl="0" marL="0" rtl="0" algn="l">
              <a:lnSpc>
                <a:spcPct val="150000"/>
              </a:lnSpc>
              <a:spcBef>
                <a:spcPts val="0"/>
              </a:spcBef>
              <a:spcAft>
                <a:spcPts val="0"/>
              </a:spcAft>
              <a:buNone/>
            </a:pPr>
            <a:r>
              <a:t/>
            </a:r>
            <a:endParaRPr b="1" sz="2200"/>
          </a:p>
          <a:p>
            <a:pPr indent="0" lvl="0" marL="0" rtl="0" algn="l">
              <a:lnSpc>
                <a:spcPct val="150000"/>
              </a:lnSpc>
              <a:spcBef>
                <a:spcPts val="0"/>
              </a:spcBef>
              <a:spcAft>
                <a:spcPts val="0"/>
              </a:spcAft>
              <a:buNone/>
            </a:pPr>
            <a:r>
              <a:t/>
            </a:r>
            <a:endParaRPr/>
          </a:p>
        </p:txBody>
      </p:sp>
      <p:pic>
        <p:nvPicPr>
          <p:cNvPr descr="http://pro.corbis.com/images/BXP27931.jpg?size=572&amp;uid=%7B68BE5A35-A4F8-4D62-889D-32488C5C9D22%7D" id="172" name="Google Shape;172;p27"/>
          <p:cNvPicPr preferRelativeResize="0"/>
          <p:nvPr/>
        </p:nvPicPr>
        <p:blipFill rotWithShape="1">
          <a:blip r:embed="rId3">
            <a:alphaModFix/>
          </a:blip>
          <a:srcRect b="0" l="0" r="0" t="0"/>
          <a:stretch/>
        </p:blipFill>
        <p:spPr>
          <a:xfrm>
            <a:off x="5085150" y="1814825"/>
            <a:ext cx="778800" cy="695400"/>
          </a:xfrm>
          <a:prstGeom prst="rect">
            <a:avLst/>
          </a:prstGeom>
          <a:noFill/>
          <a:ln>
            <a:noFill/>
          </a:ln>
        </p:spPr>
      </p:pic>
      <p:pic>
        <p:nvPicPr>
          <p:cNvPr descr="File:Jordan shoes.jpg - Wikimedia Commons" id="173" name="Google Shape;173;p27"/>
          <p:cNvPicPr preferRelativeResize="0"/>
          <p:nvPr/>
        </p:nvPicPr>
        <p:blipFill>
          <a:blip r:embed="rId4">
            <a:alphaModFix/>
          </a:blip>
          <a:stretch>
            <a:fillRect/>
          </a:stretch>
        </p:blipFill>
        <p:spPr>
          <a:xfrm>
            <a:off x="3178638" y="1794917"/>
            <a:ext cx="980275" cy="7352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000"/>
              <a:t>Engage: If you have 48 eggs how many dozens do you have? (5 min)</a:t>
            </a:r>
            <a:endParaRPr sz="2000"/>
          </a:p>
        </p:txBody>
      </p:sp>
      <p:sp>
        <p:nvSpPr>
          <p:cNvPr id="179" name="Google Shape;179;p28"/>
          <p:cNvSpPr txBox="1"/>
          <p:nvPr>
            <p:ph idx="1" type="body"/>
          </p:nvPr>
        </p:nvSpPr>
        <p:spPr>
          <a:xfrm>
            <a:off x="134100" y="1291400"/>
            <a:ext cx="8520600" cy="3852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450"/>
              <a:t>Work at a class whiteboard &amp; LEAVING all work on the board as you go : </a:t>
            </a:r>
            <a:endParaRPr sz="1450"/>
          </a:p>
          <a:p>
            <a:pPr indent="0" lvl="0" marL="0" rtl="0" algn="l">
              <a:lnSpc>
                <a:spcPct val="150000"/>
              </a:lnSpc>
              <a:spcBef>
                <a:spcPts val="0"/>
              </a:spcBef>
              <a:spcAft>
                <a:spcPts val="0"/>
              </a:spcAft>
              <a:buNone/>
            </a:pPr>
            <a:r>
              <a:rPr lang="en" sz="1450"/>
              <a:t>Set up an EQUATION to get from particles to amount in DOZENS and solve it using these variables:</a:t>
            </a:r>
            <a:endParaRPr sz="1450"/>
          </a:p>
          <a:p>
            <a:pPr indent="457200" lvl="0" marL="0" rtl="0" algn="l">
              <a:lnSpc>
                <a:spcPct val="150000"/>
              </a:lnSpc>
              <a:spcBef>
                <a:spcPts val="0"/>
              </a:spcBef>
              <a:spcAft>
                <a:spcPts val="0"/>
              </a:spcAft>
              <a:buNone/>
            </a:pPr>
            <a:r>
              <a:rPr lang="en" sz="1450"/>
              <a:t>p = Number of eggs you have (particles of egg)</a:t>
            </a:r>
            <a:endParaRPr sz="1450"/>
          </a:p>
          <a:p>
            <a:pPr indent="457200" lvl="0" marL="0" rtl="0" algn="l">
              <a:lnSpc>
                <a:spcPct val="150000"/>
              </a:lnSpc>
              <a:spcBef>
                <a:spcPts val="0"/>
              </a:spcBef>
              <a:spcAft>
                <a:spcPts val="0"/>
              </a:spcAft>
              <a:buNone/>
            </a:pPr>
            <a:r>
              <a:rPr lang="en" sz="1450"/>
              <a:t>N</a:t>
            </a:r>
            <a:r>
              <a:rPr baseline="-25000" lang="en" sz="1450"/>
              <a:t>D</a:t>
            </a:r>
            <a:r>
              <a:rPr lang="en" sz="1450"/>
              <a:t> = number in 1 dozen</a:t>
            </a:r>
            <a:endParaRPr sz="1450"/>
          </a:p>
          <a:p>
            <a:pPr indent="457200" lvl="0" marL="0" rtl="0" algn="l">
              <a:lnSpc>
                <a:spcPct val="150000"/>
              </a:lnSpc>
              <a:spcBef>
                <a:spcPts val="0"/>
              </a:spcBef>
              <a:spcAft>
                <a:spcPts val="0"/>
              </a:spcAft>
              <a:buNone/>
            </a:pPr>
            <a:r>
              <a:rPr lang="en" sz="1450"/>
              <a:t>n = the number of dozens you have</a:t>
            </a:r>
            <a:endParaRPr sz="1450"/>
          </a:p>
          <a:p>
            <a:pPr indent="0" lvl="0" marL="0" rtl="0" algn="l">
              <a:lnSpc>
                <a:spcPct val="150000"/>
              </a:lnSpc>
              <a:spcBef>
                <a:spcPts val="0"/>
              </a:spcBef>
              <a:spcAft>
                <a:spcPts val="0"/>
              </a:spcAft>
              <a:buNone/>
            </a:pPr>
            <a:r>
              <a:rPr lang="en" sz="1450"/>
              <a:t>Using your equation:</a:t>
            </a:r>
            <a:endParaRPr sz="1450"/>
          </a:p>
          <a:p>
            <a:pPr indent="0" lvl="0" marL="0" rtl="0" algn="l">
              <a:lnSpc>
                <a:spcPct val="150000"/>
              </a:lnSpc>
              <a:spcBef>
                <a:spcPts val="0"/>
              </a:spcBef>
              <a:spcAft>
                <a:spcPts val="0"/>
              </a:spcAft>
              <a:buNone/>
            </a:pPr>
            <a:r>
              <a:rPr lang="en" sz="1450"/>
              <a:t>- Solve for the number of dozens in 103 pens.</a:t>
            </a:r>
            <a:endParaRPr sz="1450"/>
          </a:p>
          <a:p>
            <a:pPr indent="0" lvl="0" marL="0" rtl="0" algn="l">
              <a:lnSpc>
                <a:spcPct val="150000"/>
              </a:lnSpc>
              <a:spcBef>
                <a:spcPts val="0"/>
              </a:spcBef>
              <a:spcAft>
                <a:spcPts val="0"/>
              </a:spcAft>
              <a:buNone/>
            </a:pPr>
            <a:r>
              <a:rPr lang="en" sz="1450"/>
              <a:t>- Solve for how many pens are in 6.2 dozen.</a:t>
            </a:r>
            <a:endParaRPr sz="1450"/>
          </a:p>
          <a:p>
            <a:pPr indent="0" lvl="0" marL="0" rtl="0" algn="l">
              <a:lnSpc>
                <a:spcPct val="150000"/>
              </a:lnSpc>
              <a:spcBef>
                <a:spcPts val="0"/>
              </a:spcBef>
              <a:spcAft>
                <a:spcPts val="0"/>
              </a:spcAft>
              <a:buNone/>
            </a:pPr>
            <a:r>
              <a:t/>
            </a:r>
            <a:endParaRPr sz="1450"/>
          </a:p>
          <a:p>
            <a:pPr indent="0" lvl="0" marL="0" rtl="0" algn="l">
              <a:lnSpc>
                <a:spcPct val="150000"/>
              </a:lnSpc>
              <a:spcBef>
                <a:spcPts val="0"/>
              </a:spcBef>
              <a:spcAft>
                <a:spcPts val="0"/>
              </a:spcAft>
              <a:buNone/>
            </a:pPr>
            <a:r>
              <a:rPr b="1" lang="en" sz="1450"/>
              <a:t>LEAVE your work on the board and/or insert an image of your work on the next slide</a:t>
            </a:r>
            <a:r>
              <a:rPr lang="en" sz="1450"/>
              <a:t> </a:t>
            </a:r>
            <a:endParaRPr sz="1450"/>
          </a:p>
          <a:p>
            <a:pPr indent="457200" lvl="0" marL="0" rtl="0" algn="l">
              <a:lnSpc>
                <a:spcPct val="150000"/>
              </a:lnSpc>
              <a:spcBef>
                <a:spcPts val="0"/>
              </a:spcBef>
              <a:spcAft>
                <a:spcPts val="0"/>
              </a:spcAft>
              <a:buNone/>
            </a:pPr>
            <a:r>
              <a:rPr i="1" lang="en" sz="1450"/>
              <a:t>Discuss: Why don’t we use “pair”, or “dozen” to count groups of atoms?</a:t>
            </a:r>
            <a:endParaRPr i="1" sz="1450"/>
          </a:p>
          <a:p>
            <a:pPr indent="0" lvl="0" marL="0" rtl="0" algn="l">
              <a:lnSpc>
                <a:spcPct val="150000"/>
              </a:lnSpc>
              <a:spcBef>
                <a:spcPts val="0"/>
              </a:spcBef>
              <a:spcAft>
                <a:spcPts val="0"/>
              </a:spcAft>
              <a:buNone/>
            </a:pPr>
            <a:r>
              <a:t/>
            </a:r>
            <a:endParaRPr sz="1450"/>
          </a:p>
        </p:txBody>
      </p:sp>
      <p:grpSp>
        <p:nvGrpSpPr>
          <p:cNvPr id="180" name="Google Shape;180;p28"/>
          <p:cNvGrpSpPr/>
          <p:nvPr/>
        </p:nvGrpSpPr>
        <p:grpSpPr>
          <a:xfrm>
            <a:off x="4395400" y="2153693"/>
            <a:ext cx="4493250" cy="1533453"/>
            <a:chOff x="4395400" y="2153693"/>
            <a:chExt cx="4493250" cy="1533453"/>
          </a:xfrm>
        </p:grpSpPr>
        <p:sp>
          <p:nvSpPr>
            <p:cNvPr id="181" name="Google Shape;181;p28"/>
            <p:cNvSpPr/>
            <p:nvPr/>
          </p:nvSpPr>
          <p:spPr>
            <a:xfrm>
              <a:off x="7332550" y="2571745"/>
              <a:ext cx="1556100" cy="1115400"/>
            </a:xfrm>
            <a:prstGeom prst="ellipse">
              <a:avLst/>
            </a:prstGeom>
            <a:solidFill>
              <a:srgbClr val="C8C8B1"/>
            </a:solidFill>
            <a:ln cap="flat" cmpd="sng" w="9525">
              <a:solidFill>
                <a:srgbClr val="D128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28"/>
            <p:cNvSpPr txBox="1"/>
            <p:nvPr/>
          </p:nvSpPr>
          <p:spPr>
            <a:xfrm>
              <a:off x="7495170" y="2648967"/>
              <a:ext cx="1278600" cy="59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t>Amount in chosen unit</a:t>
              </a:r>
              <a:r>
                <a:rPr lang="en" sz="1000"/>
                <a:t> (eg dozens or moles)</a:t>
              </a:r>
              <a:endParaRPr sz="1000"/>
            </a:p>
          </p:txBody>
        </p:sp>
        <p:sp>
          <p:nvSpPr>
            <p:cNvPr id="183" name="Google Shape;183;p28"/>
            <p:cNvSpPr/>
            <p:nvPr/>
          </p:nvSpPr>
          <p:spPr>
            <a:xfrm>
              <a:off x="4395400" y="2166275"/>
              <a:ext cx="1410900" cy="965400"/>
            </a:xfrm>
            <a:prstGeom prst="ellipse">
              <a:avLst/>
            </a:prstGeom>
            <a:solidFill>
              <a:srgbClr val="C8C8B1"/>
            </a:solidFill>
            <a:ln cap="flat" cmpd="sng" w="9525">
              <a:solidFill>
                <a:srgbClr val="D128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4" name="Google Shape;184;p28"/>
            <p:cNvCxnSpPr>
              <a:stCxn id="183" idx="6"/>
              <a:endCxn id="181" idx="2"/>
            </p:cNvCxnSpPr>
            <p:nvPr/>
          </p:nvCxnSpPr>
          <p:spPr>
            <a:xfrm>
              <a:off x="5806300" y="2648975"/>
              <a:ext cx="1526100" cy="480600"/>
            </a:xfrm>
            <a:prstGeom prst="straightConnector1">
              <a:avLst/>
            </a:prstGeom>
            <a:noFill/>
            <a:ln cap="flat" cmpd="sng" w="38100">
              <a:solidFill>
                <a:srgbClr val="D1282E"/>
              </a:solidFill>
              <a:prstDash val="solid"/>
              <a:round/>
              <a:headEnd len="med" w="med" type="stealth"/>
              <a:tailEnd len="med" w="med" type="stealth"/>
            </a:ln>
          </p:spPr>
        </p:cxnSp>
        <p:sp>
          <p:nvSpPr>
            <p:cNvPr id="185" name="Google Shape;185;p28"/>
            <p:cNvSpPr txBox="1"/>
            <p:nvPr/>
          </p:nvSpPr>
          <p:spPr>
            <a:xfrm>
              <a:off x="4454925" y="2153693"/>
              <a:ext cx="1188600" cy="83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t>Amount in Particles</a:t>
              </a:r>
              <a:endParaRPr b="1" sz="1700"/>
            </a:p>
          </p:txBody>
        </p:sp>
        <p:sp>
          <p:nvSpPr>
            <p:cNvPr id="186" name="Google Shape;186;p28"/>
            <p:cNvSpPr txBox="1"/>
            <p:nvPr/>
          </p:nvSpPr>
          <p:spPr>
            <a:xfrm rot="1113884">
              <a:off x="6342082" y="2572290"/>
              <a:ext cx="753826" cy="384691"/>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orbel"/>
                  <a:ea typeface="Corbel"/>
                  <a:cs typeface="Corbel"/>
                  <a:sym typeface="Corbel"/>
                </a:rPr>
                <a:t>Convert</a:t>
              </a:r>
              <a:endParaRPr sz="1300">
                <a:solidFill>
                  <a:schemeClr val="dk1"/>
                </a:solidFill>
                <a:latin typeface="Corbel"/>
                <a:ea typeface="Corbel"/>
                <a:cs typeface="Corbel"/>
                <a:sym typeface="Corbel"/>
              </a:endParaRPr>
            </a:p>
          </p:txBody>
        </p:sp>
      </p:grpSp>
      <p:pic>
        <p:nvPicPr>
          <p:cNvPr id="187" name="Google Shape;187;p28"/>
          <p:cNvPicPr preferRelativeResize="0"/>
          <p:nvPr/>
        </p:nvPicPr>
        <p:blipFill>
          <a:blip r:embed="rId3">
            <a:alphaModFix/>
          </a:blip>
          <a:stretch>
            <a:fillRect/>
          </a:stretch>
        </p:blipFill>
        <p:spPr>
          <a:xfrm>
            <a:off x="8001025" y="56875"/>
            <a:ext cx="939600" cy="939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Engage: Solving for dozens</a:t>
            </a:r>
            <a:endParaRPr/>
          </a:p>
        </p:txBody>
      </p:sp>
      <p:sp>
        <p:nvSpPr>
          <p:cNvPr id="193" name="Google Shape;193;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image of your group board work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485875" y="1714500"/>
            <a:ext cx="8183700" cy="7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300"/>
              <a:t>Part 2: EXPLORE (30-40 minutes)</a:t>
            </a:r>
            <a:endParaRPr sz="3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311700" y="2164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Explore: The Mole</a:t>
            </a:r>
            <a:endParaRPr/>
          </a:p>
        </p:txBody>
      </p:sp>
      <p:pic>
        <p:nvPicPr>
          <p:cNvPr id="204" name="Google Shape;204;p31"/>
          <p:cNvPicPr preferRelativeResize="0"/>
          <p:nvPr>
            <p:ph idx="2" type="pic"/>
          </p:nvPr>
        </p:nvPicPr>
        <p:blipFill rotWithShape="1">
          <a:blip r:embed="rId3">
            <a:alphaModFix/>
          </a:blip>
          <a:srcRect b="19579" l="0" r="0" t="2757"/>
          <a:stretch/>
        </p:blipFill>
        <p:spPr>
          <a:xfrm>
            <a:off x="1164000" y="1226400"/>
            <a:ext cx="6816000" cy="39702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t>Explore: Watch {should play the  30 s -5mins mark only}</a:t>
            </a:r>
            <a:endParaRPr sz="2700"/>
          </a:p>
        </p:txBody>
      </p:sp>
      <p:pic>
        <p:nvPicPr>
          <p:cNvPr id="210" name="Google Shape;210;p32">
            <a:hlinkClick r:id="rId3"/>
          </p:cNvPr>
          <p:cNvPicPr preferRelativeResize="0"/>
          <p:nvPr/>
        </p:nvPicPr>
        <p:blipFill>
          <a:blip r:embed="rId4">
            <a:alphaModFix/>
          </a:blip>
          <a:stretch>
            <a:fillRect/>
          </a:stretch>
        </p:blipFill>
        <p:spPr>
          <a:xfrm>
            <a:off x="1302611" y="1119250"/>
            <a:ext cx="6538775" cy="3869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000"/>
                                        <p:tgtEl>
                                          <p:spTgt spid="2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311700" y="139475"/>
            <a:ext cx="62664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500"/>
              <a:t>Explore: Elephants and Doughnuts</a:t>
            </a:r>
            <a:endParaRPr sz="2500"/>
          </a:p>
        </p:txBody>
      </p:sp>
      <p:sp>
        <p:nvSpPr>
          <p:cNvPr id="216" name="Google Shape;216;p33"/>
          <p:cNvSpPr txBox="1"/>
          <p:nvPr>
            <p:ph idx="1" type="body"/>
          </p:nvPr>
        </p:nvSpPr>
        <p:spPr>
          <a:xfrm>
            <a:off x="248050" y="1369750"/>
            <a:ext cx="2917800" cy="3179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400"/>
              <a:t>Discuss and record a few ideas here:</a:t>
            </a:r>
            <a:endParaRPr sz="1400"/>
          </a:p>
          <a:p>
            <a:pPr indent="-304800" lvl="0" marL="457200" rtl="0" algn="l">
              <a:lnSpc>
                <a:spcPct val="150000"/>
              </a:lnSpc>
              <a:spcBef>
                <a:spcPts val="0"/>
              </a:spcBef>
              <a:spcAft>
                <a:spcPts val="0"/>
              </a:spcAft>
              <a:buSzPts val="1200"/>
              <a:buChar char="◼"/>
            </a:pPr>
            <a:r>
              <a:rPr lang="en"/>
              <a:t> </a:t>
            </a:r>
            <a:endParaRPr/>
          </a:p>
          <a:p>
            <a:pPr indent="-304800" lvl="0" marL="457200" rtl="0" algn="l">
              <a:lnSpc>
                <a:spcPct val="150000"/>
              </a:lnSpc>
              <a:spcBef>
                <a:spcPts val="0"/>
              </a:spcBef>
              <a:spcAft>
                <a:spcPts val="0"/>
              </a:spcAft>
              <a:buSzPts val="1200"/>
              <a:buChar char="◼"/>
            </a:pPr>
            <a:r>
              <a:rPr lang="en"/>
              <a:t> </a:t>
            </a:r>
            <a:endParaRPr/>
          </a:p>
          <a:p>
            <a:pPr indent="-304800" lvl="0" marL="457200" rtl="0" algn="l">
              <a:lnSpc>
                <a:spcPct val="150000"/>
              </a:lnSpc>
              <a:spcBef>
                <a:spcPts val="0"/>
              </a:spcBef>
              <a:spcAft>
                <a:spcPts val="0"/>
              </a:spcAft>
              <a:buSzPts val="1200"/>
              <a:buChar char="◼"/>
            </a:pPr>
            <a:r>
              <a:t/>
            </a:r>
            <a:endParaRPr/>
          </a:p>
          <a:p>
            <a:pPr indent="0" lvl="0" marL="0" rtl="0" algn="l">
              <a:lnSpc>
                <a:spcPct val="150000"/>
              </a:lnSpc>
              <a:spcBef>
                <a:spcPts val="0"/>
              </a:spcBef>
              <a:spcAft>
                <a:spcPts val="0"/>
              </a:spcAft>
              <a:buNone/>
            </a:pPr>
            <a:r>
              <a:t/>
            </a:r>
            <a:endParaRPr/>
          </a:p>
        </p:txBody>
      </p:sp>
      <p:pic>
        <p:nvPicPr>
          <p:cNvPr id="217" name="Google Shape;217;p33"/>
          <p:cNvPicPr preferRelativeResize="0"/>
          <p:nvPr>
            <p:ph idx="2" type="pic"/>
          </p:nvPr>
        </p:nvPicPr>
        <p:blipFill rotWithShape="1">
          <a:blip r:embed="rId3">
            <a:alphaModFix/>
          </a:blip>
          <a:srcRect b="0" l="4310" r="4164" t="0"/>
          <a:stretch/>
        </p:blipFill>
        <p:spPr>
          <a:xfrm>
            <a:off x="3514850" y="1067725"/>
            <a:ext cx="5259850" cy="407577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123200" y="119025"/>
            <a:ext cx="50859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100"/>
              <a:t>Explore: The mole helps count Particles</a:t>
            </a:r>
            <a:endParaRPr sz="2100"/>
          </a:p>
        </p:txBody>
      </p:sp>
      <p:sp>
        <p:nvSpPr>
          <p:cNvPr id="223" name="Google Shape;223;p34"/>
          <p:cNvSpPr txBox="1"/>
          <p:nvPr>
            <p:ph idx="1" type="body"/>
          </p:nvPr>
        </p:nvSpPr>
        <p:spPr>
          <a:xfrm>
            <a:off x="361325" y="1208925"/>
            <a:ext cx="4748400" cy="12861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WHAT DO WE MEAN BY PARTICLES?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t>Particles in chemistry are any of the following: atoms, molecules or the formula units of ionic compounds</a:t>
            </a:r>
            <a:endParaRPr sz="1400">
              <a:solidFill>
                <a:schemeClr val="dk1"/>
              </a:solidFill>
            </a:endParaRPr>
          </a:p>
          <a:p>
            <a:pPr indent="0" lvl="0" marL="0" rtl="0" algn="l">
              <a:lnSpc>
                <a:spcPct val="150000"/>
              </a:lnSpc>
              <a:spcBef>
                <a:spcPts val="0"/>
              </a:spcBef>
              <a:spcAft>
                <a:spcPts val="0"/>
              </a:spcAft>
              <a:buNone/>
            </a:pPr>
            <a:r>
              <a:t/>
            </a:r>
            <a:endParaRPr sz="1400"/>
          </a:p>
        </p:txBody>
      </p:sp>
      <p:pic>
        <p:nvPicPr>
          <p:cNvPr id="224" name="Google Shape;224;p34"/>
          <p:cNvPicPr preferRelativeResize="0"/>
          <p:nvPr>
            <p:ph idx="2" type="pic"/>
          </p:nvPr>
        </p:nvPicPr>
        <p:blipFill rotWithShape="1">
          <a:blip r:embed="rId3">
            <a:alphaModFix/>
          </a:blip>
          <a:srcRect b="0" l="748" r="758" t="0"/>
          <a:stretch/>
        </p:blipFill>
        <p:spPr>
          <a:xfrm>
            <a:off x="5734850" y="119025"/>
            <a:ext cx="3300001" cy="2376000"/>
          </a:xfrm>
          <a:prstGeom prst="rect">
            <a:avLst/>
          </a:prstGeom>
        </p:spPr>
      </p:pic>
      <p:graphicFrame>
        <p:nvGraphicFramePr>
          <p:cNvPr id="225" name="Google Shape;225;p34"/>
          <p:cNvGraphicFramePr/>
          <p:nvPr/>
        </p:nvGraphicFramePr>
        <p:xfrm>
          <a:off x="226225" y="2495025"/>
          <a:ext cx="3000000" cy="3000000"/>
        </p:xfrm>
        <a:graphic>
          <a:graphicData uri="http://schemas.openxmlformats.org/drawingml/2006/table">
            <a:tbl>
              <a:tblPr bandRow="1" firstRow="1">
                <a:noFill/>
                <a:tableStyleId>{F3C5BE9C-2EB1-47B3-A75C-D5379C695DFD}</a:tableStyleId>
              </a:tblPr>
              <a:tblGrid>
                <a:gridCol w="2704525"/>
                <a:gridCol w="2704525"/>
              </a:tblGrid>
              <a:tr h="271125">
                <a:tc>
                  <a:txBody>
                    <a:bodyPr/>
                    <a:lstStyle/>
                    <a:p>
                      <a:pPr indent="0" lvl="0" marL="0" marR="0" rtl="0" algn="l">
                        <a:spcBef>
                          <a:spcPts val="0"/>
                        </a:spcBef>
                        <a:spcAft>
                          <a:spcPts val="0"/>
                        </a:spcAft>
                        <a:buNone/>
                      </a:pPr>
                      <a:r>
                        <a:rPr lang="en" sz="1800" u="none" cap="none" strike="noStrike"/>
                        <a:t>Substance</a:t>
                      </a:r>
                      <a:endParaRPr sz="1800"/>
                    </a:p>
                  </a:txBody>
                  <a:tcPr marT="45725" marB="45725" marR="91450" marL="91450"/>
                </a:tc>
                <a:tc>
                  <a:txBody>
                    <a:bodyPr/>
                    <a:lstStyle/>
                    <a:p>
                      <a:pPr indent="0" lvl="0" marL="0" marR="0" rtl="0" algn="l">
                        <a:spcBef>
                          <a:spcPts val="0"/>
                        </a:spcBef>
                        <a:spcAft>
                          <a:spcPts val="0"/>
                        </a:spcAft>
                        <a:buNone/>
                      </a:pPr>
                      <a:r>
                        <a:rPr lang="en" sz="1800"/>
                        <a:t>Particles are called</a:t>
                      </a:r>
                      <a:endParaRPr sz="1800"/>
                    </a:p>
                  </a:txBody>
                  <a:tcPr marT="45725" marB="45725" marR="91450" marL="91450"/>
                </a:tc>
              </a:tr>
              <a:tr h="467975">
                <a:tc>
                  <a:txBody>
                    <a:bodyPr/>
                    <a:lstStyle/>
                    <a:p>
                      <a:pPr indent="0" lvl="0" marL="0" marR="0" rtl="0" algn="l">
                        <a:spcBef>
                          <a:spcPts val="0"/>
                        </a:spcBef>
                        <a:spcAft>
                          <a:spcPts val="0"/>
                        </a:spcAft>
                        <a:buNone/>
                      </a:pPr>
                      <a:r>
                        <a:rPr lang="en" sz="1800"/>
                        <a:t>Monoatomic elements</a:t>
                      </a:r>
                      <a:endParaRPr/>
                    </a:p>
                    <a:p>
                      <a:pPr indent="0" lvl="0" marL="0" marR="0" rtl="0" algn="l">
                        <a:spcBef>
                          <a:spcPts val="0"/>
                        </a:spcBef>
                        <a:spcAft>
                          <a:spcPts val="0"/>
                        </a:spcAft>
                        <a:buNone/>
                      </a:pPr>
                      <a:r>
                        <a:rPr lang="en" sz="1800"/>
                        <a:t>i.e.</a:t>
                      </a:r>
                      <a:r>
                        <a:rPr lang="en" sz="1800"/>
                        <a:t> copper (Cu)</a:t>
                      </a:r>
                      <a:endParaRPr sz="1800"/>
                    </a:p>
                  </a:txBody>
                  <a:tcPr marT="45725" marB="45725" marR="91450" marL="91450"/>
                </a:tc>
                <a:tc>
                  <a:txBody>
                    <a:bodyPr/>
                    <a:lstStyle/>
                    <a:p>
                      <a:pPr indent="0" lvl="0" marL="0" marR="0" rtl="0" algn="l">
                        <a:spcBef>
                          <a:spcPts val="0"/>
                        </a:spcBef>
                        <a:spcAft>
                          <a:spcPts val="0"/>
                        </a:spcAft>
                        <a:buNone/>
                      </a:pPr>
                      <a:r>
                        <a:rPr lang="en" sz="1800"/>
                        <a:t>atoms</a:t>
                      </a:r>
                      <a:endParaRPr sz="1800"/>
                    </a:p>
                  </a:txBody>
                  <a:tcPr marT="45725" marB="45725" marR="91450" marL="91450"/>
                </a:tc>
              </a:tr>
              <a:tr h="668550">
                <a:tc>
                  <a:txBody>
                    <a:bodyPr/>
                    <a:lstStyle/>
                    <a:p>
                      <a:pPr indent="0" lvl="0" marL="0" marR="0" rtl="0" algn="l">
                        <a:spcBef>
                          <a:spcPts val="0"/>
                        </a:spcBef>
                        <a:spcAft>
                          <a:spcPts val="0"/>
                        </a:spcAft>
                        <a:buNone/>
                      </a:pPr>
                      <a:r>
                        <a:rPr lang="en" sz="1800"/>
                        <a:t>Diatomic elements (i.e. O</a:t>
                      </a:r>
                      <a:r>
                        <a:rPr baseline="-25000" lang="en" sz="1800"/>
                        <a:t>2</a:t>
                      </a:r>
                      <a:r>
                        <a:rPr lang="en" sz="1800"/>
                        <a:t>) or molecular compounds (i.e. H</a:t>
                      </a:r>
                      <a:r>
                        <a:rPr baseline="-25000" lang="en" sz="1800"/>
                        <a:t>2</a:t>
                      </a:r>
                      <a:r>
                        <a:rPr lang="en" sz="1800"/>
                        <a:t>O)</a:t>
                      </a:r>
                      <a:endParaRPr sz="1800"/>
                    </a:p>
                  </a:txBody>
                  <a:tcPr marT="45725" marB="45725" marR="91450" marL="91450"/>
                </a:tc>
                <a:tc>
                  <a:txBody>
                    <a:bodyPr/>
                    <a:lstStyle/>
                    <a:p>
                      <a:pPr indent="0" lvl="0" marL="0" marR="0" rtl="0" algn="l">
                        <a:spcBef>
                          <a:spcPts val="0"/>
                        </a:spcBef>
                        <a:spcAft>
                          <a:spcPts val="0"/>
                        </a:spcAft>
                        <a:buNone/>
                      </a:pPr>
                      <a:r>
                        <a:rPr lang="en" sz="1800"/>
                        <a:t>molecules</a:t>
                      </a:r>
                      <a:endParaRPr sz="1800"/>
                    </a:p>
                  </a:txBody>
                  <a:tcPr marT="45725" marB="45725" marR="91450" marL="91450"/>
                </a:tc>
              </a:tr>
              <a:tr h="271125">
                <a:tc>
                  <a:txBody>
                    <a:bodyPr/>
                    <a:lstStyle/>
                    <a:p>
                      <a:pPr indent="0" lvl="0" marL="0" marR="0" rtl="0" algn="l">
                        <a:spcBef>
                          <a:spcPts val="0"/>
                        </a:spcBef>
                        <a:spcAft>
                          <a:spcPts val="0"/>
                        </a:spcAft>
                        <a:buNone/>
                      </a:pPr>
                      <a:r>
                        <a:rPr lang="en" sz="1800"/>
                        <a:t>Ionic compounds</a:t>
                      </a:r>
                      <a:r>
                        <a:rPr lang="en" sz="1800"/>
                        <a:t> (i.e. NaCl)</a:t>
                      </a:r>
                      <a:endParaRPr sz="1800"/>
                    </a:p>
                  </a:txBody>
                  <a:tcPr marT="45725" marB="45725" marR="91450" marL="91450"/>
                </a:tc>
                <a:tc>
                  <a:txBody>
                    <a:bodyPr/>
                    <a:lstStyle/>
                    <a:p>
                      <a:pPr indent="0" lvl="0" marL="0" marR="0" rtl="0" algn="l">
                        <a:spcBef>
                          <a:spcPts val="0"/>
                        </a:spcBef>
                        <a:spcAft>
                          <a:spcPts val="0"/>
                        </a:spcAft>
                        <a:buNone/>
                      </a:pPr>
                      <a:r>
                        <a:rPr lang="en" sz="1800"/>
                        <a:t>formula</a:t>
                      </a:r>
                      <a:r>
                        <a:rPr lang="en" sz="1800"/>
                        <a:t> units</a:t>
                      </a:r>
                      <a:endParaRPr sz="1800"/>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Explore: Defining the mole</a:t>
            </a:r>
            <a:endParaRPr/>
          </a:p>
        </p:txBody>
      </p:sp>
      <p:sp>
        <p:nvSpPr>
          <p:cNvPr id="231" name="Google Shape;231;p35"/>
          <p:cNvSpPr txBox="1"/>
          <p:nvPr/>
        </p:nvSpPr>
        <p:spPr>
          <a:xfrm>
            <a:off x="423975" y="1257500"/>
            <a:ext cx="7620000" cy="3523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800">
                <a:solidFill>
                  <a:schemeClr val="dk1"/>
                </a:solidFill>
                <a:latin typeface="Corbel"/>
                <a:ea typeface="Corbel"/>
                <a:cs typeface="Corbel"/>
                <a:sym typeface="Corbel"/>
              </a:rPr>
              <a:t>The mole was based on the number of atoms in 12 grams of the isotope carbon-12:</a:t>
            </a:r>
            <a:endParaRPr b="1" sz="2400">
              <a:solidFill>
                <a:srgbClr val="000000"/>
              </a:solidFill>
            </a:endParaRPr>
          </a:p>
          <a:p>
            <a:pPr indent="0" lvl="0" marL="0" rtl="0" algn="l">
              <a:spcBef>
                <a:spcPts val="1000"/>
              </a:spcBef>
              <a:spcAft>
                <a:spcPts val="0"/>
              </a:spcAft>
              <a:buNone/>
            </a:pPr>
            <a:r>
              <a:t/>
            </a:r>
            <a:endParaRPr b="1" sz="2000">
              <a:solidFill>
                <a:srgbClr val="000000"/>
              </a:solidFill>
            </a:endParaRPr>
          </a:p>
          <a:p>
            <a:pPr indent="0" lvl="0" marL="0" rtl="0" algn="l">
              <a:spcBef>
                <a:spcPts val="1080"/>
              </a:spcBef>
              <a:spcAft>
                <a:spcPts val="0"/>
              </a:spcAft>
              <a:buNone/>
            </a:pPr>
            <a:r>
              <a:rPr b="1" lang="en" sz="2400">
                <a:solidFill>
                  <a:srgbClr val="000000"/>
                </a:solidFill>
                <a:latin typeface="Times New Roman"/>
                <a:ea typeface="Times New Roman"/>
                <a:cs typeface="Times New Roman"/>
                <a:sym typeface="Times New Roman"/>
              </a:rPr>
              <a:t>	1 mole = </a:t>
            </a:r>
            <a:endParaRPr b="1" sz="2000">
              <a:solidFill>
                <a:srgbClr val="000000"/>
              </a:solidFill>
            </a:endParaRPr>
          </a:p>
          <a:p>
            <a:pPr indent="0" lvl="0" marL="0" rtl="0" algn="l">
              <a:spcBef>
                <a:spcPts val="1080"/>
              </a:spcBef>
              <a:spcAft>
                <a:spcPts val="0"/>
              </a:spcAft>
              <a:buNone/>
            </a:pPr>
            <a:r>
              <a:t/>
            </a:r>
            <a:endParaRPr b="1" sz="2400">
              <a:solidFill>
                <a:srgbClr val="000000"/>
              </a:solidFill>
              <a:latin typeface="Times New Roman"/>
              <a:ea typeface="Times New Roman"/>
              <a:cs typeface="Times New Roman"/>
              <a:sym typeface="Times New Roman"/>
            </a:endParaRPr>
          </a:p>
          <a:p>
            <a:pPr indent="0" lvl="0" marL="0" rtl="0" algn="l">
              <a:spcBef>
                <a:spcPts val="1000"/>
              </a:spcBef>
              <a:spcAft>
                <a:spcPts val="0"/>
              </a:spcAft>
              <a:buNone/>
            </a:pPr>
            <a:r>
              <a:rPr lang="en" sz="1800">
                <a:solidFill>
                  <a:schemeClr val="dk1"/>
                </a:solidFill>
                <a:latin typeface="Corbel"/>
                <a:ea typeface="Corbel"/>
                <a:cs typeface="Corbel"/>
                <a:sym typeface="Corbel"/>
              </a:rPr>
              <a:t>This number, 6.02 x 10</a:t>
            </a:r>
            <a:r>
              <a:rPr baseline="30000" lang="en" sz="1800">
                <a:solidFill>
                  <a:schemeClr val="dk1"/>
                </a:solidFill>
                <a:latin typeface="Corbel"/>
                <a:ea typeface="Corbel"/>
                <a:cs typeface="Corbel"/>
                <a:sym typeface="Corbel"/>
              </a:rPr>
              <a:t>23</a:t>
            </a:r>
            <a:r>
              <a:rPr lang="en" sz="1800">
                <a:solidFill>
                  <a:schemeClr val="dk1"/>
                </a:solidFill>
                <a:latin typeface="Corbel"/>
                <a:ea typeface="Corbel"/>
                <a:cs typeface="Corbel"/>
                <a:sym typeface="Corbel"/>
              </a:rPr>
              <a:t> is known as Avogadro’s Constant, or Avogadro’s Number (N</a:t>
            </a:r>
            <a:r>
              <a:rPr baseline="-25000" lang="en" sz="1800">
                <a:solidFill>
                  <a:schemeClr val="dk1"/>
                </a:solidFill>
                <a:latin typeface="Corbel"/>
                <a:ea typeface="Corbel"/>
                <a:cs typeface="Corbel"/>
                <a:sym typeface="Corbel"/>
              </a:rPr>
              <a:t>A</a:t>
            </a:r>
            <a:r>
              <a:rPr lang="en" sz="1800">
                <a:solidFill>
                  <a:schemeClr val="dk1"/>
                </a:solidFill>
                <a:latin typeface="Corbel"/>
                <a:ea typeface="Corbel"/>
                <a:cs typeface="Corbel"/>
                <a:sym typeface="Corbel"/>
              </a:rPr>
              <a:t>). </a:t>
            </a:r>
            <a:endParaRPr sz="1800">
              <a:solidFill>
                <a:schemeClr val="dk1"/>
              </a:solidFill>
              <a:latin typeface="Corbel"/>
              <a:ea typeface="Corbel"/>
              <a:cs typeface="Corbel"/>
              <a:sym typeface="Corbel"/>
            </a:endParaRPr>
          </a:p>
          <a:p>
            <a:pPr indent="0" lvl="0" marL="0" rtl="0" algn="l">
              <a:spcBef>
                <a:spcPts val="1000"/>
              </a:spcBef>
              <a:spcAft>
                <a:spcPts val="0"/>
              </a:spcAft>
              <a:buNone/>
            </a:pPr>
            <a:r>
              <a:rPr lang="en" sz="1800">
                <a:solidFill>
                  <a:schemeClr val="dk1"/>
                </a:solidFill>
                <a:latin typeface="Corbel"/>
                <a:ea typeface="Corbel"/>
                <a:cs typeface="Corbel"/>
                <a:sym typeface="Corbel"/>
              </a:rPr>
              <a:t>Note that it’s units is really just “particles/mol”, in other words whatever you happen to be counting in. </a:t>
            </a:r>
            <a:endParaRPr sz="1800">
              <a:solidFill>
                <a:schemeClr val="dk1"/>
              </a:solidFill>
              <a:latin typeface="Corbel"/>
              <a:ea typeface="Corbel"/>
              <a:cs typeface="Corbel"/>
              <a:sym typeface="Corbel"/>
            </a:endParaRPr>
          </a:p>
        </p:txBody>
      </p:sp>
      <p:pic>
        <p:nvPicPr>
          <p:cNvPr id="232" name="Google Shape;232;p35"/>
          <p:cNvPicPr preferRelativeResize="0"/>
          <p:nvPr/>
        </p:nvPicPr>
        <p:blipFill rotWithShape="1">
          <a:blip r:embed="rId3">
            <a:alphaModFix/>
          </a:blip>
          <a:srcRect b="0" l="0" r="0" t="0"/>
          <a:stretch/>
        </p:blipFill>
        <p:spPr>
          <a:xfrm>
            <a:off x="2174100" y="2262925"/>
            <a:ext cx="4795800" cy="838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6"/>
          <p:cNvSpPr txBox="1"/>
          <p:nvPr>
            <p:ph type="title"/>
          </p:nvPr>
        </p:nvSpPr>
        <p:spPr>
          <a:xfrm>
            <a:off x="311700" y="2164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50"/>
              <a:t>Explore: Discuss and Check with your Instructor</a:t>
            </a:r>
            <a:endParaRPr sz="2450"/>
          </a:p>
        </p:txBody>
      </p:sp>
      <p:pic>
        <p:nvPicPr>
          <p:cNvPr id="238" name="Google Shape;238;p36"/>
          <p:cNvPicPr preferRelativeResize="0"/>
          <p:nvPr>
            <p:ph idx="2" type="pic"/>
          </p:nvPr>
        </p:nvPicPr>
        <p:blipFill rotWithShape="1">
          <a:blip r:embed="rId3">
            <a:alphaModFix/>
          </a:blip>
          <a:srcRect b="0" l="0" r="0" t="0"/>
          <a:stretch/>
        </p:blipFill>
        <p:spPr>
          <a:xfrm>
            <a:off x="1786525" y="1170775"/>
            <a:ext cx="5711425" cy="3794400"/>
          </a:xfrm>
          <a:prstGeom prst="rect">
            <a:avLst/>
          </a:prstGeom>
        </p:spPr>
      </p:pic>
      <p:pic>
        <p:nvPicPr>
          <p:cNvPr id="239" name="Google Shape;239;p36"/>
          <p:cNvPicPr preferRelativeResize="0"/>
          <p:nvPr/>
        </p:nvPicPr>
        <p:blipFill>
          <a:blip r:embed="rId4">
            <a:alphaModFix/>
          </a:blip>
          <a:stretch>
            <a:fillRect/>
          </a:stretch>
        </p:blipFill>
        <p:spPr>
          <a:xfrm>
            <a:off x="8001025" y="56875"/>
            <a:ext cx="939600" cy="939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Explore: Explain in your words</a:t>
            </a:r>
            <a:endParaRPr/>
          </a:p>
        </p:txBody>
      </p:sp>
      <p:sp>
        <p:nvSpPr>
          <p:cNvPr id="245" name="Google Shape;245;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400"/>
              <a:t>As a group, explain the concept of the mole in your own words using your OWN analogy and examples (ie not elephants/doughnuts).</a:t>
            </a:r>
            <a:endParaRPr sz="1400"/>
          </a:p>
          <a:p>
            <a:pPr indent="0" lvl="0" marL="0" rtl="0" algn="l">
              <a:lnSpc>
                <a:spcPct val="150000"/>
              </a:lnSpc>
              <a:spcBef>
                <a:spcPts val="0"/>
              </a:spcBef>
              <a:spcAft>
                <a:spcPts val="0"/>
              </a:spcAft>
              <a:buNone/>
            </a:pPr>
            <a:r>
              <a:rPr lang="en" sz="1400"/>
              <a:t>Be sure to include: Unit, Avogadro's number, example values for elements, what the number is and why it is this number (eg why isn't a mole just 1 million or some other "simpler" number). You can write or draw!</a:t>
            </a:r>
            <a:endParaRPr sz="1400"/>
          </a:p>
          <a:p>
            <a:pPr indent="0" lvl="0" marL="0" rtl="0" algn="l">
              <a:lnSpc>
                <a:spcPct val="150000"/>
              </a:lnSpc>
              <a:spcBef>
                <a:spcPts val="0"/>
              </a:spcBef>
              <a:spcAft>
                <a:spcPts val="0"/>
              </a:spcAft>
              <a:buNone/>
            </a:pPr>
            <a:r>
              <a:rPr b="1" lang="en" sz="1400" u="sng"/>
              <a:t>Your Explanation: </a:t>
            </a:r>
            <a:endParaRPr b="1" sz="1400" u="sng"/>
          </a:p>
          <a:p>
            <a:pPr indent="-317500" lvl="0" marL="457200" rtl="0" algn="l">
              <a:lnSpc>
                <a:spcPct val="150000"/>
              </a:lnSpc>
              <a:spcBef>
                <a:spcPts val="0"/>
              </a:spcBef>
              <a:spcAft>
                <a:spcPts val="0"/>
              </a:spcAft>
              <a:buSzPts val="1400"/>
              <a:buChar char="◼"/>
            </a:pPr>
            <a:r>
              <a:t/>
            </a:r>
            <a:endParaRPr sz="1400"/>
          </a:p>
          <a:p>
            <a:pPr indent="0" lvl="0" marL="0" rtl="0" algn="l">
              <a:lnSpc>
                <a:spcPct val="150000"/>
              </a:lnSpc>
              <a:spcBef>
                <a:spcPts val="0"/>
              </a:spcBef>
              <a:spcAft>
                <a:spcPts val="0"/>
              </a:spcAft>
              <a:buNone/>
            </a:pPr>
            <a:r>
              <a:t/>
            </a: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8"/>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50"/>
              <a:t>Explore: Compare to how you calculated dozens</a:t>
            </a:r>
            <a:endParaRPr sz="2450"/>
          </a:p>
        </p:txBody>
      </p:sp>
      <p:sp>
        <p:nvSpPr>
          <p:cNvPr id="251" name="Google Shape;251;p38"/>
          <p:cNvSpPr txBox="1"/>
          <p:nvPr>
            <p:ph idx="1" type="body"/>
          </p:nvPr>
        </p:nvSpPr>
        <p:spPr>
          <a:xfrm>
            <a:off x="157700" y="1182250"/>
            <a:ext cx="8520600" cy="34164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Up at your Whiteboard, compare your dozens work with calculati</a:t>
            </a:r>
            <a:r>
              <a:rPr lang="en" sz="1400"/>
              <a:t>ng</a:t>
            </a:r>
            <a:r>
              <a:rPr lang="en" sz="1400">
                <a:solidFill>
                  <a:schemeClr val="dk1"/>
                </a:solidFill>
              </a:rPr>
              <a:t> moles</a:t>
            </a:r>
            <a:r>
              <a:rPr lang="en" sz="1400"/>
              <a:t>, by solving the following: </a:t>
            </a:r>
            <a:endParaRPr sz="1400">
              <a:solidFill>
                <a:schemeClr val="dk1"/>
              </a:solidFill>
            </a:endParaRPr>
          </a:p>
          <a:p>
            <a:pPr indent="-214471" lvl="1" marL="730091" rtl="0" algn="l">
              <a:lnSpc>
                <a:spcPct val="150000"/>
              </a:lnSpc>
              <a:spcBef>
                <a:spcPts val="560"/>
              </a:spcBef>
              <a:spcAft>
                <a:spcPts val="0"/>
              </a:spcAft>
              <a:buClr>
                <a:schemeClr val="dk1"/>
              </a:buClr>
              <a:buSzPts val="1400"/>
              <a:buChar char="○"/>
            </a:pPr>
            <a:r>
              <a:rPr lang="en" sz="1400">
                <a:solidFill>
                  <a:schemeClr val="dk1"/>
                </a:solidFill>
              </a:rPr>
              <a:t>If you have 6.02 × 10²³ eggs, how many dozens do you have? How does this help you understand why we use the mole unit and not something like dozens to count atoms?</a:t>
            </a:r>
            <a:endParaRPr sz="1400">
              <a:solidFill>
                <a:schemeClr val="dk1"/>
              </a:solidFill>
            </a:endParaRPr>
          </a:p>
          <a:p>
            <a:pPr indent="0" lvl="0" marL="0" rtl="0" algn="l">
              <a:lnSpc>
                <a:spcPct val="150000"/>
              </a:lnSpc>
              <a:spcBef>
                <a:spcPts val="0"/>
              </a:spcBef>
              <a:spcAft>
                <a:spcPts val="0"/>
              </a:spcAft>
              <a:buNone/>
            </a:pPr>
            <a:r>
              <a:rPr lang="en" sz="1400"/>
              <a:t>Set up an EQUATION to get from particles to amount in MOLES and solve it using:</a:t>
            </a:r>
            <a:endParaRPr sz="1400"/>
          </a:p>
          <a:p>
            <a:pPr indent="0" lvl="0" marL="0" rtl="0" algn="l">
              <a:lnSpc>
                <a:spcPct val="150000"/>
              </a:lnSpc>
              <a:spcBef>
                <a:spcPts val="0"/>
              </a:spcBef>
              <a:spcAft>
                <a:spcPts val="0"/>
              </a:spcAft>
              <a:buNone/>
            </a:pPr>
            <a:r>
              <a:t/>
            </a:r>
            <a:endParaRPr sz="1400"/>
          </a:p>
          <a:p>
            <a:pPr indent="457200" lvl="0" marL="0" rtl="0" algn="l">
              <a:lnSpc>
                <a:spcPct val="150000"/>
              </a:lnSpc>
              <a:spcBef>
                <a:spcPts val="0"/>
              </a:spcBef>
              <a:spcAft>
                <a:spcPts val="0"/>
              </a:spcAft>
              <a:buNone/>
            </a:pPr>
            <a:r>
              <a:rPr lang="en" sz="1400"/>
              <a:t>N = Number of particles you have</a:t>
            </a:r>
            <a:endParaRPr sz="1400"/>
          </a:p>
          <a:p>
            <a:pPr indent="457200" lvl="0" marL="0" rtl="0" algn="l">
              <a:lnSpc>
                <a:spcPct val="150000"/>
              </a:lnSpc>
              <a:spcBef>
                <a:spcPts val="0"/>
              </a:spcBef>
              <a:spcAft>
                <a:spcPts val="0"/>
              </a:spcAft>
              <a:buNone/>
            </a:pPr>
            <a:r>
              <a:rPr lang="en" sz="1400"/>
              <a:t>N</a:t>
            </a:r>
            <a:r>
              <a:rPr baseline="-25000" lang="en" sz="1400"/>
              <a:t>A</a:t>
            </a:r>
            <a:r>
              <a:rPr lang="en" sz="1400"/>
              <a:t> = number in 1 mole (this is Avogadro’s number)</a:t>
            </a:r>
            <a:endParaRPr sz="1400"/>
          </a:p>
          <a:p>
            <a:pPr indent="457200" lvl="0" marL="0" rtl="0" algn="l">
              <a:lnSpc>
                <a:spcPct val="150000"/>
              </a:lnSpc>
              <a:spcBef>
                <a:spcPts val="0"/>
              </a:spcBef>
              <a:spcAft>
                <a:spcPts val="0"/>
              </a:spcAft>
              <a:buNone/>
            </a:pPr>
            <a:r>
              <a:rPr lang="en" sz="1400"/>
              <a:t>n = the number of moles you have</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t/>
            </a:r>
            <a:endParaRPr sz="1400">
              <a:solidFill>
                <a:schemeClr val="dk1"/>
              </a:solidFill>
            </a:endParaRPr>
          </a:p>
          <a:p>
            <a:pPr indent="0" lvl="0" marL="0" rtl="0" algn="l">
              <a:lnSpc>
                <a:spcPct val="150000"/>
              </a:lnSpc>
              <a:spcBef>
                <a:spcPts val="0"/>
              </a:spcBef>
              <a:spcAft>
                <a:spcPts val="0"/>
              </a:spcAft>
              <a:buNone/>
            </a:pPr>
            <a:r>
              <a:t/>
            </a:r>
            <a:endParaRPr sz="1400"/>
          </a:p>
        </p:txBody>
      </p:sp>
      <p:grpSp>
        <p:nvGrpSpPr>
          <p:cNvPr id="252" name="Google Shape;252;p38"/>
          <p:cNvGrpSpPr/>
          <p:nvPr/>
        </p:nvGrpSpPr>
        <p:grpSpPr>
          <a:xfrm>
            <a:off x="4572000" y="2571743"/>
            <a:ext cx="4493250" cy="1533453"/>
            <a:chOff x="4395400" y="2153693"/>
            <a:chExt cx="4493250" cy="1533453"/>
          </a:xfrm>
        </p:grpSpPr>
        <p:sp>
          <p:nvSpPr>
            <p:cNvPr id="253" name="Google Shape;253;p38"/>
            <p:cNvSpPr/>
            <p:nvPr/>
          </p:nvSpPr>
          <p:spPr>
            <a:xfrm>
              <a:off x="7332550" y="2571745"/>
              <a:ext cx="1556100" cy="1115400"/>
            </a:xfrm>
            <a:prstGeom prst="ellipse">
              <a:avLst/>
            </a:prstGeom>
            <a:solidFill>
              <a:srgbClr val="C8C8B1"/>
            </a:solidFill>
            <a:ln cap="flat" cmpd="sng" w="9525">
              <a:solidFill>
                <a:srgbClr val="D128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38"/>
            <p:cNvSpPr txBox="1"/>
            <p:nvPr/>
          </p:nvSpPr>
          <p:spPr>
            <a:xfrm>
              <a:off x="7495170" y="2648967"/>
              <a:ext cx="1278600" cy="59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t>Amount in chosen unit</a:t>
              </a:r>
              <a:r>
                <a:rPr lang="en" sz="1000"/>
                <a:t> (eg dozens or moles)</a:t>
              </a:r>
              <a:endParaRPr sz="1000"/>
            </a:p>
          </p:txBody>
        </p:sp>
        <p:sp>
          <p:nvSpPr>
            <p:cNvPr id="255" name="Google Shape;255;p38"/>
            <p:cNvSpPr/>
            <p:nvPr/>
          </p:nvSpPr>
          <p:spPr>
            <a:xfrm>
              <a:off x="4395400" y="2166275"/>
              <a:ext cx="1410900" cy="965400"/>
            </a:xfrm>
            <a:prstGeom prst="ellipse">
              <a:avLst/>
            </a:prstGeom>
            <a:solidFill>
              <a:srgbClr val="C8C8B1"/>
            </a:solidFill>
            <a:ln cap="flat" cmpd="sng" w="9525">
              <a:solidFill>
                <a:srgbClr val="D128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6" name="Google Shape;256;p38"/>
            <p:cNvCxnSpPr>
              <a:stCxn id="255" idx="6"/>
              <a:endCxn id="253" idx="2"/>
            </p:cNvCxnSpPr>
            <p:nvPr/>
          </p:nvCxnSpPr>
          <p:spPr>
            <a:xfrm>
              <a:off x="5806300" y="2648975"/>
              <a:ext cx="1526100" cy="480600"/>
            </a:xfrm>
            <a:prstGeom prst="straightConnector1">
              <a:avLst/>
            </a:prstGeom>
            <a:noFill/>
            <a:ln cap="flat" cmpd="sng" w="38100">
              <a:solidFill>
                <a:srgbClr val="D1282E"/>
              </a:solidFill>
              <a:prstDash val="solid"/>
              <a:round/>
              <a:headEnd len="med" w="med" type="stealth"/>
              <a:tailEnd len="med" w="med" type="stealth"/>
            </a:ln>
          </p:spPr>
        </p:cxnSp>
        <p:sp>
          <p:nvSpPr>
            <p:cNvPr id="257" name="Google Shape;257;p38"/>
            <p:cNvSpPr txBox="1"/>
            <p:nvPr/>
          </p:nvSpPr>
          <p:spPr>
            <a:xfrm>
              <a:off x="4454925" y="2153693"/>
              <a:ext cx="1188600" cy="83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t>Amount in Particles</a:t>
              </a:r>
              <a:endParaRPr b="1" sz="1700"/>
            </a:p>
          </p:txBody>
        </p:sp>
        <p:sp>
          <p:nvSpPr>
            <p:cNvPr id="258" name="Google Shape;258;p38"/>
            <p:cNvSpPr txBox="1"/>
            <p:nvPr/>
          </p:nvSpPr>
          <p:spPr>
            <a:xfrm rot="1113884">
              <a:off x="6342082" y="2572290"/>
              <a:ext cx="753826" cy="384691"/>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orbel"/>
                  <a:ea typeface="Corbel"/>
                  <a:cs typeface="Corbel"/>
                  <a:sym typeface="Corbel"/>
                </a:rPr>
                <a:t>Convert</a:t>
              </a:r>
              <a:endParaRPr sz="1300">
                <a:solidFill>
                  <a:schemeClr val="dk1"/>
                </a:solidFill>
                <a:latin typeface="Corbel"/>
                <a:ea typeface="Corbel"/>
                <a:cs typeface="Corbel"/>
                <a:sym typeface="Corbe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Explore: Optional Scientific Notation in Calculator</a:t>
            </a:r>
            <a:endParaRPr sz="2400"/>
          </a:p>
        </p:txBody>
      </p:sp>
      <p:sp>
        <p:nvSpPr>
          <p:cNvPr id="264" name="Google Shape;264;p39"/>
          <p:cNvSpPr txBox="1"/>
          <p:nvPr>
            <p:ph idx="1" type="body"/>
          </p:nvPr>
        </p:nvSpPr>
        <p:spPr>
          <a:xfrm>
            <a:off x="311700" y="1152475"/>
            <a:ext cx="8520600" cy="537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400"/>
              <a:t>For help entering into your calculator properly you can watch this:</a:t>
            </a:r>
            <a:endParaRPr sz="1400"/>
          </a:p>
          <a:p>
            <a:pPr indent="0" lvl="0" marL="0" rtl="0" algn="l">
              <a:lnSpc>
                <a:spcPct val="150000"/>
              </a:lnSpc>
              <a:spcBef>
                <a:spcPts val="0"/>
              </a:spcBef>
              <a:spcAft>
                <a:spcPts val="0"/>
              </a:spcAft>
              <a:buNone/>
            </a:pPr>
            <a:r>
              <a:t/>
            </a:r>
            <a:endParaRPr sz="1400"/>
          </a:p>
        </p:txBody>
      </p:sp>
      <p:pic>
        <p:nvPicPr>
          <p:cNvPr id="265" name="Google Shape;265;p39">
            <a:hlinkClick r:id="rId3"/>
          </p:cNvPr>
          <p:cNvPicPr preferRelativeResize="0"/>
          <p:nvPr/>
        </p:nvPicPr>
        <p:blipFill>
          <a:blip r:embed="rId4">
            <a:alphaModFix/>
          </a:blip>
          <a:stretch>
            <a:fillRect/>
          </a:stretch>
        </p:blipFill>
        <p:spPr>
          <a:xfrm>
            <a:off x="1878850" y="1774125"/>
            <a:ext cx="5386300" cy="3029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311700" y="29617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Explore: Try these problems</a:t>
            </a:r>
            <a:endParaRPr/>
          </a:p>
        </p:txBody>
      </p:sp>
      <p:sp>
        <p:nvSpPr>
          <p:cNvPr id="271" name="Google Shape;271;p40"/>
          <p:cNvSpPr txBox="1"/>
          <p:nvPr/>
        </p:nvSpPr>
        <p:spPr>
          <a:xfrm>
            <a:off x="311700" y="1312975"/>
            <a:ext cx="7992600" cy="569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Corbel"/>
                <a:ea typeface="Corbel"/>
                <a:cs typeface="Corbel"/>
                <a:sym typeface="Corbel"/>
              </a:rPr>
              <a:t>1. If you have 1.81x10</a:t>
            </a:r>
            <a:r>
              <a:rPr baseline="30000" lang="en" sz="2500">
                <a:solidFill>
                  <a:schemeClr val="dk1"/>
                </a:solidFill>
                <a:latin typeface="Corbel"/>
                <a:ea typeface="Corbel"/>
                <a:cs typeface="Corbel"/>
                <a:sym typeface="Corbel"/>
              </a:rPr>
              <a:t>24</a:t>
            </a:r>
            <a:r>
              <a:rPr lang="en" sz="2500">
                <a:solidFill>
                  <a:schemeClr val="dk1"/>
                </a:solidFill>
                <a:latin typeface="Corbel"/>
                <a:ea typeface="Corbel"/>
                <a:cs typeface="Corbel"/>
                <a:sym typeface="Corbel"/>
              </a:rPr>
              <a:t>  eggs how many moles do you have?</a:t>
            </a:r>
            <a:r>
              <a:rPr lang="en" sz="2500">
                <a:solidFill>
                  <a:schemeClr val="dk1"/>
                </a:solidFill>
                <a:latin typeface="Arial Black"/>
                <a:ea typeface="Arial Black"/>
                <a:cs typeface="Arial Black"/>
                <a:sym typeface="Arial Black"/>
              </a:rPr>
              <a:t> </a:t>
            </a:r>
            <a:endParaRPr sz="300">
              <a:solidFill>
                <a:schemeClr val="dk1"/>
              </a:solidFill>
            </a:endParaRPr>
          </a:p>
        </p:txBody>
      </p:sp>
      <p:sp>
        <p:nvSpPr>
          <p:cNvPr id="272" name="Google Shape;272;p40"/>
          <p:cNvSpPr txBox="1"/>
          <p:nvPr/>
        </p:nvSpPr>
        <p:spPr>
          <a:xfrm>
            <a:off x="311700" y="2044900"/>
            <a:ext cx="7992600" cy="569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2000">
                <a:solidFill>
                  <a:schemeClr val="dk1"/>
                </a:solidFill>
                <a:latin typeface="Corbel"/>
                <a:ea typeface="Corbel"/>
                <a:cs typeface="Corbel"/>
                <a:sym typeface="Corbel"/>
              </a:rPr>
              <a:t>2. Would your answer change if it was 1.81x10</a:t>
            </a:r>
            <a:r>
              <a:rPr baseline="30000" lang="en" sz="2000">
                <a:solidFill>
                  <a:schemeClr val="dk1"/>
                </a:solidFill>
                <a:latin typeface="Corbel"/>
                <a:ea typeface="Corbel"/>
                <a:cs typeface="Corbel"/>
                <a:sym typeface="Corbel"/>
              </a:rPr>
              <a:t>24</a:t>
            </a:r>
            <a:r>
              <a:rPr lang="en" sz="2000">
                <a:solidFill>
                  <a:schemeClr val="dk1"/>
                </a:solidFill>
                <a:latin typeface="Corbel"/>
                <a:ea typeface="Corbel"/>
                <a:cs typeface="Corbel"/>
                <a:sym typeface="Corbel"/>
              </a:rPr>
              <a:t> particles of sodium (Na)?</a:t>
            </a:r>
            <a:endParaRPr sz="2000">
              <a:solidFill>
                <a:schemeClr val="dk1"/>
              </a:solidFill>
              <a:latin typeface="Corbel"/>
              <a:ea typeface="Corbel"/>
              <a:cs typeface="Corbel"/>
              <a:sym typeface="Corbel"/>
            </a:endParaRPr>
          </a:p>
        </p:txBody>
      </p:sp>
      <p:sp>
        <p:nvSpPr>
          <p:cNvPr id="273" name="Google Shape;273;p40"/>
          <p:cNvSpPr txBox="1"/>
          <p:nvPr/>
        </p:nvSpPr>
        <p:spPr>
          <a:xfrm>
            <a:off x="311700" y="2676938"/>
            <a:ext cx="7992600" cy="623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orbel"/>
                <a:ea typeface="Corbel"/>
                <a:cs typeface="Corbel"/>
                <a:sym typeface="Corbel"/>
              </a:rPr>
              <a:t>3. How about if it was 1.81x10</a:t>
            </a:r>
            <a:r>
              <a:rPr baseline="30000" lang="en" sz="2000">
                <a:solidFill>
                  <a:schemeClr val="dk1"/>
                </a:solidFill>
                <a:latin typeface="Corbel"/>
                <a:ea typeface="Corbel"/>
                <a:cs typeface="Corbel"/>
                <a:sym typeface="Corbel"/>
              </a:rPr>
              <a:t>24</a:t>
            </a:r>
            <a:r>
              <a:rPr lang="en" sz="2000">
                <a:solidFill>
                  <a:schemeClr val="dk1"/>
                </a:solidFill>
                <a:latin typeface="Corbel"/>
                <a:ea typeface="Corbel"/>
                <a:cs typeface="Corbel"/>
                <a:sym typeface="Corbel"/>
              </a:rPr>
              <a:t> particles of CO2?</a:t>
            </a:r>
            <a:endParaRPr sz="2000">
              <a:solidFill>
                <a:schemeClr val="dk1"/>
              </a:solidFill>
              <a:latin typeface="Corbel"/>
              <a:ea typeface="Corbel"/>
              <a:cs typeface="Corbel"/>
              <a:sym typeface="Corbel"/>
            </a:endParaRPr>
          </a:p>
        </p:txBody>
      </p:sp>
      <p:sp>
        <p:nvSpPr>
          <p:cNvPr id="274" name="Google Shape;274;p40"/>
          <p:cNvSpPr txBox="1"/>
          <p:nvPr/>
        </p:nvSpPr>
        <p:spPr>
          <a:xfrm>
            <a:off x="359100" y="4154775"/>
            <a:ext cx="7897800" cy="861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100">
                <a:solidFill>
                  <a:schemeClr val="dk1"/>
                </a:solidFill>
                <a:latin typeface="Corbel"/>
                <a:ea typeface="Corbel"/>
                <a:cs typeface="Corbel"/>
                <a:sym typeface="Corbel"/>
              </a:rPr>
              <a:t>Answers:  Move box to check!</a:t>
            </a:r>
            <a:endParaRPr sz="1100">
              <a:solidFill>
                <a:schemeClr val="dk1"/>
              </a:solidFill>
              <a:latin typeface="Corbel"/>
              <a:ea typeface="Corbel"/>
              <a:cs typeface="Corbel"/>
              <a:sym typeface="Corbel"/>
            </a:endParaRPr>
          </a:p>
          <a:p>
            <a:pPr indent="0" lvl="0" marL="0" rtl="0" algn="l">
              <a:lnSpc>
                <a:spcPct val="100000"/>
              </a:lnSpc>
              <a:spcBef>
                <a:spcPts val="0"/>
              </a:spcBef>
              <a:spcAft>
                <a:spcPts val="0"/>
              </a:spcAft>
              <a:buClr>
                <a:schemeClr val="dk1"/>
              </a:buClr>
              <a:buSzPts val="1100"/>
              <a:buFont typeface="Arial"/>
              <a:buNone/>
            </a:pPr>
            <a:r>
              <a:rPr lang="en" sz="1100">
                <a:solidFill>
                  <a:schemeClr val="dk1"/>
                </a:solidFill>
                <a:latin typeface="Corbel"/>
                <a:ea typeface="Corbel"/>
                <a:cs typeface="Corbel"/>
                <a:sym typeface="Corbel"/>
              </a:rPr>
              <a:t>1. 3.00 mol. 2. No, the same number of particles with equal the same number of moles regardless of substance. 3. Same, also 3.00 mol</a:t>
            </a:r>
            <a:endParaRPr sz="1100">
              <a:solidFill>
                <a:schemeClr val="dk1"/>
              </a:solidFill>
              <a:latin typeface="Corbel"/>
              <a:ea typeface="Corbel"/>
              <a:cs typeface="Corbel"/>
              <a:sym typeface="Corbel"/>
            </a:endParaRPr>
          </a:p>
          <a:p>
            <a:pPr indent="0" lvl="0" marL="0" rtl="0" algn="l">
              <a:lnSpc>
                <a:spcPct val="100000"/>
              </a:lnSpc>
              <a:spcBef>
                <a:spcPts val="0"/>
              </a:spcBef>
              <a:spcAft>
                <a:spcPts val="0"/>
              </a:spcAft>
              <a:buNone/>
            </a:pPr>
            <a:r>
              <a:rPr lang="en" sz="1100">
                <a:solidFill>
                  <a:schemeClr val="dk1"/>
                </a:solidFill>
                <a:latin typeface="Corbel"/>
                <a:ea typeface="Corbel"/>
                <a:cs typeface="Corbel"/>
                <a:sym typeface="Corbel"/>
              </a:rPr>
              <a:t>4. n = N / Nₐ  </a:t>
            </a:r>
            <a:endParaRPr sz="1100">
              <a:solidFill>
                <a:schemeClr val="dk1"/>
              </a:solidFill>
              <a:latin typeface="Corbel"/>
              <a:ea typeface="Corbel"/>
              <a:cs typeface="Corbel"/>
              <a:sym typeface="Corbel"/>
            </a:endParaRPr>
          </a:p>
          <a:p>
            <a:pPr indent="-234950" lvl="0" marL="457200" rtl="0" algn="l">
              <a:lnSpc>
                <a:spcPct val="100000"/>
              </a:lnSpc>
              <a:spcBef>
                <a:spcPts val="0"/>
              </a:spcBef>
              <a:spcAft>
                <a:spcPts val="0"/>
              </a:spcAft>
              <a:buClr>
                <a:schemeClr val="dk1"/>
              </a:buClr>
              <a:buSzPts val="100"/>
              <a:buFont typeface="Noto Sans Symbols"/>
              <a:buChar char="●"/>
            </a:pPr>
            <a:r>
              <a:rPr lang="en" sz="1100">
                <a:solidFill>
                  <a:schemeClr val="dk1"/>
                </a:solidFill>
                <a:latin typeface="Corbel"/>
                <a:ea typeface="Corbel"/>
                <a:cs typeface="Corbel"/>
                <a:sym typeface="Corbel"/>
              </a:rPr>
              <a:t>n = 1.204 × 10²⁴ atoms/ 6.02 × 10²³ atoms/mol = 2 mol</a:t>
            </a:r>
            <a:endParaRPr sz="1800">
              <a:solidFill>
                <a:schemeClr val="dk1"/>
              </a:solidFill>
              <a:latin typeface="Corbel"/>
              <a:ea typeface="Corbel"/>
              <a:cs typeface="Corbel"/>
              <a:sym typeface="Corbel"/>
            </a:endParaRPr>
          </a:p>
        </p:txBody>
      </p:sp>
      <p:sp>
        <p:nvSpPr>
          <p:cNvPr id="275" name="Google Shape;275;p40"/>
          <p:cNvSpPr/>
          <p:nvPr/>
        </p:nvSpPr>
        <p:spPr>
          <a:xfrm>
            <a:off x="367100" y="4448300"/>
            <a:ext cx="7868100" cy="56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
        <p:nvSpPr>
          <p:cNvPr id="276" name="Google Shape;276;p40"/>
          <p:cNvSpPr txBox="1"/>
          <p:nvPr/>
        </p:nvSpPr>
        <p:spPr>
          <a:xfrm>
            <a:off x="311700" y="3363002"/>
            <a:ext cx="7992600" cy="718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chemeClr val="dk1"/>
                </a:solidFill>
                <a:latin typeface="Corbel"/>
                <a:ea typeface="Corbel"/>
                <a:cs typeface="Corbel"/>
                <a:sym typeface="Corbel"/>
              </a:rPr>
              <a:t>4. Solve this: If you have 1.204 × 10²⁴ atoms of carbon, how many moles do you have?</a:t>
            </a:r>
            <a:endParaRPr sz="2000">
              <a:solidFill>
                <a:schemeClr val="dk1"/>
              </a:solidFill>
              <a:latin typeface="Corbel"/>
              <a:ea typeface="Corbel"/>
              <a:cs typeface="Corbel"/>
              <a:sym typeface="Corbel"/>
            </a:endParaRPr>
          </a:p>
        </p:txBody>
      </p:sp>
      <p:pic>
        <p:nvPicPr>
          <p:cNvPr id="277" name="Google Shape;277;p40"/>
          <p:cNvPicPr preferRelativeResize="0"/>
          <p:nvPr/>
        </p:nvPicPr>
        <p:blipFill rotWithShape="1">
          <a:blip r:embed="rId3">
            <a:alphaModFix/>
          </a:blip>
          <a:srcRect b="0" l="0" r="0" t="0"/>
          <a:stretch/>
        </p:blipFill>
        <p:spPr>
          <a:xfrm>
            <a:off x="7706700" y="0"/>
            <a:ext cx="1125600" cy="968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1"/>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Explore: Bad mole jokes! Enjoy! </a:t>
            </a:r>
            <a:endParaRPr/>
          </a:p>
        </p:txBody>
      </p:sp>
      <p:sp>
        <p:nvSpPr>
          <p:cNvPr id="283" name="Google Shape;283;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37766" rtl="0" algn="l">
              <a:lnSpc>
                <a:spcPct val="150000"/>
              </a:lnSpc>
              <a:spcBef>
                <a:spcPts val="0"/>
              </a:spcBef>
              <a:spcAft>
                <a:spcPts val="0"/>
              </a:spcAft>
              <a:buNone/>
            </a:pPr>
            <a:r>
              <a:rPr lang="en" sz="1400"/>
              <a:t>Q: How did Avogadro write to his friends? </a:t>
            </a:r>
            <a:endParaRPr sz="1400"/>
          </a:p>
          <a:p>
            <a:pPr indent="0" lvl="0" marL="437766" rtl="0" algn="l">
              <a:lnSpc>
                <a:spcPct val="150000"/>
              </a:lnSpc>
              <a:spcBef>
                <a:spcPts val="0"/>
              </a:spcBef>
              <a:spcAft>
                <a:spcPts val="0"/>
              </a:spcAft>
              <a:buNone/>
            </a:pPr>
            <a:r>
              <a:rPr lang="en" sz="1400"/>
              <a:t>A: By e-mole! </a:t>
            </a:r>
            <a:endParaRPr sz="1400"/>
          </a:p>
          <a:p>
            <a:pPr indent="0" lvl="0" marL="437766" rtl="0" algn="l">
              <a:lnSpc>
                <a:spcPct val="150000"/>
              </a:lnSpc>
              <a:spcBef>
                <a:spcPts val="0"/>
              </a:spcBef>
              <a:spcAft>
                <a:spcPts val="0"/>
              </a:spcAft>
              <a:buNone/>
            </a:pPr>
            <a:r>
              <a:rPr lang="en" sz="1400"/>
              <a:t>Q: Why was Avogadro so rich? </a:t>
            </a:r>
            <a:endParaRPr sz="1400"/>
          </a:p>
          <a:p>
            <a:pPr indent="0" lvl="0" marL="437766" rtl="0" algn="l">
              <a:lnSpc>
                <a:spcPct val="150000"/>
              </a:lnSpc>
              <a:spcBef>
                <a:spcPts val="0"/>
              </a:spcBef>
              <a:spcAft>
                <a:spcPts val="0"/>
              </a:spcAft>
              <a:buNone/>
            </a:pPr>
            <a:r>
              <a:rPr lang="en" sz="1400"/>
              <a:t>A: He's a multi-mole-ionare! </a:t>
            </a:r>
            <a:endParaRPr sz="1400"/>
          </a:p>
          <a:p>
            <a:pPr indent="0" lvl="0" marL="437766" rtl="0" algn="l">
              <a:lnSpc>
                <a:spcPct val="150000"/>
              </a:lnSpc>
              <a:spcBef>
                <a:spcPts val="0"/>
              </a:spcBef>
              <a:spcAft>
                <a:spcPts val="0"/>
              </a:spcAft>
              <a:buNone/>
            </a:pPr>
            <a:r>
              <a:rPr lang="en" sz="1400"/>
              <a:t>Q: What does Avogadro put in his hot chocolate? </a:t>
            </a:r>
            <a:endParaRPr sz="1400"/>
          </a:p>
          <a:p>
            <a:pPr indent="0" lvl="0" marL="437766" rtl="0" algn="l">
              <a:lnSpc>
                <a:spcPct val="150000"/>
              </a:lnSpc>
              <a:spcBef>
                <a:spcPts val="0"/>
              </a:spcBef>
              <a:spcAft>
                <a:spcPts val="0"/>
              </a:spcAft>
              <a:buNone/>
            </a:pPr>
            <a:r>
              <a:rPr lang="en" sz="1400"/>
              <a:t>A: Marsh-mole-ows! </a:t>
            </a:r>
            <a:endParaRPr sz="1400"/>
          </a:p>
          <a:p>
            <a:pPr indent="0" lvl="0" marL="437766" rtl="0" algn="l">
              <a:lnSpc>
                <a:spcPct val="150000"/>
              </a:lnSpc>
              <a:spcBef>
                <a:spcPts val="0"/>
              </a:spcBef>
              <a:spcAft>
                <a:spcPts val="0"/>
              </a:spcAft>
              <a:buNone/>
            </a:pPr>
            <a:r>
              <a:rPr lang="en" sz="1400"/>
              <a:t>Q: Why did Avogadro like Cindy Crawford? </a:t>
            </a:r>
            <a:endParaRPr sz="1400"/>
          </a:p>
          <a:p>
            <a:pPr indent="0" lvl="0" marL="437766" rtl="0" algn="l">
              <a:lnSpc>
                <a:spcPct val="150000"/>
              </a:lnSpc>
              <a:spcBef>
                <a:spcPts val="0"/>
              </a:spcBef>
              <a:spcAft>
                <a:spcPts val="0"/>
              </a:spcAft>
              <a:buNone/>
            </a:pPr>
            <a:r>
              <a:rPr lang="en" sz="1400"/>
              <a:t>A: She's his favorite super-mole-dle (and she has a mole). </a:t>
            </a:r>
            <a:endParaRPr sz="1400"/>
          </a:p>
          <a:p>
            <a:pPr indent="0" lvl="0" marL="437766" rtl="0" algn="l">
              <a:lnSpc>
                <a:spcPct val="150000"/>
              </a:lnSpc>
              <a:spcBef>
                <a:spcPts val="0"/>
              </a:spcBef>
              <a:spcAft>
                <a:spcPts val="0"/>
              </a:spcAft>
              <a:buNone/>
            </a:pPr>
            <a:r>
              <a:rPr lang="en" sz="1400"/>
              <a:t>Q: What did the generous Avogadro say when his friends crashed his party? </a:t>
            </a:r>
            <a:endParaRPr sz="1400"/>
          </a:p>
          <a:p>
            <a:pPr indent="0" lvl="0" marL="437766" rtl="0" algn="l">
              <a:lnSpc>
                <a:spcPct val="150000"/>
              </a:lnSpc>
              <a:spcBef>
                <a:spcPts val="0"/>
              </a:spcBef>
              <a:spcAft>
                <a:spcPts val="0"/>
              </a:spcAft>
              <a:buNone/>
            </a:pPr>
            <a:r>
              <a:rPr lang="en" sz="1400"/>
              <a:t>A: The mole the merrier! </a:t>
            </a:r>
            <a:endParaRPr sz="1400"/>
          </a:p>
          <a:p>
            <a:pPr indent="0" lvl="0" marL="437766"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t/>
            </a:r>
            <a:endParaRPr sz="1400"/>
          </a:p>
        </p:txBody>
      </p:sp>
      <p:pic>
        <p:nvPicPr>
          <p:cNvPr descr="Professor Mole" id="284" name="Google Shape;284;p41"/>
          <p:cNvPicPr preferRelativeResize="0"/>
          <p:nvPr/>
        </p:nvPicPr>
        <p:blipFill rotWithShape="1">
          <a:blip r:embed="rId3">
            <a:alphaModFix/>
          </a:blip>
          <a:srcRect b="0" l="0" r="0" t="0"/>
          <a:stretch/>
        </p:blipFill>
        <p:spPr>
          <a:xfrm>
            <a:off x="6654950" y="1634324"/>
            <a:ext cx="1803300" cy="1941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2"/>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50"/>
              <a:t>Explore: Continue with Practice OR rest of Explore</a:t>
            </a:r>
            <a:endParaRPr sz="2650"/>
          </a:p>
        </p:txBody>
      </p:sp>
      <p:sp>
        <p:nvSpPr>
          <p:cNvPr id="290" name="Google Shape;290;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7350" lvl="0" marL="457200" rtl="0" algn="l">
              <a:lnSpc>
                <a:spcPct val="150000"/>
              </a:lnSpc>
              <a:spcBef>
                <a:spcPts val="0"/>
              </a:spcBef>
              <a:spcAft>
                <a:spcPts val="0"/>
              </a:spcAft>
              <a:buSzPts val="2500"/>
              <a:buChar char="◼"/>
            </a:pPr>
            <a:r>
              <a:rPr lang="en" sz="2500"/>
              <a:t>I</a:t>
            </a:r>
            <a:r>
              <a:rPr lang="en" sz="2300"/>
              <a:t>f you are feeling comfortable with the content and are ready to move on to the next equation involving mass and the mole, continue below. </a:t>
            </a:r>
            <a:endParaRPr sz="2300"/>
          </a:p>
          <a:p>
            <a:pPr indent="-374650" lvl="0" marL="457200" rtl="0" algn="l">
              <a:lnSpc>
                <a:spcPct val="150000"/>
              </a:lnSpc>
              <a:spcBef>
                <a:spcPts val="0"/>
              </a:spcBef>
              <a:spcAft>
                <a:spcPts val="0"/>
              </a:spcAft>
              <a:buSzPts val="2300"/>
              <a:buChar char="◼"/>
            </a:pPr>
            <a:r>
              <a:rPr lang="en" sz="2300"/>
              <a:t>If you feel more practice on the particles and mole problems would be better before moving on then attempt Apply Slides # 1 &amp; 2 and check in with your instructor before moving on. </a:t>
            </a:r>
            <a:endParaRPr sz="2300"/>
          </a:p>
          <a:p>
            <a:pPr indent="0" lvl="0" marL="0" rtl="0" algn="l">
              <a:lnSpc>
                <a:spcPct val="150000"/>
              </a:lnSpc>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3"/>
          <p:cNvSpPr txBox="1"/>
          <p:nvPr>
            <p:ph type="title"/>
          </p:nvPr>
        </p:nvSpPr>
        <p:spPr>
          <a:xfrm>
            <a:off x="311700" y="218275"/>
            <a:ext cx="54231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Explore: The Mole and Molar Mass </a:t>
            </a:r>
            <a:endParaRPr/>
          </a:p>
        </p:txBody>
      </p:sp>
      <p:sp>
        <p:nvSpPr>
          <p:cNvPr id="296" name="Google Shape;296;p4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Where the mole gets properly useful! Instead of saying “The amount of helium I have is the molar mass but in grams instead of amu” (that’s a mouthful!), we can just say we have </a:t>
            </a:r>
            <a:r>
              <a:rPr b="1" lang="en"/>
              <a:t>“1 mole” </a:t>
            </a:r>
            <a:r>
              <a:rPr lang="en"/>
              <a:t>and all chemists and chemistry students know that means the same! </a:t>
            </a:r>
            <a:endParaRPr/>
          </a:p>
          <a:p>
            <a:pPr indent="0" lvl="0" marL="0" rtl="0" algn="l">
              <a:lnSpc>
                <a:spcPct val="150000"/>
              </a:lnSpc>
              <a:spcBef>
                <a:spcPts val="0"/>
              </a:spcBef>
              <a:spcAft>
                <a:spcPts val="0"/>
              </a:spcAft>
              <a:buNone/>
            </a:pPr>
            <a:r>
              <a:t/>
            </a:r>
            <a:endParaRPr/>
          </a:p>
        </p:txBody>
      </p:sp>
      <p:pic>
        <p:nvPicPr>
          <p:cNvPr id="297" name="Google Shape;297;p43"/>
          <p:cNvPicPr preferRelativeResize="0"/>
          <p:nvPr>
            <p:ph idx="2" type="pic"/>
          </p:nvPr>
        </p:nvPicPr>
        <p:blipFill rotWithShape="1">
          <a:blip r:embed="rId3">
            <a:alphaModFix/>
          </a:blip>
          <a:srcRect b="0" l="0" r="5553" t="0"/>
          <a:stretch/>
        </p:blipFill>
        <p:spPr>
          <a:xfrm>
            <a:off x="3475700" y="1167650"/>
            <a:ext cx="5295250" cy="39758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type="title"/>
          </p:nvPr>
        </p:nvSpPr>
        <p:spPr>
          <a:xfrm>
            <a:off x="311700" y="178575"/>
            <a:ext cx="74076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550"/>
              <a:t>Explore: Match these elements to their masses</a:t>
            </a:r>
            <a:endParaRPr sz="2550"/>
          </a:p>
        </p:txBody>
      </p:sp>
      <p:sp>
        <p:nvSpPr>
          <p:cNvPr id="303" name="Google Shape;303;p44"/>
          <p:cNvSpPr txBox="1"/>
          <p:nvPr>
            <p:ph idx="1" type="body"/>
          </p:nvPr>
        </p:nvSpPr>
        <p:spPr>
          <a:xfrm>
            <a:off x="6077150" y="2421775"/>
            <a:ext cx="2808000" cy="2610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100"/>
              <a:t>Move box for Answers:</a:t>
            </a:r>
            <a:endParaRPr sz="1100"/>
          </a:p>
          <a:p>
            <a:pPr indent="0" lvl="0" marL="0" rtl="0" algn="l">
              <a:lnSpc>
                <a:spcPct val="150000"/>
              </a:lnSpc>
              <a:spcBef>
                <a:spcPts val="0"/>
              </a:spcBef>
              <a:spcAft>
                <a:spcPts val="0"/>
              </a:spcAft>
              <a:buNone/>
            </a:pPr>
            <a:r>
              <a:t/>
            </a:r>
            <a:endParaRPr sz="1100"/>
          </a:p>
          <a:p>
            <a:pPr indent="0" lvl="0" marL="0" rtl="0" algn="l">
              <a:lnSpc>
                <a:spcPct val="150000"/>
              </a:lnSpc>
              <a:spcBef>
                <a:spcPts val="0"/>
              </a:spcBef>
              <a:spcAft>
                <a:spcPts val="0"/>
              </a:spcAft>
              <a:buNone/>
            </a:pPr>
            <a:r>
              <a:rPr lang="en" sz="1100"/>
              <a:t> Br = 79.9g/mol (and ALSO 79.9amu) ; Cl = 35.5g/mol (and ALSO 35.5amu), Au = 196.967 amu (and ALSO 196.967amu). </a:t>
            </a:r>
            <a:endParaRPr sz="1100"/>
          </a:p>
          <a:p>
            <a:pPr indent="0" lvl="0" marL="0" rtl="0" algn="l">
              <a:lnSpc>
                <a:spcPct val="150000"/>
              </a:lnSpc>
              <a:spcBef>
                <a:spcPts val="0"/>
              </a:spcBef>
              <a:spcAft>
                <a:spcPts val="0"/>
              </a:spcAft>
              <a:buNone/>
            </a:pPr>
            <a:r>
              <a:rPr lang="en" sz="1100"/>
              <a:t>Hope you didn’t get tripped up and confuse the gold’s atomic number of 79 with its atomic mass . </a:t>
            </a:r>
            <a:endParaRPr sz="1100"/>
          </a:p>
          <a:p>
            <a:pPr indent="0" lvl="0" marL="0" rtl="0" algn="l">
              <a:lnSpc>
                <a:spcPct val="150000"/>
              </a:lnSpc>
              <a:spcBef>
                <a:spcPts val="0"/>
              </a:spcBef>
              <a:spcAft>
                <a:spcPts val="0"/>
              </a:spcAft>
              <a:buNone/>
            </a:pPr>
            <a:r>
              <a:rPr lang="en" sz="1100"/>
              <a:t>For the TRY THIS:  = 2 (35.5g/mol) + 3(79.9g/mol) = 310.7g/mol</a:t>
            </a:r>
            <a:endParaRPr sz="1100"/>
          </a:p>
          <a:p>
            <a:pPr indent="0" lvl="0" marL="0" rtl="0" algn="l">
              <a:lnSpc>
                <a:spcPct val="150000"/>
              </a:lnSpc>
              <a:spcBef>
                <a:spcPts val="0"/>
              </a:spcBef>
              <a:spcAft>
                <a:spcPts val="0"/>
              </a:spcAft>
              <a:buNone/>
            </a:pPr>
            <a:r>
              <a:t/>
            </a:r>
            <a:endParaRPr sz="1100"/>
          </a:p>
        </p:txBody>
      </p:sp>
      <p:pic>
        <p:nvPicPr>
          <p:cNvPr id="304" name="Google Shape;304;p44"/>
          <p:cNvPicPr preferRelativeResize="0"/>
          <p:nvPr>
            <p:ph idx="2" type="pic"/>
          </p:nvPr>
        </p:nvPicPr>
        <p:blipFill rotWithShape="1">
          <a:blip r:embed="rId3">
            <a:alphaModFix/>
          </a:blip>
          <a:srcRect b="0" l="6156" r="-718" t="0"/>
          <a:stretch/>
        </p:blipFill>
        <p:spPr>
          <a:xfrm>
            <a:off x="182725" y="1161400"/>
            <a:ext cx="5443000" cy="3982089"/>
          </a:xfrm>
          <a:prstGeom prst="rect">
            <a:avLst/>
          </a:prstGeom>
        </p:spPr>
      </p:pic>
      <p:sp>
        <p:nvSpPr>
          <p:cNvPr id="305" name="Google Shape;305;p44"/>
          <p:cNvSpPr txBox="1"/>
          <p:nvPr/>
        </p:nvSpPr>
        <p:spPr>
          <a:xfrm>
            <a:off x="6250775" y="1233625"/>
            <a:ext cx="2679000" cy="1077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orbel"/>
                <a:ea typeface="Corbel"/>
                <a:cs typeface="Corbel"/>
                <a:sym typeface="Corbel"/>
              </a:rPr>
              <a:t>After matching, Try this!</a:t>
            </a:r>
            <a:endParaRPr>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rPr lang="en" sz="1100">
                <a:solidFill>
                  <a:schemeClr val="dk1"/>
                </a:solidFill>
                <a:latin typeface="Corbel"/>
                <a:ea typeface="Corbel"/>
                <a:cs typeface="Corbel"/>
                <a:sym typeface="Corbel"/>
              </a:rPr>
              <a:t>If a sample has 2 moles of Cl and 3 moles of Br, what would the total mass of the sample be? </a:t>
            </a:r>
            <a:endParaRPr>
              <a:solidFill>
                <a:schemeClr val="dk1"/>
              </a:solidFill>
              <a:latin typeface="Corbel"/>
              <a:ea typeface="Corbel"/>
              <a:cs typeface="Corbel"/>
              <a:sym typeface="Corbel"/>
            </a:endParaRPr>
          </a:p>
        </p:txBody>
      </p:sp>
      <p:sp>
        <p:nvSpPr>
          <p:cNvPr id="306" name="Google Shape;306;p44"/>
          <p:cNvSpPr/>
          <p:nvPr/>
        </p:nvSpPr>
        <p:spPr>
          <a:xfrm>
            <a:off x="5893600" y="2999725"/>
            <a:ext cx="3105600" cy="210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ph type="title"/>
          </p:nvPr>
        </p:nvSpPr>
        <p:spPr>
          <a:xfrm>
            <a:off x="672625" y="172875"/>
            <a:ext cx="79593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2"/>
              </a:buClr>
              <a:buFont typeface="Arial Black"/>
              <a:buNone/>
            </a:pPr>
            <a:r>
              <a:rPr lang="en"/>
              <a:t>Explore: Calculating From Mass</a:t>
            </a:r>
            <a:r>
              <a:rPr lang="en"/>
              <a:t> </a:t>
            </a:r>
            <a:endParaRPr/>
          </a:p>
        </p:txBody>
      </p:sp>
      <p:grpSp>
        <p:nvGrpSpPr>
          <p:cNvPr id="312" name="Google Shape;312;p45"/>
          <p:cNvGrpSpPr/>
          <p:nvPr/>
        </p:nvGrpSpPr>
        <p:grpSpPr>
          <a:xfrm>
            <a:off x="884125" y="1810613"/>
            <a:ext cx="7250400" cy="2958875"/>
            <a:chOff x="884125" y="1810613"/>
            <a:chExt cx="7250400" cy="2958875"/>
          </a:xfrm>
        </p:grpSpPr>
        <p:sp>
          <p:nvSpPr>
            <p:cNvPr id="313" name="Google Shape;313;p45"/>
            <p:cNvSpPr/>
            <p:nvPr/>
          </p:nvSpPr>
          <p:spPr>
            <a:xfrm>
              <a:off x="5658625" y="2268450"/>
              <a:ext cx="2475900" cy="137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45"/>
            <p:cNvSpPr txBox="1"/>
            <p:nvPr/>
          </p:nvSpPr>
          <p:spPr>
            <a:xfrm>
              <a:off x="5879425" y="2479481"/>
              <a:ext cx="2034300" cy="73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Amount in chosen unit</a:t>
              </a:r>
              <a:r>
                <a:rPr lang="en" sz="1600"/>
                <a:t> (eg dozens or moles)</a:t>
              </a:r>
              <a:endParaRPr sz="1600"/>
            </a:p>
          </p:txBody>
        </p:sp>
        <p:sp>
          <p:nvSpPr>
            <p:cNvPr id="315" name="Google Shape;315;p45"/>
            <p:cNvSpPr/>
            <p:nvPr/>
          </p:nvSpPr>
          <p:spPr>
            <a:xfrm>
              <a:off x="937975" y="1810613"/>
              <a:ext cx="2244900" cy="1187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16" name="Google Shape;316;p45"/>
            <p:cNvCxnSpPr>
              <a:stCxn id="315" idx="6"/>
              <a:endCxn id="313" idx="2"/>
            </p:cNvCxnSpPr>
            <p:nvPr/>
          </p:nvCxnSpPr>
          <p:spPr>
            <a:xfrm>
              <a:off x="3182875" y="2404463"/>
              <a:ext cx="2475900" cy="550200"/>
            </a:xfrm>
            <a:prstGeom prst="straightConnector1">
              <a:avLst/>
            </a:prstGeom>
            <a:noFill/>
            <a:ln cap="flat" cmpd="sng" w="38100">
              <a:solidFill>
                <a:schemeClr val="dk2"/>
              </a:solidFill>
              <a:prstDash val="solid"/>
              <a:round/>
              <a:headEnd len="med" w="med" type="stealth"/>
              <a:tailEnd len="med" w="med" type="stealth"/>
            </a:ln>
          </p:spPr>
        </p:cxnSp>
        <p:sp>
          <p:nvSpPr>
            <p:cNvPr id="317" name="Google Shape;317;p45"/>
            <p:cNvSpPr txBox="1"/>
            <p:nvPr/>
          </p:nvSpPr>
          <p:spPr>
            <a:xfrm>
              <a:off x="937975" y="1969688"/>
              <a:ext cx="1891200" cy="102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t>Amount in Particles</a:t>
              </a:r>
              <a:endParaRPr b="1" sz="2500"/>
            </a:p>
          </p:txBody>
        </p:sp>
        <p:sp>
          <p:nvSpPr>
            <p:cNvPr id="318" name="Google Shape;318;p45"/>
            <p:cNvSpPr/>
            <p:nvPr/>
          </p:nvSpPr>
          <p:spPr>
            <a:xfrm>
              <a:off x="884125" y="3397288"/>
              <a:ext cx="2352600" cy="137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t>Amount in MASS</a:t>
              </a:r>
              <a:endParaRPr b="1" sz="2500"/>
            </a:p>
          </p:txBody>
        </p:sp>
        <p:cxnSp>
          <p:nvCxnSpPr>
            <p:cNvPr id="319" name="Google Shape;319;p45"/>
            <p:cNvCxnSpPr>
              <a:stCxn id="318" idx="6"/>
              <a:endCxn id="313" idx="3"/>
            </p:cNvCxnSpPr>
            <p:nvPr/>
          </p:nvCxnSpPr>
          <p:spPr>
            <a:xfrm flipH="1" rot="10800000">
              <a:off x="3236725" y="3439588"/>
              <a:ext cx="2784600" cy="643800"/>
            </a:xfrm>
            <a:prstGeom prst="straightConnector1">
              <a:avLst/>
            </a:prstGeom>
            <a:noFill/>
            <a:ln cap="flat" cmpd="sng" w="38100">
              <a:solidFill>
                <a:schemeClr val="dk2"/>
              </a:solidFill>
              <a:prstDash val="solid"/>
              <a:round/>
              <a:headEnd len="med" w="med" type="stealth"/>
              <a:tailEnd len="med" w="med" type="stealth"/>
            </a:ln>
          </p:spPr>
        </p:cxnSp>
      </p:grpSp>
      <p:sp>
        <p:nvSpPr>
          <p:cNvPr id="320" name="Google Shape;320;p45"/>
          <p:cNvSpPr txBox="1"/>
          <p:nvPr/>
        </p:nvSpPr>
        <p:spPr>
          <a:xfrm>
            <a:off x="4956775" y="1429775"/>
            <a:ext cx="4187100" cy="6723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t>Make sure you have the equation for particles to moles on the top arrow</a:t>
            </a:r>
            <a:endParaRPr sz="1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6"/>
          <p:cNvSpPr txBox="1"/>
          <p:nvPr>
            <p:ph type="title"/>
          </p:nvPr>
        </p:nvSpPr>
        <p:spPr>
          <a:xfrm>
            <a:off x="311700" y="226750"/>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200"/>
              <a:t>Explore: Converting to Molar Mass</a:t>
            </a:r>
            <a:endParaRPr sz="4200"/>
          </a:p>
        </p:txBody>
      </p:sp>
      <p:sp>
        <p:nvSpPr>
          <p:cNvPr id="326" name="Google Shape;326;p46"/>
          <p:cNvSpPr txBox="1"/>
          <p:nvPr>
            <p:ph idx="1" type="body"/>
          </p:nvPr>
        </p:nvSpPr>
        <p:spPr>
          <a:xfrm>
            <a:off x="311700" y="1152475"/>
            <a:ext cx="8520600" cy="36432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 sz="1400"/>
              <a:t>If you have 60 g of eggs how many dozens do you have?  (1 dozen eggs = 30 g)</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t>Set up an EQUATION to get from amount in mass to amount in DOZENS and solve it using:</a:t>
            </a:r>
            <a:endParaRPr sz="1400"/>
          </a:p>
          <a:p>
            <a:pPr indent="19433" lvl="0" marL="894966" rtl="0" algn="l">
              <a:lnSpc>
                <a:spcPct val="150000"/>
              </a:lnSpc>
              <a:spcBef>
                <a:spcPts val="0"/>
              </a:spcBef>
              <a:spcAft>
                <a:spcPts val="0"/>
              </a:spcAft>
              <a:buNone/>
            </a:pPr>
            <a:r>
              <a:rPr lang="en" sz="1400"/>
              <a:t>m = mass of eggs you have </a:t>
            </a:r>
            <a:endParaRPr sz="1400"/>
          </a:p>
          <a:p>
            <a:pPr indent="19433" lvl="0" marL="894966" rtl="0" algn="l">
              <a:lnSpc>
                <a:spcPct val="150000"/>
              </a:lnSpc>
              <a:spcBef>
                <a:spcPts val="0"/>
              </a:spcBef>
              <a:spcAft>
                <a:spcPts val="0"/>
              </a:spcAft>
              <a:buNone/>
            </a:pPr>
            <a:r>
              <a:rPr lang="en" sz="1400"/>
              <a:t>MM = mass of 1 dozen eggs</a:t>
            </a:r>
            <a:endParaRPr sz="1400"/>
          </a:p>
          <a:p>
            <a:pPr indent="19433" lvl="0" marL="894966" rtl="0" algn="l">
              <a:lnSpc>
                <a:spcPct val="150000"/>
              </a:lnSpc>
              <a:spcBef>
                <a:spcPts val="0"/>
              </a:spcBef>
              <a:spcAft>
                <a:spcPts val="0"/>
              </a:spcAft>
              <a:buNone/>
            </a:pPr>
            <a:r>
              <a:rPr lang="en" sz="1400"/>
              <a:t>n = the number of dozens you have</a:t>
            </a:r>
            <a:endParaRPr sz="1400"/>
          </a:p>
          <a:p>
            <a:pPr indent="-317500" lvl="0" marL="457200" rtl="0" algn="l">
              <a:lnSpc>
                <a:spcPct val="150000"/>
              </a:lnSpc>
              <a:spcBef>
                <a:spcPts val="0"/>
              </a:spcBef>
              <a:spcAft>
                <a:spcPts val="0"/>
              </a:spcAft>
              <a:buSzPts val="1400"/>
              <a:buChar char="◼"/>
            </a:pPr>
            <a:r>
              <a:rPr lang="en" sz="1400"/>
              <a:t>Using your equation:</a:t>
            </a:r>
            <a:endParaRPr sz="1400"/>
          </a:p>
          <a:p>
            <a:pPr indent="-317500" lvl="0" marL="1371600" rtl="0" algn="l">
              <a:lnSpc>
                <a:spcPct val="150000"/>
              </a:lnSpc>
              <a:spcBef>
                <a:spcPts val="0"/>
              </a:spcBef>
              <a:spcAft>
                <a:spcPts val="0"/>
              </a:spcAft>
              <a:buSzPts val="1400"/>
              <a:buChar char="◼"/>
            </a:pPr>
            <a:r>
              <a:rPr lang="en" sz="1400"/>
              <a:t>If you have 3.2 dozen eggs how many grams do you have?  (1 dozen eggs = 30g)</a:t>
            </a:r>
            <a:endParaRPr sz="1400"/>
          </a:p>
          <a:p>
            <a:pPr indent="-317500" lvl="0" marL="1371600" rtl="0" algn="l">
              <a:lnSpc>
                <a:spcPct val="150000"/>
              </a:lnSpc>
              <a:spcBef>
                <a:spcPts val="0"/>
              </a:spcBef>
              <a:spcAft>
                <a:spcPts val="0"/>
              </a:spcAft>
              <a:buSzPts val="1400"/>
              <a:buChar char="◼"/>
            </a:pPr>
            <a:r>
              <a:rPr lang="en" sz="1400"/>
              <a:t>If you have 3.2 dozen eggs how many EGGS (aka “particles”) do you have? Which </a:t>
            </a:r>
            <a:r>
              <a:rPr lang="en" sz="1400"/>
              <a:t>conversion</a:t>
            </a:r>
            <a:r>
              <a:rPr lang="en" sz="1400"/>
              <a:t> arrow of the diagram are you on (from slide above)?</a:t>
            </a:r>
            <a:endParaRPr sz="1400"/>
          </a:p>
          <a:p>
            <a:pPr indent="0" lvl="0" marL="0" rtl="0" algn="l">
              <a:lnSpc>
                <a:spcPct val="150000"/>
              </a:lnSpc>
              <a:spcBef>
                <a:spcPts val="0"/>
              </a:spcBef>
              <a:spcAft>
                <a:spcPts val="0"/>
              </a:spcAft>
              <a:buNone/>
            </a:pPr>
            <a:r>
              <a:rPr b="1" lang="en" sz="1400">
                <a:solidFill>
                  <a:srgbClr val="FF0000"/>
                </a:solidFill>
              </a:rPr>
              <a:t>For your 3.2 dozen eggs converted to mass of eggs or number of eggs, what is true about the actual quantity of eggs?</a:t>
            </a:r>
            <a:endParaRPr b="1" sz="1400">
              <a:solidFill>
                <a:srgbClr val="FF0000"/>
              </a:solidFill>
            </a:endParaRPr>
          </a:p>
          <a:p>
            <a:pPr indent="0" lvl="0" marL="1371600" rtl="0" algn="l">
              <a:lnSpc>
                <a:spcPct val="150000"/>
              </a:lnSpc>
              <a:spcBef>
                <a:spcPts val="0"/>
              </a:spcBef>
              <a:spcAft>
                <a:spcPts val="0"/>
              </a:spcAft>
              <a:buNone/>
            </a:pPr>
            <a:r>
              <a:t/>
            </a:r>
            <a:endParaRPr sz="1400"/>
          </a:p>
          <a:p>
            <a:pPr indent="19433" lvl="0" marL="894966"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t/>
            </a:r>
            <a:endParaRPr sz="1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226750"/>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200"/>
              <a:t>Explore: Converting to Molar Mass</a:t>
            </a:r>
            <a:endParaRPr sz="4200"/>
          </a:p>
        </p:txBody>
      </p:sp>
      <p:sp>
        <p:nvSpPr>
          <p:cNvPr id="332" name="Google Shape;332;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The relationship between moles, Molar Mass and mass of a compound is:</a:t>
            </a:r>
            <a:endParaRPr sz="1400">
              <a:solidFill>
                <a:schemeClr val="dk1"/>
              </a:solidFill>
            </a:endParaRPr>
          </a:p>
          <a:p>
            <a:pPr indent="0" lvl="0" marL="437766" rtl="0" algn="l">
              <a:lnSpc>
                <a:spcPct val="150000"/>
              </a:lnSpc>
              <a:spcBef>
                <a:spcPts val="0"/>
              </a:spcBef>
              <a:spcAft>
                <a:spcPts val="0"/>
              </a:spcAft>
              <a:buNone/>
            </a:pPr>
            <a:r>
              <a:t/>
            </a:r>
            <a:endParaRPr sz="1400"/>
          </a:p>
          <a:p>
            <a:pPr indent="0" lvl="0" marL="437766"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t/>
            </a:r>
            <a:endParaRPr sz="1400"/>
          </a:p>
          <a:p>
            <a:pPr indent="0" lvl="0" marL="437766" rtl="0" algn="l">
              <a:lnSpc>
                <a:spcPct val="150000"/>
              </a:lnSpc>
              <a:spcBef>
                <a:spcPts val="0"/>
              </a:spcBef>
              <a:spcAft>
                <a:spcPts val="0"/>
              </a:spcAft>
              <a:buNone/>
            </a:pPr>
            <a:r>
              <a:rPr lang="en" sz="1400"/>
              <a:t>Where:		n = number of moles.		</a:t>
            </a:r>
            <a:endParaRPr sz="1400"/>
          </a:p>
          <a:p>
            <a:pPr indent="0" lvl="0" marL="437766" rtl="0" algn="l">
              <a:lnSpc>
                <a:spcPct val="150000"/>
              </a:lnSpc>
              <a:spcBef>
                <a:spcPts val="0"/>
              </a:spcBef>
              <a:spcAft>
                <a:spcPts val="0"/>
              </a:spcAft>
              <a:buNone/>
            </a:pPr>
            <a:r>
              <a:rPr lang="en" sz="1400"/>
              <a:t>			          m = mass of sample</a:t>
            </a:r>
            <a:endParaRPr sz="1400"/>
          </a:p>
          <a:p>
            <a:pPr indent="0" lvl="0" marL="437766" rtl="0" algn="l">
              <a:lnSpc>
                <a:spcPct val="150000"/>
              </a:lnSpc>
              <a:spcBef>
                <a:spcPts val="0"/>
              </a:spcBef>
              <a:spcAft>
                <a:spcPts val="0"/>
              </a:spcAft>
              <a:buNone/>
            </a:pPr>
            <a:r>
              <a:rPr lang="en" sz="1400"/>
              <a:t>			       MM = molar mass of the substance</a:t>
            </a:r>
            <a:endParaRPr sz="1400"/>
          </a:p>
          <a:p>
            <a:pPr indent="-317500" lvl="0" marL="457200" rtl="0" algn="l">
              <a:lnSpc>
                <a:spcPct val="150000"/>
              </a:lnSpc>
              <a:spcBef>
                <a:spcPts val="0"/>
              </a:spcBef>
              <a:spcAft>
                <a:spcPts val="0"/>
              </a:spcAft>
              <a:buClr>
                <a:schemeClr val="dk1"/>
              </a:buClr>
              <a:buSzPts val="1400"/>
              <a:buChar char="●"/>
            </a:pPr>
            <a:r>
              <a:rPr b="1" lang="en" sz="1400"/>
              <a:t>Relate this to your Eggs equation! </a:t>
            </a:r>
            <a:endParaRPr b="1" sz="1400"/>
          </a:p>
          <a:p>
            <a:pPr indent="-317500" lvl="0" marL="457200" rtl="0" algn="l">
              <a:lnSpc>
                <a:spcPct val="150000"/>
              </a:lnSpc>
              <a:spcBef>
                <a:spcPts val="0"/>
              </a:spcBef>
              <a:spcAft>
                <a:spcPts val="0"/>
              </a:spcAft>
              <a:buClr>
                <a:schemeClr val="dk1"/>
              </a:buClr>
              <a:buSzPts val="1400"/>
              <a:buChar char="●"/>
            </a:pPr>
            <a:r>
              <a:rPr lang="en" sz="1400">
                <a:solidFill>
                  <a:schemeClr val="dk1"/>
                </a:solidFill>
              </a:rPr>
              <a:t>In your group: Show the steps to rearrange this equation for each variable: {m = ? and MM =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NOTES: you do NOT have to show the details of rearranging on assessments. You can rearrange before or after putting in numbers although BEFORE IS RECOMMENDED</a:t>
            </a:r>
            <a:endParaRPr sz="1400">
              <a:solidFill>
                <a:schemeClr val="dk1"/>
              </a:solidFill>
            </a:endParaRPr>
          </a:p>
          <a:p>
            <a:pPr indent="0" lvl="0" marL="0" rtl="0" algn="l">
              <a:lnSpc>
                <a:spcPct val="150000"/>
              </a:lnSpc>
              <a:spcBef>
                <a:spcPts val="0"/>
              </a:spcBef>
              <a:spcAft>
                <a:spcPts val="0"/>
              </a:spcAft>
              <a:buNone/>
            </a:pPr>
            <a:r>
              <a:t/>
            </a:r>
            <a:endParaRPr sz="1400"/>
          </a:p>
        </p:txBody>
      </p:sp>
      <p:sp>
        <p:nvSpPr>
          <p:cNvPr id="333" name="Google Shape;333;p47"/>
          <p:cNvSpPr txBox="1"/>
          <p:nvPr/>
        </p:nvSpPr>
        <p:spPr>
          <a:xfrm>
            <a:off x="3541800" y="1512700"/>
            <a:ext cx="2060400" cy="11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t>       </a:t>
            </a:r>
            <a:r>
              <a:rPr lang="en" sz="2500" u="sng"/>
              <a:t>m</a:t>
            </a:r>
            <a:endParaRPr sz="2500" u="sng"/>
          </a:p>
          <a:p>
            <a:pPr indent="0" lvl="0" marL="0" rtl="0" algn="l">
              <a:spcBef>
                <a:spcPts val="0"/>
              </a:spcBef>
              <a:spcAft>
                <a:spcPts val="0"/>
              </a:spcAft>
              <a:buNone/>
            </a:pPr>
            <a:r>
              <a:rPr lang="en" sz="2500"/>
              <a:t>n =  MM</a:t>
            </a:r>
            <a:endParaRPr sz="2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8"/>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50"/>
              <a:t>Explore: Converting single elements to Molar Mass</a:t>
            </a:r>
            <a:endParaRPr sz="2350"/>
          </a:p>
        </p:txBody>
      </p:sp>
      <p:sp>
        <p:nvSpPr>
          <p:cNvPr id="339" name="Google Shape;339;p48"/>
          <p:cNvSpPr txBox="1"/>
          <p:nvPr>
            <p:ph idx="1" type="body"/>
          </p:nvPr>
        </p:nvSpPr>
        <p:spPr>
          <a:xfrm>
            <a:off x="311700" y="1152475"/>
            <a:ext cx="8520600" cy="3811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2100"/>
              <a:t>At the white board solve the following and insert images of your work:</a:t>
            </a:r>
            <a:endParaRPr sz="2100"/>
          </a:p>
          <a:p>
            <a:pPr indent="0" lvl="0" marL="0" rtl="0" algn="l">
              <a:lnSpc>
                <a:spcPct val="150000"/>
              </a:lnSpc>
              <a:spcBef>
                <a:spcPts val="0"/>
              </a:spcBef>
              <a:spcAft>
                <a:spcPts val="0"/>
              </a:spcAft>
              <a:buNone/>
            </a:pPr>
            <a:r>
              <a:rPr lang="en" sz="2100"/>
              <a:t>1. How many moles are in 74.26g of Na?</a:t>
            </a:r>
            <a:endParaRPr sz="2100"/>
          </a:p>
          <a:p>
            <a:pPr indent="0" lvl="0" marL="0" rtl="0" algn="l">
              <a:lnSpc>
                <a:spcPct val="150000"/>
              </a:lnSpc>
              <a:spcBef>
                <a:spcPts val="0"/>
              </a:spcBef>
              <a:spcAft>
                <a:spcPts val="0"/>
              </a:spcAft>
              <a:buNone/>
            </a:pPr>
            <a:r>
              <a:rPr lang="en" sz="2100"/>
              <a:t>2. How many grams are in 0.383 moles of C?</a:t>
            </a:r>
            <a:endParaRPr sz="2100"/>
          </a:p>
          <a:p>
            <a:pPr indent="0" lvl="0" marL="0" rtl="0" algn="l">
              <a:lnSpc>
                <a:spcPct val="150000"/>
              </a:lnSpc>
              <a:spcBef>
                <a:spcPts val="0"/>
              </a:spcBef>
              <a:spcAft>
                <a:spcPts val="0"/>
              </a:spcAft>
              <a:buNone/>
            </a:pPr>
            <a:r>
              <a:rPr lang="en" sz="2100"/>
              <a:t>3. What is the molar mass of H</a:t>
            </a:r>
            <a:r>
              <a:rPr baseline="-25000" lang="en" sz="2100"/>
              <a:t>2</a:t>
            </a:r>
            <a:r>
              <a:rPr lang="en" sz="2100"/>
              <a:t>O if there are 36.04g in 2 moles (show the work using the formula even if you can do it in your head!)?</a:t>
            </a:r>
            <a:endParaRPr sz="2100"/>
          </a:p>
          <a:p>
            <a:pPr indent="0" lvl="0" marL="0" rtl="0" algn="l">
              <a:lnSpc>
                <a:spcPct val="150000"/>
              </a:lnSpc>
              <a:spcBef>
                <a:spcPts val="0"/>
              </a:spcBef>
              <a:spcAft>
                <a:spcPts val="0"/>
              </a:spcAft>
              <a:buNone/>
            </a:pPr>
            <a:r>
              <a:rPr lang="en" sz="2100"/>
              <a:t>ANSWERS (move the box): Check in with your instructor! </a:t>
            </a:r>
            <a:endParaRPr sz="2100"/>
          </a:p>
          <a:p>
            <a:pPr indent="0" lvl="0" marL="0" rtl="0" algn="l">
              <a:lnSpc>
                <a:spcPct val="150000"/>
              </a:lnSpc>
              <a:spcBef>
                <a:spcPts val="0"/>
              </a:spcBef>
              <a:spcAft>
                <a:spcPts val="0"/>
              </a:spcAft>
              <a:buNone/>
            </a:pPr>
            <a:r>
              <a:rPr lang="en" sz="2100"/>
              <a:t>1. 3.23mol; 2. 4.6g  3. Showing your work: MM= m/n = 36.04g/2mol = 18.02g/mol</a:t>
            </a:r>
            <a:endParaRPr sz="2100"/>
          </a:p>
          <a:p>
            <a:pPr indent="0" lvl="0" marL="0" rtl="0" algn="l">
              <a:lnSpc>
                <a:spcPct val="150000"/>
              </a:lnSpc>
              <a:spcBef>
                <a:spcPts val="0"/>
              </a:spcBef>
              <a:spcAft>
                <a:spcPts val="0"/>
              </a:spcAft>
              <a:buNone/>
            </a:pPr>
            <a:r>
              <a:t/>
            </a:r>
            <a:endParaRPr sz="2100"/>
          </a:p>
        </p:txBody>
      </p:sp>
      <p:sp>
        <p:nvSpPr>
          <p:cNvPr id="340" name="Google Shape;340;p48"/>
          <p:cNvSpPr/>
          <p:nvPr/>
        </p:nvSpPr>
        <p:spPr>
          <a:xfrm>
            <a:off x="188525" y="4110975"/>
            <a:ext cx="8800800" cy="99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pic>
        <p:nvPicPr>
          <p:cNvPr id="341" name="Google Shape;341;p48"/>
          <p:cNvPicPr preferRelativeResize="0"/>
          <p:nvPr/>
        </p:nvPicPr>
        <p:blipFill>
          <a:blip r:embed="rId3">
            <a:alphaModFix/>
          </a:blip>
          <a:stretch>
            <a:fillRect/>
          </a:stretch>
        </p:blipFill>
        <p:spPr>
          <a:xfrm>
            <a:off x="8001025" y="56875"/>
            <a:ext cx="939600" cy="939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9"/>
          <p:cNvSpPr txBox="1"/>
          <p:nvPr>
            <p:ph type="title"/>
          </p:nvPr>
        </p:nvSpPr>
        <p:spPr>
          <a:xfrm>
            <a:off x="311700" y="240150"/>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Explore: {Optional} One problem solved</a:t>
            </a:r>
            <a:endParaRPr sz="3700"/>
          </a:p>
        </p:txBody>
      </p:sp>
      <p:sp>
        <p:nvSpPr>
          <p:cNvPr id="347" name="Google Shape;347;p49"/>
          <p:cNvSpPr txBox="1"/>
          <p:nvPr>
            <p:ph idx="1" type="body"/>
          </p:nvPr>
        </p:nvSpPr>
        <p:spPr>
          <a:xfrm>
            <a:off x="172775" y="1218450"/>
            <a:ext cx="852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400"/>
              <a:t>For help you can watch this problem walk through (1.5min):</a:t>
            </a:r>
            <a:endParaRPr sz="1400"/>
          </a:p>
          <a:p>
            <a:pPr indent="0" lvl="0" marL="437766" rtl="0" algn="l">
              <a:lnSpc>
                <a:spcPct val="150000"/>
              </a:lnSpc>
              <a:spcBef>
                <a:spcPts val="0"/>
              </a:spcBef>
              <a:spcAft>
                <a:spcPts val="0"/>
              </a:spcAft>
              <a:buNone/>
            </a:pPr>
            <a:r>
              <a:t/>
            </a:r>
            <a:endParaRPr u="sng">
              <a:solidFill>
                <a:srgbClr val="1155CC"/>
              </a:solidFill>
            </a:endParaRPr>
          </a:p>
          <a:p>
            <a:pPr indent="0" lvl="0" marL="0" rtl="0" algn="l">
              <a:lnSpc>
                <a:spcPct val="150000"/>
              </a:lnSpc>
              <a:spcBef>
                <a:spcPts val="0"/>
              </a:spcBef>
              <a:spcAft>
                <a:spcPts val="0"/>
              </a:spcAft>
              <a:buNone/>
            </a:pPr>
            <a:r>
              <a:t/>
            </a:r>
            <a:endParaRPr/>
          </a:p>
        </p:txBody>
      </p:sp>
      <p:pic>
        <p:nvPicPr>
          <p:cNvPr descr="Ask me questions on Facebook: http://www.facebook.com/chemistNATE&#10;&#10;How to Calculate the number of moles, given the mass of a substance.&#10;&#10;n = m / M&#10;where n = number of moles&#10;m = mass in grams&#10;M = molar mass (see http://www.youtube.com/watch?v=F9NkYSKJifs)" id="348" name="Google Shape;348;p49" title="Calculating Moles from Grams (Mass to Moles)">
            <a:hlinkClick r:id="rId3"/>
          </p:cNvPr>
          <p:cNvPicPr preferRelativeResize="0"/>
          <p:nvPr/>
        </p:nvPicPr>
        <p:blipFill>
          <a:blip r:embed="rId4">
            <a:alphaModFix/>
          </a:blip>
          <a:stretch>
            <a:fillRect/>
          </a:stretch>
        </p:blipFill>
        <p:spPr>
          <a:xfrm>
            <a:off x="1125925" y="1749575"/>
            <a:ext cx="5208175" cy="2929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0"/>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Explore: Molar Mass of Compounds </a:t>
            </a:r>
            <a:endParaRPr sz="3000"/>
          </a:p>
        </p:txBody>
      </p:sp>
      <p:sp>
        <p:nvSpPr>
          <p:cNvPr id="354" name="Google Shape;354;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400"/>
              <a:t>We need to be able to calculate the molar mass of compounds to determine the moles of a compound. We apply the Law of Definite Proportions in order to do this: </a:t>
            </a:r>
            <a:endParaRPr sz="1400"/>
          </a:p>
          <a:p>
            <a:pPr indent="0" lvl="0" marL="0" rtl="0" algn="l">
              <a:lnSpc>
                <a:spcPct val="150000"/>
              </a:lnSpc>
              <a:spcBef>
                <a:spcPts val="0"/>
              </a:spcBef>
              <a:spcAft>
                <a:spcPts val="0"/>
              </a:spcAft>
              <a:buNone/>
            </a:pPr>
            <a:r>
              <a:t/>
            </a:r>
            <a:endParaRPr sz="1400"/>
          </a:p>
          <a:p>
            <a:pPr indent="0" lvl="0" marL="0" rtl="0" algn="ctr">
              <a:lnSpc>
                <a:spcPct val="150000"/>
              </a:lnSpc>
              <a:spcBef>
                <a:spcPts val="0"/>
              </a:spcBef>
              <a:spcAft>
                <a:spcPts val="0"/>
              </a:spcAft>
              <a:buNone/>
            </a:pPr>
            <a:r>
              <a:rPr b="1" lang="en" sz="1700">
                <a:solidFill>
                  <a:srgbClr val="0000FF"/>
                </a:solidFill>
              </a:rPr>
              <a:t>Law of Definite Proportions </a:t>
            </a:r>
            <a:endParaRPr b="1" sz="1700">
              <a:solidFill>
                <a:srgbClr val="0000FF"/>
              </a:solidFill>
            </a:endParaRPr>
          </a:p>
          <a:p>
            <a:pPr indent="0" lvl="0" marL="0" rtl="0" algn="ctr">
              <a:lnSpc>
                <a:spcPct val="150000"/>
              </a:lnSpc>
              <a:spcBef>
                <a:spcPts val="0"/>
              </a:spcBef>
              <a:spcAft>
                <a:spcPts val="0"/>
              </a:spcAft>
              <a:buNone/>
            </a:pPr>
            <a:r>
              <a:rPr b="1" lang="en" sz="1600">
                <a:solidFill>
                  <a:srgbClr val="4A86E8"/>
                </a:solidFill>
              </a:rPr>
              <a:t>A specific compound always contains the same elements in definite proportions by mass.</a:t>
            </a:r>
            <a:endParaRPr b="1" sz="1600">
              <a:solidFill>
                <a:srgbClr val="4A86E8"/>
              </a:solidFill>
            </a:endParaRPr>
          </a:p>
          <a:p>
            <a:pPr indent="0" lvl="0" marL="0" rtl="0" algn="ctr">
              <a:lnSpc>
                <a:spcPct val="150000"/>
              </a:lnSpc>
              <a:spcBef>
                <a:spcPts val="0"/>
              </a:spcBef>
              <a:spcAft>
                <a:spcPts val="0"/>
              </a:spcAft>
              <a:buNone/>
            </a:pPr>
            <a:r>
              <a:rPr i="1" lang="en" sz="1400"/>
              <a:t>In other words:</a:t>
            </a:r>
            <a:r>
              <a:rPr lang="en" sz="1400"/>
              <a:t> Molecules of the same of compound will always have the same subscripts.</a:t>
            </a:r>
            <a:endParaRPr sz="1400"/>
          </a:p>
          <a:p>
            <a:pPr indent="0" lvl="0" marL="0" rtl="0" algn="ctr">
              <a:lnSpc>
                <a:spcPct val="150000"/>
              </a:lnSpc>
              <a:spcBef>
                <a:spcPts val="0"/>
              </a:spcBef>
              <a:spcAft>
                <a:spcPts val="0"/>
              </a:spcAft>
              <a:buNone/>
            </a:pPr>
            <a:r>
              <a:t/>
            </a:r>
            <a:endParaRPr sz="1400"/>
          </a:p>
          <a:p>
            <a:pPr indent="0" lvl="0" marL="0" rtl="0" algn="ctr">
              <a:lnSpc>
                <a:spcPct val="150000"/>
              </a:lnSpc>
              <a:spcBef>
                <a:spcPts val="0"/>
              </a:spcBef>
              <a:spcAft>
                <a:spcPts val="0"/>
              </a:spcAft>
              <a:buNone/>
            </a:pPr>
            <a:r>
              <a:rPr lang="en" sz="1400"/>
              <a:t>Example:  All Carbon Dioxide molecules have the formula CO2 and will therefore be composed of one carbon atom and two oxygen atoms.</a:t>
            </a:r>
            <a:endParaRPr sz="1400"/>
          </a:p>
          <a:p>
            <a:pPr indent="0" lvl="0" marL="0" rtl="0" algn="ctr">
              <a:lnSpc>
                <a:spcPct val="150000"/>
              </a:lnSpc>
              <a:spcBef>
                <a:spcPts val="0"/>
              </a:spcBef>
              <a:spcAft>
                <a:spcPts val="0"/>
              </a:spcAft>
              <a:buNone/>
            </a:pPr>
            <a:r>
              <a:t/>
            </a:r>
            <a:endParaRPr sz="1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1"/>
          <p:cNvSpPr txBox="1"/>
          <p:nvPr>
            <p:ph type="title"/>
          </p:nvPr>
        </p:nvSpPr>
        <p:spPr>
          <a:xfrm>
            <a:off x="311700" y="276350"/>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Explore: How to calculate Molar mass from the Periodic table</a:t>
            </a:r>
            <a:r>
              <a:rPr lang="en" sz="1800"/>
              <a:t> </a:t>
            </a:r>
            <a:endParaRPr sz="1800"/>
          </a:p>
        </p:txBody>
      </p:sp>
      <p:sp>
        <p:nvSpPr>
          <p:cNvPr id="360" name="Google Shape;360;p51"/>
          <p:cNvSpPr txBox="1"/>
          <p:nvPr>
            <p:ph idx="1" type="body"/>
          </p:nvPr>
        </p:nvSpPr>
        <p:spPr>
          <a:xfrm>
            <a:off x="198450" y="1152475"/>
            <a:ext cx="4286400" cy="2690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t>You can follow the steps below and/or watch the 3min video to learn to calculate molar mass with CO</a:t>
            </a:r>
            <a:r>
              <a:rPr baseline="-25000" lang="en" sz="1300"/>
              <a:t>2</a:t>
            </a:r>
            <a:r>
              <a:rPr lang="en" sz="1300"/>
              <a:t>: </a:t>
            </a:r>
            <a:endParaRPr sz="1300"/>
          </a:p>
          <a:p>
            <a:pPr indent="-311150" lvl="0" marL="457200" rtl="0" algn="l">
              <a:lnSpc>
                <a:spcPct val="150000"/>
              </a:lnSpc>
              <a:spcBef>
                <a:spcPts val="0"/>
              </a:spcBef>
              <a:spcAft>
                <a:spcPts val="0"/>
              </a:spcAft>
              <a:buSzPts val="1300"/>
              <a:buFont typeface="Corbel"/>
              <a:buAutoNum type="arabicPeriod"/>
            </a:pPr>
            <a:r>
              <a:rPr lang="en" sz="1300"/>
              <a:t>Determine which atoms are present and how many of each there are.</a:t>
            </a:r>
            <a:endParaRPr sz="1300"/>
          </a:p>
          <a:p>
            <a:pPr indent="-311150" lvl="0" marL="457200" rtl="0" algn="l">
              <a:lnSpc>
                <a:spcPct val="150000"/>
              </a:lnSpc>
              <a:spcBef>
                <a:spcPts val="0"/>
              </a:spcBef>
              <a:spcAft>
                <a:spcPts val="0"/>
              </a:spcAft>
              <a:buSzPts val="1300"/>
              <a:buFont typeface="Corbel"/>
              <a:buAutoNum type="arabicPeriod"/>
            </a:pPr>
            <a:r>
              <a:rPr lang="en" sz="1300"/>
              <a:t>Substitute the atomic weight from your periodic table in for each atom.</a:t>
            </a:r>
            <a:endParaRPr sz="1300"/>
          </a:p>
          <a:p>
            <a:pPr indent="-311150" lvl="0" marL="457200" rtl="0" algn="l">
              <a:lnSpc>
                <a:spcPct val="150000"/>
              </a:lnSpc>
              <a:spcBef>
                <a:spcPts val="0"/>
              </a:spcBef>
              <a:spcAft>
                <a:spcPts val="0"/>
              </a:spcAft>
              <a:buSzPts val="1300"/>
              <a:buFont typeface="Corbel"/>
              <a:buAutoNum type="arabicPeriod"/>
            </a:pPr>
            <a:r>
              <a:rPr lang="en" sz="1300"/>
              <a:t>Perform any required multiplication and add all of the molar masses up</a:t>
            </a:r>
            <a:endParaRPr sz="1300"/>
          </a:p>
          <a:p>
            <a:pPr indent="0" lvl="0" marL="0" rtl="0" algn="l">
              <a:lnSpc>
                <a:spcPct val="150000"/>
              </a:lnSpc>
              <a:spcBef>
                <a:spcPts val="0"/>
              </a:spcBef>
              <a:spcAft>
                <a:spcPts val="0"/>
              </a:spcAft>
              <a:buNone/>
            </a:pPr>
            <a:r>
              <a:t/>
            </a:r>
            <a:endParaRPr sz="1400"/>
          </a:p>
        </p:txBody>
      </p:sp>
      <p:pic>
        <p:nvPicPr>
          <p:cNvPr descr="Ask me questions on Facebook: http://www.facebook.com/chemistNATE&#10;&#10;How to Calculate the Molar Mass of elements and molecules&#10;&#10;Elements: Easy, just look at the periodic table.&#10;Molecules: Add up the masses of the atoms that form the compound.&#10;&#10;For example, an oxygen atom weighs 16.00 g/mol according to the periodic table.  So an O2 molecule would weigh 2 x 16.00 g/mol = 32.00 g/mol" id="361" name="Google Shape;361;p51" title="How to Calculate Molar Mass">
            <a:hlinkClick r:id="rId3"/>
          </p:cNvPr>
          <p:cNvPicPr preferRelativeResize="0"/>
          <p:nvPr/>
        </p:nvPicPr>
        <p:blipFill>
          <a:blip r:embed="rId4">
            <a:alphaModFix/>
          </a:blip>
          <a:stretch>
            <a:fillRect/>
          </a:stretch>
        </p:blipFill>
        <p:spPr>
          <a:xfrm>
            <a:off x="4861700" y="1152475"/>
            <a:ext cx="4229950" cy="2379350"/>
          </a:xfrm>
          <a:prstGeom prst="rect">
            <a:avLst/>
          </a:prstGeom>
          <a:noFill/>
          <a:ln>
            <a:noFill/>
          </a:ln>
        </p:spPr>
      </p:pic>
      <p:graphicFrame>
        <p:nvGraphicFramePr>
          <p:cNvPr id="362" name="Google Shape;362;p51"/>
          <p:cNvGraphicFramePr/>
          <p:nvPr/>
        </p:nvGraphicFramePr>
        <p:xfrm>
          <a:off x="311700" y="3690550"/>
          <a:ext cx="3000000" cy="3000000"/>
        </p:xfrm>
        <a:graphic>
          <a:graphicData uri="http://schemas.openxmlformats.org/drawingml/2006/table">
            <a:tbl>
              <a:tblPr>
                <a:noFill/>
                <a:tableStyleId>{F53ED398-9A39-416C-955E-110304B8F22E}</a:tableStyleId>
              </a:tblPr>
              <a:tblGrid>
                <a:gridCol w="1554525"/>
                <a:gridCol w="2030650"/>
                <a:gridCol w="2473525"/>
                <a:gridCol w="2019575"/>
              </a:tblGrid>
              <a:tr h="265125">
                <a:tc>
                  <a:txBody>
                    <a:bodyPr/>
                    <a:lstStyle/>
                    <a:p>
                      <a:pPr indent="0" lvl="0" marL="0" rtl="0" algn="ctr">
                        <a:spcBef>
                          <a:spcPts val="0"/>
                        </a:spcBef>
                        <a:spcAft>
                          <a:spcPts val="0"/>
                        </a:spcAft>
                        <a:buNone/>
                      </a:pPr>
                      <a:r>
                        <a:rPr b="1" lang="en" sz="1000"/>
                        <a:t>Element</a:t>
                      </a:r>
                      <a:endParaRPr b="1" sz="1000"/>
                    </a:p>
                  </a:txBody>
                  <a:tcPr marT="0" marB="0"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 sz="1000"/>
                        <a:t>Molar mass of Element</a:t>
                      </a:r>
                      <a:endParaRPr b="1" sz="10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t>Number in Compound</a:t>
                      </a:r>
                      <a:endParaRPr b="1" sz="10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t>Total mass in compound</a:t>
                      </a:r>
                      <a:endParaRPr b="1" sz="1000"/>
                    </a:p>
                  </a:txBody>
                  <a:tcPr marT="0" marB="0" marR="91425" marL="91425">
                    <a:lnL cap="flat" cmpd="sng" w="9525">
                      <a:solidFill>
                        <a:srgbClr val="9E9E9E"/>
                      </a:solidFill>
                      <a:prstDash val="solid"/>
                      <a:round/>
                      <a:headEnd len="sm" w="sm" type="none"/>
                      <a:tailEnd len="sm" w="sm" type="none"/>
                    </a:lnL>
                  </a:tcPr>
                </a:tc>
              </a:tr>
              <a:tr h="278500">
                <a:tc>
                  <a:txBody>
                    <a:bodyPr/>
                    <a:lstStyle/>
                    <a:p>
                      <a:pPr indent="0" lvl="0" marL="0" rtl="0" algn="ctr">
                        <a:spcBef>
                          <a:spcPts val="0"/>
                        </a:spcBef>
                        <a:spcAft>
                          <a:spcPts val="0"/>
                        </a:spcAft>
                        <a:buNone/>
                      </a:pPr>
                      <a:r>
                        <a:rPr b="1" lang="en" sz="1000"/>
                        <a:t>C</a:t>
                      </a:r>
                      <a:endParaRPr b="1" sz="1000"/>
                    </a:p>
                  </a:txBody>
                  <a:tcPr marT="0" marB="0" marR="91425" marL="91425"/>
                </a:tc>
                <a:tc>
                  <a:txBody>
                    <a:bodyPr/>
                    <a:lstStyle/>
                    <a:p>
                      <a:pPr indent="0" lvl="0" marL="0" rtl="0" algn="ctr">
                        <a:spcBef>
                          <a:spcPts val="0"/>
                        </a:spcBef>
                        <a:spcAft>
                          <a:spcPts val="0"/>
                        </a:spcAft>
                        <a:buNone/>
                      </a:pPr>
                      <a:r>
                        <a:rPr lang="en" sz="1000"/>
                        <a:t>12.01g/mol</a:t>
                      </a:r>
                      <a:endParaRPr sz="1000"/>
                    </a:p>
                  </a:txBody>
                  <a:tcPr marT="0" marB="0"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000"/>
                        <a:t>1</a:t>
                      </a:r>
                      <a:endParaRPr sz="1000"/>
                    </a:p>
                  </a:txBody>
                  <a:tcPr marT="0" marB="0"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000"/>
                        <a:t>12.01 g</a:t>
                      </a:r>
                      <a:endParaRPr sz="1000"/>
                    </a:p>
                  </a:txBody>
                  <a:tcPr marT="0" marB="0" marR="91425" marL="91425"/>
                </a:tc>
              </a:tr>
              <a:tr h="311375">
                <a:tc>
                  <a:txBody>
                    <a:bodyPr/>
                    <a:lstStyle/>
                    <a:p>
                      <a:pPr indent="0" lvl="0" marL="0" rtl="0" algn="ctr">
                        <a:spcBef>
                          <a:spcPts val="0"/>
                        </a:spcBef>
                        <a:spcAft>
                          <a:spcPts val="0"/>
                        </a:spcAft>
                        <a:buNone/>
                      </a:pPr>
                      <a:r>
                        <a:rPr b="1" lang="en" sz="1000"/>
                        <a:t>O</a:t>
                      </a:r>
                      <a:endParaRPr b="1" sz="1000"/>
                    </a:p>
                  </a:txBody>
                  <a:tcPr marT="0" marB="0" marR="91425" marL="91425"/>
                </a:tc>
                <a:tc>
                  <a:txBody>
                    <a:bodyPr/>
                    <a:lstStyle/>
                    <a:p>
                      <a:pPr indent="0" lvl="0" marL="0" rtl="0" algn="ctr">
                        <a:spcBef>
                          <a:spcPts val="0"/>
                        </a:spcBef>
                        <a:spcAft>
                          <a:spcPts val="0"/>
                        </a:spcAft>
                        <a:buNone/>
                      </a:pPr>
                      <a:r>
                        <a:rPr lang="en" sz="1000"/>
                        <a:t>16.00g/mol</a:t>
                      </a:r>
                      <a:endParaRPr sz="1000"/>
                    </a:p>
                  </a:txBody>
                  <a:tcPr marT="0" marB="0" marR="91425" marL="91425"/>
                </a:tc>
                <a:tc>
                  <a:txBody>
                    <a:bodyPr/>
                    <a:lstStyle/>
                    <a:p>
                      <a:pPr indent="0" lvl="0" marL="0" rtl="0" algn="ctr">
                        <a:spcBef>
                          <a:spcPts val="0"/>
                        </a:spcBef>
                        <a:spcAft>
                          <a:spcPts val="0"/>
                        </a:spcAft>
                        <a:buNone/>
                      </a:pPr>
                      <a:r>
                        <a:rPr lang="en" sz="1000"/>
                        <a:t>2</a:t>
                      </a:r>
                      <a:endParaRPr sz="1000"/>
                    </a:p>
                  </a:txBody>
                  <a:tcPr marT="0" marB="0" marR="91425" marL="91425"/>
                </a:tc>
                <a:tc>
                  <a:txBody>
                    <a:bodyPr/>
                    <a:lstStyle/>
                    <a:p>
                      <a:pPr indent="0" lvl="0" marL="0" rtl="0" algn="ctr">
                        <a:spcBef>
                          <a:spcPts val="0"/>
                        </a:spcBef>
                        <a:spcAft>
                          <a:spcPts val="0"/>
                        </a:spcAft>
                        <a:buNone/>
                      </a:pPr>
                      <a:r>
                        <a:rPr lang="en" sz="1000"/>
                        <a:t>32.00 g</a:t>
                      </a:r>
                      <a:endParaRPr sz="1000"/>
                    </a:p>
                  </a:txBody>
                  <a:tcPr marT="0" marB="0" marR="91425" marL="91425"/>
                </a:tc>
              </a:tr>
              <a:tr h="421000">
                <a:tc>
                  <a:txBody>
                    <a:bodyPr/>
                    <a:lstStyle/>
                    <a:p>
                      <a:pPr indent="0" lvl="0" marL="0" rtl="0" algn="ctr">
                        <a:spcBef>
                          <a:spcPts val="0"/>
                        </a:spcBef>
                        <a:spcAft>
                          <a:spcPts val="0"/>
                        </a:spcAft>
                        <a:buNone/>
                      </a:pPr>
                      <a:r>
                        <a:rPr b="1" lang="en" sz="1000"/>
                        <a:t>Total for compound</a:t>
                      </a:r>
                      <a:endParaRPr b="1" sz="1000"/>
                    </a:p>
                  </a:txBody>
                  <a:tcPr marT="0" marB="0" marR="91425" marL="91425"/>
                </a:tc>
                <a:tc>
                  <a:txBody>
                    <a:bodyPr/>
                    <a:lstStyle/>
                    <a:p>
                      <a:pPr indent="0" lvl="0" marL="0" rtl="0" algn="ctr">
                        <a:spcBef>
                          <a:spcPts val="0"/>
                        </a:spcBef>
                        <a:spcAft>
                          <a:spcPts val="0"/>
                        </a:spcAft>
                        <a:buNone/>
                      </a:pPr>
                      <a:r>
                        <a:t/>
                      </a:r>
                      <a:endParaRPr sz="1000"/>
                    </a:p>
                  </a:txBody>
                  <a:tcPr marT="0" marB="0" marR="91425" marL="91425"/>
                </a:tc>
                <a:tc>
                  <a:txBody>
                    <a:bodyPr/>
                    <a:lstStyle/>
                    <a:p>
                      <a:pPr indent="0" lvl="0" marL="0" rtl="0" algn="ctr">
                        <a:spcBef>
                          <a:spcPts val="0"/>
                        </a:spcBef>
                        <a:spcAft>
                          <a:spcPts val="0"/>
                        </a:spcAft>
                        <a:buNone/>
                      </a:pPr>
                      <a:r>
                        <a:rPr lang="en" sz="1000"/>
                        <a:t>3 atoms total (or 3 moles of atoms in 1 mole of CO</a:t>
                      </a:r>
                      <a:r>
                        <a:rPr baseline="-25000" lang="en" sz="1000"/>
                        <a:t>2</a:t>
                      </a:r>
                      <a:r>
                        <a:rPr lang="en" sz="1000"/>
                        <a:t>)</a:t>
                      </a:r>
                      <a:endParaRPr sz="1000"/>
                    </a:p>
                  </a:txBody>
                  <a:tcPr marT="0" marB="0" marR="91425" marL="91425"/>
                </a:tc>
                <a:tc>
                  <a:txBody>
                    <a:bodyPr/>
                    <a:lstStyle/>
                    <a:p>
                      <a:pPr indent="0" lvl="0" marL="0" rtl="0" algn="ctr">
                        <a:spcBef>
                          <a:spcPts val="0"/>
                        </a:spcBef>
                        <a:spcAft>
                          <a:spcPts val="0"/>
                        </a:spcAft>
                        <a:buNone/>
                      </a:pPr>
                      <a:r>
                        <a:rPr b="1" lang="en" sz="1200">
                          <a:solidFill>
                            <a:srgbClr val="D1282E"/>
                          </a:solidFill>
                        </a:rPr>
                        <a:t>44.01g/mol</a:t>
                      </a:r>
                      <a:endParaRPr b="1" sz="1200">
                        <a:solidFill>
                          <a:srgbClr val="D1282E"/>
                        </a:solidFill>
                      </a:endParaRPr>
                    </a:p>
                    <a:p>
                      <a:pPr indent="0" lvl="0" marL="0" rtl="0" algn="ctr">
                        <a:spcBef>
                          <a:spcPts val="0"/>
                        </a:spcBef>
                        <a:spcAft>
                          <a:spcPts val="0"/>
                        </a:spcAft>
                        <a:buNone/>
                      </a:pPr>
                      <a:r>
                        <a:rPr b="1" lang="en" sz="1200">
                          <a:solidFill>
                            <a:srgbClr val="D1282E"/>
                          </a:solidFill>
                        </a:rPr>
                        <a:t>Molar mass of CO</a:t>
                      </a:r>
                      <a:r>
                        <a:rPr b="1" baseline="-25000" lang="en" sz="1200">
                          <a:solidFill>
                            <a:srgbClr val="D1282E"/>
                          </a:solidFill>
                        </a:rPr>
                        <a:t>2</a:t>
                      </a:r>
                      <a:endParaRPr b="1" baseline="-25000" sz="1200">
                        <a:solidFill>
                          <a:srgbClr val="D1282E"/>
                        </a:solidFill>
                      </a:endParaRPr>
                    </a:p>
                  </a:txBody>
                  <a:tcPr marT="0" marB="0"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2"/>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Explore: Try!</a:t>
            </a:r>
            <a:endParaRPr/>
          </a:p>
        </p:txBody>
      </p:sp>
      <p:sp>
        <p:nvSpPr>
          <p:cNvPr id="368" name="Google Shape;368;p52"/>
          <p:cNvSpPr txBox="1"/>
          <p:nvPr>
            <p:ph idx="1" type="body"/>
          </p:nvPr>
        </p:nvSpPr>
        <p:spPr>
          <a:xfrm>
            <a:off x="311700" y="1152475"/>
            <a:ext cx="8520600" cy="69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What is the Molar Mass of KHSO4? </a:t>
            </a:r>
            <a:endParaRPr sz="1400"/>
          </a:p>
          <a:p>
            <a:pPr indent="0" lvl="0" marL="0" rtl="0" algn="l">
              <a:spcBef>
                <a:spcPts val="0"/>
              </a:spcBef>
              <a:spcAft>
                <a:spcPts val="0"/>
              </a:spcAft>
              <a:buNone/>
            </a:pPr>
            <a:r>
              <a:rPr lang="en" sz="1400"/>
              <a:t>You can use the table while getting used to how to calculate. In your homework and on assessments, you can calculate as in the answer, simply creating an equation.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graphicFrame>
        <p:nvGraphicFramePr>
          <p:cNvPr id="369" name="Google Shape;369;p52"/>
          <p:cNvGraphicFramePr/>
          <p:nvPr/>
        </p:nvGraphicFramePr>
        <p:xfrm>
          <a:off x="351400" y="2093750"/>
          <a:ext cx="3000000" cy="3000000"/>
        </p:xfrm>
        <a:graphic>
          <a:graphicData uri="http://schemas.openxmlformats.org/drawingml/2006/table">
            <a:tbl>
              <a:tblPr>
                <a:noFill/>
                <a:tableStyleId>{F53ED398-9A39-416C-955E-110304B8F22E}</a:tableStyleId>
              </a:tblPr>
              <a:tblGrid>
                <a:gridCol w="1554525"/>
                <a:gridCol w="2030650"/>
                <a:gridCol w="2473525"/>
                <a:gridCol w="2019575"/>
              </a:tblGrid>
              <a:tr h="275250">
                <a:tc>
                  <a:txBody>
                    <a:bodyPr/>
                    <a:lstStyle/>
                    <a:p>
                      <a:pPr indent="0" lvl="0" marL="0" rtl="0" algn="ctr">
                        <a:spcBef>
                          <a:spcPts val="0"/>
                        </a:spcBef>
                        <a:spcAft>
                          <a:spcPts val="0"/>
                        </a:spcAft>
                        <a:buNone/>
                      </a:pPr>
                      <a:r>
                        <a:rPr b="1" lang="en" sz="1000"/>
                        <a:t>Element</a:t>
                      </a:r>
                      <a:endParaRPr b="1" sz="1000"/>
                    </a:p>
                  </a:txBody>
                  <a:tcPr marT="91425" marB="0"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 sz="1000"/>
                        <a:t>Molar mass of Element</a:t>
                      </a:r>
                      <a:endParaRPr b="1" sz="1000"/>
                    </a:p>
                  </a:txBody>
                  <a:tcPr marT="91425"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t>Number in Compound</a:t>
                      </a:r>
                      <a:endParaRPr b="1" sz="1000"/>
                    </a:p>
                  </a:txBody>
                  <a:tcPr marT="91425"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t>Total mass in compound</a:t>
                      </a:r>
                      <a:endParaRPr b="1" sz="1000"/>
                    </a:p>
                  </a:txBody>
                  <a:tcPr marT="91425" marB="0" marR="91425" marL="91425">
                    <a:lnL cap="flat" cmpd="sng" w="9525">
                      <a:solidFill>
                        <a:srgbClr val="9E9E9E"/>
                      </a:solidFill>
                      <a:prstDash val="solid"/>
                      <a:round/>
                      <a:headEnd len="sm" w="sm" type="none"/>
                      <a:tailEnd len="sm" w="sm" type="none"/>
                    </a:lnL>
                  </a:tcPr>
                </a:tc>
              </a:tr>
              <a:tr h="289150">
                <a:tc>
                  <a:txBody>
                    <a:bodyPr/>
                    <a:lstStyle/>
                    <a:p>
                      <a:pPr indent="0" lvl="0" marL="0" rtl="0" algn="ctr">
                        <a:spcBef>
                          <a:spcPts val="0"/>
                        </a:spcBef>
                        <a:spcAft>
                          <a:spcPts val="0"/>
                        </a:spcAft>
                        <a:buNone/>
                      </a:pPr>
                      <a:r>
                        <a:t/>
                      </a:r>
                      <a:endParaRPr b="1" sz="1000"/>
                    </a:p>
                  </a:txBody>
                  <a:tcPr marT="0" marB="0" marR="91425" marL="91425"/>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0" marB="0" marR="91425" marL="91425"/>
                </a:tc>
              </a:tr>
              <a:tr h="289150">
                <a:tc>
                  <a:txBody>
                    <a:bodyPr/>
                    <a:lstStyle/>
                    <a:p>
                      <a:pPr indent="0" lvl="0" marL="0" rtl="0" algn="ctr">
                        <a:spcBef>
                          <a:spcPts val="0"/>
                        </a:spcBef>
                        <a:spcAft>
                          <a:spcPts val="0"/>
                        </a:spcAft>
                        <a:buNone/>
                      </a:pPr>
                      <a:r>
                        <a:t/>
                      </a:r>
                      <a:endParaRPr b="1" sz="1000"/>
                    </a:p>
                  </a:txBody>
                  <a:tcPr marT="0" marB="0" marR="91425" marL="91425"/>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0" marB="0" marR="91425" marL="91425"/>
                </a:tc>
              </a:tr>
              <a:tr h="289150">
                <a:tc>
                  <a:txBody>
                    <a:bodyPr/>
                    <a:lstStyle/>
                    <a:p>
                      <a:pPr indent="0" lvl="0" marL="0" rtl="0" algn="ctr">
                        <a:spcBef>
                          <a:spcPts val="0"/>
                        </a:spcBef>
                        <a:spcAft>
                          <a:spcPts val="0"/>
                        </a:spcAft>
                        <a:buNone/>
                      </a:pPr>
                      <a:r>
                        <a:t/>
                      </a:r>
                      <a:endParaRPr b="1" sz="1000"/>
                    </a:p>
                  </a:txBody>
                  <a:tcPr marT="0" marB="0" marR="91425" marL="91425"/>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0" marB="0" marR="91425" marL="91425"/>
                </a:tc>
              </a:tr>
              <a:tr h="289150">
                <a:tc>
                  <a:txBody>
                    <a:bodyPr/>
                    <a:lstStyle/>
                    <a:p>
                      <a:pPr indent="0" lvl="0" marL="0" rtl="0" algn="ctr">
                        <a:spcBef>
                          <a:spcPts val="0"/>
                        </a:spcBef>
                        <a:spcAft>
                          <a:spcPts val="0"/>
                        </a:spcAft>
                        <a:buNone/>
                      </a:pPr>
                      <a:r>
                        <a:t/>
                      </a:r>
                      <a:endParaRPr b="1" sz="1000"/>
                    </a:p>
                  </a:txBody>
                  <a:tcPr marT="0" marB="0" marR="91425" marL="91425"/>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p>
                  </a:txBody>
                  <a:tcPr marT="0" marB="0" marR="91425" marL="91425"/>
                </a:tc>
              </a:tr>
              <a:tr h="437100">
                <a:tc>
                  <a:txBody>
                    <a:bodyPr/>
                    <a:lstStyle/>
                    <a:p>
                      <a:pPr indent="0" lvl="0" marL="0" rtl="0" algn="ctr">
                        <a:spcBef>
                          <a:spcPts val="0"/>
                        </a:spcBef>
                        <a:spcAft>
                          <a:spcPts val="0"/>
                        </a:spcAft>
                        <a:buNone/>
                      </a:pPr>
                      <a:r>
                        <a:t/>
                      </a:r>
                      <a:endParaRPr b="1" sz="1000"/>
                    </a:p>
                    <a:p>
                      <a:pPr indent="0" lvl="0" marL="0" rtl="0" algn="ctr">
                        <a:spcBef>
                          <a:spcPts val="0"/>
                        </a:spcBef>
                        <a:spcAft>
                          <a:spcPts val="0"/>
                        </a:spcAft>
                        <a:buNone/>
                      </a:pPr>
                      <a:r>
                        <a:rPr b="1" lang="en" sz="1000"/>
                        <a:t>Total for compound</a:t>
                      </a:r>
                      <a:endParaRPr b="1" sz="1000"/>
                    </a:p>
                  </a:txBody>
                  <a:tcPr marT="0" marB="0" marR="91425" marL="91425"/>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sz="1000"/>
                    </a:p>
                  </a:txBody>
                  <a:tcPr marT="0" marB="0"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baseline="-25000" sz="1200">
                        <a:solidFill>
                          <a:srgbClr val="D1282E"/>
                        </a:solidFill>
                      </a:endParaRPr>
                    </a:p>
                  </a:txBody>
                  <a:tcPr marT="0" marB="0" marR="91425" marL="91425"/>
                </a:tc>
              </a:tr>
            </a:tbl>
          </a:graphicData>
        </a:graphic>
      </p:graphicFrame>
      <p:sp>
        <p:nvSpPr>
          <p:cNvPr id="370" name="Google Shape;370;p52"/>
          <p:cNvSpPr txBox="1"/>
          <p:nvPr/>
        </p:nvSpPr>
        <p:spPr>
          <a:xfrm>
            <a:off x="496100" y="4180400"/>
            <a:ext cx="74514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orbel"/>
                <a:ea typeface="Corbel"/>
                <a:cs typeface="Corbel"/>
                <a:sym typeface="Corbel"/>
              </a:rPr>
              <a:t>Answer: Move box to reveal</a:t>
            </a:r>
            <a:endParaRPr>
              <a:solidFill>
                <a:schemeClr val="dk1"/>
              </a:solidFill>
              <a:latin typeface="Corbel"/>
              <a:ea typeface="Corbel"/>
              <a:cs typeface="Corbel"/>
              <a:sym typeface="Corbel"/>
            </a:endParaRPr>
          </a:p>
          <a:p>
            <a:pPr indent="0" lvl="0" marL="0" rtl="0" algn="l">
              <a:spcBef>
                <a:spcPts val="0"/>
              </a:spcBef>
              <a:spcAft>
                <a:spcPts val="0"/>
              </a:spcAft>
              <a:buNone/>
            </a:pPr>
            <a:r>
              <a:t/>
            </a:r>
            <a:endParaRPr>
              <a:solidFill>
                <a:schemeClr val="dk1"/>
              </a:solidFill>
              <a:latin typeface="Corbel"/>
              <a:ea typeface="Corbel"/>
              <a:cs typeface="Corbel"/>
              <a:sym typeface="Corbel"/>
            </a:endParaRPr>
          </a:p>
          <a:p>
            <a:pPr indent="0" lvl="0" marL="0" rtl="0" algn="l">
              <a:spcBef>
                <a:spcPts val="0"/>
              </a:spcBef>
              <a:spcAft>
                <a:spcPts val="0"/>
              </a:spcAft>
              <a:buNone/>
            </a:pPr>
            <a:r>
              <a:rPr lang="en">
                <a:solidFill>
                  <a:schemeClr val="dk1"/>
                </a:solidFill>
                <a:latin typeface="Corbel"/>
                <a:ea typeface="Corbel"/>
                <a:cs typeface="Corbel"/>
                <a:sym typeface="Corbel"/>
              </a:rPr>
              <a:t>MM</a:t>
            </a:r>
            <a:r>
              <a:rPr baseline="-25000" lang="en">
                <a:solidFill>
                  <a:schemeClr val="dk1"/>
                </a:solidFill>
                <a:latin typeface="Corbel"/>
                <a:ea typeface="Corbel"/>
                <a:cs typeface="Corbel"/>
                <a:sym typeface="Corbel"/>
              </a:rPr>
              <a:t>KHSO4</a:t>
            </a:r>
            <a:r>
              <a:rPr lang="en">
                <a:solidFill>
                  <a:schemeClr val="dk1"/>
                </a:solidFill>
                <a:latin typeface="Corbel"/>
                <a:ea typeface="Corbel"/>
                <a:cs typeface="Corbel"/>
                <a:sym typeface="Corbel"/>
              </a:rPr>
              <a:t> = 1(39.10) + 1(1.01) + 1 (32.06) + 4(16.00) = 136.17g/mol</a:t>
            </a:r>
            <a:endParaRPr>
              <a:solidFill>
                <a:schemeClr val="dk1"/>
              </a:solidFill>
              <a:latin typeface="Corbel"/>
              <a:ea typeface="Corbel"/>
              <a:cs typeface="Corbel"/>
              <a:sym typeface="Corbel"/>
            </a:endParaRPr>
          </a:p>
          <a:p>
            <a:pPr indent="0" lvl="0" marL="0" rtl="0" algn="l">
              <a:spcBef>
                <a:spcPts val="0"/>
              </a:spcBef>
              <a:spcAft>
                <a:spcPts val="0"/>
              </a:spcAft>
              <a:buNone/>
            </a:pPr>
            <a:r>
              <a:t/>
            </a:r>
            <a:endParaRPr>
              <a:solidFill>
                <a:schemeClr val="dk1"/>
              </a:solidFill>
              <a:latin typeface="Corbel"/>
              <a:ea typeface="Corbel"/>
              <a:cs typeface="Corbel"/>
              <a:sym typeface="Corbel"/>
            </a:endParaRPr>
          </a:p>
          <a:p>
            <a:pPr indent="0" lvl="0" marL="0" rtl="0" algn="l">
              <a:spcBef>
                <a:spcPts val="0"/>
              </a:spcBef>
              <a:spcAft>
                <a:spcPts val="0"/>
              </a:spcAft>
              <a:buNone/>
            </a:pPr>
            <a:r>
              <a:rPr lang="en">
                <a:solidFill>
                  <a:schemeClr val="dk1"/>
                </a:solidFill>
                <a:latin typeface="Corbel"/>
                <a:ea typeface="Corbel"/>
                <a:cs typeface="Corbel"/>
                <a:sym typeface="Corbel"/>
              </a:rPr>
              <a:t>ASK for help if you weren’t able to get this answer and/or don’t understand this answer! </a:t>
            </a:r>
            <a:endParaRPr>
              <a:solidFill>
                <a:schemeClr val="dk1"/>
              </a:solidFill>
              <a:latin typeface="Corbel"/>
              <a:ea typeface="Corbel"/>
              <a:cs typeface="Corbel"/>
              <a:sym typeface="Corbel"/>
            </a:endParaRPr>
          </a:p>
        </p:txBody>
      </p:sp>
      <p:sp>
        <p:nvSpPr>
          <p:cNvPr id="371" name="Google Shape;371;p52"/>
          <p:cNvSpPr/>
          <p:nvPr/>
        </p:nvSpPr>
        <p:spPr>
          <a:xfrm>
            <a:off x="357200" y="4587225"/>
            <a:ext cx="7798500" cy="93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3"/>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Explore: Use molar masses with moles</a:t>
            </a:r>
            <a:endParaRPr sz="3700"/>
          </a:p>
        </p:txBody>
      </p:sp>
      <p:sp>
        <p:nvSpPr>
          <p:cNvPr id="377" name="Google Shape;377;p53"/>
          <p:cNvSpPr txBox="1"/>
          <p:nvPr>
            <p:ph idx="1" type="body"/>
          </p:nvPr>
        </p:nvSpPr>
        <p:spPr>
          <a:xfrm>
            <a:off x="311700" y="1152475"/>
            <a:ext cx="8520600" cy="3762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t>On a white board, try the following: </a:t>
            </a:r>
            <a:endParaRPr sz="1300"/>
          </a:p>
          <a:p>
            <a:pPr indent="0" lvl="0" marL="0" rtl="0" algn="l">
              <a:lnSpc>
                <a:spcPct val="150000"/>
              </a:lnSpc>
              <a:spcBef>
                <a:spcPts val="0"/>
              </a:spcBef>
              <a:spcAft>
                <a:spcPts val="0"/>
              </a:spcAft>
              <a:buNone/>
            </a:pPr>
            <a:r>
              <a:rPr lang="en" sz="1300"/>
              <a:t>1. If you have 24.02 g of carbon dioxide (CO</a:t>
            </a:r>
            <a:r>
              <a:rPr baseline="-25000" lang="en" sz="1300"/>
              <a:t>2</a:t>
            </a:r>
            <a:r>
              <a:rPr lang="en" sz="1300"/>
              <a:t>), how many moles do you have?  </a:t>
            </a:r>
            <a:endParaRPr sz="1300"/>
          </a:p>
          <a:p>
            <a:pPr indent="0" lvl="0" marL="0" rtl="0" algn="l">
              <a:lnSpc>
                <a:spcPct val="150000"/>
              </a:lnSpc>
              <a:spcBef>
                <a:spcPts val="0"/>
              </a:spcBef>
              <a:spcAft>
                <a:spcPts val="0"/>
              </a:spcAft>
              <a:buNone/>
            </a:pPr>
            <a:r>
              <a:t/>
            </a:r>
            <a:endParaRPr sz="1300"/>
          </a:p>
          <a:p>
            <a:pPr indent="0" lvl="0" marL="0" rtl="0" algn="l">
              <a:lnSpc>
                <a:spcPct val="150000"/>
              </a:lnSpc>
              <a:spcBef>
                <a:spcPts val="0"/>
              </a:spcBef>
              <a:spcAft>
                <a:spcPts val="0"/>
              </a:spcAft>
              <a:buNone/>
            </a:pPr>
            <a:r>
              <a:rPr lang="en" sz="1300"/>
              <a:t>2. If you have twice as much as the above question, so 1.092 moles of carbon dioxide, </a:t>
            </a:r>
            <a:r>
              <a:rPr b="1" lang="en" sz="1300"/>
              <a:t>what would you expect</a:t>
            </a:r>
            <a:r>
              <a:rPr lang="en" sz="1300"/>
              <a:t> the mass to be?  Rearrange the equation to prove it! </a:t>
            </a:r>
            <a:endParaRPr sz="1300"/>
          </a:p>
          <a:p>
            <a:pPr indent="0" lvl="0" marL="0" rtl="0" algn="l">
              <a:lnSpc>
                <a:spcPct val="150000"/>
              </a:lnSpc>
              <a:spcBef>
                <a:spcPts val="0"/>
              </a:spcBef>
              <a:spcAft>
                <a:spcPts val="0"/>
              </a:spcAft>
              <a:buNone/>
            </a:pPr>
            <a:r>
              <a:t/>
            </a:r>
            <a:endParaRPr sz="1300"/>
          </a:p>
          <a:p>
            <a:pPr indent="0" lvl="0" marL="0" rtl="0" algn="l">
              <a:lnSpc>
                <a:spcPct val="150000"/>
              </a:lnSpc>
              <a:spcBef>
                <a:spcPts val="0"/>
              </a:spcBef>
              <a:spcAft>
                <a:spcPts val="0"/>
              </a:spcAft>
              <a:buClr>
                <a:schemeClr val="dk1"/>
              </a:buClr>
              <a:buSzPts val="1100"/>
              <a:buFont typeface="Arial"/>
              <a:buNone/>
            </a:pPr>
            <a:r>
              <a:rPr lang="en" sz="1300"/>
              <a:t>Answer, move box to check! </a:t>
            </a:r>
            <a:endParaRPr sz="1300"/>
          </a:p>
          <a:p>
            <a:pPr indent="0" lvl="0" marL="0" rtl="0" algn="l">
              <a:lnSpc>
                <a:spcPct val="150000"/>
              </a:lnSpc>
              <a:spcBef>
                <a:spcPts val="0"/>
              </a:spcBef>
              <a:spcAft>
                <a:spcPts val="0"/>
              </a:spcAft>
              <a:buClr>
                <a:schemeClr val="dk1"/>
              </a:buClr>
              <a:buSzPts val="1100"/>
              <a:buFont typeface="Arial"/>
              <a:buNone/>
            </a:pPr>
            <a:r>
              <a:rPr lang="en" sz="1300"/>
              <a:t>1. n = m / MM</a:t>
            </a:r>
            <a:endParaRPr sz="1300"/>
          </a:p>
          <a:p>
            <a:pPr indent="0" lvl="0" marL="0" rtl="0" algn="l">
              <a:lnSpc>
                <a:spcPct val="150000"/>
              </a:lnSpc>
              <a:spcBef>
                <a:spcPts val="0"/>
              </a:spcBef>
              <a:spcAft>
                <a:spcPts val="0"/>
              </a:spcAft>
              <a:buNone/>
            </a:pPr>
            <a:r>
              <a:rPr lang="en" sz="1300"/>
              <a:t>n = 24.02g / 44.01g/mol = 0.5456 moles    ** Always include the units IN the calculation. Cancel out units and you should be left with the correct units for the answer. If not, it indicates a problem with your set up that needs to be corrected! </a:t>
            </a:r>
            <a:endParaRPr sz="1300"/>
          </a:p>
          <a:p>
            <a:pPr indent="0" lvl="0" marL="0" rtl="0" algn="l">
              <a:lnSpc>
                <a:spcPct val="150000"/>
              </a:lnSpc>
              <a:spcBef>
                <a:spcPts val="0"/>
              </a:spcBef>
              <a:spcAft>
                <a:spcPts val="0"/>
              </a:spcAft>
              <a:buNone/>
            </a:pPr>
            <a:r>
              <a:rPr lang="en" sz="1300"/>
              <a:t>2. m = n × MM </a:t>
            </a:r>
            <a:endParaRPr sz="1300"/>
          </a:p>
          <a:p>
            <a:pPr indent="0" lvl="0" marL="0" rtl="0" algn="l">
              <a:lnSpc>
                <a:spcPct val="150000"/>
              </a:lnSpc>
              <a:spcBef>
                <a:spcPts val="0"/>
              </a:spcBef>
              <a:spcAft>
                <a:spcPts val="0"/>
              </a:spcAft>
              <a:buNone/>
            </a:pPr>
            <a:r>
              <a:rPr lang="en" sz="1300"/>
              <a:t>m =  1.092 mol× 44.01g/mol= 48.04 g  (twice as much mass when you double the moles of the same substance!</a:t>
            </a:r>
            <a:endParaRPr sz="1300"/>
          </a:p>
          <a:p>
            <a:pPr indent="0" lvl="0" marL="0" rtl="0" algn="l">
              <a:lnSpc>
                <a:spcPct val="150000"/>
              </a:lnSpc>
              <a:spcBef>
                <a:spcPts val="0"/>
              </a:spcBef>
              <a:spcAft>
                <a:spcPts val="0"/>
              </a:spcAft>
              <a:buNone/>
            </a:pPr>
            <a:r>
              <a:t/>
            </a:r>
            <a:endParaRPr sz="1300"/>
          </a:p>
        </p:txBody>
      </p:sp>
      <p:sp>
        <p:nvSpPr>
          <p:cNvPr id="378" name="Google Shape;378;p53"/>
          <p:cNvSpPr/>
          <p:nvPr/>
        </p:nvSpPr>
        <p:spPr>
          <a:xfrm>
            <a:off x="158750" y="3257675"/>
            <a:ext cx="8820600" cy="179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4"/>
          <p:cNvSpPr txBox="1"/>
          <p:nvPr>
            <p:ph type="title"/>
          </p:nvPr>
        </p:nvSpPr>
        <p:spPr>
          <a:xfrm>
            <a:off x="485875" y="1485025"/>
            <a:ext cx="8183700" cy="101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Part 3: Apply </a:t>
            </a:r>
            <a:endParaRPr sz="2900"/>
          </a:p>
          <a:p>
            <a:pPr indent="0" lvl="0" marL="0" rtl="0" algn="l">
              <a:spcBef>
                <a:spcPts val="0"/>
              </a:spcBef>
              <a:spcAft>
                <a:spcPts val="0"/>
              </a:spcAft>
              <a:buNone/>
            </a:pPr>
            <a:r>
              <a:rPr lang="en" sz="2900"/>
              <a:t>(20-40 minutes; includes home practice time)</a:t>
            </a:r>
            <a:endParaRPr sz="29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5"/>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Apply #1: Importance of the mole</a:t>
            </a:r>
            <a:endParaRPr/>
          </a:p>
        </p:txBody>
      </p:sp>
      <p:sp>
        <p:nvSpPr>
          <p:cNvPr id="389" name="Google Shape;389;p55"/>
          <p:cNvSpPr txBox="1"/>
          <p:nvPr>
            <p:ph idx="1" type="body"/>
          </p:nvPr>
        </p:nvSpPr>
        <p:spPr>
          <a:xfrm>
            <a:off x="311700" y="1152475"/>
            <a:ext cx="8520600" cy="3901200"/>
          </a:xfrm>
          <a:prstGeom prst="rect">
            <a:avLst/>
          </a:prstGeom>
        </p:spPr>
        <p:txBody>
          <a:bodyPr anchorCtr="0" anchor="t" bIns="91425" lIns="91425" spcFirstLastPara="1" rIns="91425" wrap="square" tIns="91425">
            <a:noAutofit/>
          </a:bodyPr>
          <a:lstStyle/>
          <a:p>
            <a:pPr indent="-393700" lvl="0" marL="457200" rtl="0" algn="l">
              <a:lnSpc>
                <a:spcPct val="150000"/>
              </a:lnSpc>
              <a:spcBef>
                <a:spcPts val="0"/>
              </a:spcBef>
              <a:spcAft>
                <a:spcPts val="0"/>
              </a:spcAft>
              <a:buSzPts val="2600"/>
              <a:buChar char="◼"/>
            </a:pPr>
            <a:r>
              <a:rPr lang="en" sz="2600"/>
              <a:t>Explain why the mole concept is important in chemistry. </a:t>
            </a:r>
            <a:endParaRPr sz="2600"/>
          </a:p>
          <a:p>
            <a:pPr indent="-393700" lvl="0" marL="457200" rtl="0" algn="l">
              <a:lnSpc>
                <a:spcPct val="150000"/>
              </a:lnSpc>
              <a:spcBef>
                <a:spcPts val="0"/>
              </a:spcBef>
              <a:spcAft>
                <a:spcPts val="0"/>
              </a:spcAft>
              <a:buSzPts val="2600"/>
              <a:buChar char="◼"/>
            </a:pPr>
            <a:r>
              <a:rPr lang="en" sz="2600"/>
              <a:t>How does it help us measure substances in the lab?</a:t>
            </a:r>
            <a:endParaRPr sz="2600"/>
          </a:p>
          <a:p>
            <a:pPr indent="-393700" lvl="0" marL="457200" rtl="0" algn="l">
              <a:lnSpc>
                <a:spcPct val="150000"/>
              </a:lnSpc>
              <a:spcBef>
                <a:spcPts val="0"/>
              </a:spcBef>
              <a:spcAft>
                <a:spcPts val="0"/>
              </a:spcAft>
              <a:buSzPts val="2600"/>
              <a:buChar char="◼"/>
            </a:pPr>
            <a:r>
              <a:rPr lang="en" sz="2600"/>
              <a:t>Why do we need to know how many particles are in a sample?</a:t>
            </a:r>
            <a:endParaRPr sz="2600"/>
          </a:p>
          <a:p>
            <a:pPr indent="0" lvl="0" marL="0" rtl="0" algn="l">
              <a:lnSpc>
                <a:spcPct val="150000"/>
              </a:lnSpc>
              <a:spcBef>
                <a:spcPts val="0"/>
              </a:spcBef>
              <a:spcAft>
                <a:spcPts val="0"/>
              </a:spcAft>
              <a:buNone/>
            </a:pPr>
            <a:r>
              <a:t/>
            </a:r>
            <a:endParaRPr sz="2900"/>
          </a:p>
          <a:p>
            <a:pPr indent="0" lvl="0" marL="0" rtl="0" algn="l">
              <a:lnSpc>
                <a:spcPct val="150000"/>
              </a:lnSpc>
              <a:spcBef>
                <a:spcPts val="0"/>
              </a:spcBef>
              <a:spcAft>
                <a:spcPts val="0"/>
              </a:spcAft>
              <a:buNone/>
            </a:pPr>
            <a:r>
              <a:t/>
            </a:r>
            <a:endParaRPr/>
          </a:p>
        </p:txBody>
      </p:sp>
      <p:pic>
        <p:nvPicPr>
          <p:cNvPr id="390" name="Google Shape;390;p55"/>
          <p:cNvPicPr preferRelativeResize="0"/>
          <p:nvPr/>
        </p:nvPicPr>
        <p:blipFill>
          <a:blip r:embed="rId3">
            <a:alphaModFix/>
          </a:blip>
          <a:stretch>
            <a:fillRect/>
          </a:stretch>
        </p:blipFill>
        <p:spPr>
          <a:xfrm>
            <a:off x="4102200" y="3826875"/>
            <a:ext cx="939600" cy="939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6"/>
          <p:cNvSpPr txBox="1"/>
          <p:nvPr>
            <p:ph type="title"/>
          </p:nvPr>
        </p:nvSpPr>
        <p:spPr>
          <a:xfrm>
            <a:off x="311700" y="3557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Apply #2: Mole and Particle practice</a:t>
            </a:r>
            <a:endParaRPr sz="3900"/>
          </a:p>
        </p:txBody>
      </p:sp>
      <p:sp>
        <p:nvSpPr>
          <p:cNvPr id="396" name="Google Shape;396;p56"/>
          <p:cNvSpPr txBox="1"/>
          <p:nvPr>
            <p:ph idx="1" type="body"/>
          </p:nvPr>
        </p:nvSpPr>
        <p:spPr>
          <a:xfrm>
            <a:off x="311700" y="1152475"/>
            <a:ext cx="4153200" cy="3930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150"/>
              <a:t>Try these independently before comparing with your group. Try to agree on an answer and understand it before double checking your work with the answers. </a:t>
            </a:r>
            <a:endParaRPr sz="1150"/>
          </a:p>
          <a:p>
            <a:pPr indent="0" lvl="0" marL="0" rtl="0" algn="l">
              <a:lnSpc>
                <a:spcPct val="150000"/>
              </a:lnSpc>
              <a:spcBef>
                <a:spcPts val="0"/>
              </a:spcBef>
              <a:spcAft>
                <a:spcPts val="0"/>
              </a:spcAft>
              <a:buNone/>
            </a:pPr>
            <a:r>
              <a:rPr lang="en" sz="1150"/>
              <a:t>1. What is Avogadro's number?  </a:t>
            </a:r>
            <a:endParaRPr sz="1150"/>
          </a:p>
          <a:p>
            <a:pPr indent="0" lvl="0" marL="0" rtl="0" algn="l">
              <a:lnSpc>
                <a:spcPct val="150000"/>
              </a:lnSpc>
              <a:spcBef>
                <a:spcPts val="0"/>
              </a:spcBef>
              <a:spcAft>
                <a:spcPts val="0"/>
              </a:spcAft>
              <a:buNone/>
            </a:pPr>
            <a:r>
              <a:rPr lang="en" sz="1150"/>
              <a:t>      i.    6.02 × 10²⁴ </a:t>
            </a:r>
            <a:endParaRPr sz="1150"/>
          </a:p>
          <a:p>
            <a:pPr indent="0" lvl="0" marL="0" rtl="0" algn="l">
              <a:lnSpc>
                <a:spcPct val="150000"/>
              </a:lnSpc>
              <a:spcBef>
                <a:spcPts val="0"/>
              </a:spcBef>
              <a:spcAft>
                <a:spcPts val="0"/>
              </a:spcAft>
              <a:buNone/>
            </a:pPr>
            <a:r>
              <a:rPr lang="en" sz="1150"/>
              <a:t>      ii.   6.02 × 10²²  </a:t>
            </a:r>
            <a:endParaRPr sz="1150"/>
          </a:p>
          <a:p>
            <a:pPr indent="0" lvl="0" marL="0" rtl="0" algn="l">
              <a:lnSpc>
                <a:spcPct val="150000"/>
              </a:lnSpc>
              <a:spcBef>
                <a:spcPts val="0"/>
              </a:spcBef>
              <a:spcAft>
                <a:spcPts val="0"/>
              </a:spcAft>
              <a:buNone/>
            </a:pPr>
            <a:r>
              <a:rPr lang="en" sz="1150"/>
              <a:t>      iii.  6.02 × 10²³  </a:t>
            </a:r>
            <a:endParaRPr sz="1150"/>
          </a:p>
          <a:p>
            <a:pPr indent="0" lvl="0" marL="0" rtl="0" algn="l">
              <a:lnSpc>
                <a:spcPct val="150000"/>
              </a:lnSpc>
              <a:spcBef>
                <a:spcPts val="0"/>
              </a:spcBef>
              <a:spcAft>
                <a:spcPts val="0"/>
              </a:spcAft>
              <a:buNone/>
            </a:pPr>
            <a:r>
              <a:rPr lang="en" sz="1150"/>
              <a:t>      iv.  6.02 × 10²¹  </a:t>
            </a:r>
            <a:endParaRPr sz="1150"/>
          </a:p>
          <a:p>
            <a:pPr indent="0" lvl="0" marL="0" rtl="0" algn="l">
              <a:lnSpc>
                <a:spcPct val="150000"/>
              </a:lnSpc>
              <a:spcBef>
                <a:spcPts val="0"/>
              </a:spcBef>
              <a:spcAft>
                <a:spcPts val="0"/>
              </a:spcAft>
              <a:buNone/>
            </a:pPr>
            <a:r>
              <a:rPr lang="en" sz="1150"/>
              <a:t>  2. How many atoms are in 2 moles of helium (He)?  {Hint: would the answer be the same or different for a different element?}</a:t>
            </a:r>
            <a:endParaRPr sz="1150"/>
          </a:p>
          <a:p>
            <a:pPr indent="0" lvl="0" marL="0" rtl="0" algn="l">
              <a:lnSpc>
                <a:spcPct val="150000"/>
              </a:lnSpc>
              <a:spcBef>
                <a:spcPts val="0"/>
              </a:spcBef>
              <a:spcAft>
                <a:spcPts val="0"/>
              </a:spcAft>
              <a:buNone/>
            </a:pPr>
            <a:r>
              <a:rPr lang="en" sz="1150"/>
              <a:t>      i.    6.02 × 10²³  </a:t>
            </a:r>
            <a:endParaRPr sz="1150"/>
          </a:p>
          <a:p>
            <a:pPr indent="0" lvl="0" marL="0" rtl="0" algn="l">
              <a:lnSpc>
                <a:spcPct val="150000"/>
              </a:lnSpc>
              <a:spcBef>
                <a:spcPts val="0"/>
              </a:spcBef>
              <a:spcAft>
                <a:spcPts val="0"/>
              </a:spcAft>
              <a:buNone/>
            </a:pPr>
            <a:r>
              <a:rPr lang="en" sz="1150"/>
              <a:t>      ii.   1.204 × 10²⁴ </a:t>
            </a:r>
            <a:endParaRPr sz="1150"/>
          </a:p>
          <a:p>
            <a:pPr indent="0" lvl="0" marL="0" rtl="0" algn="l">
              <a:lnSpc>
                <a:spcPct val="150000"/>
              </a:lnSpc>
              <a:spcBef>
                <a:spcPts val="0"/>
              </a:spcBef>
              <a:spcAft>
                <a:spcPts val="0"/>
              </a:spcAft>
              <a:buNone/>
            </a:pPr>
            <a:r>
              <a:rPr lang="en" sz="1150"/>
              <a:t>      iii.  1.204 × 10²² </a:t>
            </a:r>
            <a:endParaRPr sz="1150"/>
          </a:p>
          <a:p>
            <a:pPr indent="0" lvl="0" marL="0" rtl="0" algn="l">
              <a:lnSpc>
                <a:spcPct val="150000"/>
              </a:lnSpc>
              <a:spcBef>
                <a:spcPts val="0"/>
              </a:spcBef>
              <a:spcAft>
                <a:spcPts val="0"/>
              </a:spcAft>
              <a:buNone/>
            </a:pPr>
            <a:r>
              <a:rPr lang="en" sz="1150"/>
              <a:t>      iv.   6.02 × 10²¹  </a:t>
            </a:r>
            <a:endParaRPr sz="1150"/>
          </a:p>
          <a:p>
            <a:pPr indent="0" lvl="0" marL="0" rtl="0" algn="l">
              <a:lnSpc>
                <a:spcPct val="150000"/>
              </a:lnSpc>
              <a:spcBef>
                <a:spcPts val="0"/>
              </a:spcBef>
              <a:spcAft>
                <a:spcPts val="0"/>
              </a:spcAft>
              <a:buNone/>
            </a:pPr>
            <a:r>
              <a:rPr lang="en" sz="950"/>
              <a:t> </a:t>
            </a:r>
            <a:endParaRPr sz="950"/>
          </a:p>
        </p:txBody>
      </p:sp>
      <p:sp>
        <p:nvSpPr>
          <p:cNvPr id="397" name="Google Shape;397;p56"/>
          <p:cNvSpPr txBox="1"/>
          <p:nvPr/>
        </p:nvSpPr>
        <p:spPr>
          <a:xfrm>
            <a:off x="4891475" y="1919275"/>
            <a:ext cx="3940800" cy="3197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350">
                <a:solidFill>
                  <a:schemeClr val="dk1"/>
                </a:solidFill>
                <a:latin typeface="Corbel"/>
                <a:ea typeface="Corbel"/>
                <a:cs typeface="Corbel"/>
                <a:sym typeface="Corbel"/>
              </a:rPr>
              <a:t>3. Convert the following:  </a:t>
            </a:r>
            <a:endParaRPr sz="1350">
              <a:solidFill>
                <a:schemeClr val="dk1"/>
              </a:solidFill>
              <a:latin typeface="Corbel"/>
              <a:ea typeface="Corbel"/>
              <a:cs typeface="Corbel"/>
              <a:sym typeface="Corbel"/>
            </a:endParaRPr>
          </a:p>
          <a:p>
            <a:pPr indent="0" lvl="0" marL="0" rtl="0" algn="l">
              <a:lnSpc>
                <a:spcPct val="150000"/>
              </a:lnSpc>
              <a:spcBef>
                <a:spcPts val="0"/>
              </a:spcBef>
              <a:spcAft>
                <a:spcPts val="0"/>
              </a:spcAft>
              <a:buClr>
                <a:schemeClr val="dk1"/>
              </a:buClr>
              <a:buSzPts val="1100"/>
              <a:buFont typeface="Arial"/>
              <a:buNone/>
            </a:pPr>
            <a:r>
              <a:rPr lang="en" sz="1350">
                <a:solidFill>
                  <a:schemeClr val="dk1"/>
                </a:solidFill>
                <a:latin typeface="Corbel"/>
                <a:ea typeface="Corbel"/>
                <a:cs typeface="Corbel"/>
                <a:sym typeface="Corbel"/>
              </a:rPr>
              <a:t>   a. How many moles are in 3.01 × 10²³ atoms of carbon?  </a:t>
            </a:r>
            <a:endParaRPr sz="1350">
              <a:solidFill>
                <a:schemeClr val="dk1"/>
              </a:solidFill>
              <a:latin typeface="Corbel"/>
              <a:ea typeface="Corbel"/>
              <a:cs typeface="Corbel"/>
              <a:sym typeface="Corbel"/>
            </a:endParaRPr>
          </a:p>
          <a:p>
            <a:pPr indent="0" lvl="0" marL="0" rtl="0" algn="l">
              <a:lnSpc>
                <a:spcPct val="150000"/>
              </a:lnSpc>
              <a:spcBef>
                <a:spcPts val="0"/>
              </a:spcBef>
              <a:spcAft>
                <a:spcPts val="0"/>
              </a:spcAft>
              <a:buClr>
                <a:schemeClr val="dk1"/>
              </a:buClr>
              <a:buSzPts val="1100"/>
              <a:buFont typeface="Arial"/>
              <a:buNone/>
            </a:pPr>
            <a:r>
              <a:rPr lang="en" sz="1350">
                <a:solidFill>
                  <a:schemeClr val="dk1"/>
                </a:solidFill>
                <a:latin typeface="Corbel"/>
                <a:ea typeface="Corbel"/>
                <a:cs typeface="Corbel"/>
                <a:sym typeface="Corbel"/>
              </a:rPr>
              <a:t>   b. How many atoms are in 2.5 moles of oxygen?  </a:t>
            </a:r>
            <a:endParaRPr sz="1350">
              <a:solidFill>
                <a:schemeClr val="dk1"/>
              </a:solidFill>
              <a:latin typeface="Corbel"/>
              <a:ea typeface="Corbel"/>
              <a:cs typeface="Corbel"/>
              <a:sym typeface="Corbel"/>
            </a:endParaRPr>
          </a:p>
          <a:p>
            <a:pPr indent="0" lvl="0" marL="0" rtl="0" algn="l">
              <a:lnSpc>
                <a:spcPct val="150000"/>
              </a:lnSpc>
              <a:spcBef>
                <a:spcPts val="0"/>
              </a:spcBef>
              <a:spcAft>
                <a:spcPts val="0"/>
              </a:spcAft>
              <a:buClr>
                <a:schemeClr val="dk1"/>
              </a:buClr>
              <a:buSzPts val="1100"/>
              <a:buFont typeface="Arial"/>
              <a:buNone/>
            </a:pPr>
            <a:r>
              <a:t/>
            </a:r>
            <a:endParaRPr sz="135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t/>
            </a:r>
            <a:endParaRPr sz="135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t/>
            </a:r>
            <a:endParaRPr sz="1350">
              <a:solidFill>
                <a:schemeClr val="dk1"/>
              </a:solidFill>
              <a:latin typeface="Corbel"/>
              <a:ea typeface="Corbel"/>
              <a:cs typeface="Corbel"/>
              <a:sym typeface="Corbel"/>
            </a:endParaRPr>
          </a:p>
          <a:p>
            <a:pPr indent="0" lvl="0" marL="0" rtl="0" algn="l">
              <a:lnSpc>
                <a:spcPct val="150000"/>
              </a:lnSpc>
              <a:spcBef>
                <a:spcPts val="0"/>
              </a:spcBef>
              <a:spcAft>
                <a:spcPts val="0"/>
              </a:spcAft>
              <a:buClr>
                <a:schemeClr val="dk1"/>
              </a:buClr>
              <a:buSzPts val="1100"/>
              <a:buFont typeface="Arial"/>
              <a:buNone/>
            </a:pPr>
            <a:r>
              <a:t/>
            </a:r>
            <a:endParaRPr sz="1350">
              <a:solidFill>
                <a:schemeClr val="dk1"/>
              </a:solidFill>
              <a:latin typeface="Corbel"/>
              <a:ea typeface="Corbel"/>
              <a:cs typeface="Corbel"/>
              <a:sym typeface="Corbel"/>
            </a:endParaRPr>
          </a:p>
          <a:p>
            <a:pPr indent="0" lvl="0" marL="0" rtl="0" algn="l">
              <a:lnSpc>
                <a:spcPct val="150000"/>
              </a:lnSpc>
              <a:spcBef>
                <a:spcPts val="0"/>
              </a:spcBef>
              <a:spcAft>
                <a:spcPts val="0"/>
              </a:spcAft>
              <a:buClr>
                <a:schemeClr val="dk1"/>
              </a:buClr>
              <a:buSzPts val="1100"/>
              <a:buFont typeface="Arial"/>
              <a:buNone/>
            </a:pPr>
            <a:r>
              <a:rPr lang="en" sz="1350">
                <a:solidFill>
                  <a:schemeClr val="dk1"/>
                </a:solidFill>
                <a:latin typeface="Corbel"/>
                <a:ea typeface="Corbel"/>
                <a:cs typeface="Corbel"/>
                <a:sym typeface="Corbel"/>
              </a:rPr>
              <a:t>ANSWERS: 1.. iii, 2. Ii         3.  a. 0.5 moles    b. 1.505 × 10²⁴ atoms</a:t>
            </a:r>
            <a:endParaRPr sz="1350">
              <a:solidFill>
                <a:schemeClr val="dk1"/>
              </a:solidFill>
              <a:latin typeface="Corbel"/>
              <a:ea typeface="Corbel"/>
              <a:cs typeface="Corbel"/>
              <a:sym typeface="Corbe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7"/>
          <p:cNvSpPr txBox="1"/>
          <p:nvPr>
            <p:ph type="title"/>
          </p:nvPr>
        </p:nvSpPr>
        <p:spPr>
          <a:xfrm>
            <a:off x="311700" y="335900"/>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300"/>
              <a:t>Apply #3 : Mole and Mass Practice</a:t>
            </a:r>
            <a:endParaRPr sz="4300"/>
          </a:p>
        </p:txBody>
      </p:sp>
      <p:sp>
        <p:nvSpPr>
          <p:cNvPr id="403" name="Google Shape;403;p57"/>
          <p:cNvSpPr txBox="1"/>
          <p:nvPr>
            <p:ph idx="1" type="body"/>
          </p:nvPr>
        </p:nvSpPr>
        <p:spPr>
          <a:xfrm>
            <a:off x="198450" y="1152475"/>
            <a:ext cx="46731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50"/>
              <a:t>  1. What is the mass of 2 moles of carbon dioxide (CO₂)?  </a:t>
            </a:r>
            <a:endParaRPr sz="1550"/>
          </a:p>
          <a:p>
            <a:pPr indent="0" lvl="0" marL="0" rtl="0" algn="l">
              <a:lnSpc>
                <a:spcPct val="150000"/>
              </a:lnSpc>
              <a:spcBef>
                <a:spcPts val="0"/>
              </a:spcBef>
              <a:spcAft>
                <a:spcPts val="0"/>
              </a:spcAft>
              <a:buNone/>
            </a:pPr>
            <a:r>
              <a:rPr lang="en" sz="1550"/>
              <a:t>      i. 44 g  </a:t>
            </a:r>
            <a:endParaRPr sz="1550"/>
          </a:p>
          <a:p>
            <a:pPr indent="0" lvl="0" marL="0" rtl="0" algn="l">
              <a:lnSpc>
                <a:spcPct val="150000"/>
              </a:lnSpc>
              <a:spcBef>
                <a:spcPts val="0"/>
              </a:spcBef>
              <a:spcAft>
                <a:spcPts val="0"/>
              </a:spcAft>
              <a:buNone/>
            </a:pPr>
            <a:r>
              <a:rPr lang="en" sz="1550"/>
              <a:t>      ii. 88 g  </a:t>
            </a:r>
            <a:endParaRPr sz="1550"/>
          </a:p>
          <a:p>
            <a:pPr indent="0" lvl="0" marL="0" rtl="0" algn="l">
              <a:lnSpc>
                <a:spcPct val="150000"/>
              </a:lnSpc>
              <a:spcBef>
                <a:spcPts val="0"/>
              </a:spcBef>
              <a:spcAft>
                <a:spcPts val="0"/>
              </a:spcAft>
              <a:buNone/>
            </a:pPr>
            <a:r>
              <a:rPr lang="en" sz="1550"/>
              <a:t>      iii. 22 g  </a:t>
            </a:r>
            <a:endParaRPr sz="1550"/>
          </a:p>
          <a:p>
            <a:pPr indent="0" lvl="0" marL="0" rtl="0" algn="l">
              <a:lnSpc>
                <a:spcPct val="150000"/>
              </a:lnSpc>
              <a:spcBef>
                <a:spcPts val="0"/>
              </a:spcBef>
              <a:spcAft>
                <a:spcPts val="0"/>
              </a:spcAft>
              <a:buNone/>
            </a:pPr>
            <a:r>
              <a:rPr lang="en" sz="1550"/>
              <a:t>      iv. 66 g  </a:t>
            </a:r>
            <a:endParaRPr sz="1550"/>
          </a:p>
          <a:p>
            <a:pPr indent="0" lvl="0" marL="0" rtl="0" algn="l">
              <a:lnSpc>
                <a:spcPct val="150000"/>
              </a:lnSpc>
              <a:spcBef>
                <a:spcPts val="0"/>
              </a:spcBef>
              <a:spcAft>
                <a:spcPts val="0"/>
              </a:spcAft>
              <a:buNone/>
            </a:pPr>
            <a:r>
              <a:rPr lang="en" sz="1550"/>
              <a:t> 2. How many moles are in 36 grams of water (H₂O)?  </a:t>
            </a:r>
            <a:endParaRPr sz="1550"/>
          </a:p>
          <a:p>
            <a:pPr indent="0" lvl="0" marL="0" rtl="0" algn="l">
              <a:lnSpc>
                <a:spcPct val="150000"/>
              </a:lnSpc>
              <a:spcBef>
                <a:spcPts val="0"/>
              </a:spcBef>
              <a:spcAft>
                <a:spcPts val="0"/>
              </a:spcAft>
              <a:buNone/>
            </a:pPr>
            <a:r>
              <a:rPr lang="en" sz="1550"/>
              <a:t>      i. 1 mole  </a:t>
            </a:r>
            <a:endParaRPr sz="1550"/>
          </a:p>
          <a:p>
            <a:pPr indent="0" lvl="0" marL="0" rtl="0" algn="l">
              <a:lnSpc>
                <a:spcPct val="150000"/>
              </a:lnSpc>
              <a:spcBef>
                <a:spcPts val="0"/>
              </a:spcBef>
              <a:spcAft>
                <a:spcPts val="0"/>
              </a:spcAft>
              <a:buNone/>
            </a:pPr>
            <a:r>
              <a:rPr lang="en" sz="1550"/>
              <a:t>      ii. 2 moles  </a:t>
            </a:r>
            <a:endParaRPr sz="1550"/>
          </a:p>
          <a:p>
            <a:pPr indent="0" lvl="0" marL="0" rtl="0" algn="l">
              <a:lnSpc>
                <a:spcPct val="150000"/>
              </a:lnSpc>
              <a:spcBef>
                <a:spcPts val="0"/>
              </a:spcBef>
              <a:spcAft>
                <a:spcPts val="0"/>
              </a:spcAft>
              <a:buNone/>
            </a:pPr>
            <a:r>
              <a:rPr lang="en" sz="1550"/>
              <a:t>      iii. 3 moles  </a:t>
            </a:r>
            <a:endParaRPr sz="1550"/>
          </a:p>
          <a:p>
            <a:pPr indent="0" lvl="0" marL="0" rtl="0" algn="l">
              <a:lnSpc>
                <a:spcPct val="150000"/>
              </a:lnSpc>
              <a:spcBef>
                <a:spcPts val="0"/>
              </a:spcBef>
              <a:spcAft>
                <a:spcPts val="0"/>
              </a:spcAft>
              <a:buNone/>
            </a:pPr>
            <a:r>
              <a:rPr lang="en" sz="1550"/>
              <a:t>      iv. 4 moles</a:t>
            </a:r>
            <a:endParaRPr sz="1550"/>
          </a:p>
        </p:txBody>
      </p:sp>
      <p:sp>
        <p:nvSpPr>
          <p:cNvPr id="404" name="Google Shape;404;p57"/>
          <p:cNvSpPr txBox="1"/>
          <p:nvPr/>
        </p:nvSpPr>
        <p:spPr>
          <a:xfrm>
            <a:off x="5099850" y="1352675"/>
            <a:ext cx="3561900" cy="326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250">
                <a:solidFill>
                  <a:schemeClr val="dk1"/>
                </a:solidFill>
                <a:latin typeface="Corbel"/>
                <a:ea typeface="Corbel"/>
                <a:cs typeface="Corbel"/>
                <a:sym typeface="Corbel"/>
              </a:rPr>
              <a:t>3.Convert the following: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Clr>
                <a:schemeClr val="dk1"/>
              </a:buClr>
              <a:buSzPts val="1100"/>
              <a:buFont typeface="Arial"/>
              <a:buNone/>
            </a:pPr>
            <a:r>
              <a:rPr lang="en" sz="1250">
                <a:solidFill>
                  <a:schemeClr val="dk1"/>
                </a:solidFill>
                <a:latin typeface="Corbel"/>
                <a:ea typeface="Corbel"/>
                <a:cs typeface="Corbel"/>
                <a:sym typeface="Corbel"/>
              </a:rPr>
              <a:t>a. How many moles are in 50 grams of water (H₂O)?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rPr lang="en" sz="1250">
                <a:solidFill>
                  <a:schemeClr val="dk1"/>
                </a:solidFill>
                <a:latin typeface="Corbel"/>
                <a:ea typeface="Corbel"/>
                <a:cs typeface="Corbel"/>
                <a:sym typeface="Corbel"/>
              </a:rPr>
              <a:t>b. What is the mass of 0.5 moles of carbon dioxide (CO₂)?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Clr>
                <a:schemeClr val="dk1"/>
              </a:buClr>
              <a:buSzPts val="1100"/>
              <a:buFont typeface="Arial"/>
              <a:buNone/>
            </a:pPr>
            <a:r>
              <a:t/>
            </a:r>
            <a:endParaRPr sz="1250">
              <a:solidFill>
                <a:schemeClr val="dk1"/>
              </a:solidFill>
              <a:latin typeface="Corbel"/>
              <a:ea typeface="Corbel"/>
              <a:cs typeface="Corbel"/>
              <a:sym typeface="Corbel"/>
            </a:endParaRPr>
          </a:p>
          <a:p>
            <a:pPr indent="0" lvl="0" marL="0" rtl="0" algn="l">
              <a:lnSpc>
                <a:spcPct val="150000"/>
              </a:lnSpc>
              <a:spcBef>
                <a:spcPts val="0"/>
              </a:spcBef>
              <a:spcAft>
                <a:spcPts val="0"/>
              </a:spcAft>
              <a:buClr>
                <a:schemeClr val="dk1"/>
              </a:buClr>
              <a:buSzPts val="1100"/>
              <a:buFont typeface="Arial"/>
              <a:buNone/>
            </a:pPr>
            <a:r>
              <a:rPr lang="en" sz="1250">
                <a:solidFill>
                  <a:schemeClr val="dk1"/>
                </a:solidFill>
                <a:latin typeface="Corbel"/>
                <a:ea typeface="Corbel"/>
                <a:cs typeface="Corbel"/>
                <a:sym typeface="Corbel"/>
              </a:rPr>
              <a:t>ANSWERS: 1. ii.   2. Ii  3.  a. 2.78 moles  b. 22 g </a:t>
            </a:r>
            <a:endParaRPr sz="3200">
              <a:solidFill>
                <a:schemeClr val="dk1"/>
              </a:solidFill>
              <a:latin typeface="Corbel"/>
              <a:ea typeface="Corbel"/>
              <a:cs typeface="Corbel"/>
              <a:sym typeface="Corbe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8"/>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t>Apply #5: Combining mass and particle calculations</a:t>
            </a:r>
            <a:endParaRPr sz="2300"/>
          </a:p>
        </p:txBody>
      </p:sp>
      <p:sp>
        <p:nvSpPr>
          <p:cNvPr id="410" name="Google Shape;410;p58"/>
          <p:cNvSpPr txBox="1"/>
          <p:nvPr>
            <p:ph idx="1" type="body"/>
          </p:nvPr>
        </p:nvSpPr>
        <p:spPr>
          <a:xfrm>
            <a:off x="83475" y="1181050"/>
            <a:ext cx="8520600" cy="34164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In your groups on the whiteboard, let’s solve our penny problem! If a penny is made of 3.11 grams of copper, how many atoms of copper are in the penny?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Show your calculations and answer with units. You will need to use both equations, to solve FIRST for the moles of copper, then use the moles to solve for particles. HINT: </a:t>
            </a:r>
            <a:r>
              <a:rPr lang="en" sz="1400"/>
              <a:t>where are you starting and where are you ending up on the diagram below?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It is crucial in this unit to get in the habit of listing your given values and your required value WITH UNITS before solving and entering the numbers WITH units into each calculation. Try to remember to use significant figures!</a:t>
            </a:r>
            <a:r>
              <a:rPr lang="en" sz="1400">
                <a:solidFill>
                  <a:schemeClr val="dk1"/>
                </a:solidFill>
              </a:rPr>
              <a:t>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t>Add</a:t>
            </a:r>
            <a:r>
              <a:rPr lang="en" sz="1400">
                <a:solidFill>
                  <a:schemeClr val="dk1"/>
                </a:solidFill>
              </a:rPr>
              <a:t> an image of your work </a:t>
            </a:r>
            <a:r>
              <a:rPr lang="en" sz="1400"/>
              <a:t>to these slides.</a:t>
            </a:r>
            <a:endParaRPr sz="1400">
              <a:solidFill>
                <a:schemeClr val="dk1"/>
              </a:solidFill>
            </a:endParaRPr>
          </a:p>
          <a:p>
            <a:pPr indent="0" lvl="0" marL="0" rtl="0" algn="l">
              <a:lnSpc>
                <a:spcPct val="150000"/>
              </a:lnSpc>
              <a:spcBef>
                <a:spcPts val="0"/>
              </a:spcBef>
              <a:spcAft>
                <a:spcPts val="0"/>
              </a:spcAft>
              <a:buNone/>
            </a:pPr>
            <a:r>
              <a:t/>
            </a:r>
            <a:endParaRPr sz="1400"/>
          </a:p>
        </p:txBody>
      </p:sp>
      <p:grpSp>
        <p:nvGrpSpPr>
          <p:cNvPr id="411" name="Google Shape;411;p58"/>
          <p:cNvGrpSpPr/>
          <p:nvPr/>
        </p:nvGrpSpPr>
        <p:grpSpPr>
          <a:xfrm>
            <a:off x="4137457" y="3436351"/>
            <a:ext cx="4761338" cy="1551634"/>
            <a:chOff x="884125" y="1810613"/>
            <a:chExt cx="7250400" cy="2958875"/>
          </a:xfrm>
        </p:grpSpPr>
        <p:sp>
          <p:nvSpPr>
            <p:cNvPr id="412" name="Google Shape;412;p58"/>
            <p:cNvSpPr/>
            <p:nvPr/>
          </p:nvSpPr>
          <p:spPr>
            <a:xfrm>
              <a:off x="5658625" y="2268450"/>
              <a:ext cx="2475900" cy="137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58"/>
            <p:cNvSpPr txBox="1"/>
            <p:nvPr/>
          </p:nvSpPr>
          <p:spPr>
            <a:xfrm>
              <a:off x="5879425" y="2268478"/>
              <a:ext cx="2034300" cy="73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t>Amount in chosen unit</a:t>
              </a:r>
              <a:r>
                <a:rPr lang="en" sz="1200"/>
                <a:t> (moles)</a:t>
              </a:r>
              <a:endParaRPr sz="1200"/>
            </a:p>
          </p:txBody>
        </p:sp>
        <p:sp>
          <p:nvSpPr>
            <p:cNvPr id="414" name="Google Shape;414;p58"/>
            <p:cNvSpPr/>
            <p:nvPr/>
          </p:nvSpPr>
          <p:spPr>
            <a:xfrm>
              <a:off x="937975" y="1810613"/>
              <a:ext cx="2244900" cy="1187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15" name="Google Shape;415;p58"/>
            <p:cNvCxnSpPr>
              <a:stCxn id="414" idx="6"/>
              <a:endCxn id="412" idx="2"/>
            </p:cNvCxnSpPr>
            <p:nvPr/>
          </p:nvCxnSpPr>
          <p:spPr>
            <a:xfrm>
              <a:off x="3182875" y="2404463"/>
              <a:ext cx="2475900" cy="550200"/>
            </a:xfrm>
            <a:prstGeom prst="straightConnector1">
              <a:avLst/>
            </a:prstGeom>
            <a:noFill/>
            <a:ln cap="flat" cmpd="sng" w="38100">
              <a:solidFill>
                <a:schemeClr val="dk2"/>
              </a:solidFill>
              <a:prstDash val="solid"/>
              <a:round/>
              <a:headEnd len="med" w="med" type="stealth"/>
              <a:tailEnd len="med" w="med" type="stealth"/>
            </a:ln>
          </p:spPr>
        </p:cxnSp>
        <p:sp>
          <p:nvSpPr>
            <p:cNvPr id="416" name="Google Shape;416;p58"/>
            <p:cNvSpPr txBox="1"/>
            <p:nvPr/>
          </p:nvSpPr>
          <p:spPr>
            <a:xfrm>
              <a:off x="937975" y="1969688"/>
              <a:ext cx="1891200" cy="102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t>Amount in Particles</a:t>
              </a:r>
              <a:endParaRPr b="1" sz="1200"/>
            </a:p>
          </p:txBody>
        </p:sp>
        <p:sp>
          <p:nvSpPr>
            <p:cNvPr id="417" name="Google Shape;417;p58"/>
            <p:cNvSpPr/>
            <p:nvPr/>
          </p:nvSpPr>
          <p:spPr>
            <a:xfrm>
              <a:off x="884125" y="3397288"/>
              <a:ext cx="2352600" cy="137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Amount in MASS</a:t>
              </a:r>
              <a:endParaRPr b="1" sz="1200"/>
            </a:p>
          </p:txBody>
        </p:sp>
        <p:cxnSp>
          <p:nvCxnSpPr>
            <p:cNvPr id="418" name="Google Shape;418;p58"/>
            <p:cNvCxnSpPr>
              <a:stCxn id="417" idx="6"/>
              <a:endCxn id="412" idx="3"/>
            </p:cNvCxnSpPr>
            <p:nvPr/>
          </p:nvCxnSpPr>
          <p:spPr>
            <a:xfrm flipH="1" rot="10800000">
              <a:off x="3236725" y="3439588"/>
              <a:ext cx="2784600" cy="643800"/>
            </a:xfrm>
            <a:prstGeom prst="straightConnector1">
              <a:avLst/>
            </a:prstGeom>
            <a:noFill/>
            <a:ln cap="flat" cmpd="sng" w="38100">
              <a:solidFill>
                <a:schemeClr val="dk2"/>
              </a:solidFill>
              <a:prstDash val="solid"/>
              <a:round/>
              <a:headEnd len="med" w="med" type="stealth"/>
              <a:tailEnd len="med" w="med" type="stealth"/>
            </a:ln>
          </p:spPr>
        </p:cxn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9"/>
          <p:cNvSpPr txBox="1"/>
          <p:nvPr>
            <p:ph type="title"/>
          </p:nvPr>
        </p:nvSpPr>
        <p:spPr>
          <a:xfrm>
            <a:off x="311700" y="337000"/>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Apply #6: The mole hole game</a:t>
            </a:r>
            <a:endParaRPr/>
          </a:p>
        </p:txBody>
      </p:sp>
      <p:sp>
        <p:nvSpPr>
          <p:cNvPr id="424" name="Google Shape;424;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Play by asking for a Class Set sheet (return it!) or opening </a:t>
            </a:r>
            <a:r>
              <a:rPr lang="en" u="sng">
                <a:solidFill>
                  <a:schemeClr val="hlink"/>
                </a:solidFill>
                <a:hlinkClick r:id="rId3"/>
              </a:rPr>
              <a:t>this link</a:t>
            </a:r>
            <a:r>
              <a:rPr lang="en"/>
              <a:t>. </a:t>
            </a:r>
            <a:endParaRPr/>
          </a:p>
          <a:p>
            <a:pPr indent="0" lvl="0" marL="0" rtl="0" algn="l">
              <a:lnSpc>
                <a:spcPct val="150000"/>
              </a:lnSpc>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Apply #5: Practice Work</a:t>
            </a:r>
            <a:endParaRPr/>
          </a:p>
        </p:txBody>
      </p:sp>
      <p:sp>
        <p:nvSpPr>
          <p:cNvPr id="430" name="Google Shape;430;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b="1" lang="en" sz="1900"/>
              <a:t>Complete the practice work as indicated in the unit plan and/or sheets given in class.</a:t>
            </a:r>
            <a:r>
              <a:rPr lang="en" sz="1900"/>
              <a:t> </a:t>
            </a:r>
            <a:endParaRPr sz="1900"/>
          </a:p>
          <a:p>
            <a:pPr indent="-349250" lvl="0" marL="457200" rtl="0" algn="l">
              <a:lnSpc>
                <a:spcPct val="150000"/>
              </a:lnSpc>
              <a:spcBef>
                <a:spcPts val="0"/>
              </a:spcBef>
              <a:spcAft>
                <a:spcPts val="0"/>
              </a:spcAft>
              <a:buSzPts val="1900"/>
              <a:buChar char="◼"/>
            </a:pPr>
            <a:r>
              <a:rPr lang="en" sz="1900"/>
              <a:t>Its important in this unit to do plenty of practice to be confident of each topic before moving to the next one! It is also good practice to save some practice work, once you are confident, to complete over the next several days &amp; weeks from the lesson. </a:t>
            </a:r>
            <a:endParaRPr sz="1900"/>
          </a:p>
          <a:p>
            <a:pPr indent="-349250" lvl="0" marL="457200" rtl="0" algn="l">
              <a:lnSpc>
                <a:spcPct val="150000"/>
              </a:lnSpc>
              <a:spcBef>
                <a:spcPts val="0"/>
              </a:spcBef>
              <a:spcAft>
                <a:spcPts val="0"/>
              </a:spcAft>
              <a:buSzPts val="1900"/>
              <a:buChar char="◼"/>
            </a:pPr>
            <a:r>
              <a:rPr lang="en" sz="1900"/>
              <a:t>Spaced practice solidifies your understanding and long term retention! </a:t>
            </a:r>
            <a:endParaRPr sz="1900"/>
          </a:p>
          <a:p>
            <a:pPr indent="0" lvl="0" marL="0" rtl="0" algn="l">
              <a:lnSpc>
                <a:spcPct val="150000"/>
              </a:lnSpc>
              <a:spcBef>
                <a:spcPts val="0"/>
              </a:spcBef>
              <a:spcAft>
                <a:spcPts val="0"/>
              </a:spcAft>
              <a:buNone/>
            </a:pPr>
            <a:r>
              <a:t/>
            </a:r>
            <a:endParaRPr sz="19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1"/>
          <p:cNvSpPr txBox="1"/>
          <p:nvPr>
            <p:ph type="title"/>
          </p:nvPr>
        </p:nvSpPr>
        <p:spPr>
          <a:xfrm>
            <a:off x="367100" y="1501500"/>
            <a:ext cx="8302500" cy="99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Part 4: Beyond the course extensions &amp; Extra help {optional}</a:t>
            </a:r>
            <a:endParaRPr sz="29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2"/>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Extra help: Visualizing the mole</a:t>
            </a:r>
            <a:endParaRPr/>
          </a:p>
        </p:txBody>
      </p:sp>
      <p:sp>
        <p:nvSpPr>
          <p:cNvPr id="441" name="Google Shape;441;p62"/>
          <p:cNvSpPr txBox="1"/>
          <p:nvPr>
            <p:ph idx="1" type="body"/>
          </p:nvPr>
        </p:nvSpPr>
        <p:spPr>
          <a:xfrm>
            <a:off x="208350" y="1539425"/>
            <a:ext cx="25200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2000"/>
              <a:t>This is a great video to help grasp just how large the number in mole is, and therefore how very very small atoms are. </a:t>
            </a:r>
            <a:endParaRPr sz="2000"/>
          </a:p>
          <a:p>
            <a:pPr indent="0" lvl="0" marL="0" rtl="0" algn="l">
              <a:lnSpc>
                <a:spcPct val="150000"/>
              </a:lnSpc>
              <a:spcBef>
                <a:spcPts val="0"/>
              </a:spcBef>
              <a:spcAft>
                <a:spcPts val="0"/>
              </a:spcAft>
              <a:buNone/>
            </a:pPr>
            <a:r>
              <a:t/>
            </a:r>
            <a:endParaRPr/>
          </a:p>
        </p:txBody>
      </p:sp>
      <p:pic>
        <p:nvPicPr>
          <p:cNvPr id="442" name="Google Shape;442;p62">
            <a:hlinkClick r:id="rId3"/>
          </p:cNvPr>
          <p:cNvPicPr preferRelativeResize="0"/>
          <p:nvPr/>
        </p:nvPicPr>
        <p:blipFill>
          <a:blip r:embed="rId4">
            <a:alphaModFix/>
          </a:blip>
          <a:stretch>
            <a:fillRect/>
          </a:stretch>
        </p:blipFill>
        <p:spPr>
          <a:xfrm>
            <a:off x="2874650" y="1350925"/>
            <a:ext cx="6073600" cy="341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3"/>
          <p:cNvSpPr txBox="1"/>
          <p:nvPr>
            <p:ph type="title"/>
          </p:nvPr>
        </p:nvSpPr>
        <p:spPr>
          <a:xfrm>
            <a:off x="311700" y="445025"/>
            <a:ext cx="8520600" cy="62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t>Extra help: Understanding the mole concept</a:t>
            </a:r>
            <a:endParaRPr sz="2700"/>
          </a:p>
        </p:txBody>
      </p:sp>
      <p:sp>
        <p:nvSpPr>
          <p:cNvPr id="448" name="Google Shape;448;p63"/>
          <p:cNvSpPr txBox="1"/>
          <p:nvPr>
            <p:ph idx="1" type="body"/>
          </p:nvPr>
        </p:nvSpPr>
        <p:spPr>
          <a:xfrm>
            <a:off x="311700" y="1569200"/>
            <a:ext cx="24963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t>Another explanation of the mole and why we use it for further help in understanding this concept</a:t>
            </a:r>
            <a:endParaRPr sz="1800"/>
          </a:p>
          <a:p>
            <a:pPr indent="0" lvl="0" marL="0" rtl="0" algn="l">
              <a:lnSpc>
                <a:spcPct val="150000"/>
              </a:lnSpc>
              <a:spcBef>
                <a:spcPts val="0"/>
              </a:spcBef>
              <a:spcAft>
                <a:spcPts val="0"/>
              </a:spcAft>
              <a:buNone/>
            </a:pPr>
            <a:r>
              <a:t/>
            </a:r>
            <a:endParaRPr/>
          </a:p>
        </p:txBody>
      </p:sp>
      <p:pic>
        <p:nvPicPr>
          <p:cNvPr id="449" name="Google Shape;449;p63">
            <a:hlinkClick r:id="rId3"/>
          </p:cNvPr>
          <p:cNvPicPr preferRelativeResize="0"/>
          <p:nvPr/>
        </p:nvPicPr>
        <p:blipFill>
          <a:blip r:embed="rId4">
            <a:alphaModFix/>
          </a:blip>
          <a:stretch>
            <a:fillRect/>
          </a:stretch>
        </p:blipFill>
        <p:spPr>
          <a:xfrm>
            <a:off x="3532200" y="1500025"/>
            <a:ext cx="5455750" cy="3068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000"/>
                                        <p:tgtEl>
                                          <p:spTgt spid="4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64"/>
          <p:cNvPicPr preferRelativeResize="0"/>
          <p:nvPr/>
        </p:nvPicPr>
        <p:blipFill rotWithShape="1">
          <a:blip r:embed="rId3">
            <a:alphaModFix/>
          </a:blip>
          <a:srcRect b="12495" l="0" r="0" t="12502"/>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ule">
  <a:themeElements>
    <a:clrScheme name="Module">
      <a:dk1>
        <a:srgbClr val="000000"/>
      </a:dk1>
      <a:lt1>
        <a:srgbClr val="FFFFFF"/>
      </a:lt1>
      <a:dk2>
        <a:srgbClr val="4476EB"/>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