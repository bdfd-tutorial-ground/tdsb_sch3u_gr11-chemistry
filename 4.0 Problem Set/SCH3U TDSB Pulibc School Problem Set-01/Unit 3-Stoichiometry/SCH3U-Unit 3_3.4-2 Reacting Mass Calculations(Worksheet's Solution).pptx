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9144000"/>
  <p:notesSz cx="6858000" cy="914400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Chemsheets AS006 (Electron arrangement)</a:t>
            </a:r>
            <a:endParaRPr/>
          </a:p>
        </p:txBody>
      </p:sp>
      <p:sp>
        <p:nvSpPr>
          <p:cNvPr id="166" name="Google Shape;166;p1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24/12/2016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:notes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841ee85a3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841ee85a36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274638"/>
            <a:ext cx="8229600" cy="585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110" name="Google Shape;110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16" name="Google Shape;11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17" name="Google Shape;117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23" name="Google Shape;12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24" name="Google Shape;12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25" name="Google Shape;12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141" name="Google Shape;14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42" name="Google Shape;142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49" name="Google Shape;149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EBCF"/>
            </a:gs>
            <a:gs pos="5000">
              <a:srgbClr val="008000"/>
            </a:gs>
            <a:gs pos="71001">
              <a:srgbClr val="66FF66"/>
            </a:gs>
            <a:gs pos="95000">
              <a:srgbClr val="00FF00"/>
            </a:gs>
            <a:gs pos="100000">
              <a:srgbClr val="00FF00"/>
            </a:gs>
          </a:gsLst>
          <a:lin ang="5400000" scaled="0"/>
        </a:gra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/>
          <p:nvPr/>
        </p:nvSpPr>
        <p:spPr>
          <a:xfrm>
            <a:off x="354669" y="2852936"/>
            <a:ext cx="842493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REACTING MASS CALCULATIONS</a:t>
            </a:r>
            <a:endParaRPr b="1" i="0" sz="7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C900238955[1]" id="172" name="Google Shape;1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790575"/>
            <a:ext cx="1152525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/>
          <p:nvPr/>
        </p:nvSpPr>
        <p:spPr>
          <a:xfrm>
            <a:off x="1763688" y="1132310"/>
            <a:ext cx="65961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WWW.</a:t>
            </a:r>
            <a:r>
              <a:rPr b="1" i="0" lang="en-GB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CHEMSHEETS</a:t>
            </a: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.CO.UK</a:t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3851920" y="6581775"/>
            <a:ext cx="5323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© www.chemsheets.co.uk       GCSE 1116        24-Dec-2016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REACTING MASS CALCULATIONS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179388" y="965075"/>
            <a:ext cx="86409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first step in solving a problem is always to identify the information and quantities you are given and the ones you are required to calculate.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Stoichiometry, you should first check the equation in BALANCED as part of determining what information you have been given.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2225663" y="3951525"/>
            <a:ext cx="43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endParaRPr/>
          </a:p>
        </p:txBody>
      </p:sp>
      <p:sp>
        <p:nvSpPr>
          <p:cNvPr id="182" name="Google Shape;182;p27"/>
          <p:cNvSpPr txBox="1"/>
          <p:nvPr/>
        </p:nvSpPr>
        <p:spPr>
          <a:xfrm>
            <a:off x="2367500" y="4838263"/>
            <a:ext cx="43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3851920" y="6581775"/>
            <a:ext cx="532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© www.chemsheets.co.uk       GCSE 1116        24-Dec-2016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179400" y="2857175"/>
            <a:ext cx="21267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SYMBOLS USED in these answers: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GIven quantity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Required Quantity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REACTING MASS CALCULATIONS (Examples)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179388" y="981075"/>
            <a:ext cx="8640762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AutoNum type="arabicParenR"/>
            </a:pPr>
            <a:r>
              <a:rPr b="0" i="0" lang="en-GB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mass of oxygen reacts with 12 g of magnesium?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      </a:t>
            </a:r>
            <a:r>
              <a:rPr b="0" i="0" lang="en-GB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2Mg  +  O</a:t>
            </a:r>
            <a:r>
              <a:rPr b="0" baseline="-25000" i="0" lang="en-GB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0" i="0" lang="en-GB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→  2MgO</a:t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468313" y="2924175"/>
            <a:ext cx="276710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Moles Mg  =  </a:t>
            </a:r>
            <a:r>
              <a:rPr b="0" i="0" lang="en-GB" sz="24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mass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    </a:t>
            </a: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MM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5565620" y="2924175"/>
            <a:ext cx="10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0.5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468313" y="3932238"/>
            <a:ext cx="13853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Moles O</a:t>
            </a:r>
            <a:r>
              <a:rPr b="0" baseline="-2500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1835150" y="3932250"/>
            <a:ext cx="201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0.25 mol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468313" y="4868863"/>
            <a:ext cx="35381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Mass O</a:t>
            </a:r>
            <a:r>
              <a:rPr b="0" baseline="-2500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 </a:t>
            </a: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MM</a:t>
            </a: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x moles  </a:t>
            </a:r>
            <a:endParaRPr/>
          </a:p>
        </p:txBody>
      </p:sp>
      <p:sp>
        <p:nvSpPr>
          <p:cNvPr id="196" name="Google Shape;196;p28"/>
          <p:cNvSpPr txBox="1"/>
          <p:nvPr/>
        </p:nvSpPr>
        <p:spPr>
          <a:xfrm>
            <a:off x="1871044" y="5923985"/>
            <a:ext cx="108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</a:t>
            </a:r>
            <a:r>
              <a:rPr b="1" i="0" lang="en-GB" sz="2400" u="sng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8 g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1771275" y="5396400"/>
            <a:ext cx="33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32g/mol x 0.25mol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2195513" y="1412875"/>
            <a:ext cx="4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3302000" y="1341438"/>
            <a:ext cx="4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3348020" y="2924175"/>
            <a:ext cx="1746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</a:t>
            </a:r>
            <a:r>
              <a:rPr b="0" i="0" lang="en-GB" sz="24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12g</a:t>
            </a:r>
            <a:endParaRPr b="0" i="0" sz="24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24g/mol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3851920" y="6581775"/>
            <a:ext cx="5323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© www.chemsheets.co.uk       GCSE 1116        24-Dec-2016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REACTING MASS CALCULATIONS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323528" y="1772816"/>
            <a:ext cx="8568951" cy="31354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446" l="-1775" r="0" t="-29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8" name="Google Shape;208;p29"/>
          <p:cNvSpPr txBox="1"/>
          <p:nvPr/>
        </p:nvSpPr>
        <p:spPr>
          <a:xfrm>
            <a:off x="3851920" y="6581775"/>
            <a:ext cx="5323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2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© www.chemsheets.co.uk       GCSE 1116        24-Dec-2016</a:t>
            </a:r>
            <a:endParaRPr b="0" sz="12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5516550" y="4409650"/>
            <a:ext cx="587700" cy="49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MM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4433000" y="2930400"/>
            <a:ext cx="587700" cy="49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MM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REACTING MASS CALCULATIONS (Examples)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179388" y="981075"/>
            <a:ext cx="8640762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	What mass of calcium hydroxide is made from 14 kg of calcium oxide?</a:t>
            </a:r>
            <a:endParaRPr/>
          </a:p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      </a:t>
            </a:r>
            <a:r>
              <a:rPr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CaO  +  H</a:t>
            </a:r>
            <a:r>
              <a:rPr baseline="-25000"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  →  Ca(OH)</a:t>
            </a:r>
            <a:r>
              <a:rPr baseline="-25000"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468313" y="2924175"/>
            <a:ext cx="289718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Moles CaO  =  </a:t>
            </a:r>
            <a:r>
              <a:rPr lang="en-GB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    MM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5562600" y="2924175"/>
            <a:ext cx="22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250 mol</a:t>
            </a:r>
            <a:endParaRPr/>
          </a:p>
        </p:txBody>
      </p:sp>
      <p:sp>
        <p:nvSpPr>
          <p:cNvPr id="219" name="Google Shape;219;p30"/>
          <p:cNvSpPr txBox="1"/>
          <p:nvPr/>
        </p:nvSpPr>
        <p:spPr>
          <a:xfrm>
            <a:off x="468313" y="3932238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Moles Ca(OH)</a:t>
            </a:r>
            <a:r>
              <a:rPr baseline="-25000"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2627323" y="3933825"/>
            <a:ext cx="215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250mol</a:t>
            </a:r>
            <a:endParaRPr/>
          </a:p>
        </p:txBody>
      </p:sp>
      <p:sp>
        <p:nvSpPr>
          <p:cNvPr id="221" name="Google Shape;221;p30"/>
          <p:cNvSpPr txBox="1"/>
          <p:nvPr/>
        </p:nvSpPr>
        <p:spPr>
          <a:xfrm>
            <a:off x="468313" y="4868863"/>
            <a:ext cx="4289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Mass Ca(OH)</a:t>
            </a:r>
            <a:r>
              <a:rPr baseline="-25000"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 MM  x moles  </a:t>
            </a:r>
            <a:endParaRPr/>
          </a:p>
        </p:txBody>
      </p:sp>
      <p:sp>
        <p:nvSpPr>
          <p:cNvPr id="222" name="Google Shape;222;p30"/>
          <p:cNvSpPr txBox="1"/>
          <p:nvPr/>
        </p:nvSpPr>
        <p:spPr>
          <a:xfrm>
            <a:off x="2598650" y="5908675"/>
            <a:ext cx="215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</a:t>
            </a:r>
            <a:r>
              <a:rPr b="1" lang="en-GB" sz="2400" u="sng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18500 g</a:t>
            </a:r>
            <a:endParaRPr/>
          </a:p>
        </p:txBody>
      </p:sp>
      <p:sp>
        <p:nvSpPr>
          <p:cNvPr id="223" name="Google Shape;223;p30"/>
          <p:cNvSpPr txBox="1"/>
          <p:nvPr/>
        </p:nvSpPr>
        <p:spPr>
          <a:xfrm>
            <a:off x="2504525" y="5326075"/>
            <a:ext cx="329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74g/mol x 250mol</a:t>
            </a:r>
            <a:endParaRPr/>
          </a:p>
        </p:txBody>
      </p:sp>
      <p:sp>
        <p:nvSpPr>
          <p:cNvPr id="224" name="Google Shape;224;p30"/>
          <p:cNvSpPr txBox="1"/>
          <p:nvPr/>
        </p:nvSpPr>
        <p:spPr>
          <a:xfrm>
            <a:off x="2195513" y="1412875"/>
            <a:ext cx="4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endParaRPr/>
          </a:p>
        </p:txBody>
      </p:sp>
      <p:sp>
        <p:nvSpPr>
          <p:cNvPr id="225" name="Google Shape;225;p30"/>
          <p:cNvSpPr txBox="1"/>
          <p:nvPr/>
        </p:nvSpPr>
        <p:spPr>
          <a:xfrm>
            <a:off x="5292725" y="1341438"/>
            <a:ext cx="4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226" name="Google Shape;226;p30"/>
          <p:cNvSpPr txBox="1"/>
          <p:nvPr/>
        </p:nvSpPr>
        <p:spPr>
          <a:xfrm>
            <a:off x="3635375" y="2924175"/>
            <a:ext cx="19272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</a:t>
            </a:r>
            <a:r>
              <a:rPr lang="en-GB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14000 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56g/mol</a:t>
            </a:r>
            <a:endParaRPr/>
          </a:p>
        </p:txBody>
      </p:sp>
      <p:sp>
        <p:nvSpPr>
          <p:cNvPr id="227" name="Google Shape;227;p30"/>
          <p:cNvSpPr txBox="1"/>
          <p:nvPr/>
        </p:nvSpPr>
        <p:spPr>
          <a:xfrm>
            <a:off x="3851920" y="6581775"/>
            <a:ext cx="5323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© www.chemsheets.co.uk       GCSE 1116        24-Dec-2016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6514050" y="4389450"/>
            <a:ext cx="2306100" cy="201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an expectation that equations will be solved on multiple lines with the = signs lined up as per this equation. For fitting solutions on the slides some are solved horizontally, though</a:t>
            </a:r>
            <a:endParaRPr/>
          </a:p>
        </p:txBody>
      </p:sp>
      <p:cxnSp>
        <p:nvCxnSpPr>
          <p:cNvPr id="229" name="Google Shape;229;p30"/>
          <p:cNvCxnSpPr>
            <a:stCxn id="228" idx="1"/>
          </p:cNvCxnSpPr>
          <p:nvPr/>
        </p:nvCxnSpPr>
        <p:spPr>
          <a:xfrm flipH="1">
            <a:off x="5654850" y="5396550"/>
            <a:ext cx="859200" cy="1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30"/>
          <p:cNvSpPr txBox="1"/>
          <p:nvPr/>
        </p:nvSpPr>
        <p:spPr>
          <a:xfrm>
            <a:off x="7521200" y="1787025"/>
            <a:ext cx="1477200" cy="1899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NOTICE how units cancel out to leave you with the desired unit. This is a good mental check!!!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REACTING MASS CALCULATIONS (Examples)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179388" y="981075"/>
            <a:ext cx="8640762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3)	What mass of aluminium is needed to react with 640 g of iron oxide?</a:t>
            </a:r>
            <a:endParaRPr/>
          </a:p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      </a:t>
            </a:r>
            <a:r>
              <a:rPr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Fe</a:t>
            </a:r>
            <a:r>
              <a:rPr baseline="-25000"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aseline="-25000"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+  2 Al  →  2 Fe  +  Al</a:t>
            </a:r>
            <a:r>
              <a:rPr baseline="-25000"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aseline="-25000"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468313" y="2924175"/>
            <a:ext cx="30956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Moles Fe</a:t>
            </a:r>
            <a:r>
              <a:rPr baseline="-25000"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aseline="-25000"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=  </a:t>
            </a:r>
            <a:r>
              <a:rPr lang="en-GB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       MM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" name="Google Shape;238;p31"/>
          <p:cNvSpPr txBox="1"/>
          <p:nvPr/>
        </p:nvSpPr>
        <p:spPr>
          <a:xfrm>
            <a:off x="5567399" y="2971800"/>
            <a:ext cx="20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4mol</a:t>
            </a:r>
            <a:endParaRPr/>
          </a:p>
        </p:txBody>
      </p:sp>
      <p:sp>
        <p:nvSpPr>
          <p:cNvPr id="239" name="Google Shape;239;p31"/>
          <p:cNvSpPr txBox="1"/>
          <p:nvPr/>
        </p:nvSpPr>
        <p:spPr>
          <a:xfrm>
            <a:off x="468313" y="3932238"/>
            <a:ext cx="1298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Moles Al</a:t>
            </a:r>
            <a:endParaRPr/>
          </a:p>
        </p:txBody>
      </p:sp>
      <p:sp>
        <p:nvSpPr>
          <p:cNvPr id="240" name="Google Shape;240;p31"/>
          <p:cNvSpPr txBox="1"/>
          <p:nvPr/>
        </p:nvSpPr>
        <p:spPr>
          <a:xfrm>
            <a:off x="1835150" y="3932250"/>
            <a:ext cx="357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n</a:t>
            </a: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Fe</a:t>
            </a:r>
            <a:r>
              <a:rPr baseline="-25000"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aseline="-25000"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  </a:t>
            </a: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molar ratio</a:t>
            </a:r>
            <a:endParaRPr/>
          </a:p>
        </p:txBody>
      </p:sp>
      <p:sp>
        <p:nvSpPr>
          <p:cNvPr id="241" name="Google Shape;241;p31"/>
          <p:cNvSpPr txBox="1"/>
          <p:nvPr/>
        </p:nvSpPr>
        <p:spPr>
          <a:xfrm>
            <a:off x="468313" y="4868863"/>
            <a:ext cx="3430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Mass Al =  MM  x moles  </a:t>
            </a:r>
            <a:endParaRPr/>
          </a:p>
        </p:txBody>
      </p:sp>
      <p:sp>
        <p:nvSpPr>
          <p:cNvPr id="242" name="Google Shape;242;p31"/>
          <p:cNvSpPr txBox="1"/>
          <p:nvPr/>
        </p:nvSpPr>
        <p:spPr>
          <a:xfrm>
            <a:off x="6802300" y="4776775"/>
            <a:ext cx="145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</a:t>
            </a:r>
            <a:r>
              <a:rPr b="1" lang="en-GB" sz="2400" u="sng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216 g</a:t>
            </a:r>
            <a:endParaRPr/>
          </a:p>
        </p:txBody>
      </p:sp>
      <p:sp>
        <p:nvSpPr>
          <p:cNvPr id="243" name="Google Shape;243;p31"/>
          <p:cNvSpPr txBox="1"/>
          <p:nvPr/>
        </p:nvSpPr>
        <p:spPr>
          <a:xfrm>
            <a:off x="3851275" y="4868875"/>
            <a:ext cx="270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27g/mol x 8mol</a:t>
            </a:r>
            <a:endParaRPr/>
          </a:p>
        </p:txBody>
      </p:sp>
      <p:sp>
        <p:nvSpPr>
          <p:cNvPr id="244" name="Google Shape;244;p31"/>
          <p:cNvSpPr txBox="1"/>
          <p:nvPr/>
        </p:nvSpPr>
        <p:spPr>
          <a:xfrm>
            <a:off x="2195513" y="1412875"/>
            <a:ext cx="4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endParaRPr/>
          </a:p>
        </p:txBody>
      </p:sp>
      <p:sp>
        <p:nvSpPr>
          <p:cNvPr id="245" name="Google Shape;245;p31"/>
          <p:cNvSpPr txBox="1"/>
          <p:nvPr/>
        </p:nvSpPr>
        <p:spPr>
          <a:xfrm>
            <a:off x="3708400" y="1341438"/>
            <a:ext cx="4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246" name="Google Shape;246;p31"/>
          <p:cNvSpPr txBox="1"/>
          <p:nvPr/>
        </p:nvSpPr>
        <p:spPr>
          <a:xfrm>
            <a:off x="3635375" y="2924175"/>
            <a:ext cx="21222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</a:t>
            </a:r>
            <a:r>
              <a:rPr lang="en-GB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640g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160g/mol</a:t>
            </a:r>
            <a:endParaRPr/>
          </a:p>
        </p:txBody>
      </p:sp>
      <p:sp>
        <p:nvSpPr>
          <p:cNvPr id="247" name="Google Shape;247;p31"/>
          <p:cNvSpPr txBox="1"/>
          <p:nvPr/>
        </p:nvSpPr>
        <p:spPr>
          <a:xfrm>
            <a:off x="3851920" y="6581775"/>
            <a:ext cx="5323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© www.chemsheets.co.uk       GCSE 1116        24-Dec-2016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5230050" y="3920325"/>
            <a:ext cx="18390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4mol x </a:t>
            </a:r>
            <a:r>
              <a:rPr lang="en-GB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2400" u="sng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1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6949924" y="3932238"/>
            <a:ext cx="20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8mol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REACTING MASS CALCULATIONS (Examples)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179388" y="981075"/>
            <a:ext cx="8640762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4)	What mass of titanium chloride reacts with 460 g of sodium? </a:t>
            </a:r>
            <a:endParaRPr/>
          </a:p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36575" lvl="0" marL="536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      </a:t>
            </a:r>
            <a:r>
              <a:rPr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TiCl</a:t>
            </a:r>
            <a:r>
              <a:rPr baseline="-25000"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+  4 Na  →  Ti + 4 NaCl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468327" y="2924175"/>
            <a:ext cx="31671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Moles Na  =  </a:t>
            </a:r>
            <a:r>
              <a:rPr lang="en-GB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    MM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7" name="Google Shape;257;p32"/>
          <p:cNvSpPr txBox="1"/>
          <p:nvPr/>
        </p:nvSpPr>
        <p:spPr>
          <a:xfrm>
            <a:off x="5292725" y="2924175"/>
            <a:ext cx="930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20</a:t>
            </a:r>
            <a:endParaRPr/>
          </a:p>
        </p:txBody>
      </p:sp>
      <p:sp>
        <p:nvSpPr>
          <p:cNvPr id="258" name="Google Shape;258;p32"/>
          <p:cNvSpPr txBox="1"/>
          <p:nvPr/>
        </p:nvSpPr>
        <p:spPr>
          <a:xfrm>
            <a:off x="468313" y="3932238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Moles TiCl</a:t>
            </a:r>
            <a:r>
              <a:rPr baseline="-25000"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2051050" y="3933825"/>
            <a:ext cx="7635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5</a:t>
            </a:r>
            <a:endParaRPr/>
          </a:p>
        </p:txBody>
      </p:sp>
      <p:sp>
        <p:nvSpPr>
          <p:cNvPr id="260" name="Google Shape;260;p32"/>
          <p:cNvSpPr txBox="1"/>
          <p:nvPr/>
        </p:nvSpPr>
        <p:spPr>
          <a:xfrm>
            <a:off x="468313" y="4868863"/>
            <a:ext cx="3789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Mass TiCl</a:t>
            </a:r>
            <a:r>
              <a:rPr baseline="-25000"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 MM  x moles  </a:t>
            </a:r>
            <a:endParaRPr/>
          </a:p>
        </p:txBody>
      </p:sp>
      <p:sp>
        <p:nvSpPr>
          <p:cNvPr id="261" name="Google Shape;261;p32"/>
          <p:cNvSpPr txBox="1"/>
          <p:nvPr/>
        </p:nvSpPr>
        <p:spPr>
          <a:xfrm>
            <a:off x="6588125" y="4868863"/>
            <a:ext cx="14589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</a:t>
            </a:r>
            <a:r>
              <a:rPr b="1" lang="en-GB" sz="2400" u="sng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950 g</a:t>
            </a:r>
            <a:endParaRPr/>
          </a:p>
        </p:txBody>
      </p:sp>
      <p:sp>
        <p:nvSpPr>
          <p:cNvPr id="262" name="Google Shape;262;p32"/>
          <p:cNvSpPr txBox="1"/>
          <p:nvPr/>
        </p:nvSpPr>
        <p:spPr>
          <a:xfrm>
            <a:off x="4643438" y="4868863"/>
            <a:ext cx="16049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190 x 5</a:t>
            </a:r>
            <a:endParaRPr/>
          </a:p>
        </p:txBody>
      </p:sp>
      <p:sp>
        <p:nvSpPr>
          <p:cNvPr id="263" name="Google Shape;263;p32"/>
          <p:cNvSpPr txBox="1"/>
          <p:nvPr/>
        </p:nvSpPr>
        <p:spPr>
          <a:xfrm>
            <a:off x="3492500" y="1412875"/>
            <a:ext cx="4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endParaRPr/>
          </a:p>
        </p:txBody>
      </p:sp>
      <p:sp>
        <p:nvSpPr>
          <p:cNvPr id="264" name="Google Shape;264;p32"/>
          <p:cNvSpPr txBox="1"/>
          <p:nvPr/>
        </p:nvSpPr>
        <p:spPr>
          <a:xfrm>
            <a:off x="2124075" y="1341438"/>
            <a:ext cx="4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265" name="Google Shape;265;p32"/>
          <p:cNvSpPr txBox="1"/>
          <p:nvPr/>
        </p:nvSpPr>
        <p:spPr>
          <a:xfrm>
            <a:off x="3635375" y="2924175"/>
            <a:ext cx="165735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 </a:t>
            </a:r>
            <a:r>
              <a:rPr lang="en-GB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460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23</a:t>
            </a:r>
            <a:endParaRPr/>
          </a:p>
        </p:txBody>
      </p:sp>
      <p:sp>
        <p:nvSpPr>
          <p:cNvPr id="266" name="Google Shape;266;p32"/>
          <p:cNvSpPr txBox="1"/>
          <p:nvPr/>
        </p:nvSpPr>
        <p:spPr>
          <a:xfrm>
            <a:off x="3851920" y="6581775"/>
            <a:ext cx="5323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© www.chemsheets.co.uk       GCSE 1116        24-Dec-2016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7" name="Google Shape;267;p32"/>
          <p:cNvSpPr txBox="1"/>
          <p:nvPr/>
        </p:nvSpPr>
        <p:spPr>
          <a:xfrm>
            <a:off x="934500" y="5600375"/>
            <a:ext cx="685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The numbers and solutions are all correct on this slide. WHAT IS MISSING IN THE SOLUTIONS?? HInt: what should be after the numbers in each equation?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emsheets GCSE 1011 (Identify the particle)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